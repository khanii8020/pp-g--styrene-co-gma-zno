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80/15685551.2018.1503147"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3902bb87a87cb6fa4d07fa3e14cf4eac3dada0.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8944f142b5351935307dbccdaf71d6acf0fefa.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8d2902e8654283821c6f0102e78f736b2d14976.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7c7c71b3568712c4df0c34140326039b4d4b7fd.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61950"/>
          </a:xfrm>
          <a:prstGeom prst="rect">
            <a:avLst/>
          </a:prstGeom>
        </p:spPr>
        <p:txBody>
          <a:bodyPr anchor="t" lIns="0" tIns="0" rIns="0" bIns="0">
            <a:noAutofit/>
          </a:bodyPr>
          <a:lstStyle/>
          <a:p>
            <a:pPr algn="ctr">
              <a:lnSpc>
                <a:spcPct val="96700"/>
              </a:lnSpc>
            </a:pPr>
            <a:r>
              <a:rPr lang="en-US" sz="2400" dirty="0" b="1">
                <a:effectLst/>
              </a:rPr>
              <a:t>Study of suspension grafting process of polypropylene</a:t>
            </a:r>
          </a:p>
        </p:txBody>
      </p:sp>
      <p:sp>
        <p:nvSpPr>
          <p:cNvPr id="2" name="Text"/>
          <p:cNvSpPr/>
          <p:nvPr/>
        </p:nvSpPr>
        <p:spPr>
          <a:xfrm>
            <a:off x="3810000" y="1123950"/>
            <a:ext cx="4572000" cy="381000"/>
          </a:xfrm>
          <a:prstGeom prst="rect">
            <a:avLst/>
          </a:prstGeom>
        </p:spPr>
        <p:txBody>
          <a:bodyPr anchor="t" lIns="0" tIns="0" rIns="0" bIns="0">
            <a:noAutofit/>
          </a:bodyPr>
          <a:lstStyle/>
          <a:p>
            <a:pPr algn="ctr" marL="133350">
              <a:lnSpc>
                <a:spcPct val="120000"/>
              </a:lnSpc>
              <a:spcAft>
                <a:spcPts val="1200"/>
              </a:spcAft>
            </a:pPr>
            <a:r>
              <a:rPr lang="en-US" sz="1200" dirty="0">
                <a:effectLst/>
              </a:rPr>
              <a:t>Fengchun Liang, Hao Yuan, Qing Shao &amp; Wenbo Song</a:t>
            </a:r>
          </a:p>
        </p:txBody>
      </p:sp>
      <p:sp>
        <p:nvSpPr>
          <p:cNvPr id="2" name="Text"/>
          <p:cNvSpPr/>
          <p:nvPr/>
        </p:nvSpPr>
        <p:spPr>
          <a:xfrm>
            <a:off x="1524000" y="1657350"/>
            <a:ext cx="9144000" cy="457200"/>
          </a:xfrm>
          <a:prstGeom prst="rect">
            <a:avLst/>
          </a:prstGeom>
        </p:spPr>
        <p:txBody>
          <a:bodyPr anchor="t" lIns="0" tIns="0" rIns="0" bIns="0">
            <a:noAutofit/>
          </a:bodyPr>
          <a:lstStyle/>
          <a:p>
            <a:pPr>
              <a:lnSpc>
                <a:spcPct val="120000"/>
              </a:lnSpc>
            </a:pPr>
            <a:r>
              <a:rPr lang="en-US" sz="1200" dirty="0">
                <a:effectLst/>
              </a:rPr>
              <a:t>To cite this article: Fengchun Liang, Hao Yuan, Qing Shao &amp; Wenbo Song (2018) Study of suspension grafting process of polypropylene, Designed Monomers and Polymers, 21:1, 130-136, DOI: 10.1080/15685551.2018.1503147</a:t>
            </a:r>
          </a:p>
        </p:txBody>
      </p:sp>
      <p:sp>
        <p:nvSpPr>
          <p:cNvPr id="2" name="Text"/>
          <p:cNvSpPr/>
          <p:nvPr/>
        </p:nvSpPr>
        <p:spPr>
          <a:xfrm>
            <a:off x="1524000" y="2266950"/>
            <a:ext cx="9144000" cy="457200"/>
          </a:xfrm>
          <a:prstGeom prst="rect">
            <a:avLst/>
          </a:prstGeom>
        </p:spPr>
        <p:txBody>
          <a:bodyPr anchor="t" lIns="0" tIns="0" rIns="0" bIns="0">
            <a:noAutofit/>
          </a:bodyPr>
          <a:lstStyle/>
          <a:p>
            <a:pPr>
              <a:lnSpc>
                <a:spcPct val="120000"/>
              </a:lnSpc>
            </a:pPr>
            <a:r>
              <a:rPr lang="en-US" sz="1200" dirty="0">
                <a:effectLst/>
              </a:rPr>
              <a:t>To link to this article: </a:t>
            </a:r>
            <a:r>
              <a:rPr lang="en-US" sz="1200" dirty="0">
                <a:effectLst/>
                <a:hlinkClick r:id="rId2"/>
              </a:rPr>
              <a:t>https://doi.org/10.1080/15685551.2018.1503147</a:t>
            </a:r>
            <a:br>
              <a:rPr lang="en-US" sz="1200" dirty="0"/>
            </a:br>
            <a:r>
              <a:rPr lang="en-US" sz="1200" dirty="0">
                <a:effectLst/>
              </a:rPr>
              <a:t> © 2018 The Author(s). Published by Informa UK Limited, trading as Taylor &amp; Francis Group.</a:t>
            </a:r>
          </a:p>
        </p:txBody>
      </p:sp>
      <p:sp>
        <p:nvSpPr>
          <p:cNvPr id="2" name="Text"/>
          <p:cNvSpPr/>
          <p:nvPr/>
        </p:nvSpPr>
        <p:spPr>
          <a:xfrm>
            <a:off x="1524000" y="2876550"/>
            <a:ext cx="9144000" cy="228600"/>
          </a:xfrm>
          <a:prstGeom prst="rect">
            <a:avLst/>
          </a:prstGeom>
        </p:spPr>
        <p:txBody>
          <a:bodyPr anchor="t" lIns="0" tIns="0" rIns="0" bIns="0">
            <a:noAutofit/>
          </a:bodyPr>
          <a:lstStyle/>
          <a:p>
            <a:pPr>
              <a:lnSpc>
                <a:spcPct val="120000"/>
              </a:lnSpc>
            </a:pPr>
            <a:r>
              <a:rPr lang="en-US" sz="1200" dirty="0">
                <a:effectLst/>
              </a:rPr>
              <a:t>Published online: 16 Sep 2018.</a:t>
            </a:r>
          </a:p>
        </p:txBody>
      </p:sp>
      <p:sp>
        <p:nvSpPr>
          <p:cNvPr id="2" name="Text"/>
          <p:cNvSpPr/>
          <p:nvPr/>
        </p:nvSpPr>
        <p:spPr>
          <a:xfrm>
            <a:off x="1524000" y="3257550"/>
            <a:ext cx="9144000" cy="228600"/>
          </a:xfrm>
          <a:prstGeom prst="rect">
            <a:avLst/>
          </a:prstGeom>
        </p:spPr>
        <p:txBody>
          <a:bodyPr anchor="t" lIns="0" tIns="0" rIns="0" bIns="0">
            <a:noAutofit/>
          </a:bodyPr>
          <a:lstStyle/>
          <a:p>
            <a:pPr>
              <a:lnSpc>
                <a:spcPct val="120000"/>
              </a:lnSpc>
            </a:pPr>
            <a:r>
              <a:rPr lang="en-US" sz="1200" dirty="0">
                <a:effectLst/>
              </a:rPr>
              <a:t>Submit your article to this journal</a:t>
            </a:r>
          </a:p>
        </p:txBody>
      </p:sp>
      <p:sp>
        <p:nvSpPr>
          <p:cNvPr id="2" name="Text"/>
          <p:cNvSpPr/>
          <p:nvPr/>
        </p:nvSpPr>
        <p:spPr>
          <a:xfrm>
            <a:off x="1524000" y="3638550"/>
            <a:ext cx="9144000" cy="228600"/>
          </a:xfrm>
          <a:prstGeom prst="rect">
            <a:avLst/>
          </a:prstGeom>
        </p:spPr>
        <p:txBody>
          <a:bodyPr anchor="t" lIns="0" tIns="0" rIns="0" bIns="0">
            <a:noAutofit/>
          </a:bodyPr>
          <a:lstStyle/>
          <a:p>
            <a:pPr>
              <a:lnSpc>
                <a:spcPct val="120000"/>
              </a:lnSpc>
            </a:pPr>
            <a:r>
              <a:rPr lang="en-US" sz="1200" dirty="0">
                <a:effectLst/>
              </a:rPr>
              <a:t>Article views: 2298</a:t>
            </a:r>
          </a:p>
        </p:txBody>
      </p:sp>
      <p:sp>
        <p:nvSpPr>
          <p:cNvPr id="2" name="Text"/>
          <p:cNvSpPr/>
          <p:nvPr/>
        </p:nvSpPr>
        <p:spPr>
          <a:xfrm>
            <a:off x="1524000" y="4019550"/>
            <a:ext cx="9144000" cy="228600"/>
          </a:xfrm>
          <a:prstGeom prst="rect">
            <a:avLst/>
          </a:prstGeom>
        </p:spPr>
        <p:txBody>
          <a:bodyPr anchor="t" lIns="0" tIns="0" rIns="0" bIns="0">
            <a:noAutofit/>
          </a:bodyPr>
          <a:lstStyle/>
          <a:p>
            <a:pPr>
              <a:lnSpc>
                <a:spcPct val="120000"/>
              </a:lnSpc>
            </a:pPr>
            <a:r>
              <a:rPr lang="en-US" sz="1200" dirty="0">
                <a:effectLst/>
              </a:rPr>
              <a:t>View related articles</a:t>
            </a:r>
          </a:p>
        </p:txBody>
      </p:sp>
      <p:sp>
        <p:nvSpPr>
          <p:cNvPr id="2" name="Text"/>
          <p:cNvSpPr/>
          <p:nvPr/>
        </p:nvSpPr>
        <p:spPr>
          <a:xfrm>
            <a:off x="1524000" y="4400550"/>
            <a:ext cx="9144000" cy="228600"/>
          </a:xfrm>
          <a:prstGeom prst="rect">
            <a:avLst/>
          </a:prstGeom>
        </p:spPr>
        <p:txBody>
          <a:bodyPr anchor="t" lIns="0" tIns="0" rIns="0" bIns="0">
            <a:noAutofit/>
          </a:bodyPr>
          <a:lstStyle/>
          <a:p>
            <a:pPr>
              <a:lnSpc>
                <a:spcPct val="120000"/>
              </a:lnSpc>
            </a:pPr>
            <a:r>
              <a:rPr lang="en-US" sz="1200" dirty="0">
                <a:effectLst/>
              </a:rPr>
              <a:t>View Crossmark data</a:t>
            </a:r>
          </a:p>
        </p:txBody>
      </p:sp>
      <p:sp>
        <p:nvSpPr>
          <p:cNvPr id="2" name="Text"/>
          <p:cNvSpPr/>
          <p:nvPr/>
        </p:nvSpPr>
        <p:spPr>
          <a:xfrm>
            <a:off x="1524000" y="4781550"/>
            <a:ext cx="9144000" cy="228600"/>
          </a:xfrm>
          <a:prstGeom prst="rect">
            <a:avLst/>
          </a:prstGeom>
        </p:spPr>
        <p:txBody>
          <a:bodyPr anchor="t" lIns="0" tIns="0" rIns="0" bIns="0">
            <a:noAutofit/>
          </a:bodyPr>
          <a:lstStyle/>
          <a:p>
            <a:pPr>
              <a:lnSpc>
                <a:spcPct val="120000"/>
              </a:lnSpc>
            </a:pPr>
            <a:r>
              <a:rPr lang="en-US" sz="1200" dirty="0">
                <a:effectLst/>
              </a:rPr>
              <a:t>Citing articles: 3 View citing articles</a:t>
            </a:r>
          </a:p>
        </p:txBody>
      </p:sp>
      <p:sp>
        <p:nvSpPr>
          <p:cNvPr id="2" name="Text"/>
          <p:cNvSpPr/>
          <p:nvPr/>
        </p:nvSpPr>
        <p:spPr>
          <a:xfrm>
            <a:off x="1524000" y="5162550"/>
            <a:ext cx="9144000" cy="361950"/>
          </a:xfrm>
          <a:prstGeom prst="rect">
            <a:avLst/>
          </a:prstGeom>
        </p:spPr>
        <p:txBody>
          <a:bodyPr anchor="t" lIns="0" tIns="0" rIns="0" bIns="0">
            <a:noAutofit/>
          </a:bodyPr>
          <a:lstStyle/>
          <a:p>
            <a:pPr algn="ctr">
              <a:lnSpc>
                <a:spcPct val="96700"/>
              </a:lnSpc>
            </a:pPr>
            <a:r>
              <a:rPr lang="en-US" sz="2400" dirty="0" b="1">
                <a:effectLst/>
              </a:rPr>
              <a:t>Study of suspension grafting process of polypropylene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3810000" y="457200"/>
            <a:ext cx="4572000" cy="838200"/>
          </a:xfrm>
          <a:prstGeom prst="rect">
            <a:avLst/>
          </a:prstGeom>
        </p:spPr>
        <p:txBody>
          <a:bodyPr anchor="t" lIns="0" tIns="0" rIns="0" bIns="0">
            <a:noAutofit/>
          </a:bodyPr>
          <a:lstStyle/>
          <a:p>
            <a:pPr algn="ctr" marL="133350">
              <a:lnSpc>
                <a:spcPct val="120000"/>
              </a:lnSpc>
            </a:pPr>
            <a:r>
              <a:rPr lang="en-US" sz="1200" dirty="0">
                <a:effectLst/>
              </a:rPr>
              <a:t>Fengchun Liang, Hao Yuan, Qing Shao and Wenbo Song</a:t>
            </a:r>
          </a:p>
          <a:p>
            <a:pPr algn="ctr" marL="133350">
              <a:lnSpc>
                <a:spcPct val="120000"/>
              </a:lnSpc>
              <a:spcAft>
                <a:spcPts val="1200"/>
              </a:spcAft>
            </a:pPr>
            <a:r>
              <a:rPr lang="en-US" sz="1200" dirty="0">
                <a:effectLst/>
              </a:rPr>
              <a:t>Division of New Products Development, Sinopec Beijing Research Institute of Chemical Industry, Beijing, China</a:t>
            </a:r>
          </a:p>
        </p:txBody>
      </p:sp>
      <p:sp>
        <p:nvSpPr>
          <p:cNvPr id="2" name="Text"/>
          <p:cNvSpPr/>
          <p:nvPr/>
        </p:nvSpPr>
        <p:spPr>
          <a:xfrm>
            <a:off x="2438400" y="1447800"/>
            <a:ext cx="7315200" cy="22574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Grafting efficiency is an important indicator of polypropylene grafting reaction. A series of studies have been accomplished, including the conditions of free radical presence on PP backbone during peroxide initiation, the effect of preheat treatment and reaction time on PP suspension grafting results, and the effect of peroxide residue on properties of modified PP. An optimized grafting process was proposed by mixing and preheating polypropylene (PP) and the initiator benzoyl peroxide (BPO) before adding the grafting monomer glycidyl methacrylate (GMA),resulting in an increase in grafting efficiency from 50.0% to 78.2%. With initiator residue removed by alternating temperature treatment, the suspension grafting reaction time could be substantially reduced.</a:t>
            </a:r>
          </a:p>
        </p:txBody>
      </p:sp>
      <p:sp>
        <p:nvSpPr>
          <p:cNvPr id="2" name="Text"/>
          <p:cNvSpPr/>
          <p:nvPr/>
        </p:nvSpPr>
        <p:spPr>
          <a:xfrm>
            <a:off x="1524000" y="3842385"/>
            <a:ext cx="9144000" cy="1143000"/>
          </a:xfrm>
          <a:prstGeom prst="rect">
            <a:avLst/>
          </a:prstGeom>
        </p:spPr>
        <p:txBody>
          <a:bodyPr anchor="t" lIns="0" tIns="0" rIns="0" bIns="0">
            <a:noAutofit/>
          </a:bodyPr>
          <a:lstStyle/>
          <a:p>
            <a:pPr>
              <a:lnSpc>
                <a:spcPct val="120000"/>
              </a:lnSpc>
            </a:pPr>
            <a:r>
              <a:rPr lang="en-US" sz="1200" dirty="0">
                <a:effectLst/>
              </a:rPr>
              <a:t>ARTICLE HISTORY</a:t>
            </a:r>
            <a:br>
              <a:rPr lang="en-US" sz="1200" dirty="0"/>
            </a:br>
            <a:r>
              <a:rPr lang="en-US" sz="1200" dirty="0">
                <a:effectLst/>
              </a:rPr>
              <a:t> Received 4 May 2018</a:t>
            </a:r>
            <a:br>
              <a:rPr lang="en-US" sz="1200" dirty="0"/>
            </a:br>
            <a:r>
              <a:rPr lang="en-US" sz="1200" dirty="0">
                <a:effectLst/>
              </a:rPr>
              <a:t> Accepted 25 June 2018</a:t>
            </a:r>
            <a:br>
              <a:rPr lang="en-US" sz="1200" dirty="0"/>
            </a:br>
            <a:r>
              <a:rPr lang="en-US" sz="1200" dirty="0">
                <a:effectLst/>
              </a:rPr>
              <a:t> KEYWORDS</a:t>
            </a:r>
            <a:br>
              <a:rPr lang="en-US" sz="1200" dirty="0"/>
            </a:br>
            <a:r>
              <a:rPr lang="en-US" sz="1200" dirty="0">
                <a:effectLst/>
              </a:rPr>
              <a:t> Suspension grafting; polypropylene; grafting efficiency; initiator</a:t>
            </a:r>
          </a:p>
        </p:txBody>
      </p:sp>
      <p:sp>
        <p:nvSpPr>
          <p:cNvPr id="2" name="Text"/>
          <p:cNvSpPr/>
          <p:nvPr/>
        </p:nvSpPr>
        <p:spPr>
          <a:xfrm>
            <a:off x="1524000" y="51377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Polypropylene (PP) is one of the most widely used plastics due to its excellent chemical and physical properties[1-4]. However, since PP is a nonpolar polymer, its colorability, adhesiveness and compatibility with polar materials are comparatively poor, which seriously hindered its application[5,6]. In order to broaden the application of PP, modification of polarity is needed. The modification of PP comprises physical modification[7-9] and chemical modification[10-12].</a:t>
            </a:r>
          </a:p>
        </p:txBody>
      </p:sp>
      <mc:AlternateContent xmlns:mc="http://schemas.openxmlformats.org/markup-compatibility/2006">
        <mc:Choice xmlns:a14="http://schemas.microsoft.com/office/drawing/2010/main" Requires="a14">
          <p:sp>
            <p:nvSpPr>
              <p:cNvPr id="2" name="Text"/>
              <p:cNvSpPr/>
              <p:nvPr/>
            </p:nvSpPr>
            <p:spPr>
              <a:xfrm>
                <a:off x="1524000" y="1524000"/>
                <a:ext cx="9144000" cy="2057400"/>
              </a:xfrm>
              <a:prstGeom prst="rect">
                <a:avLst/>
              </a:prstGeom>
            </p:spPr>
            <p:txBody>
              <a:bodyPr anchor="t" lIns="0" tIns="0" rIns="0" bIns="0">
                <a:noAutofit/>
              </a:bodyPr>
              <a:lstStyle/>
              <a:p>
                <a:pPr>
                  <a:lnSpc>
                    <a:spcPct val="120000"/>
                  </a:lnSpc>
                </a:pPr>
                <a:r>
                  <a:rPr lang="en-US" sz="1200" dirty="0">
                    <a:effectLst/>
                  </a:rPr>
                  <a:t>Among chemical modifications, grafting modification is the most effective method to overcome the drawbacks mentioned above. In grafting modification, polar monomers are chemically linked to PP backbone, resulting a greatly enhanced bonding durability between PP backbone and grafted side chains. Up to now, many methods have been developed to prepare PP-based grafting polymers, established approaches include melt grafting[13-16], solution grafting[17,18], solid phase grafting[19-23] and suspension grafting[24-27]. Melt grafting and solution grafting require high reaction temperature over 100 °C. The degradation of PP via </a:t>
                </a:r>
                <a:r>
                  <a:rPr lang="en-US" sz="1200" dirty="0">
                    <a:effectLst/>
                  </a:rPr>
                  <a:t>​</a:t>
                </a:r>
                <a14:m>
                  <m:oMath>
                    <m:r>
                      <m:rPr>
                        <m:sty m:val="i"/>
                      </m:rPr>
                      <a:rPr lang="en-US" sz="1200" dirty="0">
                        <a:solidFill>
                          <a:srgbClr val="000000"/>
                        </a:solidFill>
                        <a:effectLst/>
                      </a:rPr>
                      <m:t>β</m:t>
                    </m:r>
                  </m:oMath>
                </a14:m>
                <a:r>
                  <a:rPr lang="en-US" sz="1200" dirty="0">
                    <a:effectLst/>
                  </a:rPr>
                  <a:t> hydrogen elimination occurs at such a high temperature [28,29]. In addition, organic solvents used in these reactions pose a threat to the environment. Suspension grafting is usually performed in water. It is an efficient and environmental friendly grafting method with the advantages such as nonuse of organic solvent, low reaction temperature, simple equipment and technology, low degradation degree of PP, controllable reaction conditions and easy postprocessing. Therefore, suspension grafting is worth attention and researches.</a:t>
                </a:r>
              </a:p>
            </p:txBody>
          </p:sp>
        </mc:Choice>
        <mc:Fallback/>
      </mc:AlternateContent>
      <p:sp>
        <p:nvSpPr>
          <p:cNvPr id="2" name="Text"/>
          <p:cNvSpPr/>
          <p:nvPr/>
        </p:nvSpPr>
        <p:spPr>
          <a:xfrm>
            <a:off x="1524000" y="3733800"/>
            <a:ext cx="9144000" cy="914400"/>
          </a:xfrm>
          <a:prstGeom prst="rect">
            <a:avLst/>
          </a:prstGeom>
        </p:spPr>
        <p:txBody>
          <a:bodyPr anchor="t" lIns="0" tIns="0" rIns="0" bIns="0">
            <a:noAutofit/>
          </a:bodyPr>
          <a:lstStyle/>
          <a:p>
            <a:pPr>
              <a:lnSpc>
                <a:spcPct val="120000"/>
              </a:lnSpc>
            </a:pPr>
            <a:r>
              <a:rPr lang="en-US" sz="1200" dirty="0">
                <a:effectLst/>
              </a:rPr>
              <a:t>Improving grafting percentage and grafting efficiency, which are two important indicators of grafting polymerization to researchers. In this paper, the influence of preheating on the grafting effectiveness in the process of BPO initiated PP suspension grafting was systematically studied. Compared with no preheating process, the grafting percentage and grafting efficiency are effectively improved, and the reaction time is reduced.</a:t>
            </a:r>
          </a:p>
        </p:txBody>
      </p:sp>
      <p:sp>
        <p:nvSpPr>
          <p:cNvPr id="2" name="Text"/>
          <p:cNvSpPr/>
          <p:nvPr/>
        </p:nvSpPr>
        <p:spPr>
          <a:xfrm>
            <a:off x="1524000" y="4800600"/>
            <a:ext cx="9144000" cy="342900"/>
          </a:xfrm>
          <a:prstGeom prst="rect">
            <a:avLst/>
          </a:prstGeom>
        </p:spPr>
        <p:txBody>
          <a:bodyPr anchor="t" lIns="0" tIns="0" rIns="0" bIns="0">
            <a:noAutofit/>
          </a:bodyPr>
          <a:lstStyle/>
          <a:p>
            <a:pPr>
              <a:lnSpc>
                <a:spcPct val="120000"/>
              </a:lnSpc>
            </a:pPr>
            <a:r>
              <a:rPr lang="en-US" sz="1800" dirty="0" b="1">
                <a:effectLst/>
              </a:rPr>
              <a:t>2. Experiment</a:t>
            </a:r>
          </a:p>
        </p:txBody>
      </p:sp>
      <p:sp>
        <p:nvSpPr>
          <p:cNvPr id="2" name="Text"/>
          <p:cNvSpPr/>
          <p:nvPr/>
        </p:nvSpPr>
        <p:spPr>
          <a:xfrm>
            <a:off x="1524000" y="5333239"/>
            <a:ext cx="9144000" cy="266700"/>
          </a:xfrm>
          <a:prstGeom prst="rect">
            <a:avLst/>
          </a:prstGeom>
        </p:spPr>
        <p:txBody>
          <a:bodyPr anchor="t" lIns="0" tIns="0" rIns="0" bIns="0">
            <a:noAutofit/>
          </a:bodyPr>
          <a:lstStyle/>
          <a:p>
            <a:pPr>
              <a:lnSpc>
                <a:spcPct val="125800"/>
              </a:lnSpc>
            </a:pPr>
            <a:r>
              <a:rPr lang="en-US" sz="1400" dirty="0" b="1">
                <a:effectLst/>
              </a:rPr>
              <a:t>2.1 Materials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PP particles (T30S) were supplied by Sinopec. The Melt Flow Rate (MFR) is </a:t>
                </a:r>
                <a:r>
                  <a:rPr lang="en-US" sz="1200" dirty="0">
                    <a:effectLst/>
                  </a:rPr>
                  <a:t>​</a:t>
                </a:r>
                <a14:m>
                  <m:oMath>
                    <m:r>
                      <m:rPr>
                        <m:sty m:val="p"/>
                      </m:rPr>
                      <a:rPr lang="en-US" sz="1200" dirty="0">
                        <a:solidFill>
                          <a:srgbClr val="000000"/>
                        </a:solidFill>
                        <a:effectLst/>
                      </a:rPr>
                      <m:t>3.7</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measured at 2.16 kg at 230°C. The initiator BPO was purchased from Xi Long Chemical. GMA and methyl methacrylate (MMA) were purchased from Beijing J&amp;K Technology Co (Beijing, China). Acetone was purchased from Sinopharm Chemical Reagent Co (Beijing, China). Ethyl acetate was purchased from Beijing J&amp;K Technology Co (Beijing, China). GMA was distilled under reduced pressure before used to remove hydroquinone inhibitor. Other starting materials were used without further purification unless otherwise noticed.</a:t>
                </a:r>
              </a:p>
            </p:txBody>
          </p:sp>
        </mc:Choice>
        <mc:Fallback/>
      </mc:AlternateContent>
      <p:sp>
        <p:nvSpPr>
          <p:cNvPr id="2" name="Text"/>
          <p:cNvSpPr/>
          <p:nvPr/>
        </p:nvSpPr>
        <p:spPr>
          <a:xfrm>
            <a:off x="1524000" y="1752600"/>
            <a:ext cx="9144000" cy="266700"/>
          </a:xfrm>
          <a:prstGeom prst="rect">
            <a:avLst/>
          </a:prstGeom>
        </p:spPr>
        <p:txBody>
          <a:bodyPr anchor="t" lIns="0" tIns="0" rIns="0" bIns="0">
            <a:noAutofit/>
          </a:bodyPr>
          <a:lstStyle/>
          <a:p>
            <a:pPr>
              <a:lnSpc>
                <a:spcPct val="125800"/>
              </a:lnSpc>
            </a:pPr>
            <a:r>
              <a:rPr lang="en-US" sz="1400" dirty="0" b="1">
                <a:effectLst/>
              </a:rPr>
              <a:t>2.2 Instruments and measurements</a:t>
            </a:r>
          </a:p>
        </p:txBody>
      </p:sp>
      <mc:AlternateContent xmlns:mc="http://schemas.openxmlformats.org/markup-compatibility/2006">
        <mc:Choice xmlns:a14="http://schemas.microsoft.com/office/drawing/2010/main" Requires="a14">
          <p:sp>
            <p:nvSpPr>
              <p:cNvPr id="2" name="Text"/>
              <p:cNvSpPr/>
              <p:nvPr/>
            </p:nvSpPr>
            <p:spPr>
              <a:xfrm>
                <a:off x="1524000" y="2197608"/>
                <a:ext cx="9144000" cy="1371600"/>
              </a:xfrm>
              <a:prstGeom prst="rect">
                <a:avLst/>
              </a:prstGeom>
            </p:spPr>
            <p:txBody>
              <a:bodyPr anchor="t" lIns="0" tIns="0" rIns="0" bIns="0">
                <a:noAutofit/>
              </a:bodyPr>
              <a:lstStyle/>
              <a:p>
                <a:pPr>
                  <a:lnSpc>
                    <a:spcPct val="120000"/>
                  </a:lnSpc>
                </a:pPr>
                <a:r>
                  <a:rPr lang="en-US" sz="1200" dirty="0">
                    <a:effectLst/>
                  </a:rPr>
                  <a:t>The Fourier transform infrared (FT-IR) spectra of PP-g-GMA were recorded with a Nicolet IR200 FT-IR spectrometer. Melt mass flow rate measurement (MFR) was measured by a CEAST7026 melt indexer. Measurement was performed at 230 °C with a load of 2.16 Kg. To reduce the degradation of PP at high temperature, about 0.12 g antioxidants were mixed with 10 g PP. Then the mixtures were stirred for 10 seconds. Electron paramagnetic resonance (EPR) spectra was recorded on a JES-FA200 spectrometer. The molecular weights of PP and grafted-PP were measured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by a Waters GPC 2000 instrument with o-dichlorobenzene as the solvent.The grafting percentage (GP) and grafting efficiency (GE) were calculated as per the following equations: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21608"/>
                <a:ext cx="9144000" cy="78105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GP</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num>
                              <m:den>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r>
                          <m:e>
                            <m:r>
                              <m:t xml:space="preserve"> </m:t>
                            </m:r>
                          </m:e>
                          <m:e>
                            <m:r>
                              <m:rPr>
                                <m:sty m:val="p"/>
                              </m:rPr>
                              <a:rPr lang="en-US" sz="1200" dirty="0">
                                <a:solidFill>
                                  <a:srgbClr val="000000"/>
                                </a:solidFill>
                                <a:effectLst/>
                              </a:rPr>
                              <m:t>GE</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num>
                              <m:den>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2</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55058"/>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oMath>
                </a14:m>
                <a:r>
                  <a:rPr lang="en-US" sz="1200" dirty="0">
                    <a:effectLst/>
                  </a:rPr>
                  <a:t> is the mass of the pristine PP particles,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oMath>
                </a14:m>
                <a:r>
                  <a:rPr lang="en-US" sz="1200" dirty="0">
                    <a:effectLst/>
                  </a:rPr>
                  <a:t> is the mass of grafted PP particles after extraction,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2</m:t>
                        </m:r>
                      </m:sub>
                    </m:sSub>
                  </m:oMath>
                </a14:m>
                <a:r>
                  <a:rPr lang="en-US" sz="1200" dirty="0">
                    <a:effectLst/>
                  </a:rPr>
                  <a:t> is the mass of monomer.</a:t>
                </a:r>
              </a:p>
            </p:txBody>
          </p:sp>
        </mc:Choice>
        <mc:Fallback/>
      </mc:AlternateContent>
      <p:sp>
        <p:nvSpPr>
          <p:cNvPr id="2" name="Text"/>
          <p:cNvSpPr/>
          <p:nvPr/>
        </p:nvSpPr>
        <p:spPr>
          <a:xfrm>
            <a:off x="1524000" y="5036058"/>
            <a:ext cx="9144000" cy="266700"/>
          </a:xfrm>
          <a:prstGeom prst="rect">
            <a:avLst/>
          </a:prstGeom>
        </p:spPr>
        <p:txBody>
          <a:bodyPr anchor="t" lIns="0" tIns="0" rIns="0" bIns="0">
            <a:noAutofit/>
          </a:bodyPr>
          <a:lstStyle/>
          <a:p>
            <a:pPr>
              <a:lnSpc>
                <a:spcPct val="125800"/>
              </a:lnSpc>
            </a:pPr>
            <a:r>
              <a:rPr lang="en-US" sz="1400" dirty="0" b="1">
                <a:effectLst/>
              </a:rPr>
              <a:t>2.3 Grafting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The aqueous-phase suspension grafting polymerization was carried out in a 1 L four-necked round-bottom flask equipped with a twin-blade mechanical stirrer operated at 200 rpm, a condenser tube, a nitrogen purging inlet and a thermometer. PP granules was added to the flask, and stirred for a period of time with gentle nitrogen flow to eliminate oxygen; Certain amount of BPO was dissolved in acetone, and then the solution was added into PP spheres evenly, the mixture (PP and BPO) was stirred in nitrogen atmosphere; Then, the reactor was heated up to 48 °C to remove acetone with nitrogen flow; PP particles were stirred for a period of time in nitrogen atmosphere. Then, certain amount of grafting monomer was added evenly into the flask, about 200 mL DI water (ultrasonic deoxygenation, 90 °C) was added to the flask. The grafting polymerization proceeded at 90 °C for a certain period of time. After polymerization the primary grafted product was obtained by the filtering and drying process. Then, the grafted PP spheres were extracted with ethyl acetate in a Soxhlet extractor for 24 h and dried to constant weight in vacuum oven at 50 °C, pure product was obtained.</a:t>
            </a:r>
          </a:p>
        </p:txBody>
      </p:sp>
      <p:sp>
        <p:nvSpPr>
          <p:cNvPr id="2" name="Text"/>
          <p:cNvSpPr/>
          <p:nvPr/>
        </p:nvSpPr>
        <p:spPr>
          <a:xfrm>
            <a:off x="1524000" y="2895600"/>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
        <p:nvSpPr>
          <p:cNvPr id="2" name="Text"/>
          <p:cNvSpPr/>
          <p:nvPr/>
        </p:nvSpPr>
        <p:spPr>
          <a:xfrm>
            <a:off x="1524000" y="3428239"/>
            <a:ext cx="9144000" cy="266700"/>
          </a:xfrm>
          <a:prstGeom prst="rect">
            <a:avLst/>
          </a:prstGeom>
        </p:spPr>
        <p:txBody>
          <a:bodyPr anchor="t" lIns="0" tIns="0" rIns="0" bIns="0">
            <a:noAutofit/>
          </a:bodyPr>
          <a:lstStyle/>
          <a:p>
            <a:pPr>
              <a:lnSpc>
                <a:spcPct val="125800"/>
              </a:lnSpc>
            </a:pPr>
            <a:r>
              <a:rPr lang="en-US" sz="1400" dirty="0" b="1">
                <a:effectLst/>
              </a:rPr>
              <a:t>3.1 Influence of preheating on grafting</a:t>
            </a:r>
          </a:p>
        </p:txBody>
      </p:sp>
      <p:sp>
        <p:nvSpPr>
          <p:cNvPr id="2" name="Text"/>
          <p:cNvSpPr/>
          <p:nvPr/>
        </p:nvSpPr>
        <p:spPr>
          <a:xfrm>
            <a:off x="1524000" y="3873247"/>
            <a:ext cx="9144000" cy="1600200"/>
          </a:xfrm>
          <a:prstGeom prst="rect">
            <a:avLst/>
          </a:prstGeom>
        </p:spPr>
        <p:txBody>
          <a:bodyPr anchor="t" lIns="0" tIns="0" rIns="0" bIns="0">
            <a:noAutofit/>
          </a:bodyPr>
          <a:lstStyle/>
          <a:p>
            <a:pPr>
              <a:lnSpc>
                <a:spcPct val="120000"/>
              </a:lnSpc>
            </a:pPr>
            <a:r>
              <a:rPr lang="en-US" sz="1200" dirty="0">
                <a:effectLst/>
              </a:rPr>
              <a:t>PP suspension grafting polymerization experiments have an usual route as follow: initiator, grafting monomers and PP are mixed at a certain temperature, then heated to the desired reaction temperature for reaction [30,31]. However, an obvious drawback in this reaction route is that the initiator will partially dissolve in grafting monomers and result in serious monomer self-polymerization side reaction and reduce grafting efficiency. In addition, the diffusion-rate of monomer is strongly dependent on the temperature and increase with higher temperatures[32-35], if monomers and PP are mixed at a low temperature, the slow diffusion of the monomers also tends to produce self-polymers, which reduces the grafting efficiency. Herein, this process has been optimized in this study to improve GP and 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mechanism of polypropylene grafting reaction has been studied by many scholars and it has been well established that a free-radical grafting process starts with the formation of macroradicals along the PP chains[15,36-38]. Generally, the primary radicals are formed by decomposition of the initiator in the freeradical grafting system. Then the primary radicals generate a macromolecular radical by hydrogen abstraction from the backbone of PP. The macromolecular radicals could react with the monomers and form a target molecule[31]. Based on these studies, the process of PP suspension grafting initiated by BPO can be summarized as follows:</a:t>
            </a:r>
          </a:p>
        </p:txBody>
      </p:sp>
      <p:sp>
        <p:nvSpPr>
          <p:cNvPr id="2" name="Text"/>
          <p:cNvSpPr/>
          <p:nvPr/>
        </p:nvSpPr>
        <p:spPr>
          <a:xfrm>
            <a:off x="1524000" y="1752600"/>
            <a:ext cx="9144000" cy="2057400"/>
          </a:xfrm>
          <a:prstGeom prst="rect">
            <a:avLst/>
          </a:prstGeom>
        </p:spPr>
        <p:txBody>
          <a:bodyPr anchor="t" lIns="0" tIns="0" rIns="0" bIns="0">
            <a:noAutofit/>
          </a:bodyPr>
          <a:lstStyle/>
          <a:p>
            <a:pPr>
              <a:lnSpc>
                <a:spcPct val="120000"/>
              </a:lnSpc>
            </a:pPr>
            <a:r>
              <a:rPr lang="en-US" sz="1200" dirty="0">
                <a:effectLst/>
              </a:rPr>
              <a:t>It can be seen from the grafting mechanism that the initiator is first broken down into primary free radicals, then the primary free radicals capture hydrogen on the polypropylene macromolecule chains to generate polypropylene macromolecular radicals, finally the macromolecular radicals react with the grafting monomers to generate polymerization products. Some of these free radicals also initiate homopolymerization of monomers. Therefore, when initiator, grafting monomers and PP are mixed together in the first time, the initiator inevitably dissolve in the grafting monomers and rapidly initiate self-polymerization of the grafting monomers (reaction 1 in Scheme 1), GP and GE will be significantly reduced. In this study, this process has been optimized. To be specific, PP and BPO were first added to the flask for preheating. During this process, PP macromolecular radicals were produced (reaction 2 in Scheme 1).Then the grafting monomer GMA was added in to react with macromolecular radicals (reaction 3 in Scheme 1). This reaction route not only reduced the dissolution of the initiator in monomer, but also accelerates the diffusionrate of monomers, which maximally prevented the</a:t>
            </a:r>
          </a:p>
        </p:txBody>
      </p:sp>
      <p:pic>
        <p:nvPicPr>
          <p:cNvPr id="2" name="image-623902bb87a87cb6fa4d07fa3e14cf4eac3dada0.jpg"/>
          <p:cNvPicPr/>
          <p:nvPr/>
        </p:nvPicPr>
        <p:blipFill>
          <a:blip r:embed="rId2" cstate="print"/>
          <a:srcRect/>
          <a:stretch>
            <a:fillRect/>
          </a:stretch>
        </p:blipFill>
        <p:spPr>
          <a:xfrm>
            <a:off x="1524000" y="3962400"/>
            <a:ext cx="9144000" cy="1638300"/>
          </a:xfrm>
          <a:prstGeom prst="rect">
            <a:avLst/>
          </a:prstGeom>
        </p:spPr>
      </p:pic>
      <p:sp>
        <p:nvSpPr>
          <p:cNvPr id="3" name="Text"/>
          <p:cNvSpPr/>
          <p:nvPr/>
        </p:nvSpPr>
        <p:spPr>
          <a:xfrm>
            <a:off x="1524000" y="5600700"/>
            <a:ext cx="9144000" cy="228600"/>
          </a:xfrm>
          <a:prstGeom prst="rect">
            <a:avLst/>
          </a:prstGeom>
        </p:spPr>
        <p:txBody>
          <a:bodyPr anchor="t" lIns="0" tIns="0" rIns="0" bIns="0">
            <a:noAutofit/>
          </a:bodyPr>
          <a:lstStyle/>
          <a:p>
            <a:pPr>
              <a:lnSpc>
                <a:spcPct val="120000"/>
              </a:lnSpc>
            </a:pPr>
            <a:r>
              <a:rPr lang="en-US" sz="1200" dirty="0">
                <a:effectLst/>
              </a:rPr>
              <a:t>Scheme 1. The graft process of polypropylene initiated by BPO.</a:t>
            </a:r>
          </a:p>
        </p:txBody>
      </p:sp>
      <p:sp>
        <p:nvSpPr>
          <p:cNvPr id="2" name="Text"/>
          <p:cNvSpPr/>
          <p:nvPr/>
        </p:nvSpPr>
        <p:spPr>
          <a:xfrm>
            <a:off x="1524000" y="5829300"/>
            <a:ext cx="9144000" cy="228600"/>
          </a:xfrm>
          <a:prstGeom prst="rect">
            <a:avLst/>
          </a:prstGeom>
        </p:spPr>
        <p:txBody>
          <a:bodyPr anchor="t" lIns="0" tIns="0" rIns="0" bIns="0">
            <a:noAutofit/>
          </a:bodyPr>
          <a:lstStyle/>
          <a:p>
            <a:pPr>
              <a:lnSpc>
                <a:spcPct val="120000"/>
              </a:lnSpc>
            </a:pPr>
            <a:r>
              <a:rPr lang="en-US" sz="1200" dirty="0">
                <a:effectLst/>
              </a:rPr>
              <a:t>occurrence of monomer self-polymerization side reaction (reaction 1 in Scheme 1), and improved grafting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In order to verify whether PP and BPO can generate macromolecular radicals during preheating process, EPR measurement (Figure 1) was implemented to detect the existence of free radicals[39-41]. EPR tests were performed on several samples in a nitrogen atmosphere at a temperature of 90 °C, and the samples are pure PP, pure BPO and their mixture. The detailed test conditions were summarized in Table 1. Figure. 1 shows the EPR spectra of these samples. When only the initiator BPO presented in the system, no free radicals were detected after heated to 90 °C due to the radicals from the decomposition of BPO are not stable, neither did PP generate free radical when heated to 90 °C. When BPO and PP were mixed together, a clear signal of free radicals was detected after heated to 90 °C.</a:t>
            </a:r>
          </a:p>
        </p:txBody>
      </p:sp>
      <p:sp>
        <p:nvSpPr>
          <p:cNvPr id="2" name="Text"/>
          <p:cNvSpPr/>
          <p:nvPr/>
        </p:nvSpPr>
        <p:spPr>
          <a:xfrm>
            <a:off x="1524000" y="1981200"/>
            <a:ext cx="9144000" cy="457200"/>
          </a:xfrm>
          <a:prstGeom prst="rect">
            <a:avLst/>
          </a:prstGeom>
        </p:spPr>
        <p:txBody>
          <a:bodyPr anchor="t" lIns="0" tIns="0" rIns="0" bIns="0">
            <a:noAutofit/>
          </a:bodyPr>
          <a:lstStyle/>
          <a:p>
            <a:pPr>
              <a:lnSpc>
                <a:spcPct val="120000"/>
              </a:lnSpc>
            </a:pPr>
            <a:r>
              <a:rPr lang="en-US" sz="1200" dirty="0">
                <a:effectLst/>
              </a:rPr>
              <a:t>EPR test showed that PP macromolecular radicals can be generated by preheating. Basing on the result, we designed some experiments to verify whether the preheating process could improve the grafting effi-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18944f142b5351935307dbccdaf71d6acf0fefa.jpg"/>
          <p:cNvPicPr/>
          <p:nvPr/>
        </p:nvPicPr>
        <p:blipFill>
          <a:blip r:embed="rId2" cstate="print"/>
          <a:srcRect/>
          <a:stretch>
            <a:fillRect/>
          </a:stretch>
        </p:blipFill>
        <p:spPr>
          <a:xfrm>
            <a:off x="1524000" y="457200"/>
            <a:ext cx="7753350" cy="5943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EPR spectrum of a) pure BPO; b) pure PP; c) PP initiated by BPO after 4 minutes; d) PP initiated by BPO after 54 minutes.</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Table 1. Samples and test conditions for EPR.</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67125" y="914400"/>
              <a:ext cx="4857750" cy="1571625"/>
            </p:xfrm>
            <a:graphic>
              <a:graphicData uri="http://schemas.openxmlformats.org/drawingml/2006/table">
                <a:tbl>
                  <a:tblPr firstRow="1" firstCol="1" bandRow="1">
                    <a:tableStyleId>{5940675A-B579-460E-94D1-54222C63F5DA}</a:tableStyleId>
                  </a:tblPr>
                  <a:tblGrid>
                    <a:gridCol w="2552700"/>
                    <a:gridCol w="1314450"/>
                    <a:gridCol w="9810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Temperature(°C)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Atmosphere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BPO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N</m:t>
                                    </m:r>
                                  </m:e>
                                  <m:sub>
                                    <m:r>
                                      <m:rPr>
                                        <m:sty m:val="p"/>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N</m:t>
                                    </m:r>
                                  </m:e>
                                  <m:sub>
                                    <m:r>
                                      <m:rPr>
                                        <m:sty m:val="p"/>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BPO+ PP(mBPO:mPP = 0.125:100)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N</m:t>
                                    </m:r>
                                  </m:e>
                                  <m:sub>
                                    <m:r>
                                      <m:rPr>
                                        <m:sty m:val="p"/>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486025"/>
            <a:ext cx="9144000" cy="457200"/>
          </a:xfrm>
          <a:prstGeom prst="rect">
            <a:avLst/>
          </a:prstGeom>
        </p:spPr>
        <p:txBody>
          <a:bodyPr anchor="t" lIns="0" tIns="0" rIns="0" bIns="0">
            <a:noAutofit/>
          </a:bodyPr>
          <a:lstStyle/>
          <a:p>
            <a:pPr>
              <a:lnSpc>
                <a:spcPct val="120000"/>
              </a:lnSpc>
            </a:pPr>
            <a:r>
              <a:rPr lang="en-US" sz="1200" dirty="0">
                <a:effectLst/>
              </a:rPr>
              <a:t>ciency. We employed GMA and MMA monomers to graft onto PP with both preheating and non-preheating methods. The results of both experiments are listed in Table 2, it is obvious that PP suspension grafting</a:t>
            </a:r>
          </a:p>
        </p:txBody>
      </p:sp>
      <p:sp>
        <p:nvSpPr>
          <p:cNvPr id="2" name="Text"/>
          <p:cNvSpPr/>
          <p:nvPr/>
        </p:nvSpPr>
        <p:spPr>
          <a:xfrm>
            <a:off x="1524000" y="3095625"/>
            <a:ext cx="9144000" cy="228600"/>
          </a:xfrm>
          <a:prstGeom prst="rect">
            <a:avLst/>
          </a:prstGeom>
        </p:spPr>
        <p:txBody>
          <a:bodyPr anchor="t" lIns="0" tIns="0" rIns="0" bIns="0">
            <a:noAutofit/>
          </a:bodyPr>
          <a:lstStyle/>
          <a:p>
            <a:pPr>
              <a:lnSpc>
                <a:spcPct val="120000"/>
              </a:lnSpc>
            </a:pPr>
            <a:r>
              <a:rPr lang="en-US" sz="1200" dirty="0">
                <a:effectLst/>
              </a:rPr>
              <a:t>Table 2. Effect of preheating on grafting efficiency.</a:t>
            </a:r>
          </a:p>
        </p:txBody>
      </p:sp>
      <p:graphicFrame>
        <p:nvGraphicFramePr>
          <p:cNvPr id="3" name="Table"/>
          <p:cNvGraphicFramePr>
            <a:graphicFrameLocks noGrp="1"/>
          </p:cNvGraphicFramePr>
          <p:nvPr/>
        </p:nvGraphicFramePr>
        <p:xfrm>
          <a:off x="4752975" y="3324225"/>
          <a:ext cx="2695575" cy="1838325"/>
        </p:xfrm>
        <a:graphic>
          <a:graphicData uri="http://schemas.openxmlformats.org/drawingml/2006/table">
            <a:tbl>
              <a:tblPr firstRow="1" firstCol="1" bandRow="1">
                <a:tableStyleId>{5940675A-B579-460E-94D1-54222C63F5DA}</a:tableStyleId>
              </a:tblPr>
              <a:tblGrid>
                <a:gridCol w="828675"/>
                <a:gridCol w="1209675"/>
                <a:gridCol w="6477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Monomer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Method</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GE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GMA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non-preheating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tc>
                <a:tc>
                  <a:txBody>
                    <a:bodyPr anchor="t" lIns="76200" tIns="15240" rIns="0" bIns="0">
                      <a:noAutofit/>
                    </a:bodyPr>
                    <a:lstStyle/>
                    <a:p>
                      <a:pPr algn="l"/>
                      <a:r>
                        <a:rPr lang="en-US" sz="1200" dirty="0">
                          <a:effectLst/>
                        </a:rPr>
                        <a:t>preheating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78.2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MMA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non-preheating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tc>
                <a:tc>
                  <a:txBody>
                    <a:bodyPr anchor="t" lIns="76200" tIns="15240" rIns="0" bIns="0">
                      <a:noAutofit/>
                    </a:bodyPr>
                    <a:lstStyle/>
                    <a:p>
                      <a:pPr algn="l"/>
                      <a:r>
                        <a:rPr lang="en-US" sz="1200" dirty="0">
                          <a:effectLst/>
                        </a:rPr>
                        <a:t>preheating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5162550"/>
            <a:ext cx="9144000" cy="228600"/>
          </a:xfrm>
          <a:prstGeom prst="rect">
            <a:avLst/>
          </a:prstGeom>
        </p:spPr>
        <p:txBody>
          <a:bodyPr anchor="t" lIns="0" tIns="0" rIns="0" bIns="0">
            <a:noAutofit/>
          </a:bodyPr>
          <a:lstStyle/>
          <a:p>
            <a:pPr>
              <a:lnSpc>
                <a:spcPct val="120000"/>
              </a:lnSpc>
            </a:pPr>
            <a:r>
              <a:rPr lang="en-US" sz="1200" dirty="0">
                <a:effectLst/>
              </a:rPr>
              <a:t>efficiency could be improved through the preheating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Since preheating process is an effective method to improve grafting efficiency, we further investigated the effect of preheating time on grafting effect of PP grafted GMA. As shown in Figure 2, along with the increasing preheating time, GP and GE remained unchanged in the first half hour. Within 2 hours, grafting efficiency and grafting rate decreased slightly. After two hours, grafting efficiency and grafting percentage dropped significantly. This shows that the active sites on polypropylene were stable for a relatively long time under non-oxidation conditions. As time increase, the sites will be inactivated with the free radical generated by the initiator or polypropylene. Preheating experiments have shown that when the preheating time did not exceed 0.5 hours, the optimal grafting percentage and grafting efficiency can be achieved.</a:t>
            </a:r>
          </a:p>
        </p:txBody>
      </p:sp>
      <p:sp>
        <p:nvSpPr>
          <p:cNvPr id="2" name="Text"/>
          <p:cNvSpPr/>
          <p:nvPr/>
        </p:nvSpPr>
        <p:spPr>
          <a:xfrm>
            <a:off x="1524000" y="2209800"/>
            <a:ext cx="9144000" cy="457200"/>
          </a:xfrm>
          <a:prstGeom prst="rect">
            <a:avLst/>
          </a:prstGeom>
        </p:spPr>
        <p:txBody>
          <a:bodyPr anchor="t" lIns="0" tIns="0" rIns="0" bIns="0">
            <a:noAutofit/>
          </a:bodyPr>
          <a:lstStyle/>
          <a:p>
            <a:pPr>
              <a:lnSpc>
                <a:spcPct val="120000"/>
              </a:lnSpc>
            </a:pPr>
            <a:r>
              <a:rPr lang="en-US" sz="1200" dirty="0">
                <a:effectLst/>
              </a:rPr>
              <a:t>Above research on preheating process fully shows that it can effectively improve grafting percentage and grafting efficiency of PP suspension grafting, and the optimal grafting effect can be achieved with a preheating time less than 0.5 hours.</a:t>
            </a:r>
          </a:p>
        </p:txBody>
      </p:sp>
      <p:sp>
        <p:nvSpPr>
          <p:cNvPr id="2" name="Text"/>
          <p:cNvSpPr/>
          <p:nvPr/>
        </p:nvSpPr>
        <p:spPr>
          <a:xfrm>
            <a:off x="1524000" y="2819400"/>
            <a:ext cx="9144000" cy="266700"/>
          </a:xfrm>
          <a:prstGeom prst="rect">
            <a:avLst/>
          </a:prstGeom>
        </p:spPr>
        <p:txBody>
          <a:bodyPr anchor="t" lIns="0" tIns="0" rIns="0" bIns="0">
            <a:noAutofit/>
          </a:bodyPr>
          <a:lstStyle/>
          <a:p>
            <a:pPr>
              <a:lnSpc>
                <a:spcPct val="125800"/>
              </a:lnSpc>
            </a:pPr>
            <a:r>
              <a:rPr lang="en-US" sz="1400" dirty="0" b="1">
                <a:effectLst/>
              </a:rPr>
              <a:t>3.2 Influence of reaction time on grafting</a:t>
            </a:r>
          </a:p>
        </p:txBody>
      </p:sp>
      <p:sp>
        <p:nvSpPr>
          <p:cNvPr id="2" name="Text"/>
          <p:cNvSpPr/>
          <p:nvPr/>
        </p:nvSpPr>
        <p:spPr>
          <a:xfrm>
            <a:off x="1524000" y="3264408"/>
            <a:ext cx="9144000" cy="457200"/>
          </a:xfrm>
          <a:prstGeom prst="rect">
            <a:avLst/>
          </a:prstGeom>
        </p:spPr>
        <p:txBody>
          <a:bodyPr anchor="t" lIns="0" tIns="0" rIns="0" bIns="0">
            <a:noAutofit/>
          </a:bodyPr>
          <a:lstStyle/>
          <a:p>
            <a:pPr>
              <a:lnSpc>
                <a:spcPct val="120000"/>
              </a:lnSpc>
            </a:pPr>
            <a:r>
              <a:rPr lang="en-US" sz="1200" dirty="0">
                <a:effectLst/>
              </a:rPr>
              <a:t>In general, the total reaction time for grafting polymerization is about at least four times the half-life of the initiator at the reaction temperature[42,43]. Since the half-life of BPO at 90 °C is 1 h, required reaction time for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8d2902e8654283821c6f0102e78f736b2d14976.jpg"/>
          <p:cNvPicPr/>
          <p:nvPr/>
        </p:nvPicPr>
        <p:blipFill>
          <a:blip r:embed="rId2" cstate="print"/>
          <a:srcRect/>
          <a:stretch>
            <a:fillRect/>
          </a:stretch>
        </p:blipFill>
        <p:spPr>
          <a:xfrm>
            <a:off x="1524000" y="457200"/>
            <a:ext cx="7896225" cy="5391150"/>
          </a:xfrm>
          <a:prstGeom prst="rect">
            <a:avLst/>
          </a:prstGeom>
        </p:spPr>
      </p:pic>
      <p:sp>
        <p:nvSpPr>
          <p:cNvPr id="3" name="Text"/>
          <p:cNvSpPr/>
          <p:nvPr/>
        </p:nvSpPr>
        <p:spPr>
          <a:xfrm>
            <a:off x="1524000" y="5848350"/>
            <a:ext cx="9144000" cy="228600"/>
          </a:xfrm>
          <a:prstGeom prst="rect">
            <a:avLst/>
          </a:prstGeom>
        </p:spPr>
        <p:txBody>
          <a:bodyPr anchor="t" lIns="0" tIns="0" rIns="0" bIns="0">
            <a:noAutofit/>
          </a:bodyPr>
          <a:lstStyle/>
          <a:p>
            <a:pPr>
              <a:lnSpc>
                <a:spcPct val="120000"/>
              </a:lnSpc>
            </a:pPr>
            <a:r>
              <a:rPr lang="en-US" sz="1200" dirty="0">
                <a:effectLst/>
              </a:rPr>
              <a:t>Figure 2. Effect of Preheating time on GP and 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BPO grafting reaction should be 4 h. However, for a chemical process, it is helpful to reduce the reaction time to reduce cost and maximize profit. Thus, we investigated the effect of reaction time on PP grafted GMA to optimize the reaction process, taking GP and GE as standards to measure the quality of the grafting reaction. Table 3 shows the results of the PP-g-GMA experiments with different reaction times. It can be seen that GP and GE were almost constant when the reaction time exceeded 1 h , this indicates that the reaction was complete in the first hour. To further verify this conclusion, FT-IR measurement was used on (Figure 3) the PP-g-GMA samples (after extracted with ethyl acetate) with different reaction times. Compared to the spectrum of pristine PP, strong absorption bands appeared at </a:t>
                </a:r>
                <a:r>
                  <a:rPr lang="en-US" sz="1200" dirty="0">
                    <a:effectLst/>
                  </a:rPr>
                  <a:t>​</a:t>
                </a:r>
                <a14:m>
                  <m:oMath>
                    <m:r>
                      <m:rPr>
                        <m:sty m:val="p"/>
                      </m:rPr>
                      <a:rPr lang="en-US" sz="1200" dirty="0">
                        <a:solidFill>
                          <a:srgbClr val="000000"/>
                        </a:solidFill>
                        <a:effectLst/>
                      </a:rPr>
                      <m:t>1730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the grafting products with different reaction times. This characteristic band was attributed to the carbonyl group stretching of GMA. Since the monomer and homopolymer of GMA had been removed by extraction, it can be guaranteed that GMA monomer was successfully grafted onto PP backbone. It can be seen that when the reaction time exceeded 1 hour, the area of the characteristic peaks of the grafted samples is almost the same, which indicates that optimal grafting percentage can be achieved after 1 hour. This is consistent with the previous conclusion</a:t>
                </a:r>
              </a:p>
            </p:txBody>
          </p:sp>
        </mc:Choice>
        <mc:Fallback/>
      </mc:AlternateContent>
      <p:sp>
        <p:nvSpPr>
          <p:cNvPr id="2" name="Text"/>
          <p:cNvSpPr/>
          <p:nvPr/>
        </p:nvSpPr>
        <p:spPr>
          <a:xfrm>
            <a:off x="1524000" y="3124200"/>
            <a:ext cx="9144000" cy="228600"/>
          </a:xfrm>
          <a:prstGeom prst="rect">
            <a:avLst/>
          </a:prstGeom>
        </p:spPr>
        <p:txBody>
          <a:bodyPr anchor="t" lIns="0" tIns="0" rIns="0" bIns="0">
            <a:noAutofit/>
          </a:bodyPr>
          <a:lstStyle/>
          <a:p>
            <a:pPr>
              <a:lnSpc>
                <a:spcPct val="120000"/>
              </a:lnSpc>
            </a:pPr>
            <a:r>
              <a:rPr lang="en-US" sz="1200" dirty="0">
                <a:effectLst/>
              </a:rPr>
              <a:t>Table 3. GP and GE of different reaction time.</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162300" y="3352800"/>
              <a:ext cx="5876925" cy="2381250"/>
            </p:xfrm>
            <a:graphic>
              <a:graphicData uri="http://schemas.openxmlformats.org/drawingml/2006/table">
                <a:tbl>
                  <a:tblPr firstRow="1" firstCol="1" bandRow="1">
                    <a:tableStyleId>{5940675A-B579-460E-94D1-54222C63F5DA}</a:tableStyleId>
                  </a:tblPr>
                  <a:tblGrid>
                    <a:gridCol w="504825"/>
                    <a:gridCol w="581025"/>
                    <a:gridCol w="742950"/>
                    <a:gridCol w="695325"/>
                    <a:gridCol w="714375"/>
                    <a:gridCol w="1343025"/>
                    <a:gridCol w="638175"/>
                    <a:gridCol w="6477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RUN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GMA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BPO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m:oMathPara>
                          </a14:m>
                          <a:r>
                            <a:rPr lang="en-US" sz="1200" dirty="0">
                              <a:effectLst/>
                            </a:rPr>
                            <a:t>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Reaction time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GP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GE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72.4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78.2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7c7c71b3568712c4df0c34140326039b4d4b7fd.jpg"/>
          <p:cNvPicPr/>
          <p:nvPr/>
        </p:nvPicPr>
        <p:blipFill>
          <a:blip r:embed="rId2" cstate="print"/>
          <a:srcRect/>
          <a:stretch>
            <a:fillRect/>
          </a:stretch>
        </p:blipFill>
        <p:spPr>
          <a:xfrm>
            <a:off x="1524000" y="457200"/>
            <a:ext cx="7515225" cy="594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3. FT-IR spectra of pristine PP and PP-g-GMA with different reaction time.</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that the optimal grafting percentage and grafting efficiency can be achieved after one hour of reaction.</a:t>
            </a:r>
          </a:p>
        </p:txBody>
      </p:sp>
      <p:sp>
        <p:nvSpPr>
          <p:cNvPr id="2" name="Text"/>
          <p:cNvSpPr/>
          <p:nvPr/>
        </p:nvSpPr>
        <p:spPr>
          <a:xfrm>
            <a:off x="1524000" y="1066800"/>
            <a:ext cx="9144000" cy="266700"/>
          </a:xfrm>
          <a:prstGeom prst="rect">
            <a:avLst/>
          </a:prstGeom>
        </p:spPr>
        <p:txBody>
          <a:bodyPr anchor="t" lIns="0" tIns="0" rIns="0" bIns="0">
            <a:noAutofit/>
          </a:bodyPr>
          <a:lstStyle/>
          <a:p>
            <a:pPr>
              <a:lnSpc>
                <a:spcPct val="125800"/>
              </a:lnSpc>
            </a:pPr>
            <a:r>
              <a:rPr lang="en-US" sz="1400" dirty="0" b="1">
                <a:effectLst/>
              </a:rPr>
              <a:t>3.3 Influence of peroxide residue on grafting</a:t>
            </a:r>
          </a:p>
        </p:txBody>
      </p:sp>
      <mc:AlternateContent xmlns:mc="http://schemas.openxmlformats.org/markup-compatibility/2006">
        <mc:Choice xmlns:a14="http://schemas.microsoft.com/office/drawing/2010/main" Requires="a14">
          <p:sp>
            <p:nvSpPr>
              <p:cNvPr id="2" name="Text"/>
              <p:cNvSpPr/>
              <p:nvPr/>
            </p:nvSpPr>
            <p:spPr>
              <a:xfrm>
                <a:off x="1524000" y="1511808"/>
                <a:ext cx="9144000" cy="914400"/>
              </a:xfrm>
              <a:prstGeom prst="rect">
                <a:avLst/>
              </a:prstGeom>
            </p:spPr>
            <p:txBody>
              <a:bodyPr anchor="t" lIns="0" tIns="0" rIns="0" bIns="0">
                <a:noAutofit/>
              </a:bodyPr>
              <a:lstStyle/>
              <a:p>
                <a:pPr>
                  <a:lnSpc>
                    <a:spcPct val="120000"/>
                  </a:lnSpc>
                </a:pPr>
                <a:r>
                  <a:rPr lang="en-US" sz="1200" dirty="0">
                    <a:effectLst/>
                  </a:rPr>
                  <a:t>MFR is also an important measure of grafting effect. The MFR data of pristine and grafted PP are listed in Table 4. As shown, the MFR value of grafted PP is lower than that of pristine PP. It is mainly because grafting polymerization leads to the increase of molecular weight of PP(Mn increased from </a:t>
                </a:r>
                <a:r>
                  <a:rPr lang="en-US" sz="1200" dirty="0">
                    <a:effectLst/>
                  </a:rPr>
                  <a:t>​</a:t>
                </a:r>
                <a14:m>
                  <m:oMath>
                    <m:r>
                      <m:rPr>
                        <m:sty m:val="p"/>
                      </m:rPr>
                      <a:rPr lang="en-US" sz="1200" dirty="0">
                        <a:solidFill>
                          <a:srgbClr val="000000"/>
                        </a:solidFill>
                        <a:effectLst/>
                      </a:rPr>
                      <m:t>4.9</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4</m:t>
                        </m:r>
                      </m:sup>
                    </m:sSup>
                  </m:oMath>
                </a14:m>
                <a:r>
                  <a:rPr lang="en-US" sz="1200" dirty="0">
                    <a:effectLst/>
                  </a:rPr>
                  <a:t> to </a:t>
                </a:r>
                <a:r>
                  <a:rPr lang="en-US" sz="1200" dirty="0">
                    <a:effectLst/>
                  </a:rPr>
                  <a:t>​</a:t>
                </a:r>
                <a14:m>
                  <m:oMath>
                    <m:r>
                      <m:rPr>
                        <m:sty m:val="p"/>
                      </m:rPr>
                      <a:rPr lang="en-US" sz="1200" dirty="0">
                        <a:solidFill>
                          <a:srgbClr val="000000"/>
                        </a:solidFill>
                        <a:effectLst/>
                      </a:rPr>
                      <m:t>5.7</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4</m:t>
                        </m:r>
                      </m:sup>
                    </m:sSup>
                  </m:oMath>
                </a14:m>
                <a:r>
                  <a:rPr lang="en-US" sz="1200" dirty="0">
                    <a:effectLst/>
                  </a:rPr>
                  <a:t> after PP grafted GMA) , and the side chains also affect the fluidity of PP, which reduces the MFR values.</a:t>
                </a:r>
              </a:p>
            </p:txBody>
          </p:sp>
        </mc:Choice>
        <mc:Fallback/>
      </mc:AlternateContent>
      <p:sp>
        <p:nvSpPr>
          <p:cNvPr id="2" name="Text"/>
          <p:cNvSpPr/>
          <p:nvPr/>
        </p:nvSpPr>
        <p:spPr>
          <a:xfrm>
            <a:off x="1524000" y="2578608"/>
            <a:ext cx="9144000" cy="3200400"/>
          </a:xfrm>
          <a:prstGeom prst="rect">
            <a:avLst/>
          </a:prstGeom>
        </p:spPr>
        <p:txBody>
          <a:bodyPr anchor="t" lIns="0" tIns="0" rIns="0" bIns="0">
            <a:noAutofit/>
          </a:bodyPr>
          <a:lstStyle/>
          <a:p>
            <a:pPr>
              <a:lnSpc>
                <a:spcPct val="120000"/>
              </a:lnSpc>
            </a:pPr>
            <a:r>
              <a:rPr lang="en-US" sz="1200" dirty="0">
                <a:effectLst/>
              </a:rPr>
              <a:t>According to the study on reaction time, GP is basically the same after reaction time exceeds 1 h. However, the MFR values of the products obtained after 1 h and 1.5 h are higher than the values of the products obtained after 2 and 4 h of reactions. It is noteworthy that the MFR values of the three products obtained after 1 h are also different. We assume that these differences are from the presence of BPO residue in the products from 1 h of reactions, which may cause degradation of PP during the MFR test. However, there is no BPO residue in the product obtained after 2 and 4 hours because they have sufficient time to inactivate the BPO residue. A series of experiments have been designed to verify this assumption. First, experiments were designed to verify whether BPO remained in the product after an hour of reaction: (1)An additional amount of antioxidant was added to the sample during MFR testing. It was found that the MFR value of the product decreased from 3.2 g/10 min to 2.9 g/10 min. The decrease of MFR value indicates that the antioxidant effectively inhibited PP degradation caused by residual BPO, confirming the presence of BPO residue in the product. (2) The product obtained after 1h of reaction was poured into water and heated for three hours. At this point, the MFR values of the product should be reduced as residual BPO has been consumed during the heating process. The test results approved this assumption, the MFR value of the sample decreased from 3.2 g/10 min to 2.5 g/10 min. This is also a sufficient evidence of BPO residue in the product. The above experiments demonstrate that there is BPO residue in the products obtained after one hour of reaction. Second, whether BPO residue actually causes degradation of PP needs to be proved. The proof</a:t>
            </a:r>
          </a:p>
        </p:txBody>
      </p:sp>
      <p:sp>
        <p:nvSpPr>
          <p:cNvPr id="2" name="Text"/>
          <p:cNvSpPr/>
          <p:nvPr/>
        </p:nvSpPr>
        <p:spPr>
          <a:xfrm>
            <a:off x="1524000" y="5931408"/>
            <a:ext cx="9144000" cy="228600"/>
          </a:xfrm>
          <a:prstGeom prst="rect">
            <a:avLst/>
          </a:prstGeom>
        </p:spPr>
        <p:txBody>
          <a:bodyPr anchor="t" lIns="0" tIns="0" rIns="0" bIns="0">
            <a:noAutofit/>
          </a:bodyPr>
          <a:lstStyle/>
          <a:p>
            <a:pPr>
              <a:lnSpc>
                <a:spcPct val="120000"/>
              </a:lnSpc>
            </a:pPr>
            <a:r>
              <a:rPr lang="en-US" sz="1200" dirty="0">
                <a:effectLst/>
              </a:rPr>
              <a:t>Table 4. MFR data of pristine and grafted 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graphicFrame>
        <p:nvGraphicFramePr>
          <p:cNvPr id="3" name="Table"/>
          <p:cNvGraphicFramePr>
            <a:graphicFrameLocks noGrp="1"/>
          </p:cNvGraphicFramePr>
          <p:nvPr/>
        </p:nvGraphicFramePr>
        <p:xfrm>
          <a:off x="3714750" y="457200"/>
          <a:ext cx="4762500" cy="1066800"/>
        </p:xfrm>
        <a:graphic>
          <a:graphicData uri="http://schemas.openxmlformats.org/drawingml/2006/table">
            <a:tbl>
              <a:tblPr firstRow="1" firstCol="1" bandRow="1">
                <a:tableStyleId>{5940675A-B579-460E-94D1-54222C63F5DA}</a:tableStyleId>
              </a:tblPr>
              <a:tblGrid>
                <a:gridCol w="1304925"/>
                <a:gridCol w="361950"/>
                <a:gridCol w="466725"/>
                <a:gridCol w="381000"/>
                <a:gridCol w="371475"/>
                <a:gridCol w="361950"/>
                <a:gridCol w="381000"/>
                <a:gridCol w="371475"/>
                <a:gridCol w="381000"/>
                <a:gridCol w="3810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Samples</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PP</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8">
                  <a:txBody>
                    <a:bodyPr anchor="t" lIns="76200" tIns="15240" rIns="0" bIns="0">
                      <a:noAutofit/>
                    </a:bodyPr>
                    <a:lstStyle/>
                    <a:p>
                      <a:pPr algn="ctr"/>
                      <a:r>
                        <a:rPr lang="en-US" sz="1200" dirty="0">
                          <a:effectLst/>
                        </a:rPr>
                        <a:t>Reaction Time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nchor="b"/>
                </a:tc>
                <a:tc vMerge="1">
                  <a:txBody>
                    <a:bodyPr/>
                    <a:lstStyle/>
                    <a:p>
                      <a:pPr/>
                      <a:endParaRPr/>
                    </a:p>
                  </a:txBody>
                  <a:tcPr marL="0" marR="0" marT="0" marB="0" anchor="b"/>
                </a:tc>
                <a:tc>
                  <a:txBody>
                    <a:bodyPr anchor="t" lIns="76200" tIns="15240" rIns="0" bIns="0">
                      <a:noAutofit/>
                    </a:bodyPr>
                    <a:lstStyle/>
                    <a:p>
                      <a:pPr algn="l"/>
                      <a:r>
                        <a:rPr lang="en-US" sz="1200" dirty="0">
                          <a:effectLst/>
                        </a:rPr>
                        <a:t>0.25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MFR ( g/10 min)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mc:Choice xmlns:a14="http://schemas.microsoft.com/office/drawing/2010/main" Requires="a14">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method is to add a certain amount of BPO to PP and measure its MFR value.We find that the MFR value increased from </a:t>
                </a:r>
                <a:r>
                  <a:rPr lang="en-US" sz="1200" dirty="0">
                    <a:effectLst/>
                  </a:rPr>
                  <a:t>​</a:t>
                </a:r>
                <a14:m>
                  <m:oMath>
                    <m:r>
                      <m:rPr>
                        <m:sty m:val="p"/>
                      </m:rPr>
                      <a:rPr lang="en-US" sz="1200" dirty="0">
                        <a:solidFill>
                          <a:srgbClr val="000000"/>
                        </a:solidFill>
                        <a:effectLst/>
                      </a:rPr>
                      <m:t>3.7</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to </a:t>
                </a:r>
                <a:r>
                  <a:rPr lang="en-US" sz="1200" dirty="0">
                    <a:effectLst/>
                  </a:rPr>
                  <a:t>​</a:t>
                </a:r>
                <a14:m>
                  <m:oMath>
                    <m:r>
                      <m:rPr>
                        <m:sty m:val="p"/>
                      </m:rPr>
                      <a:rPr lang="en-US" sz="1200" dirty="0">
                        <a:solidFill>
                          <a:srgbClr val="000000"/>
                        </a:solidFill>
                        <a:effectLst/>
                      </a:rPr>
                      <m:t>4.1</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which indicates that BPO residue could cause degradation of PP.</a:t>
                </a:r>
              </a:p>
            </p:txBody>
          </p:sp>
        </mc:Choice>
        <mc:Fallback/>
      </mc:AlternateContent>
      <p:sp>
        <p:nvSpPr>
          <p:cNvPr id="2" name="Text"/>
          <p:cNvSpPr/>
          <p:nvPr/>
        </p:nvSpPr>
        <p:spPr>
          <a:xfrm>
            <a:off x="1524000" y="2133600"/>
            <a:ext cx="9144000" cy="1143000"/>
          </a:xfrm>
          <a:prstGeom prst="rect">
            <a:avLst/>
          </a:prstGeom>
        </p:spPr>
        <p:txBody>
          <a:bodyPr anchor="t" lIns="0" tIns="0" rIns="0" bIns="0">
            <a:noAutofit/>
          </a:bodyPr>
          <a:lstStyle/>
          <a:p>
            <a:pPr>
              <a:lnSpc>
                <a:spcPct val="120000"/>
              </a:lnSpc>
            </a:pPr>
            <a:r>
              <a:rPr lang="en-US" sz="1200" dirty="0">
                <a:effectLst/>
              </a:rPr>
              <a:t>According to the analysis of GP、GE and MFR, it can be seen that the optimal GP and GE can be reached in an hour, but there was BPO residue in the product. In order to remove the residual BPO, after 1 h of reaction, the system temperature was raised rapidly to 120 °C and held for half an hour. The MFR value of the product obtained by this method is 2.5 g/10 min, showing that this process can effectively solve the problem of residual BPO in the product. By this method, the reaction time of suspension grafting GMA onto PP can be shortened to 1.5 h .</a:t>
            </a:r>
          </a:p>
        </p:txBody>
      </p:sp>
      <p:sp>
        <p:nvSpPr>
          <p:cNvPr id="2" name="Text"/>
          <p:cNvSpPr/>
          <p:nvPr/>
        </p:nvSpPr>
        <p:spPr>
          <a:xfrm>
            <a:off x="1524000" y="3429000"/>
            <a:ext cx="9144000" cy="342900"/>
          </a:xfrm>
          <a:prstGeom prst="rect">
            <a:avLst/>
          </a:prstGeom>
        </p:spPr>
        <p:txBody>
          <a:bodyPr anchor="t" lIns="0" tIns="0" rIns="0" bIns="0">
            <a:noAutofit/>
          </a:bodyPr>
          <a:lstStyle/>
          <a:p>
            <a:pPr>
              <a:lnSpc>
                <a:spcPct val="120000"/>
              </a:lnSpc>
            </a:pPr>
            <a:r>
              <a:rPr lang="en-US" sz="1800" dirty="0" b="1">
                <a:effectLst/>
              </a:rPr>
              <a:t>4. Conclusions</a:t>
            </a:r>
          </a:p>
        </p:txBody>
      </p:sp>
      <p:sp>
        <p:nvSpPr>
          <p:cNvPr id="2" name="Text"/>
          <p:cNvSpPr/>
          <p:nvPr/>
        </p:nvSpPr>
        <p:spPr>
          <a:xfrm>
            <a:off x="1524000" y="3961639"/>
            <a:ext cx="9144000" cy="1600200"/>
          </a:xfrm>
          <a:prstGeom prst="rect">
            <a:avLst/>
          </a:prstGeom>
        </p:spPr>
        <p:txBody>
          <a:bodyPr anchor="t" lIns="0" tIns="0" rIns="0" bIns="0">
            <a:noAutofit/>
          </a:bodyPr>
          <a:lstStyle/>
          <a:p>
            <a:pPr>
              <a:lnSpc>
                <a:spcPct val="120000"/>
              </a:lnSpc>
            </a:pPr>
            <a:r>
              <a:rPr lang="en-US" sz="1200" dirty="0">
                <a:effectLst/>
              </a:rPr>
              <a:t>In conclusion, we put forward a novel kind of charging sequence for PP based suspension grafting polymerization. After conducting a preheating procedure before adding the grafting monomer, the grafting percentage and grafting efficiency of grafting polymerization was greatly enhanced. When GMA was used as the grafting monomer, the preheating method increased the grafting efficiency from 50.0% to 78.2%, and the optimal grafting percentage and grafting efficiency can be achieved after one hour of reaction. The heating process can effectively solve the BPO residue problem and shorten the reaction time to 1.5h. The result demonstrates an efficient way to improve reaction efficiency and reduce reaction time, which is of great significance to the future industrialization of suspension grafting polymerization.</a:t>
            </a:r>
          </a:p>
        </p:txBody>
      </p:sp>
      <p:sp>
        <p:nvSpPr>
          <p:cNvPr id="2" name="Text"/>
          <p:cNvSpPr/>
          <p:nvPr/>
        </p:nvSpPr>
        <p:spPr>
          <a:xfrm>
            <a:off x="1524000" y="5714239"/>
            <a:ext cx="9144000" cy="342900"/>
          </a:xfrm>
          <a:prstGeom prst="rect">
            <a:avLst/>
          </a:prstGeom>
        </p:spPr>
        <p:txBody>
          <a:bodyPr anchor="t" lIns="0" tIns="0" rIns="0" bIns="0">
            <a:noAutofit/>
          </a:bodyPr>
          <a:lstStyle/>
          <a:p>
            <a:pPr>
              <a:lnSpc>
                <a:spcPct val="120000"/>
              </a:lnSpc>
            </a:pPr>
            <a:r>
              <a:rPr lang="en-US" sz="1800" dirty="0" b="1">
                <a:effectLst/>
              </a:rPr>
              <a:t>Disclosure statement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No potential conflict of interest was reported by the authors.</a:t>
            </a:r>
          </a:p>
        </p:txBody>
      </p:sp>
      <p:sp>
        <p:nvSpPr>
          <p:cNvPr id="2" name="Text"/>
          <p:cNvSpPr/>
          <p:nvPr/>
        </p:nvSpPr>
        <p:spPr>
          <a:xfrm>
            <a:off x="1524000" y="8382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1370839"/>
            <a:ext cx="9144000" cy="1143000"/>
          </a:xfrm>
          <a:prstGeom prst="rect">
            <a:avLst/>
          </a:prstGeom>
        </p:spPr>
        <p:txBody>
          <a:bodyPr anchor="t" lIns="0" tIns="0" rIns="0" bIns="0">
            <a:noAutofit/>
          </a:bodyPr>
          <a:lstStyle/>
          <a:p>
            <a:pPr lvl="0" indent="-285750" marL="533400">
              <a:lnSpc>
                <a:spcPct val="120000"/>
              </a:lnSpc>
              <a:buNone/>
            </a:pPr>
            <a:r>
              <a:rPr lang="en-US" sz="1200" dirty="0">
                <a:effectLst/>
              </a:rPr>
              <a:t>[1] Jiang XL, Zhang YX. Study of the structure and the mechanical properties of dynamically cured PP/MAH-g-SEBS/epoxy blends. Chin Chem Lett. 2009;20(7):877-880.</a:t>
            </a:r>
          </a:p>
          <a:p>
            <a:pPr lvl="0" indent="-285750" marL="533400">
              <a:lnSpc>
                <a:spcPct val="120000"/>
              </a:lnSpc>
              <a:buNone/>
            </a:pPr>
            <a:r>
              <a:rPr lang="en-US" sz="1200" dirty="0">
                <a:effectLst/>
              </a:rPr>
              <a:t>[2] Butylina S, Martikka O, Kärki T. Physical and mechanical properties of wood-polypropylene composites made with virgin and/or recycled polypropylene. Polym Plast Technol Eng. 2011;50(10):1040-1046.</a:t>
            </a:r>
          </a:p>
          <a:p>
            <a:pPr lvl="0" indent="-285750" marL="533400">
              <a:lnSpc>
                <a:spcPct val="120000"/>
              </a:lnSpc>
              <a:buNone/>
            </a:pPr>
            <a:r>
              <a:rPr lang="en-US" sz="1200" dirty="0">
                <a:effectLst/>
              </a:rPr>
              <a:t>[3] Ye Y-N, Li P-Y, Shangguan Y-G, et al. A convenient, highly-efficient method for preparation of hydroxyl-</a:t>
            </a:r>
          </a:p>
        </p:txBody>
      </p:sp>
      <mc:AlternateContent xmlns:mc="http://schemas.openxmlformats.org/markup-compatibility/2006">
        <mc:Choice xmlns:a14="http://schemas.microsoft.com/office/drawing/2010/main" Requires="a14">
          <p:sp>
            <p:nvSpPr>
              <p:cNvPr id="2" name="Text"/>
              <p:cNvSpPr/>
              <p:nvPr/>
            </p:nvSpPr>
            <p:spPr>
              <a:xfrm>
                <a:off x="1524000" y="2666239"/>
                <a:ext cx="9144000" cy="3429000"/>
              </a:xfrm>
              <a:prstGeom prst="rect">
                <a:avLst/>
              </a:prstGeom>
            </p:spPr>
            <p:txBody>
              <a:bodyPr anchor="t" lIns="0" tIns="0" rIns="0" bIns="0">
                <a:noAutofit/>
              </a:bodyPr>
              <a:lstStyle/>
              <a:p>
                <a:pPr lvl="0" indent="-285750" marL="533400">
                  <a:lnSpc>
                    <a:spcPct val="120000"/>
                  </a:lnSpc>
                  <a:buNone/>
                </a:pPr>
                <a:r>
                  <a:rPr lang="en-US" sz="1200" dirty="0">
                    <a:effectLst/>
                  </a:rPr>
                  <a:t>terminated isotactic poly(propylene) and functional diblock copolymer. Chin Chem Lett. 2014;25(4):596-600.</a:t>
                </a:r>
              </a:p>
              <a:p>
                <a:pPr lvl="0" indent="-285750" marL="533400">
                  <a:lnSpc>
                    <a:spcPct val="120000"/>
                  </a:lnSpc>
                  <a:buNone/>
                </a:pPr>
                <a:r>
                  <a:rPr lang="en-US" sz="1200" dirty="0">
                    <a:effectLst/>
                  </a:rPr>
                  <a:t>[4] Xiao A, Wang L, Liu Q, et al. Synthesis of low isotactic polypropylene using MgCl2/AlCl3-supported zieglernatta catalysts prepared using the one-pot milling method. Des Monomers and Polym. 2008;11(2):139-145.</a:t>
                </a:r>
              </a:p>
              <a:p>
                <a:pPr lvl="0" indent="-285750" marL="533400">
                  <a:lnSpc>
                    <a:spcPct val="120000"/>
                  </a:lnSpc>
                  <a:buNone/>
                </a:pPr>
                <a:r>
                  <a:rPr lang="en-US" sz="1200" dirty="0">
                    <a:effectLst/>
                  </a:rPr>
                  <a:t>[5] Chen Q, Xue H, Lin J. Preparation of polypropylenegraft-cardanol by reactive extrusion and its composite material with bamboo powder. J Appl Polym Sci. 2009;115(2):1160-1167.</a:t>
                </a:r>
              </a:p>
              <a:p>
                <a:pPr lvl="0" indent="-285750" marL="533400">
                  <a:lnSpc>
                    <a:spcPct val="120000"/>
                  </a:lnSpc>
                  <a:buNone/>
                </a:pPr>
                <a:r>
                  <a:rPr lang="en-US" sz="1200" dirty="0">
                    <a:effectLst/>
                  </a:rPr>
                  <a:t>[6] Wang J, Wang D, Du W, et al. Synthesis of functional polypropylene via solid-phase grafting soft vinyl monomer and its mechanism. J Appl Polym Sci. 2009;113 (3):1803-1810.</a:t>
                </a:r>
              </a:p>
              <a:p>
                <a:pPr lvl="0" indent="-285750" marL="533400">
                  <a:lnSpc>
                    <a:spcPct val="120000"/>
                  </a:lnSpc>
                  <a:buNone/>
                </a:pPr>
                <a:r>
                  <a:rPr lang="en-US" sz="1200" dirty="0">
                    <a:effectLst/>
                  </a:rPr>
                  <a:t>[7] Tenma M, Mieda N, Takamatsu S, et al. Structure and properties for transparent polypropylene containing sorbitol-based clarifier. J Polymer Sci B: Polymer Phys. 2007;46(1):41-47.</a:t>
                </a:r>
              </a:p>
              <a:p>
                <a:pPr lvl="0" indent="-285750" marL="533400">
                  <a:lnSpc>
                    <a:spcPct val="120000"/>
                  </a:lnSpc>
                  <a:buNone/>
                </a:pPr>
                <a:r>
                  <a:rPr lang="en-US" sz="1200" dirty="0">
                    <a:effectLst/>
                  </a:rPr>
                  <a:t>[8] Bianying W, Binbin J. Crystallization behaviors and mechanical performance of polypropylene/tetrapodshaped zinc oxide whisker composites. J Appl Polym Sci. 2011;124(1):138-144.</a:t>
                </a:r>
              </a:p>
              <a:p>
                <a:pPr lvl="0" indent="-285750" marL="533400">
                  <a:lnSpc>
                    <a:spcPct val="120000"/>
                  </a:lnSpc>
                  <a:buNone/>
                </a:pPr>
                <a:r>
                  <a:rPr lang="en-US" sz="1200" dirty="0">
                    <a:effectLst/>
                  </a:rPr>
                  <a:t>[9] Amash A, Hildebrandt F-I, Zugenmaier P. Dynamic mechanical and thermal studies of cellulosics and cellulose composites. Des Monomers and Polym. 2002;5 (4):385-399.</a:t>
                </a:r>
              </a:p>
              <a:p>
                <a:pPr lvl="0" indent="-285750" marL="533400">
                  <a:lnSpc>
                    <a:spcPct val="120000"/>
                  </a:lnSpc>
                  <a:buNone/>
                </a:pPr>
                <a:r>
                  <a:rPr lang="en-US" sz="1200" dirty="0">
                    <a:effectLst/>
                  </a:rPr>
                  <a:t>[10] Gafarov M A, Galibeev SS, Kochnev AM, et al. Chemical modification of polypropylene with isocyanate- </a:t>
                </a:r>
                <a:r>
                  <a:rPr lang="en-US" sz="1200" dirty="0">
                    <a:effectLst/>
                  </a:rPr>
                  <a:t>​</a:t>
                </a:r>
                <a14:m>
                  <m:oMath>
                    <m:r>
                      <m:rPr>
                        <m:sty m:val="i"/>
                      </m:rPr>
                      <a:rPr lang="en-US" sz="1200" dirty="0">
                        <a:solidFill>
                          <a:srgbClr val="000000"/>
                        </a:solidFill>
                        <a:effectLst/>
                      </a:rPr>
                      <m:t>ε</m:t>
                    </m:r>
                  </m:oMath>
                </a14:m>
                <a:r>
                  <a:rPr lang="en-US" sz="1200" dirty="0">
                    <a:effectLst/>
                  </a:rPr>
                  <a:t>-caprolactam mixtures. Russian J Appl Chem. 2004;77(4):618-621.</a:t>
                </a:r>
              </a:p>
            </p:txBody>
          </p:sp>
        </mc:Choice>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[11] Kim JY, Seo ES, Park DS, et al. Chemical modification of isotactic polypropylene by melt blending. Fibers and Polym. 2003;4(3):107-113.</a:t>
            </a:r>
          </a:p>
          <a:p>
            <a:pPr lvl="0" indent="-285750" marL="533400">
              <a:lnSpc>
                <a:spcPct val="120000"/>
              </a:lnSpc>
              <a:buNone/>
            </a:pPr>
            <a:r>
              <a:rPr lang="en-US" sz="1200" dirty="0">
                <a:effectLst/>
              </a:rPr>
              <a:t>[12] Saule M, Moine L, Degueil-Castaing M, et al. Chemical modification of polypropylene by decomposition of unsaturated peroxides. Macromolecules. 2005;38 (1):77-85.</a:t>
            </a:r>
          </a:p>
          <a:p>
            <a:pPr lvl="0" indent="-285750" marL="533400">
              <a:lnSpc>
                <a:spcPct val="120000"/>
              </a:lnSpc>
              <a:buNone/>
            </a:pPr>
            <a:r>
              <a:rPr lang="en-US" sz="1200" dirty="0">
                <a:effectLst/>
              </a:rPr>
              <a:t>[13] Al-Malaika S, Eddiyanto E. Reactive processing of polymers: effect of bifunctional and tri-functional comonomers on melt grafting of glycidyl methacrylate onto polypropylene. Polym Degrad Stab. 2010;95(3):353-362.</a:t>
            </a:r>
          </a:p>
          <a:p>
            <a:pPr lvl="0" indent="-285750" marL="533400">
              <a:lnSpc>
                <a:spcPct val="120000"/>
              </a:lnSpc>
              <a:buNone/>
            </a:pPr>
            <a:r>
              <a:rPr lang="en-US" sz="1200" dirty="0">
                <a:effectLst/>
              </a:rPr>
              <a:t>[14] Li S, Xiao M, Wei D, et al. The melt grafting preparation and rheological characterization of long chain branching polypropylene. Polymer. 2009;50 (25):6121-6128.</a:t>
            </a:r>
          </a:p>
          <a:p>
            <a:pPr lvl="0" indent="-285750" marL="533400">
              <a:lnSpc>
                <a:spcPct val="120000"/>
              </a:lnSpc>
              <a:buNone/>
            </a:pPr>
            <a:r>
              <a:rPr lang="en-US" sz="1200" dirty="0">
                <a:effectLst/>
              </a:rPr>
              <a:t>[15] Li Y, Xie X-M, Guo B-H. Study on styrene-assisted melt free-radical grafting of maleic anhydride onto polypropylene. Polymer. 2001;42(8):3419-3425.</a:t>
            </a:r>
          </a:p>
          <a:p>
            <a:pPr lvl="0" indent="-285750" marL="533400">
              <a:lnSpc>
                <a:spcPct val="120000"/>
              </a:lnSpc>
              <a:buNone/>
            </a:pPr>
            <a:r>
              <a:rPr lang="en-US" sz="1200" dirty="0">
                <a:effectLst/>
              </a:rPr>
              <a:t>[16] Yin Z, Zhang Y, Xiaomin Z, et al. Preparation and characterization of melt grafted acrylamide tertiary butyl sulfonic acid onto polypropylene. Int J Polymeric Mater Polymeric Biomater. 1997;36(1-2):1-9.</a:t>
            </a:r>
          </a:p>
          <a:p>
            <a:pPr lvl="0" indent="-285750" marL="533400">
              <a:lnSpc>
                <a:spcPct val="120000"/>
              </a:lnSpc>
              <a:buNone/>
            </a:pPr>
            <a:r>
              <a:rPr lang="en-US" sz="1200" dirty="0">
                <a:effectLst/>
              </a:rPr>
              <a:t>[17] Zhao J, Shi Q, Yin L, et al. Polypropylene modified with 2-hydroxyethyl acrylate-g-2-methacryloyloxyethyl phosphorycholine and its hemocompatibility. Appl Surf Sci. 2010;256(23):7071-7076. 10.1016/j.ap usc.2010.05.028 [2010 Sep 15].</a:t>
            </a:r>
          </a:p>
          <a:p>
            <a:pPr lvl="0" indent="-285750" marL="533400">
              <a:lnSpc>
                <a:spcPct val="120000"/>
              </a:lnSpc>
              <a:buNone/>
            </a:pPr>
            <a:r>
              <a:rPr lang="en-US" sz="1200" dirty="0">
                <a:effectLst/>
              </a:rPr>
              <a:t>[18] Yao Z, Lu ZQ, Zhao X, et al. Synthesis and characterization of high-density polypropylene-grafted polyethylenevia a macromolecular reaction and its rheological behavior. J Appl Polym Sci. 2008;111(5):2553-2561.</a:t>
            </a:r>
          </a:p>
          <a:p>
            <a:pPr lvl="0" indent="-285750" marL="533400">
              <a:lnSpc>
                <a:spcPct val="120000"/>
              </a:lnSpc>
              <a:buNone/>
            </a:pPr>
            <a:r>
              <a:rPr lang="en-US" sz="1200" dirty="0">
                <a:effectLst/>
              </a:rPr>
              <a:t>[19] Liu C, Wang Q. Solid-phase grafting of hydroxymethyl acrylamide onto polypropylene through pan milling. J Appl Polym Sci. 2000;78(12):2191-2197.</a:t>
            </a:r>
          </a:p>
          <a:p>
            <a:pPr lvl="0" indent="-285750" marL="533400">
              <a:lnSpc>
                <a:spcPct val="120000"/>
              </a:lnSpc>
              <a:buNone/>
            </a:pPr>
            <a:r>
              <a:rPr lang="en-US" sz="1200" dirty="0">
                <a:effectLst/>
              </a:rPr>
              <a:t>[20] Picchioni F, Goossens JGP, van Duin M, et al. Solid-state modification of isotactic polypropylene (iPP) via grafting of styrene. I. Polymerization experiments. J Appl Polym Sci. 2003;89(12):3279-3291.</a:t>
            </a:r>
          </a:p>
          <a:p>
            <a:pPr lvl="0" indent="-285750" marL="533400">
              <a:lnSpc>
                <a:spcPct val="120000"/>
              </a:lnSpc>
              <a:buNone/>
            </a:pPr>
            <a:r>
              <a:rPr lang="en-US" sz="1200" dirty="0">
                <a:effectLst/>
              </a:rPr>
              <a:t>[21] Wu CL, Zhang MQ, Rong MZ, et al. Functionalisation of polypropylene by solid phase graft polymerisation and its effect on mechanical properties of silica nanocomposites. Plast, Rubber and Compos. 2004;33(2-3):71-76.</a:t>
            </a:r>
          </a:p>
          <a:p>
            <a:pPr lvl="0" indent="-285750" marL="533400">
              <a:lnSpc>
                <a:spcPct val="120000"/>
              </a:lnSpc>
              <a:buNone/>
            </a:pPr>
            <a:r>
              <a:rPr lang="en-US" sz="1200" dirty="0">
                <a:effectLst/>
              </a:rPr>
              <a:t>[22] Peng H, Luo Y, Hong H, et al. Study on crystallization behavior of solid-phase graft copolymers of polypropylene with maleic anhydride and methyl methacrylate. Polym Plast Technol Eng. 2008;47(10):996-1001.</a:t>
            </a:r>
          </a:p>
          <a:p>
            <a:pPr lvl="0" indent="-285750" marL="533400">
              <a:lnSpc>
                <a:spcPct val="120000"/>
              </a:lnSpc>
              <a:buNone/>
            </a:pPr>
            <a:r>
              <a:rPr lang="en-US" sz="1200" dirty="0">
                <a:effectLst/>
              </a:rPr>
              <a:t>[23] García-Uriostegui L, Burillo G, Concheiro A, et al. Immobilization of liposomes on temperature-responsive polymer networks cross-linked with poly-L-lysine and grafted onto polypropylene. Des Monomers and Polym. 2013;16(3):241-249.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4572000"/>
          </a:xfrm>
          <a:prstGeom prst="rect">
            <a:avLst/>
          </a:prstGeom>
        </p:spPr>
        <p:txBody>
          <a:bodyPr anchor="t" lIns="0" tIns="0" rIns="0" bIns="0">
            <a:noAutofit/>
          </a:bodyPr>
          <a:lstStyle/>
          <a:p>
            <a:pPr lvl="0" indent="-285750" marL="533400">
              <a:lnSpc>
                <a:spcPct val="120000"/>
              </a:lnSpc>
              <a:buNone/>
            </a:pPr>
            <a:r>
              <a:rPr lang="en-US" sz="1200" dirty="0">
                <a:effectLst/>
              </a:rPr>
              <a:t>[24] Yuhai G, Jianchun Z, Meiwu S. Surface graft copolymerization of acrylic acid onto corona-treated poly(ethylene terephthalate) fabric. J Appl Polym Sci. 1999;73 (7):1161-1164.</a:t>
            </a:r>
          </a:p>
          <a:p>
            <a:pPr lvl="0" indent="-285750" marL="533400">
              <a:lnSpc>
                <a:spcPct val="120000"/>
              </a:lnSpc>
              <a:buNone/>
            </a:pPr>
            <a:r>
              <a:rPr lang="en-US" sz="1200" dirty="0">
                <a:effectLst/>
              </a:rPr>
              <a:t>[25] Zhao D, Wang L, Zhang R, et al. Preparation of toughened polypropylene-g-poly(butyl acrylate-co-acrylated castor oil) by suspension grafting polymerization. Polymer Eng Sci. 2017;58(1):86-93.</a:t>
            </a:r>
          </a:p>
          <a:p>
            <a:pPr lvl="0" indent="-285750" marL="533400">
              <a:lnSpc>
                <a:spcPct val="120000"/>
              </a:lnSpc>
              <a:buNone/>
            </a:pPr>
            <a:r>
              <a:rPr lang="en-US" sz="1200" dirty="0">
                <a:effectLst/>
              </a:rPr>
              <a:t>[26] Zheng Y, Zhao S, Cheng L, et al. Synthesis and reaction kinetics model of suspension phase grafting polypropylene with dual monomers. Polymer Bull. 2010;64 (8):771-782.</a:t>
            </a:r>
          </a:p>
          <a:p>
            <a:pPr lvl="0" indent="-285750" marL="533400">
              <a:lnSpc>
                <a:spcPct val="120000"/>
              </a:lnSpc>
              <a:buNone/>
            </a:pPr>
            <a:r>
              <a:rPr lang="en-US" sz="1200" dirty="0">
                <a:effectLst/>
              </a:rPr>
              <a:t>[27] Tan X, Xu Y. Radiation grafting of maleic anhydride onto polypropylene in suspension system. Radiat Eff Defects S. 2008;163(2):107-114.</a:t>
            </a:r>
          </a:p>
          <a:p>
            <a:pPr lvl="0" indent="-285750" marL="533400">
              <a:lnSpc>
                <a:spcPct val="120000"/>
              </a:lnSpc>
              <a:buNone/>
            </a:pPr>
            <a:r>
              <a:rPr lang="en-US" sz="1200" dirty="0">
                <a:effectLst/>
              </a:rPr>
              <a:t>[28] Borsig E, Fiedlerová A, Lazár M. Efficiency of chemical cross-linking of polypropylene. J macromol sci: part A. Chemistry. 1981;16(2):513-528.</a:t>
            </a:r>
          </a:p>
          <a:p>
            <a:pPr lvl="0" indent="-285750" marL="533400">
              <a:lnSpc>
                <a:spcPct val="120000"/>
              </a:lnSpc>
              <a:buNone/>
            </a:pPr>
            <a:r>
              <a:rPr lang="en-US" sz="1200" dirty="0">
                <a:effectLst/>
              </a:rPr>
              <a:t>[29] Dickens B. Thermally degrading polyethylene studied by means of factor-jump thermogravimetry. J Polym Sci: Polym Chem Edn. 2003;20(4):1065-1087.</a:t>
            </a:r>
          </a:p>
          <a:p>
            <a:pPr lvl="0" indent="-285750" marL="533400">
              <a:lnSpc>
                <a:spcPct val="120000"/>
              </a:lnSpc>
              <a:buNone/>
            </a:pPr>
            <a:r>
              <a:rPr lang="en-US" sz="1200" dirty="0">
                <a:effectLst/>
              </a:rPr>
              <a:t>[30] Li Z, Wang L, Ma Y-H, et al. A facile method to prepare polypropylene/poly(butyl acrylate) alloy via water-solid phase suspension grafting polymerization. Chin Chem Lett. 2015;26(11):1351-1354.</a:t>
            </a:r>
          </a:p>
          <a:p>
            <a:pPr lvl="0" indent="-285750" marL="533400">
              <a:lnSpc>
                <a:spcPct val="120000"/>
              </a:lnSpc>
              <a:buNone/>
            </a:pPr>
            <a:r>
              <a:rPr lang="en-US" sz="1200" dirty="0">
                <a:effectLst/>
              </a:rPr>
              <a:t>[31] Zhu B, Dong W, Wang J, et al. Modification of polypropylene via the free-radical grafting ternary monomer in water suspension systems. J Appl Polym Sci. 2012;126 (6):1844-1851.</a:t>
            </a:r>
          </a:p>
          <a:p>
            <a:pPr lvl="0" indent="-285750" marL="533400">
              <a:lnSpc>
                <a:spcPct val="120000"/>
              </a:lnSpc>
              <a:buNone/>
            </a:pPr>
            <a:r>
              <a:rPr lang="en-US" sz="1200" dirty="0">
                <a:effectLst/>
              </a:rPr>
              <a:t>[32] Rätzsch M, Arnold M, Borsig E, et al. Radical reactions on polypropylene in the solid state. Prog Polym Sci. 2002;27(7):1195-1282.</a:t>
            </a:r>
          </a:p>
          <a:p>
            <a:pPr lvl="0" indent="-285750" marL="533400">
              <a:lnSpc>
                <a:spcPct val="120000"/>
              </a:lnSpc>
              <a:buNone/>
            </a:pPr>
            <a:r>
              <a:rPr lang="en-US" sz="1200" dirty="0">
                <a:effectLst/>
              </a:rPr>
              <a:t>[33] Horacek H. Extrapolation of solubility data of monomeric, oligomeric and polymeric hydrocarbons. Macromol Chem Phys. 2003;195(10):3381-3394.</a:t>
            </a:r>
          </a:p>
        </p:txBody>
      </p:sp>
      <p:sp>
        <p:nvSpPr>
          <p:cNvPr id="2" name="Text"/>
          <p:cNvSpPr/>
          <p:nvPr/>
        </p:nvSpPr>
        <p:spPr>
          <a:xfrm>
            <a:off x="1524000" y="5181600"/>
            <a:ext cx="9144000" cy="914400"/>
          </a:xfrm>
          <a:prstGeom prst="rect">
            <a:avLst/>
          </a:prstGeom>
        </p:spPr>
        <p:txBody>
          <a:bodyPr anchor="t" lIns="0" tIns="0" rIns="0" bIns="0">
            <a:noAutofit/>
          </a:bodyPr>
          <a:lstStyle/>
          <a:p>
            <a:pPr lvl="0" indent="-285750" marL="533400">
              <a:lnSpc>
                <a:spcPct val="120000"/>
              </a:lnSpc>
              <a:buNone/>
            </a:pPr>
            <a:r>
              <a:rPr lang="en-US" sz="1200" dirty="0">
                <a:effectLst/>
              </a:rPr>
              <a:t>[34] Finck U, Wohlfarth C, Heuer T. Calculation of high pressure phase equilibria of mixtures of ethylene, vinylacetate and an (Ethylene-Vinylacetate) copolymer. Berichte Der Bunsengesellschaft Für Physikalische Chemie. 2010;96(2):179-188.</a:t>
            </a:r>
          </a:p>
          <a:p>
            <a:pPr lvl="0" indent="-285750" marL="533400">
              <a:lnSpc>
                <a:spcPct val="120000"/>
              </a:lnSpc>
              <a:buNone/>
            </a:pPr>
            <a:r>
              <a:rPr lang="en-US" sz="1200" dirty="0">
                <a:effectLst/>
              </a:rPr>
              <a:t>[35] Rätzsch M, Bucka H, Hesse A, et al. Basis of solid-phase grafting of polypropylene. J Macromol Sci., Part. 1996;33 (7):913-926.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3657600"/>
          </a:xfrm>
          <a:prstGeom prst="rect">
            <a:avLst/>
          </a:prstGeom>
        </p:spPr>
        <p:txBody>
          <a:bodyPr anchor="t" lIns="0" tIns="0" rIns="0" bIns="0">
            <a:noAutofit/>
          </a:bodyPr>
          <a:lstStyle/>
          <a:p>
            <a:pPr lvl="0" indent="-285750" marL="533400">
              <a:lnSpc>
                <a:spcPct val="120000"/>
              </a:lnSpc>
              <a:buNone/>
            </a:pPr>
            <a:r>
              <a:rPr lang="en-US" sz="1200" dirty="0">
                <a:effectLst/>
              </a:rPr>
              <a:t>[36] Hong CK, Kim MJ, Oh SH, et al. Effects of polypropylene-g(maleic anhydride/styrene) compatibilizer on mechanical and rheological properties of polypropylene/clay nanocomposites. J Ind Eng Chem. 2008;14(2):236-242.</a:t>
            </a:r>
          </a:p>
          <a:p>
            <a:pPr lvl="0" indent="-285750" marL="533400">
              <a:lnSpc>
                <a:spcPct val="120000"/>
              </a:lnSpc>
              <a:buNone/>
            </a:pPr>
            <a:r>
              <a:rPr lang="en-US" sz="1200" dirty="0">
                <a:effectLst/>
              </a:rPr>
              <a:t>[37] Guhaniyogi SC, Shashikant SYN. Free-radical modification of polypropylene. i. grafting of poly(Ethyl Acrylate) on atactic polypropylene. J Macromol Sci: Chem. 1985;22(11):1601-1610.</a:t>
            </a:r>
          </a:p>
          <a:p>
            <a:pPr lvl="0" indent="-285750" marL="533400">
              <a:lnSpc>
                <a:spcPct val="120000"/>
              </a:lnSpc>
              <a:buNone/>
            </a:pPr>
            <a:r>
              <a:rPr lang="en-US" sz="1200" dirty="0">
                <a:effectLst/>
              </a:rPr>
              <a:t>[38] Dokolas P, Looney MG, Musgrave S, et al. Graft copolymerisation studies part 1. models related to polyolefins. Polymer. 2000;41(9):3137-3145.</a:t>
            </a:r>
          </a:p>
          <a:p>
            <a:pPr lvl="0" indent="-285750" marL="533400">
              <a:lnSpc>
                <a:spcPct val="120000"/>
              </a:lnSpc>
              <a:buNone/>
            </a:pPr>
            <a:r>
              <a:rPr lang="en-US" sz="1200" dirty="0">
                <a:effectLst/>
              </a:rPr>
              <a:t>[39] Ogiwara Y, Takumi M, Kubota H. Photoinduced grafting of acrylamide onto polyethylene film by means of two-step method. J Appl Polym Sci. 2003;27(10):3743-3750.</a:t>
            </a:r>
          </a:p>
          <a:p>
            <a:pPr lvl="0" indent="-285750" marL="533400">
              <a:lnSpc>
                <a:spcPct val="120000"/>
              </a:lnSpc>
              <a:buNone/>
            </a:pPr>
            <a:r>
              <a:rPr lang="en-US" sz="1200" dirty="0">
                <a:effectLst/>
              </a:rPr>
              <a:t>[40] Camara S, Gilbert BC, Meier RJ, et al. EPR studies of peroxide decomposition, radical formation and reactions relevant to cross-linking and grafting in polyolefins. Polymer. 2006;47(13):4683-4693.</a:t>
            </a:r>
          </a:p>
          <a:p>
            <a:pPr lvl="0" indent="-285750" marL="533400">
              <a:lnSpc>
                <a:spcPct val="120000"/>
              </a:lnSpc>
              <a:buNone/>
            </a:pPr>
            <a:r>
              <a:rPr lang="en-US" sz="1200" dirty="0">
                <a:effectLst/>
              </a:rPr>
              <a:t>[41] Borsig E, Klimová M, Ľ H, et al. Free radicals observed in the grafting of maleic anhydride on poly (Methyl Methacrylate)†. J Macromol Sci., Part. 1993;30(1):105-111.</a:t>
            </a:r>
          </a:p>
          <a:p>
            <a:pPr lvl="0" indent="-285750" marL="533400">
              <a:lnSpc>
                <a:spcPct val="120000"/>
              </a:lnSpc>
              <a:buNone/>
            </a:pPr>
            <a:r>
              <a:rPr lang="en-US" sz="1200" dirty="0">
                <a:effectLst/>
              </a:rPr>
              <a:t>[42] Chmela S, Fiedlerová A, Janigová I, et al. Grafting of iPP powder with methacrylate monomers in water medium. J Appl Polym Sci 2010;119(5):2750-2758.</a:t>
            </a:r>
          </a:p>
          <a:p>
            <a:pPr lvl="0" indent="-285750" marL="533400">
              <a:lnSpc>
                <a:spcPct val="120000"/>
              </a:lnSpc>
              <a:buNone/>
            </a:pPr>
            <a:r>
              <a:rPr lang="en-US" sz="1200" dirty="0">
                <a:effectLst/>
              </a:rPr>
              <a:t>[43] Jain S, Goossens H, Picchioni F, et al. Synthetic aspects and characterization of polypropylene-silica nanocomposites prepared via solid-state modification and sol-gel reactions. Polymer. 2005;46 (17):6666-6681.</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2026-09-14T06:46:20.960Z</dcterms:created>
  <dcterms:modified xsi:type="dcterms:W3CDTF">2026-09-14T06:46:20.960Z</dcterms:modified>
</cp:coreProperties>
</file>