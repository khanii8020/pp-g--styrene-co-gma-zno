
<file path=[Content_Types].xml><?xml version="1.0" encoding="utf-8"?>
<Types xmlns="http://schemas.openxmlformats.org/package/2006/content-types">
  <Default Extension="rels" ContentType="application/vnd.openxmlformats-package.relationships+xml"/>
  <Default Extension="jpeg" ContentType="image/jpeg"/>
  <Default Extension="png" ContentType="image/png"/>
  <Default Extension="svg" ContentType="image/svg+xml"/>
  <Default Extension="jpg" ContentType="image/jp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9525" cmpd="sng">
              <a:solidFill>
                <a:schemeClr val="tx1"/>
              </a:solidFill>
            </a:ln>
          </a:left>
          <a:right>
            <a:ln w="12700" cmpd="sng">
              <a:solidFill>
                <a:schemeClr val="tx1"/>
              </a:solidFill>
            </a:ln>
          </a:right>
          <a:top>
            <a:ln w="9525" cmpd="sng">
              <a:solidFill>
                <a:schemeClr val="tx1"/>
              </a:solidFill>
            </a:ln>
          </a:top>
          <a:bottom>
            <a:ln w="9525" cmpd="sng">
              <a:solidFill>
                <a:schemeClr val="tx1"/>
              </a:solidFill>
            </a:ln>
          </a:bottom>
          <a:insideH>
            <a:ln w="9525" cmpd="sng">
              <a:solidFill>
                <a:schemeClr val="tx1"/>
              </a:solidFill>
            </a:ln>
          </a:insideH>
          <a:insideV>
            <a:ln w="9525"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presProps" Target="presProps.xml"/><Relationship Id="rId210" Type="http://schemas.openxmlformats.org/officeDocument/2006/relationships/viewProps" Target="viewProps.xml"/><Relationship Id="rId211" Type="http://schemas.openxmlformats.org/officeDocument/2006/relationships/theme" Target="theme/theme1.xml"/><Relationship Id="rId212"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n-lt"/>
          <a:ea typeface="+mn-ea"/>
          <a:cs typeface="+mn-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d583dcd1c70e1fe4ce47ee7825095c3c82ca59.jp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8979e795f71146a30587220adc21b9d3e2d4fee.jp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2ad8090e519c57ed9b38ddb5da35c8ed6bd4b71.jp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104e9aa8af5a1143940907f99010f40eca3752c.jpg"/></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fa95d79db867887abd183db33ea68ec399ca5f25.jpg"/></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10f640834a98b22f5221edb3caccfdc6c3c43db.jpg"/></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cb9aba22e6282f1f17be86b9887cccbe8cf46c9.jpg"/></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32e9496c799879fa8dcf8ce4c4953ca9597b527.jpg"/></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cdd3239770631811aff11295eef6094473225dac.jpg"/></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57aee0ef0be50ca7cce48bbefd00030820989d0.jpg"/></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00421a116daa784ce533b82c21bb1975ee99f1.jpg"/></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ae36a01c41c3347e7aecc8c3509b9064d0c339f1.jpg"/></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f3687693ddc7dddc5240547c7eb3ae69383a1d3e.jpg"/></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4592397252c2e41b3792cfb524081289631c5a5.jpg"/></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45b798e3d3ae8037fa7770fddb96bfb2c79766f.jpg"/></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54a266832b7bd5e7038dca58c1dad326e1df9a2.jpg"/></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e2277fe72d3ab5e2765565188e3d0b9bf46f10.jpg"/></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0d40e9346b4f6da98cef7b03dc9f613ad626941a.jpg"/></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e6e1820018f48818e17e4b1a4fd9695572815511.jpg"/></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afdee42c905a30db8c7af7810dbd70ff9b42c28.jpg"/></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16f1ae81d8f0a2c4cb58b51bed87e023ff8d6e3.jpg"/></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ab55c7eacdd3832ec76b0f46a71b69a4c0d8c48a.jpg"/></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fc6ef55258265311987ea0067b4795eac6605a.jpg"/></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02610075f52fecde84094a6355916c6d20a08b0e.jpg"/></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9fccd133b61b6e54bb65ad4c76ffdbcc08eb8a.jpg"/></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c3420a57a5a66637cac7faa3b896d7b7d5174462.jpg"/></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ece592574eae6a4aab91336aca59b04f39be012b.jpg"/></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101db3a9c09a172dda063e094c0e184e5345aa2.jpg"/></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c604faa9c6b2f38d1f93fa402826fdd8db3febd.jpg"/></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svg-3d29c95a303f8b1adad94b61c8f4da2e6046c878.png"/></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6b4f2d2126502905e1b610fce22d589beaa9304.jpg"/></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c586f7a7374d2c191a001f22efcf78422b29de7c.jpg"/></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76ba508e2bd7cfb12bf0dc8201c5155e829a852.jpg"/></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94edac5ab609d23b00363b5a6b395ee253262e5.jpg"/></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02318e85cb698860479be185d154b79d2b089665.jpg"/></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8495f72b1218dcf3d802c6e1ece1c037b8b2190.jpg"/></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7045a09e77dec346bd00002567e809d84c54d79.jpg"/></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d16db11962e35bbf31e2aa6a8dc5d2c8373c628.jpg"/></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5504946ae7ba485d308388746dd36d6d4cc823f.jpg"/></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d37e1f585b573da0ba4323cd4d77fc0f4fc9e03.jpg"/></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0482497beaf60d8a5a046a7c63bd647e184d8627.jpg"/></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J.Org" TargetMode="External"/></Relationships>
</file>

<file path=ppt/slides/_rels/slide1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B.Sc" TargetMode="External"/></Relationships>
</file>

<file path=ppt/slides/_rels/slide20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0dab26670bdfe3bb54126d8e9c2f383e6a29a44f.jpg"/></Relationships>
</file>

<file path=ppt/slides/_rels/slide2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095375"/>
          </a:xfrm>
          <a:prstGeom prst="rect">
            <a:avLst/>
          </a:prstGeom>
        </p:spPr>
        <p:txBody>
          <a:bodyPr anchor="t" lIns="0" tIns="0" rIns="0" bIns="0">
            <a:noAutofit/>
          </a:bodyPr>
          <a:lstStyle/>
          <a:p>
            <a:pPr algn="ctr">
              <a:lnSpc>
                <a:spcPct val="96700"/>
              </a:lnSpc>
            </a:pPr>
            <a:r>
              <a:rPr lang="en-US" sz="2400" dirty="0" b="1">
                <a:effectLst/>
              </a:rPr>
              <a:t>Graft Copolymers of Maleic Anhydride and Its Isostructural Analogues: High Performance Engineering Materials</a:t>
            </a:r>
          </a:p>
        </p:txBody>
      </p:sp>
      <p:sp>
        <p:nvSpPr>
          <p:cNvPr id="2" name="Text"/>
          <p:cNvSpPr/>
          <p:nvPr/>
        </p:nvSpPr>
        <p:spPr>
          <a:xfrm>
            <a:off x="3810000" y="1857375"/>
            <a:ext cx="4572000" cy="1295400"/>
          </a:xfrm>
          <a:prstGeom prst="rect">
            <a:avLst/>
          </a:prstGeom>
        </p:spPr>
        <p:txBody>
          <a:bodyPr anchor="t" lIns="0" tIns="0" rIns="0" bIns="0">
            <a:noAutofit/>
          </a:bodyPr>
          <a:lstStyle/>
          <a:p>
            <a:pPr algn="ctr" marL="133350">
              <a:lnSpc>
                <a:spcPct val="120000"/>
              </a:lnSpc>
            </a:pPr>
            <a:r>
              <a:rPr lang="en-US" sz="1200" dirty="0">
                <a:effectLst/>
              </a:rPr>
              <a:t>Zakir M. O. Rzayev</a:t>
            </a:r>
          </a:p>
          <a:p>
            <a:pPr algn="ctr" marL="133350">
              <a:lnSpc>
                <a:spcPct val="120000"/>
              </a:lnSpc>
            </a:pPr>
            <a:r>
              <a:rPr lang="en-US" sz="1200" dirty="0">
                <a:effectLst/>
              </a:rPr>
              <a:t>Institute of Science &amp; Engineering, Division of Nanotechnology &amp; Nanomedicine, Hacettepe University, Beytepe 06800 Ankara, Turkey</a:t>
            </a:r>
          </a:p>
          <a:p>
            <a:pPr algn="ctr" marL="133350">
              <a:lnSpc>
                <a:spcPct val="120000"/>
              </a:lnSpc>
              <a:spcAft>
                <a:spcPts val="1200"/>
              </a:spcAft>
            </a:pPr>
            <a:r>
              <a:rPr lang="en-US" sz="1200" dirty="0">
                <a:effectLst/>
              </a:rPr>
              <a:t>E-mail: zmo@hacettepe.edu.tr</a:t>
            </a:r>
          </a:p>
        </p:txBody>
      </p:sp>
      <p:sp>
        <p:nvSpPr>
          <p:cNvPr id="2" name="Text"/>
          <p:cNvSpPr/>
          <p:nvPr/>
        </p:nvSpPr>
        <p:spPr>
          <a:xfrm>
            <a:off x="2438400" y="3305175"/>
            <a:ext cx="7315200" cy="2714625"/>
          </a:xfrm>
          <a:prstGeom prst="rect">
            <a:avLst/>
          </a:prstGeom>
        </p:spPr>
        <p:txBody>
          <a:bodyPr anchor="t" lIns="0" tIns="0" rIns="0" bIns="0">
            <a:noAutofit/>
          </a:bodyPr>
          <a:lstStyle/>
          <a:p>
            <a:pPr algn="ctr">
              <a:lnSpc>
                <a:spcPct val="122100"/>
              </a:lnSpc>
              <a:spcAft>
                <a:spcPts val="1600"/>
              </a:spcAft>
            </a:pPr>
            <a:r>
              <a:rPr lang="en-US" sz="1180" dirty="0" b="1">
                <a:effectLst/>
              </a:rPr>
              <a:t>Abstract</a:t>
            </a:r>
          </a:p>
          <a:p>
            <a:pPr>
              <a:lnSpc>
                <a:spcPct val="120000"/>
              </a:lnSpc>
            </a:pPr>
            <a:r>
              <a:rPr lang="en-US" sz="1200" dirty="0">
                <a:effectLst/>
              </a:rPr>
              <a:t>This review summarizes the main advances published over the last 15 years outlining the different methods of grafting, including reactive extruder systems, surface modification, grafting and graft copolymerization of synthetic and natural polymers with maleic anhydride and its isostructural analogues such as maleimides and maleates, and anhydrides, esters and imides of citraconic and itaconic acids, derivatives of fumaric acid, etc. Special attention is spared to the grafting of conventional and non-conventional synthetic and natural polymers, including biodegradable polymers, mechanism of grafting and graft copolymerization, in situ grafting reactions in melt by reactive extrusion systems, in solutions and solid state (photo- and plasmainduced graftings), and H-bonding effect in the reactive blend processing. The structural phenomena, unique properties and application areas of these copolymers and their various modifications and composites as high performance engineering materials have been also described.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Keywords: Graft copolymers; Synthesis; Surface modification; Anhydride functionalities; Hydrogen-bonding; Reactive extrusion; Reactive in situ processing; Reactive blends; Reactive compatibilizers</a:t>
            </a:r>
          </a:p>
        </p:txBody>
      </p:sp>
      <p:sp>
        <p:nvSpPr>
          <p:cNvPr id="2" name="Text"/>
          <p:cNvSpPr/>
          <p:nvPr/>
        </p:nvSpPr>
        <p:spPr>
          <a:xfrm>
            <a:off x="1524000" y="1066800"/>
            <a:ext cx="9144000" cy="342900"/>
          </a:xfrm>
          <a:prstGeom prst="rect">
            <a:avLst/>
          </a:prstGeom>
        </p:spPr>
        <p:txBody>
          <a:bodyPr anchor="t" lIns="0" tIns="0" rIns="0" bIns="0">
            <a:noAutofit/>
          </a:bodyPr>
          <a:lstStyle/>
          <a:p>
            <a:pPr>
              <a:lnSpc>
                <a:spcPct val="120000"/>
              </a:lnSpc>
            </a:pPr>
            <a:r>
              <a:rPr lang="en-US" sz="1800" dirty="0" b="1">
                <a:effectLst/>
              </a:rPr>
              <a:t>Contents</a:t>
            </a:r>
          </a:p>
        </p:txBody>
      </p:sp>
      <p:sp>
        <p:nvSpPr>
          <p:cNvPr id="2" name="Text"/>
          <p:cNvSpPr/>
          <p:nvPr/>
        </p:nvSpPr>
        <p:spPr>
          <a:xfrm>
            <a:off x="1524000" y="1599439"/>
            <a:ext cx="9144000" cy="4572000"/>
          </a:xfrm>
          <a:prstGeom prst="rect">
            <a:avLst/>
          </a:prstGeom>
        </p:spPr>
        <p:txBody>
          <a:bodyPr anchor="t" lIns="0" tIns="0" rIns="0" bIns="0">
            <a:noAutofit/>
          </a:bodyPr>
          <a:lstStyle/>
          <a:p>
            <a:pPr lvl="0" indent="-285750" marL="1295400">
              <a:lnSpc>
                <a:spcPct val="120000"/>
              </a:lnSpc>
              <a:buFont typeface="Symbol" pitchFamily="2" charset="2"/>
              <a:buChar char="1."/>
              <a:tabLst>
                <a:tab pos="685800" algn="l"/>
              </a:tabLst>
            </a:pPr>
            <a:r>
              <a:rPr lang="en-US" sz="1200" dirty="0">
                <a:effectLst/>
              </a:rPr>
              <a:t>Introduction</a:t>
            </a:r>
          </a:p>
          <a:p>
            <a:pPr lvl="0" indent="-285750" marL="1295400">
              <a:lnSpc>
                <a:spcPct val="120000"/>
              </a:lnSpc>
              <a:buFont typeface="Symbol" pitchFamily="2" charset="2"/>
              <a:buChar char="2."/>
              <a:tabLst>
                <a:tab pos="685800" algn="l"/>
              </a:tabLst>
            </a:pPr>
            <a:r>
              <a:rPr lang="en-US" sz="1200" dirty="0">
                <a:effectLst/>
              </a:rPr>
              <a:t>Grafting of Polyolefins</a:t>
            </a:r>
          </a:p>
          <a:p>
            <a:pPr lvl="1" indent="-285750" marL="1828800">
              <a:lnSpc>
                <a:spcPct val="120000"/>
              </a:lnSpc>
              <a:buFont typeface="Symbol" pitchFamily="2" charset="2"/>
              <a:buChar char="2.1."/>
              <a:tabLst>
                <a:tab pos="1028700" algn="l"/>
              </a:tabLst>
            </a:pPr>
            <a:r>
              <a:rPr lang="en-US" sz="1200" dirty="0">
                <a:effectLst/>
              </a:rPr>
              <a:t>Grafting in solution</a:t>
            </a:r>
          </a:p>
          <a:p>
            <a:pPr lvl="1" indent="-285750" marL="1828800">
              <a:lnSpc>
                <a:spcPct val="120000"/>
              </a:lnSpc>
              <a:buFont typeface="Symbol" pitchFamily="2" charset="2"/>
              <a:buChar char="2.2."/>
              <a:tabLst>
                <a:tab pos="1028700" algn="l"/>
              </a:tabLst>
            </a:pPr>
            <a:r>
              <a:rPr lang="en-US" sz="1200" dirty="0">
                <a:effectLst/>
              </a:rPr>
              <a:t>Grafting in melt by reactive extrusion</a:t>
            </a:r>
          </a:p>
          <a:p>
            <a:pPr lvl="1" indent="-285750" marL="1828800">
              <a:lnSpc>
                <a:spcPct val="120000"/>
              </a:lnSpc>
              <a:buFont typeface="Symbol" pitchFamily="2" charset="2"/>
              <a:buChar char="2.3."/>
              <a:tabLst>
                <a:tab pos="1028700" algn="l"/>
              </a:tabLst>
            </a:pPr>
            <a:r>
              <a:rPr lang="en-US" sz="1200" dirty="0">
                <a:effectLst/>
              </a:rPr>
              <a:t>Grafting in solid state</a:t>
            </a:r>
          </a:p>
          <a:p>
            <a:pPr lvl="1" indent="-285750" marL="1828800">
              <a:lnSpc>
                <a:spcPct val="120000"/>
              </a:lnSpc>
              <a:buFont typeface="Symbol" pitchFamily="2" charset="2"/>
              <a:buChar char="2.4."/>
              <a:tabLst>
                <a:tab pos="1028700" algn="l"/>
              </a:tabLst>
            </a:pPr>
            <a:r>
              <a:rPr lang="en-US" sz="1200" dirty="0">
                <a:effectLst/>
              </a:rPr>
              <a:t>Photo-induced surface grafting</a:t>
            </a:r>
          </a:p>
          <a:p>
            <a:pPr lvl="1" indent="-285750" marL="1828800">
              <a:lnSpc>
                <a:spcPct val="120000"/>
              </a:lnSpc>
              <a:buFont typeface="Symbol" pitchFamily="2" charset="2"/>
              <a:buChar char="2.5."/>
              <a:tabLst>
                <a:tab pos="1028700" algn="l"/>
              </a:tabLst>
            </a:pPr>
            <a:r>
              <a:rPr lang="en-US" sz="1200" dirty="0">
                <a:effectLst/>
              </a:rPr>
              <a:t>Plasma-induced surface grafting</a:t>
            </a:r>
          </a:p>
          <a:p>
            <a:pPr lvl="0" indent="-285750" marL="1295400">
              <a:lnSpc>
                <a:spcPct val="120000"/>
              </a:lnSpc>
              <a:buFont typeface="Symbol" pitchFamily="2" charset="2"/>
              <a:buChar char="3."/>
              <a:tabLst>
                <a:tab pos="685800" algn="l"/>
              </a:tabLst>
            </a:pPr>
            <a:r>
              <a:rPr lang="en-US" sz="1200" dirty="0">
                <a:effectLst/>
              </a:rPr>
              <a:t>Grafting of Styrene (Co)polymers</a:t>
            </a:r>
          </a:p>
          <a:p>
            <a:pPr lvl="0" indent="-285750" marL="1295400">
              <a:lnSpc>
                <a:spcPct val="120000"/>
              </a:lnSpc>
              <a:buFont typeface="Symbol" pitchFamily="2" charset="2"/>
              <a:buChar char="4."/>
              <a:tabLst>
                <a:tab pos="685800" algn="l"/>
              </a:tabLst>
            </a:pPr>
            <a:r>
              <a:rPr lang="en-US" sz="1200" dirty="0">
                <a:effectLst/>
              </a:rPr>
              <a:t>Grafting of Synthetic and Natural Rubbers</a:t>
            </a:r>
          </a:p>
          <a:p>
            <a:pPr lvl="0" indent="-285750" marL="1295400">
              <a:lnSpc>
                <a:spcPct val="120000"/>
              </a:lnSpc>
              <a:buFont typeface="Symbol" pitchFamily="2" charset="2"/>
              <a:buChar char="5."/>
              <a:tabLst>
                <a:tab pos="685800" algn="l"/>
              </a:tabLst>
            </a:pPr>
            <a:r>
              <a:rPr lang="en-US" sz="1200" dirty="0">
                <a:effectLst/>
              </a:rPr>
              <a:t>Grafting onto Biodegradable Polymers</a:t>
            </a:r>
          </a:p>
          <a:p>
            <a:pPr lvl="1" indent="-285750" marL="1828800">
              <a:lnSpc>
                <a:spcPct val="120000"/>
              </a:lnSpc>
              <a:buFont typeface="Symbol" pitchFamily="2" charset="2"/>
              <a:buChar char="5.1."/>
              <a:tabLst>
                <a:tab pos="1028700" algn="l"/>
              </a:tabLst>
            </a:pPr>
            <a:r>
              <a:rPr lang="en-US" sz="1200" dirty="0">
                <a:effectLst/>
              </a:rPr>
              <a:t>Polysaccharides</a:t>
            </a:r>
          </a:p>
          <a:p>
            <a:pPr lvl="1" indent="-285750" marL="1828800">
              <a:lnSpc>
                <a:spcPct val="120000"/>
              </a:lnSpc>
              <a:buFont typeface="Symbol" pitchFamily="2" charset="2"/>
              <a:buChar char="5.2."/>
              <a:tabLst>
                <a:tab pos="1028700" algn="l"/>
              </a:tabLst>
            </a:pPr>
            <a:r>
              <a:rPr lang="en-US" sz="1200" dirty="0">
                <a:effectLst/>
              </a:rPr>
              <a:t>Polyesters</a:t>
            </a:r>
          </a:p>
          <a:p>
            <a:pPr lvl="1" indent="-285750" marL="1828800">
              <a:lnSpc>
                <a:spcPct val="120000"/>
              </a:lnSpc>
              <a:buFont typeface="Symbol" pitchFamily="2" charset="2"/>
              <a:buChar char="5.3."/>
              <a:tabLst>
                <a:tab pos="1028700" algn="l"/>
              </a:tabLst>
            </a:pPr>
            <a:r>
              <a:rPr lang="en-US" sz="1200" dirty="0">
                <a:effectLst/>
              </a:rPr>
              <a:t>Polyethers</a:t>
            </a:r>
          </a:p>
          <a:p>
            <a:pPr lvl="0" indent="-285750" marL="1295400">
              <a:lnSpc>
                <a:spcPct val="120000"/>
              </a:lnSpc>
              <a:buFont typeface="Symbol" pitchFamily="2" charset="2"/>
              <a:buChar char="6."/>
              <a:tabLst>
                <a:tab pos="685800" algn="l"/>
              </a:tabLst>
            </a:pPr>
            <a:r>
              <a:rPr lang="en-US" sz="1200" dirty="0">
                <a:effectLst/>
              </a:rPr>
              <a:t>Grafting onto other Polymers and Anhydride-Functionalized Copolymers</a:t>
            </a:r>
          </a:p>
          <a:p>
            <a:pPr lvl="0" indent="-285750" marL="1295400">
              <a:lnSpc>
                <a:spcPct val="120000"/>
              </a:lnSpc>
              <a:buFont typeface="Symbol" pitchFamily="2" charset="2"/>
              <a:buChar char="7."/>
              <a:tabLst>
                <a:tab pos="685800" algn="l"/>
              </a:tabLst>
            </a:pPr>
            <a:r>
              <a:rPr lang="en-US" sz="1200" dirty="0">
                <a:effectLst/>
              </a:rPr>
              <a:t>Graft Copolymerization</a:t>
            </a:r>
          </a:p>
          <a:p>
            <a:pPr lvl="0" indent="-285750" marL="1295400">
              <a:lnSpc>
                <a:spcPct val="120000"/>
              </a:lnSpc>
              <a:buFont typeface="Symbol" pitchFamily="2" charset="2"/>
              <a:buChar char="8."/>
              <a:tabLst>
                <a:tab pos="685800" algn="l"/>
              </a:tabLst>
            </a:pPr>
            <a:r>
              <a:rPr lang="en-US" sz="1200" dirty="0">
                <a:effectLst/>
              </a:rPr>
              <a:t>In situ Grafting Reactions and Processing</a:t>
            </a:r>
          </a:p>
          <a:p>
            <a:pPr lvl="1" indent="-285750" marL="1828800">
              <a:lnSpc>
                <a:spcPct val="120000"/>
              </a:lnSpc>
              <a:buFont typeface="Symbol" pitchFamily="2" charset="2"/>
              <a:buChar char="8.1."/>
              <a:tabLst>
                <a:tab pos="1028700" algn="l"/>
              </a:tabLst>
            </a:pPr>
            <a:r>
              <a:rPr lang="en-US" sz="1200" dirty="0">
                <a:effectLst/>
              </a:rPr>
              <a:t>Polyolefin reactive blends</a:t>
            </a:r>
          </a:p>
          <a:p>
            <a:pPr lvl="1" indent="-285750" marL="1828800">
              <a:lnSpc>
                <a:spcPct val="120000"/>
              </a:lnSpc>
              <a:buFont typeface="Symbol" pitchFamily="2" charset="2"/>
              <a:buChar char="8.2."/>
              <a:tabLst>
                <a:tab pos="1028700" algn="l"/>
              </a:tabLst>
            </a:pPr>
            <a:r>
              <a:rPr lang="en-US" sz="1200" dirty="0">
                <a:effectLst/>
              </a:rPr>
              <a:t>Polyamide reactive blends</a:t>
            </a:r>
          </a:p>
          <a:p>
            <a:pPr lvl="1" indent="-285750" marL="1828800">
              <a:lnSpc>
                <a:spcPct val="120000"/>
              </a:lnSpc>
              <a:buFont typeface="Symbol" pitchFamily="2" charset="2"/>
              <a:buChar char="8.3."/>
              <a:tabLst>
                <a:tab pos="1028700" algn="l"/>
              </a:tabLst>
            </a:pPr>
            <a:r>
              <a:rPr lang="en-US" sz="1200" dirty="0">
                <a:effectLst/>
              </a:rPr>
              <a:t>Natural polymer reactive blends</a:t>
            </a:r>
          </a:p>
          <a:p>
            <a:pPr lvl="1" indent="-285750" marL="1828800">
              <a:lnSpc>
                <a:spcPct val="120000"/>
              </a:lnSpc>
              <a:buFont typeface="Symbol" pitchFamily="2" charset="2"/>
              <a:buChar char="8.4."/>
              <a:tabLst>
                <a:tab pos="1028700" algn="l"/>
              </a:tabLst>
            </a:pPr>
            <a:r>
              <a:rPr lang="en-US" sz="1200" dirty="0">
                <a:effectLst/>
              </a:rPr>
              <a:t>Reactive functional polymer systems</a:t>
            </a:r>
          </a:p>
        </p:txBody>
      </p:sp>
      <p:sp>
        <p:nvSpPr>
          <p:cNvPr id="3" name="Text"/>
          <p:cNvSpPr/>
          <p:nvPr/>
        </p:nvSpPr>
        <p:spPr>
          <a:xfrm>
            <a:off x="1524000" y="6171439"/>
            <a:ext cx="9144000" cy="228600"/>
          </a:xfrm>
          <a:prstGeom prst="rect">
            <a:avLst/>
          </a:prstGeom>
        </p:spPr>
        <p:txBody>
          <a:bodyPr anchor="t" lIns="0" tIns="0" rIns="0" bIns="0">
            <a:noAutofit/>
          </a:bodyPr>
          <a:lstStyle/>
          <a:p>
            <a:pPr lvl="0" indent="-285750" marL="1295400">
              <a:lnSpc>
                <a:spcPct val="120000"/>
              </a:lnSpc>
              <a:buFont typeface="Symbol" pitchFamily="2" charset="2"/>
              <a:buChar char="9."/>
              <a:tabLst>
                <a:tab pos="685800" algn="l"/>
              </a:tabLst>
            </a:pPr>
            <a:r>
              <a:rPr lang="en-US" sz="1200" dirty="0">
                <a:effectLst/>
              </a:rPr>
              <a:t>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4" name="Text"/>
          <p:cNvSpPr/>
          <p:nvPr/>
        </p:nvSpPr>
        <p:spPr>
          <a:xfrm>
            <a:off x="1524000" y="457200"/>
            <a:ext cx="9144000" cy="457200"/>
          </a:xfrm>
          <a:prstGeom prst="rect">
            <a:avLst/>
          </a:prstGeom>
        </p:spPr>
        <p:txBody>
          <a:bodyPr anchor="t" lIns="0" tIns="0" rIns="0" bIns="0">
            <a:noAutofit/>
          </a:bodyPr>
          <a:lstStyle/>
          <a:p>
            <a:pPr lvl="0" indent="-285750" marL="1295400">
              <a:lnSpc>
                <a:spcPct val="120000"/>
              </a:lnSpc>
              <a:buFont typeface="Symbol" pitchFamily="2" charset="2"/>
              <a:buChar char=" "/>
              <a:tabLst>
                <a:tab pos="685800" algn="l"/>
              </a:tabLst>
            </a:pPr>
            <a:r>
              <a:rPr lang="en-US" sz="1200" dirty="0">
                <a:effectLst/>
              </a:rPr>
              <a:t> Acknowledgments</a:t>
            </a:r>
            <a:br>
              <a:rPr lang="en-US" sz="1200" dirty="0"/>
            </a:br>
            <a:r>
              <a:rPr lang="en-US" sz="1200" dirty="0">
                <a:effectLst/>
              </a:rPr>
              <a:t> References</a:t>
            </a:r>
          </a:p>
        </p:txBody>
      </p:sp>
      <p:sp>
        <p:nvSpPr>
          <p:cNvPr id="2" name="Text"/>
          <p:cNvSpPr/>
          <p:nvPr/>
        </p:nvSpPr>
        <p:spPr>
          <a:xfrm>
            <a:off x="1524000" y="1066800"/>
            <a:ext cx="9144000" cy="342900"/>
          </a:xfrm>
          <a:prstGeom prst="rect">
            <a:avLst/>
          </a:prstGeom>
        </p:spPr>
        <p:txBody>
          <a:bodyPr anchor="t" lIns="0" tIns="0" rIns="0" bIns="0">
            <a:noAutofit/>
          </a:bodyPr>
          <a:lstStyle/>
          <a:p>
            <a:pPr>
              <a:lnSpc>
                <a:spcPct val="120000"/>
              </a:lnSpc>
            </a:pPr>
            <a:r>
              <a:rPr lang="en-US" sz="1800" dirty="0" b="1">
                <a:effectLst/>
              </a:rPr>
              <a:t>1. Introduction</a:t>
            </a:r>
          </a:p>
        </p:txBody>
      </p:sp>
      <p:sp>
        <p:nvSpPr>
          <p:cNvPr id="2" name="Text"/>
          <p:cNvSpPr/>
          <p:nvPr/>
        </p:nvSpPr>
        <p:spPr>
          <a:xfrm>
            <a:off x="1524000" y="1599439"/>
            <a:ext cx="9144000" cy="2743200"/>
          </a:xfrm>
          <a:prstGeom prst="rect">
            <a:avLst/>
          </a:prstGeom>
        </p:spPr>
        <p:txBody>
          <a:bodyPr anchor="t" lIns="0" tIns="0" rIns="0" bIns="0">
            <a:noAutofit/>
          </a:bodyPr>
          <a:lstStyle/>
          <a:p>
            <a:pPr>
              <a:lnSpc>
                <a:spcPct val="120000"/>
              </a:lnSpc>
            </a:pPr>
            <a:r>
              <a:rPr lang="en-US" sz="1200" dirty="0">
                <a:effectLst/>
              </a:rPr>
              <a:t>Maleic anhydride (MA) and its isostructural analogues (maleic, fumaric, citraconic and itaconic acids and their amide, imide, ester and nitril derivatives) as polyfunctional monomers are being widely used in the synthesis of reactive macromolecules with linear, hyperbranched and self-assembled structures to prepare high performance engineering, bioengineering and nano engineering materials. Functional copolymers of these monomers with donor-acceptor type organic and organometallic (Si, Sn, Ge, B etc.), cycloolefin and heterocyclic (O, N, S and etc.) comonomers are synthesized by the radical copolymerization [1-26], complex-radical alternating copolymerization [27-40], terpolymerization [41-67], cyclocopolymerization [68-79], photopolymerization [80-90], interlamellar co-(ter)polymerization [91-97] and controlled/living radical copolymerization such as nitroxy-mediated [98-103], ATRP [104-111] and RAFT [112-119] methods. These monomers are also succesively utilized for the graft modification of various thermoplastic polymers (polyolefins, polystyrene, polyamides, etc.), biodegradable polymers, polysaccharides, natural and synthetic rubber, biopolymers, etc. Introduction of MA on the non-polar backbone of polyolefins and rubbers has overcome the disadvantage of low surface energy of these polymers, improving their surface hydrophilicity for the benefit of printing and coating applications, and adhesion with polar polymers (polyamides), metal, and glass fibers [1,2].</a:t>
            </a:r>
          </a:p>
        </p:txBody>
      </p:sp>
      <mc:AlternateContent xmlns:mc="http://schemas.openxmlformats.org/markup-compatibility/2006">
        <mc:Choice xmlns:a14="http://schemas.microsoft.com/office/drawing/2010/main" Requires="a14">
          <p:sp>
            <p:nvSpPr>
              <p:cNvPr id="2" name="Text"/>
              <p:cNvSpPr/>
              <p:nvPr/>
            </p:nvSpPr>
            <p:spPr>
              <a:xfrm>
                <a:off x="1524000" y="4495039"/>
                <a:ext cx="9144000" cy="1600200"/>
              </a:xfrm>
              <a:prstGeom prst="rect">
                <a:avLst/>
              </a:prstGeom>
            </p:spPr>
            <p:txBody>
              <a:bodyPr anchor="t" lIns="0" tIns="0" rIns="0" bIns="0">
                <a:noAutofit/>
              </a:bodyPr>
              <a:lstStyle/>
              <a:p>
                <a:pPr>
                  <a:lnSpc>
                    <a:spcPct val="120000"/>
                  </a:lnSpc>
                </a:pPr>
                <a:r>
                  <a:rPr lang="en-US" sz="1200" dirty="0">
                    <a:effectLst/>
                  </a:rPr>
                  <a:t>In the last decade, grafting of MA onto various thermoplastic polymers (predominantly polyolefins) and preparation of high performance engineering materials and nanocomposites by using reactive extruder systems and in situ compatibilization of polymer blends have been significantly developed, some results of which are employed in commercial applications. Fenouillot et al. [120] described the fundamental aspect of the reactive processing of thermoplastic polymers, including polymer graft grafting and/or functionalization using MA and vinylsilanes, bulk polymerization of urethane, lactams, acrylate and </a:t>
                </a:r>
                <a:r>
                  <a:rPr lang="en-US" sz="1200" dirty="0">
                    <a:effectLst/>
                  </a:rPr>
                  <a:t>​</a:t>
                </a:r>
                <a14:m>
                  <m:oMath>
                    <m:r>
                      <m:rPr>
                        <m:sty m:val="i"/>
                      </m:rPr>
                      <a:rPr lang="en-US" sz="1200" dirty="0">
                        <a:solidFill>
                          <a:srgbClr val="000000"/>
                        </a:solidFill>
                        <a:effectLst/>
                      </a:rPr>
                      <m:t>ε</m:t>
                    </m:r>
                  </m:oMath>
                </a14:m>
                <a:r>
                  <a:rPr lang="en-US" sz="1200" dirty="0">
                    <a:effectLst/>
                  </a:rPr>
                  <a:t>-caprolactone and new copolymer synthesis. This review also covers the state of the art in domains of rheology (specifically modelling of rheo-kinetics), diffusion and mixing viscous reactive media.</a:t>
                </a:r>
              </a:p>
            </p:txBody>
          </p:sp>
        </mc:Choice>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1371600"/>
              </a:xfrm>
              <a:prstGeom prst="rect">
                <a:avLst/>
              </a:prstGeom>
            </p:spPr>
            <p:txBody>
              <a:bodyPr anchor="t" lIns="0" tIns="0" rIns="0" bIns="0">
                <a:noAutofit/>
              </a:bodyPr>
              <a:lstStyle/>
              <a:p>
                <a:pPr>
                  <a:lnSpc>
                    <a:spcPct val="120000"/>
                  </a:lnSpc>
                </a:pPr>
                <a:r>
                  <a:rPr lang="en-US" sz="1200" dirty="0">
                    <a:effectLst/>
                  </a:rPr>
                  <a:t> Among the chemical modification methods used in reactive extrusion system, free radical grafting of reactive polyfunctional monomers involving reaction of a polymer with monomers (grafting reaction) or a mixture of monomers (graft copolymerization) are probably most important. One of the most common monomers in the polymer modification is MA and its isostructural analogues such as </a:t>
                </a:r>
                <a:r>
                  <a:rPr lang="en-US" sz="1200" dirty="0">
                    <a:effectLst/>
                  </a:rPr>
                  <a:t>​</a:t>
                </a:r>
                <a14:m>
                  <m:oMath>
                    <m:r>
                      <m:rPr>
                        <m:sty m:val="i"/>
                      </m:rPr>
                      <a:rPr lang="en-US" sz="1200" dirty="0">
                        <a:solidFill>
                          <a:srgbClr val="000000"/>
                        </a:solidFill>
                        <a:effectLst/>
                      </a:rPr>
                      <m:t>N</m:t>
                    </m:r>
                  </m:oMath>
                </a14:m>
                <a:r>
                  <a:rPr lang="en-US" sz="1200" dirty="0">
                    <a:effectLst/>
                  </a:rPr>
                  <a:t>-substituted maleimides, fumaric, citraconic and itaconic acids and their esters, amides, imides, and anhydrides of these dicarboxylic acids. Chemical structure of these monomers, which can be used in grafting and graft copolymerization reactions with synthetic and natural polymers, is represented in Figure 1.</a:t>
                </a:r>
              </a:p>
            </p:txBody>
          </p:sp>
        </mc:Choice>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24d583dcd1c70e1fe4ce47ee7825095c3c82ca59.jpg"/>
          <p:cNvPicPr/>
          <p:nvPr/>
        </p:nvPicPr>
        <p:blipFill>
          <a:blip r:embed="rId2" cstate="print"/>
          <a:srcRect/>
          <a:stretch>
            <a:fillRect/>
          </a:stretch>
        </p:blipFill>
        <p:spPr>
          <a:xfrm>
            <a:off x="1524000" y="457200"/>
            <a:ext cx="5191125" cy="59436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1. Chemical structures of functional monomers as effective grafting agents for the modification of synthetic and natural polymers.</a:t>
            </a:r>
          </a:p>
        </p:txBody>
      </p:sp>
      <p:sp>
        <p:nvSpPr>
          <p:cNvPr id="2" name="Text"/>
          <p:cNvSpPr/>
          <p:nvPr/>
        </p:nvSpPr>
        <p:spPr>
          <a:xfrm>
            <a:off x="1524000" y="914400"/>
            <a:ext cx="9144000" cy="1143000"/>
          </a:xfrm>
          <a:prstGeom prst="rect">
            <a:avLst/>
          </a:prstGeom>
        </p:spPr>
        <p:txBody>
          <a:bodyPr anchor="t" lIns="0" tIns="0" rIns="0" bIns="0">
            <a:noAutofit/>
          </a:bodyPr>
          <a:lstStyle/>
          <a:p>
            <a:pPr>
              <a:lnSpc>
                <a:spcPct val="120000"/>
              </a:lnSpc>
            </a:pPr>
            <a:r>
              <a:rPr lang="en-US" sz="1200" dirty="0">
                <a:effectLst/>
              </a:rPr>
              <a:t>Modification of conventional polymers by grafting and graft-(co)polymerization techniques has received much academic and practical interest. This method allows to imparting a variety of functional groups to a polymer. Bhattacharya and Misra [121] have documented graft copolymerization reactions initiated by chemical treatment, photo-irradiation, high-energy radiation technique, etc. as a versatile means to modify polymers. According to authors, there are several means to modify polymer properties such as blending, grafting, and curing. Among these methods of modification of polymers, grafting and graft copolymerization are one of the most promising methods.</a:t>
            </a:r>
          </a:p>
        </p:txBody>
      </p:sp>
      <p:sp>
        <p:nvSpPr>
          <p:cNvPr id="2" name="Text"/>
          <p:cNvSpPr/>
          <p:nvPr/>
        </p:nvSpPr>
        <p:spPr>
          <a:xfrm>
            <a:off x="1524000" y="2209800"/>
            <a:ext cx="9144000" cy="1371600"/>
          </a:xfrm>
          <a:prstGeom prst="rect">
            <a:avLst/>
          </a:prstGeom>
        </p:spPr>
        <p:txBody>
          <a:bodyPr anchor="t" lIns="0" tIns="0" rIns="0" bIns="0">
            <a:noAutofit/>
          </a:bodyPr>
          <a:lstStyle/>
          <a:p>
            <a:pPr>
              <a:lnSpc>
                <a:spcPct val="120000"/>
              </a:lnSpc>
            </a:pPr>
            <a:r>
              <a:rPr lang="en-US" sz="1200" dirty="0">
                <a:effectLst/>
              </a:rPr>
              <a:t>In this review, different methods of grafting, including reactive extrusion systems, grafting and graft copolymerization of synthetic and natural polymers with MA and its isostructural analogues are described. Special attention is spared to the grafting of conventional and non-conventional synthetic and natural polymers, including biodegradable polymers, mechanism of grafting and graft copolymerization, in situ grafting reactions, and usage of MA alternating, random and graft copolymers as compatibilizers in the reactive polymer blends, various composites, as well as structure, unique properties and application areas of these copolymers as high performance engineering materials.</a:t>
            </a:r>
          </a:p>
        </p:txBody>
      </p:sp>
      <p:sp>
        <p:nvSpPr>
          <p:cNvPr id="2" name="Text"/>
          <p:cNvSpPr/>
          <p:nvPr/>
        </p:nvSpPr>
        <p:spPr>
          <a:xfrm>
            <a:off x="1524000" y="3733800"/>
            <a:ext cx="9144000" cy="342900"/>
          </a:xfrm>
          <a:prstGeom prst="rect">
            <a:avLst/>
          </a:prstGeom>
        </p:spPr>
        <p:txBody>
          <a:bodyPr anchor="t" lIns="0" tIns="0" rIns="0" bIns="0">
            <a:noAutofit/>
          </a:bodyPr>
          <a:lstStyle/>
          <a:p>
            <a:pPr>
              <a:lnSpc>
                <a:spcPct val="120000"/>
              </a:lnSpc>
            </a:pPr>
            <a:r>
              <a:rPr lang="en-US" sz="1800" dirty="0" b="1">
                <a:effectLst/>
              </a:rPr>
              <a:t>2. Grafting of Polyolefins</a:t>
            </a:r>
          </a:p>
        </p:txBody>
      </p:sp>
      <p:sp>
        <p:nvSpPr>
          <p:cNvPr id="2" name="Text"/>
          <p:cNvSpPr/>
          <p:nvPr/>
        </p:nvSpPr>
        <p:spPr>
          <a:xfrm>
            <a:off x="1524000" y="4266439"/>
            <a:ext cx="9144000" cy="228600"/>
          </a:xfrm>
          <a:prstGeom prst="rect">
            <a:avLst/>
          </a:prstGeom>
        </p:spPr>
        <p:txBody>
          <a:bodyPr anchor="t" lIns="0" tIns="0" rIns="0" bIns="0">
            <a:noAutofit/>
          </a:bodyPr>
          <a:lstStyle/>
          <a:p>
            <a:pPr>
              <a:lnSpc>
                <a:spcPct val="120000"/>
              </a:lnSpc>
            </a:pPr>
            <a:r>
              <a:rPr lang="en-US" sz="1200" dirty="0">
                <a:effectLst/>
              </a:rPr>
              <a:t>History of graft modification of polyolefin, especially</a:t>
            </a:r>
          </a:p>
        </p:txBody>
      </p:sp>
      <p:sp>
        <p:nvSpPr>
          <p:cNvPr id="2" name="Text"/>
          <p:cNvSpPr/>
          <p:nvPr/>
        </p:nvSpPr>
        <p:spPr>
          <a:xfrm>
            <a:off x="1524000" y="4647439"/>
            <a:ext cx="9144000" cy="685800"/>
          </a:xfrm>
          <a:prstGeom prst="rect">
            <a:avLst/>
          </a:prstGeom>
        </p:spPr>
        <p:txBody>
          <a:bodyPr anchor="t" lIns="0" tIns="0" rIns="0" bIns="0">
            <a:noAutofit/>
          </a:bodyPr>
          <a:lstStyle/>
          <a:p>
            <a:pPr>
              <a:lnSpc>
                <a:spcPct val="120000"/>
              </a:lnSpc>
            </a:pPr>
            <a:r>
              <a:rPr lang="en-US" sz="1800" dirty="0" b="1">
                <a:effectLst/>
              </a:rPr>
              <a:t>International Review of Chemical Engineering, volume 3, No 2, March, 2011 Int. Rev.Chem. Eng., 3(2011) 153-215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971800"/>
          </a:xfrm>
          <a:prstGeom prst="rect">
            <a:avLst/>
          </a:prstGeom>
        </p:spPr>
        <p:txBody>
          <a:bodyPr anchor="t" lIns="0" tIns="0" rIns="0" bIns="0">
            <a:noAutofit/>
          </a:bodyPr>
          <a:lstStyle/>
          <a:p>
            <a:pPr>
              <a:lnSpc>
                <a:spcPct val="120000"/>
              </a:lnSpc>
            </a:pPr>
            <a:r>
              <a:rPr lang="en-US" sz="1200" dirty="0">
                <a:effectLst/>
              </a:rPr>
              <a:t>polypropylene (PP) with MA dates back to the 1969s [122] when a method was developed for reacting MA on a particular isotactic PP below its melting point. Since then studies have included the maleation of both isotactic and atactic PP under a variety of conditions. This reaction has been achieved in melt processes where the molten polymer is mixed with MA and with a peroxide initiator, either in an extruder or in an internal mixer at an elevated temperature. Alternatively, for the best understanding of mechanism grafting process, solution conditions have been used, where the polymer is dissolved in a suitable solvent at an appropriate temperature and MA is added with an initiator. Finally, the anhydride functionalization of PP has been achieved by a solid phase grafting process. Since the 1960s, dibutyl maleate and acrylic acid have been grafted onto polyolefins in screw extruders [123]. Ide and Hasegawa [124] have reported grafting of MA onto isotactic PP in the molten state using benzoyl peroxide as an initiator and a Brabender plastograph. This graft copolymer was used in blends of polyamide-6 and PP as a reactive compatibilizer [125]. Grafting of MA onto low density polyethylene (PE) backbone in the presence of dicumyl peroxide in the melt in a bath reactor have been studied by Swiger and Mango [126]. They also prepared a reactive blend of MA grafted PE with polyamide 66 in a twin-screw extruder. Cha and White [127] have reported MA modification of polyolefins in an internal mixer (batch reactor) and a twin-extruder. They have presented a detailed kinetic model for grafting processes in a reactor and twin-screw extruder systems.</a:t>
            </a:r>
          </a:p>
        </p:txBody>
      </p:sp>
      <p:sp>
        <p:nvSpPr>
          <p:cNvPr id="2" name="Text"/>
          <p:cNvSpPr/>
          <p:nvPr/>
        </p:nvSpPr>
        <p:spPr>
          <a:xfrm>
            <a:off x="1524000" y="3581400"/>
            <a:ext cx="9144000" cy="685800"/>
          </a:xfrm>
          <a:prstGeom prst="rect">
            <a:avLst/>
          </a:prstGeom>
        </p:spPr>
        <p:txBody>
          <a:bodyPr anchor="t" lIns="0" tIns="0" rIns="0" bIns="0">
            <a:noAutofit/>
          </a:bodyPr>
          <a:lstStyle/>
          <a:p>
            <a:pPr>
              <a:lnSpc>
                <a:spcPct val="120000"/>
              </a:lnSpc>
            </a:pPr>
            <a:r>
              <a:rPr lang="en-US" sz="1200" dirty="0">
                <a:effectLst/>
              </a:rPr>
              <a:t>For the evaluation of grafting mechanism, functionalization of PP with MA have been carried out both in solution [125,128-132] and in the molten state [128,129,133-137] using various extruder systems. Taking into the consideration low costs and operating facility, such grafting reactions were preferably carried out in the melt via reactive processing.</a:t>
            </a:r>
          </a:p>
        </p:txBody>
      </p:sp>
      <p:sp>
        <p:nvSpPr>
          <p:cNvPr id="2" name="Text"/>
          <p:cNvSpPr/>
          <p:nvPr/>
        </p:nvSpPr>
        <p:spPr>
          <a:xfrm>
            <a:off x="1524000" y="4419600"/>
            <a:ext cx="9144000" cy="1143000"/>
          </a:xfrm>
          <a:prstGeom prst="rect">
            <a:avLst/>
          </a:prstGeom>
        </p:spPr>
        <p:txBody>
          <a:bodyPr anchor="t" lIns="0" tIns="0" rIns="0" bIns="0">
            <a:noAutofit/>
          </a:bodyPr>
          <a:lstStyle/>
          <a:p>
            <a:pPr>
              <a:lnSpc>
                <a:spcPct val="120000"/>
              </a:lnSpc>
            </a:pPr>
            <a:r>
              <a:rPr lang="en-US" sz="1200" dirty="0">
                <a:effectLst/>
              </a:rPr>
              <a:t>In fact, MA and its isostructural analogoues, such as fumaric, citraconic anhydrides, are strong hydrophilic monomers. If unsaturated dicarboxylic acids and their anhydrides are grafted onto polymers they will carry a denser distribution of carbonyl or free carboxylic groups. These reactive groups can also serve as sites for further macromolecular reactions of copolymers and grafted polymers, especially for compatibilization of immicsible polymers and preparation of various reactive blends with higher engineering performance and controlled morphology and mechanical properties.</a:t>
            </a:r>
          </a:p>
        </p:txBody>
      </p:sp>
      <p:sp>
        <p:nvSpPr>
          <p:cNvPr id="2" name="Text"/>
          <p:cNvSpPr/>
          <p:nvPr/>
        </p:nvSpPr>
        <p:spPr>
          <a:xfrm>
            <a:off x="1524000" y="5715000"/>
            <a:ext cx="9144000" cy="266700"/>
          </a:xfrm>
          <a:prstGeom prst="rect">
            <a:avLst/>
          </a:prstGeom>
        </p:spPr>
        <p:txBody>
          <a:bodyPr anchor="t" lIns="0" tIns="0" rIns="0" bIns="0">
            <a:noAutofit/>
          </a:bodyPr>
          <a:lstStyle/>
          <a:p>
            <a:pPr>
              <a:lnSpc>
                <a:spcPct val="125800"/>
              </a:lnSpc>
            </a:pPr>
            <a:r>
              <a:rPr lang="en-US" sz="1400" dirty="0" b="1">
                <a:effectLst/>
              </a:rPr>
              <a:t>2.1. Grafting in solution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828800"/>
          </a:xfrm>
          <a:prstGeom prst="rect">
            <a:avLst/>
          </a:prstGeom>
        </p:spPr>
        <p:txBody>
          <a:bodyPr anchor="t" lIns="0" tIns="0" rIns="0" bIns="0">
            <a:noAutofit/>
          </a:bodyPr>
          <a:lstStyle/>
          <a:p>
            <a:pPr>
              <a:lnSpc>
                <a:spcPct val="120000"/>
              </a:lnSpc>
            </a:pPr>
            <a:r>
              <a:rPr lang="en-US" sz="1200" dirty="0">
                <a:effectLst/>
              </a:rPr>
              <a:t>The grafting of PP with MA in xylene solution, using benzoyl peroxide as the initiator, has been reported by Ide et al. [124]. Little evidence of degradation of polymer product was found. The effect of solvent type and amount, catalyst type and amount, and the effect of initiator concentration on the MA grafting of PP were studied by Rengarajan et al. [138] It was shown that all of these factors had a significant effect on the grafting degree of the PP. Borsig and Hrckova [139] later compared the level of functionalization of isotactic PP using both solid phase and solution method. They found no significant effect on the differences for the grafting efficiency between the two methods. They also studied the reaction in solution but with atactic PP. The focus was on the influence of the separate components of the reaction system on the degradation of the PP. It was found that the grafting reaction of MA onto PP was accompanied by reactions, leading to degradation or reactions leading to an increase in molecular mass.</a:t>
            </a:r>
          </a:p>
        </p:txBody>
      </p:sp>
      <mc:AlternateContent xmlns:mc="http://schemas.openxmlformats.org/markup-compatibility/2006">
        <mc:Choice xmlns:a14="http://schemas.microsoft.com/office/drawing/2010/main" Requires="a14">
          <p:sp>
            <p:nvSpPr>
              <p:cNvPr id="2" name="Text"/>
              <p:cNvSpPr/>
              <p:nvPr/>
            </p:nvSpPr>
            <p:spPr>
              <a:xfrm>
                <a:off x="1524000" y="2438400"/>
                <a:ext cx="9144000" cy="2743200"/>
              </a:xfrm>
              <a:prstGeom prst="rect">
                <a:avLst/>
              </a:prstGeom>
            </p:spPr>
            <p:txBody>
              <a:bodyPr anchor="t" lIns="0" tIns="0" rIns="0" bIns="0">
                <a:noAutofit/>
              </a:bodyPr>
              <a:lstStyle/>
              <a:p>
                <a:pPr>
                  <a:lnSpc>
                    <a:spcPct val="120000"/>
                  </a:lnSpc>
                </a:pPr>
                <a:r>
                  <a:rPr lang="en-US" sz="1200" dirty="0">
                    <a:effectLst/>
                  </a:rPr>
                  <a:t>MA grafting of isotactic PP in a solution process and evaluation of the effects of monomer and initiator concentration, reaction time, and temperature on percentage grafting were investigated by Sathe et al. [140]. Grafting of MA onto thermoplastic elastomer, such as styrene-(ethylene-butylene)-styrene (SEBS) triblock copolymer, was carried out in xylene solution in the presence of dicumyl peroxide as an initiator. Authors identified the reaction products using liquid chromatography (LC), IR and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13</m:t>
                        </m:r>
                      </m:sup>
                    </m:sSup>
                    <m:r>
                      <m:rPr>
                        <m:sty m:val="p"/>
                      </m:rPr>
                      <a:rPr lang="en-US" sz="1200" dirty="0">
                        <a:solidFill>
                          <a:srgbClr val="000000"/>
                        </a:solidFill>
                        <a:effectLst/>
                      </a:rPr>
                      <m:t>C</m:t>
                    </m:r>
                    <m:r>
                      <m:rPr>
                        <m:sty m:val="p"/>
                      </m:rPr>
                      <a:rPr lang="en-US" sz="1200" dirty="0">
                        <a:solidFill>
                          <a:srgbClr val="000000"/>
                        </a:solidFill>
                        <a:effectLst/>
                      </a:rPr>
                      <m:t>NMR</m:t>
                    </m:r>
                  </m:oMath>
                </a14:m>
                <a:r>
                  <a:rPr lang="en-US" sz="1200" dirty="0">
                    <a:effectLst/>
                  </a:rPr>
                  <a:t>. Side products from the graft reaction were analyzed by the LC. They found that xylene affected the graft reaction through its active methyl groups. Reaction mechanisms also studied by performing free radical kinetics analysis. According to the authors, a proper choice of the solvent might favor graft efficiency better. Sipos et al. [141] investigated the kinetics of grafting of MA to various hydrocarbon substrates (eicosane, squalene and PE) in the pure hydrocarbons and in 1,2-dichlorobenzene solution using 2,5-dimethyl-2,5-di( </a:t>
                </a:r>
                <a:r>
                  <a:rPr lang="en-US" sz="1200" dirty="0">
                    <a:effectLst/>
                  </a:rPr>
                  <a:t>​</a:t>
                </a:r>
                <a14:m>
                  <m:oMath>
                    <m:r>
                      <m:rPr>
                        <m:sty m:val="i"/>
                      </m:rPr>
                      <a:rPr lang="en-US" sz="1200" dirty="0">
                        <a:solidFill>
                          <a:srgbClr val="000000"/>
                        </a:solidFill>
                        <a:effectLst/>
                      </a:rPr>
                      <m:t>t</m:t>
                    </m:r>
                  </m:oMath>
                </a14:m>
                <a:r>
                  <a:rPr lang="en-US" sz="1200" dirty="0">
                    <a:effectLst/>
                  </a:rPr>
                  <a:t>-butylperoxy)-3-hexyne as an initiator (half life of about 1 h at a typical reaction temperature of 150°C). The obtained results authors interpreted in terms of a chain mechanism, including a slow propagation step in which a succinic anhydride radical abstracts a hydrogen atom from the same or different chains. In this work, The same general mechanism was proposed for grafting of MA onto PE and the hydrocarbons in 1,2-dichlorobenzene solution.</a:t>
                </a:r>
              </a:p>
            </p:txBody>
          </p:sp>
        </mc:Choice>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286000"/>
              </a:xfrm>
              <a:prstGeom prst="rect">
                <a:avLst/>
              </a:prstGeom>
            </p:spPr>
            <p:txBody>
              <a:bodyPr anchor="t" lIns="0" tIns="0" rIns="0" bIns="0">
                <a:noAutofit/>
              </a:bodyPr>
              <a:lstStyle/>
              <a:p>
                <a:pPr>
                  <a:lnSpc>
                    <a:spcPct val="120000"/>
                  </a:lnSpc>
                </a:pPr>
                <a:r>
                  <a:rPr lang="en-US" sz="1200" dirty="0">
                    <a:effectLst/>
                  </a:rPr>
                  <a:t>Marconi et al. [142] esterificated (grafted) a commercial poly(ethylene-co-vinyl alcohol) with given monomer unit composition (40:60) with maleic, succinic and glutaric anhydrides in anhydrous DMF solution at 55 °C under nitrogen flow for 48 h. Grafting degree was determined by titration of the side-chain acidic groups (-OOC-CH=CH-</a:t>
                </a:r>
                <a:r>
                  <a:rPr lang="en-US" sz="1200" dirty="0">
                    <a:effectLst/>
                  </a:rPr>
                  <a:t>​</a:t>
                </a:r>
                <a14:m>
                  <m:oMath>
                    <m:r>
                      <m:rPr>
                        <m:sty m:val="p"/>
                      </m:rPr>
                      <a:rPr lang="en-US" sz="1200" dirty="0">
                        <a:solidFill>
                          <a:srgbClr val="000000"/>
                        </a:solidFill>
                        <a:effectLst/>
                      </a:rPr>
                      <m:t>COOH</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OOC</m:t>
                    </m:r>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CH</m:t>
                        </m:r>
                      </m:e>
                      <m:sub>
                        <m:r>
                          <m:rPr>
                            <m:sty m:val="p"/>
                          </m:rPr>
                          <a:rPr lang="en-US" sz="1200" dirty="0">
                            <a:solidFill>
                              <a:srgbClr val="000000"/>
                            </a:solidFill>
                            <a:effectLst/>
                          </a:rPr>
                          <m:t>2</m:t>
                        </m:r>
                      </m:sub>
                    </m:sSub>
                    <m:sSub>
                      <m:sSubPr>
                        <m:ctrlPr>
                          <a:rPr sz="1200">
                            <a:latin typeface="Cambria Math" panose="02040503050406030204" pitchFamily="18" charset="0"/>
                          </a:rPr>
                        </m:ctrlPr>
                      </m:sSubPr>
                      <m:e>
                        <m:r>
                          <m:rPr>
                            <m:sty m:val="p"/>
                          </m:rPr>
                          <a:rPr lang="en-US" sz="1200" dirty="0">
                            <a:solidFill>
                              <a:srgbClr val="000000"/>
                            </a:solidFill>
                            <a:effectLst/>
                          </a:rPr>
                          <m:t>CH</m:t>
                        </m:r>
                      </m:e>
                      <m:sub>
                        <m:r>
                          <m:rPr>
                            <m:sty m:val="p"/>
                          </m:rPr>
                          <a:rPr lang="en-US" sz="1200" dirty="0">
                            <a:solidFill>
                              <a:srgbClr val="000000"/>
                            </a:solidFill>
                            <a:effectLst/>
                          </a:rPr>
                          <m:t>2</m:t>
                        </m:r>
                      </m:sub>
                    </m:sSub>
                    <m:r>
                      <m:rPr>
                        <m:sty m:val="p"/>
                      </m:rPr>
                      <a:rPr lang="en-US" sz="1200" dirty="0">
                        <a:solidFill>
                          <a:srgbClr val="000000"/>
                        </a:solidFill>
                        <a:effectLst/>
                      </a:rPr>
                      <m:t>−</m:t>
                    </m:r>
                    <m:r>
                      <m:rPr>
                        <m:sty m:val="p"/>
                      </m:rPr>
                      <a:rPr lang="en-US" sz="1200" dirty="0">
                        <a:solidFill>
                          <a:srgbClr val="000000"/>
                        </a:solidFill>
                        <a:effectLst/>
                      </a:rPr>
                      <m:t>COOH</m:t>
                    </m:r>
                  </m:oMath>
                </a14:m>
                <a:r>
                  <a:rPr lang="en-US" sz="1200" dirty="0">
                    <a:effectLst/>
                  </a:rPr>
                  <a:t> and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OOC</m:t>
                    </m:r>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CH</m:t>
                        </m:r>
                      </m:e>
                      <m:sub>
                        <m:r>
                          <m:rPr>
                            <m:sty m:val="p"/>
                          </m:rPr>
                          <a:rPr lang="en-US" sz="1200" dirty="0">
                            <a:solidFill>
                              <a:srgbClr val="000000"/>
                            </a:solidFill>
                            <a:effectLst/>
                          </a:rPr>
                          <m:t>2</m:t>
                        </m:r>
                      </m:sub>
                    </m:sSub>
                    <m:sSub>
                      <m:sSubPr>
                        <m:ctrlPr>
                          <a:rPr sz="1200">
                            <a:latin typeface="Cambria Math" panose="02040503050406030204" pitchFamily="18" charset="0"/>
                          </a:rPr>
                        </m:ctrlPr>
                      </m:sSubPr>
                      <m:e>
                        <m:r>
                          <m:rPr>
                            <m:sty m:val="p"/>
                          </m:rPr>
                          <a:rPr lang="en-US" sz="1200" dirty="0">
                            <a:solidFill>
                              <a:srgbClr val="000000"/>
                            </a:solidFill>
                            <a:effectLst/>
                          </a:rPr>
                          <m:t>CH</m:t>
                        </m:r>
                      </m:e>
                      <m:sub>
                        <m:r>
                          <m:rPr>
                            <m:sty m:val="p"/>
                          </m:rPr>
                          <a:rPr lang="en-US" sz="1200" dirty="0">
                            <a:solidFill>
                              <a:srgbClr val="000000"/>
                            </a:solidFill>
                            <a:effectLst/>
                          </a:rPr>
                          <m:t>2</m:t>
                        </m:r>
                      </m:sub>
                    </m:sSub>
                    <m:sSub>
                      <m:sSubPr>
                        <m:ctrlPr>
                          <a:rPr sz="1200">
                            <a:latin typeface="Cambria Math" panose="02040503050406030204" pitchFamily="18" charset="0"/>
                          </a:rPr>
                        </m:ctrlPr>
                      </m:sSubPr>
                      <m:e>
                        <m:r>
                          <m:rPr>
                            <m:sty m:val="p"/>
                          </m:rPr>
                          <a:rPr lang="en-US" sz="1200" dirty="0">
                            <a:solidFill>
                              <a:srgbClr val="000000"/>
                            </a:solidFill>
                            <a:effectLst/>
                          </a:rPr>
                          <m:t>CH</m:t>
                        </m:r>
                      </m:e>
                      <m:sub>
                        <m:r>
                          <m:rPr>
                            <m:sty m:val="p"/>
                          </m:rPr>
                          <a:rPr lang="en-US" sz="1200" dirty="0">
                            <a:solidFill>
                              <a:srgbClr val="000000"/>
                            </a:solidFill>
                            <a:effectLst/>
                          </a:rPr>
                          <m:t>2</m:t>
                        </m:r>
                      </m:sub>
                    </m:sSub>
                    <m:r>
                      <m:rPr>
                        <m:sty m:val="p"/>
                      </m:rPr>
                      <a:rPr lang="en-US" sz="1200" dirty="0">
                        <a:solidFill>
                          <a:srgbClr val="000000"/>
                        </a:solidFill>
                        <a:effectLst/>
                      </a:rPr>
                      <m:t>−</m:t>
                    </m:r>
                    <m:r>
                      <m:rPr>
                        <m:sty m:val="p"/>
                      </m:rPr>
                      <a:rPr lang="en-US" sz="1200" dirty="0">
                        <a:solidFill>
                          <a:srgbClr val="000000"/>
                        </a:solidFill>
                        <a:effectLst/>
                      </a:rPr>
                      <m:t>COOH</m:t>
                    </m:r>
                    <m:r>
                      <m:rPr>
                        <m:sty m:val="p"/>
                      </m:rPr>
                      <a:rPr lang="en-US" sz="1200" dirty="0">
                        <a:solidFill>
                          <a:srgbClr val="000000"/>
                        </a:solidFill>
                        <a:effectLst/>
                      </a:rPr>
                      <m:t>)</m:t>
                    </m:r>
                    <m:r>
                      <m:rPr>
                        <m:sty m:val="p"/>
                      </m:rPr>
                      <a:rPr lang="en-US" sz="1200" dirty="0">
                        <a:solidFill>
                          <a:srgbClr val="000000"/>
                        </a:solidFill>
                        <a:effectLst/>
                      </a:rPr>
                      <m:t>,</m:t>
                    </m:r>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r>
                      <m:rPr>
                        <m:sty m:val="p"/>
                      </m:rPr>
                      <a:rPr lang="en-US" sz="1200" dirty="0">
                        <a:solidFill>
                          <a:srgbClr val="000000"/>
                        </a:solidFill>
                        <a:effectLst/>
                      </a:rPr>
                      <m:t>H</m:t>
                    </m:r>
                    <m:r>
                      <m:rPr>
                        <m:sty m:val="p"/>
                      </m:rPr>
                      <a:rPr lang="en-US" sz="1200" dirty="0">
                        <a:solidFill>
                          <a:srgbClr val="000000"/>
                        </a:solidFill>
                        <a:effectLst/>
                      </a:rPr>
                      <m:t>NMR</m:t>
                    </m:r>
                  </m:oMath>
                </a14:m>
                <a:r>
                  <a:rPr lang="en-US" sz="1200" dirty="0">
                    <a:effectLst/>
                  </a:rPr>
                  <a:t> spectroscopy and elemental analysis. Structure of prepared terpolymers was confirmed by FTIR spectroscopy. The influence of these different types of carboxy derivatives on the biological activity of the polymer was also evaluated. According to the authors, introduction of ionic groups into the polymer backbone, which are able to increase its hydrophilicity, as well as the interfacial mobility of polymer surface, thus promote a favorable and selective adsorption of the plasma proteins. It was shown that these type of polymers exert an antiadhesive action towards the blood platelets due to electrostatic repulsion between the polymer acidic groups</a:t>
                </a:r>
                <a:br>
                  <a:rPr lang="en-US" sz="1200" dirty="0"/>
                </a:br>
                <a:r>
                  <a:rPr lang="en-US" sz="1200" dirty="0">
                    <a:effectLst/>
                  </a:rPr>
                  <a:t> and the negatively charged external platelet membrane [143].</a:t>
                </a:r>
              </a:p>
            </p:txBody>
          </p:sp>
        </mc:Choice>
        <mc:Fallback/>
      </mc:AlternateContent>
      <p:sp>
        <p:nvSpPr>
          <p:cNvPr id="2" name="Text"/>
          <p:cNvSpPr/>
          <p:nvPr/>
        </p:nvSpPr>
        <p:spPr>
          <a:xfrm>
            <a:off x="1524000" y="2895600"/>
            <a:ext cx="9144000" cy="2057400"/>
          </a:xfrm>
          <a:prstGeom prst="rect">
            <a:avLst/>
          </a:prstGeom>
        </p:spPr>
        <p:txBody>
          <a:bodyPr anchor="t" lIns="0" tIns="0" rIns="0" bIns="0">
            <a:noAutofit/>
          </a:bodyPr>
          <a:lstStyle/>
          <a:p>
            <a:pPr>
              <a:lnSpc>
                <a:spcPct val="120000"/>
              </a:lnSpc>
            </a:pPr>
            <a:r>
              <a:rPr lang="en-US" sz="1200" dirty="0">
                <a:effectLst/>
              </a:rPr>
              <a:t>Functionalization of isotactic PP with dimethyl itaconate (DMI) as functional polar monomer using 2,5-dimethyl-2,5-bis(tert-butylperoxy)hexane as a radical initiator was carried out in both boiling xylene and decalin as solvent media [144]. The effect of DMI and the initiator concentration on the extent of grafting was studied by varying reaction time and temperature. It was found that temperature affects the content of DMI grafted onto PP, which is slightly higher for reactions carried out in xylene than in decalin. The results also show that the amount of DMI incorporated is proportional to the initial DMI and initiator concentrations used in the grafting reaction up to certain concentrations, and thereafter a decrease in the content of grafting (in wt.-%) was found. The maximum value of grafting obtained was 0.7 %. The melt flow index (MFI) values increase with increasing initial amount of initiator used in the grafting reaction. The degradation of the PP chain is higher when xylene is used as solvent. MFI values of 20-100 were found for modified PP compared with 11.4 found for the unmodified polymer [145,146].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743200"/>
              </a:xfrm>
              <a:prstGeom prst="rect">
                <a:avLst/>
              </a:prstGeom>
            </p:spPr>
            <p:txBody>
              <a:bodyPr anchor="t" lIns="0" tIns="0" rIns="0" bIns="0">
                <a:noAutofit/>
              </a:bodyPr>
              <a:lstStyle/>
              <a:p>
                <a:pPr>
                  <a:lnSpc>
                    <a:spcPct val="120000"/>
                  </a:lnSpc>
                </a:pPr>
                <a:r>
                  <a:rPr lang="en-US" sz="1200" dirty="0">
                    <a:effectLst/>
                  </a:rPr>
                  <a:t>In the past years, as one of the most effective methods, solvothermal method has been widely used to prepare many kinds of new materials [147], including grafted thermoplastic elastomers [148,149]. In this process, the solvents are sealed in vessel (bomb, autoclave, etc.) and can be brought to temperatures well above their boiling points by the increase of aurtogenous pressures resulting from heating. The solvothermal method was successfully used by Qi et al. [149] for the preparation of MA grafted poly(acrylonitrile-co-butadiene-co-styrene)s, poly(ABS-g-MA)s. Authors also studied the effects of reaction time, temperature, MA, initiator and terpolymer concentrations, comonomer (styrene) and different solvents on grafting degree. The grafting reactions were performed in a sealed vessel with 1,2-dichloroethane as solvent and benzoyl peroxide as initiator at 120°C under nitrogen atmosphere. By IR (presence of </a:t>
                </a:r>
                <a:r>
                  <a:rPr lang="en-US" sz="1200" dirty="0">
                    <a:effectLst/>
                  </a:rPr>
                  <a:t>​</a:t>
                </a:r>
                <a14:m>
                  <m:oMath>
                    <m:r>
                      <m:rPr>
                        <m:sty m:val="p"/>
                      </m:rPr>
                      <a:rPr lang="en-US" sz="1200" dirty="0">
                        <a:solidFill>
                          <a:srgbClr val="000000"/>
                        </a:solidFill>
                        <a:effectLst/>
                      </a:rPr>
                      <m:t>1780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O</m:t>
                    </m:r>
                  </m:oMath>
                </a14:m>
                <a:r>
                  <a:rPr lang="en-US" sz="1200" dirty="0">
                    <a:effectLst/>
                  </a:rPr>
                  <a:t> stretching) and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r>
                      <m:rPr>
                        <m:sty m:val="p"/>
                      </m:rPr>
                      <a:rPr lang="en-US" sz="1200" dirty="0">
                        <a:solidFill>
                          <a:srgbClr val="000000"/>
                        </a:solidFill>
                        <a:effectLst/>
                      </a:rPr>
                      <m:t>H</m:t>
                    </m:r>
                  </m:oMath>
                </a14:m>
                <a:r>
                  <a:rPr lang="en-US" sz="1200" dirty="0">
                    <a:effectLst/>
                  </a:rPr>
                  <a:t> NMR (new peak at 3.736 ppm for the anhydride protons) spectroscopy, it was confirmed that MA is successefully grafted onto ABS backbone. Authors demonstrated that to prepare the graft copolymers through solvothermal method grafting reaction can be carried out both in good solvent (1,2-dichloroethane) and poor (acetone or ethanol) solvent, which is much different from traditional solution grafting method, and a high grafting degree (~ 4.2 wt.%) can be obtained in 1,2-dichloroethane as a good solvent.</a:t>
                </a:r>
              </a:p>
            </p:txBody>
          </p:sp>
        </mc:Choice>
        <mc:Fallback/>
      </mc:AlternateContent>
      <p:sp>
        <p:nvSpPr>
          <p:cNvPr id="2" name="Text"/>
          <p:cNvSpPr/>
          <p:nvPr/>
        </p:nvSpPr>
        <p:spPr>
          <a:xfrm>
            <a:off x="1524000" y="3352800"/>
            <a:ext cx="9144000" cy="2971800"/>
          </a:xfrm>
          <a:prstGeom prst="rect">
            <a:avLst/>
          </a:prstGeom>
        </p:spPr>
        <p:txBody>
          <a:bodyPr anchor="t" lIns="0" tIns="0" rIns="0" bIns="0">
            <a:noAutofit/>
          </a:bodyPr>
          <a:lstStyle/>
          <a:p>
            <a:pPr>
              <a:lnSpc>
                <a:spcPct val="120000"/>
              </a:lnSpc>
            </a:pPr>
            <a:r>
              <a:rPr lang="en-US" sz="1200" dirty="0">
                <a:effectLst/>
              </a:rPr>
              <a:t>Some studies on enhancing grafting efficiency have involved the use of mixed monomer systems; in particular, the synergistic effects of comonomers may lead to more efficient grafting processes. This strategy involves choosing a monomer combination in which the comonomer is effective in trapping the radical formed on the ABS backbone and the resultant growing radicals are highly reactive toward the desired sites [150]. As a comonomer, styrene effectively improved the grafting reaction of MA onto ABS terpolymer [149]. The effect of binary system of MA and styrene with various compositions on the grafting onto ABS was studied in different solvents. It was found that the grafting degree increased with the increasing of styrene content, and reached a maximum (7.9 wt.%) at a monomer feed molar ratio of 0.42 in 1,2-dichloroethane. Then, it decreased with further increasing of styrene content. The maximum values of grafting degree were 2.1 and 1.0 wt.% in acetone and ethanol, respectively. According to the authors, observed effect showed that the elevated temperatures and aurtogenous pressures resulting from heating in sealed autoclave are favourable to increase solubility and reactivity of polymers, so the grafting reaction proceeding via graft copolymerization reaction still occured when poor solvents were used. This result showed that a synergistic effect, i.e., an activation of MA through acceptor-donor interaction (complexation) with styrene (Rzayev's comment), on the grafting process of styrene and MA binary mixture onto ABS occured, and the styrene content in the binary monomer mixtures had a considerable influence on the grafting degree in the grafting reaction [149].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4572000"/>
              </a:xfrm>
              <a:prstGeom prst="rect">
                <a:avLst/>
              </a:prstGeom>
            </p:spPr>
            <p:txBody>
              <a:bodyPr anchor="t" lIns="0" tIns="0" rIns="0" bIns="0">
                <a:noAutofit/>
              </a:bodyPr>
              <a:lstStyle/>
              <a:p>
                <a:pPr>
                  <a:lnSpc>
                    <a:spcPct val="120000"/>
                  </a:lnSpc>
                </a:pPr>
                <a:r>
                  <a:rPr lang="en-US" sz="1200" dirty="0">
                    <a:effectLst/>
                  </a:rPr>
                  <a:t>In fact, anhydrides of unsaturated dicarboxylic acids such as maleic, citraconic and itaconic acids, are strong hydrophilic monomers. These reactive groups can serve as sites for further functionalization of grafted polymers. The synthesis of the graft copolymers of PP (powder and granular) with acrylic acid (AA), maleic and citraconic (CA) anhydrides, and poly[PP-g-(MA-alt-AA)] using grafting in solution and reactive extrusion techniques and their main characteristics, as well as results of the structure-composition-property relationship have been reported by Rzayev et al. [151-156]. Functionalization of isotactic polypropylene (i-PP) with CA and MA was carried out in 1,2,4-trichlorobenzene (TCB) solution with dicumyl peroxide (DCP) as an initiator at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160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under nitrogen atmosphere. Chemical and physical structures and thermal behavior of the synthesized graft copolymers with different anhydride units were determined by volumetric titration (acid number), FTIR and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oMath>
                </a14:m>
                <a:r>
                  <a:rPr lang="en-US" sz="1200" dirty="0">
                    <a:effectLst/>
                  </a:rPr>
                  <a:t> H-NMR spectroscopy, X-ray powder diffraction (XRD), DSC and TGA thermal analyses. It was shown that the crystallinity and thermal behavior of grafted </a:t>
                </a:r>
                <a:r>
                  <a:rPr lang="en-US" sz="1200" dirty="0">
                    <a:effectLst/>
                  </a:rPr>
                  <a:t>​</a:t>
                </a:r>
                <a14:m>
                  <m:oMath>
                    <m:r>
                      <m:rPr>
                        <m:sty m:val="i"/>
                      </m:rPr>
                      <a:rPr lang="en-US" sz="1200" dirty="0">
                        <a:solidFill>
                          <a:srgbClr val="000000"/>
                        </a:solidFill>
                        <a:effectLst/>
                      </a:rPr>
                      <m:t>i</m:t>
                    </m:r>
                  </m:oMath>
                </a14:m>
                <a:r>
                  <a:rPr lang="en-US" sz="1200" dirty="0">
                    <a:effectLst/>
                  </a:rPr>
                  <a:t>-PP's depend on anhydride unit concentration in grafted </a:t>
                </a:r>
                <a:r>
                  <a:rPr lang="en-US" sz="1200" dirty="0">
                    <a:effectLst/>
                  </a:rPr>
                  <a:t>​</a:t>
                </a:r>
                <a14:m>
                  <m:oMath>
                    <m:r>
                      <m:rPr>
                        <m:sty m:val="i"/>
                      </m:rPr>
                      <a:rPr lang="en-US" sz="1200" dirty="0">
                        <a:solidFill>
                          <a:srgbClr val="000000"/>
                        </a:solidFill>
                        <a:effectLst/>
                      </a:rPr>
                      <m:t>i</m:t>
                    </m:r>
                  </m:oMath>
                </a14:m>
                <a:r>
                  <a:rPr lang="en-US" sz="1200" dirty="0">
                    <a:effectLst/>
                  </a:rPr>
                  <a:t>-PP; grafting reaction proceeds selectively which is not accompanied by oligomerization of CA and degradation of the main chain as in known maleic anhydride/PP system. This fact was explained by inhibition effect of </a:t>
                </a:r>
                <a:r>
                  <a:rPr lang="en-US" sz="1200" dirty="0">
                    <a:effectLst/>
                  </a:rPr>
                  <a:t>​</a:t>
                </a:r>
                <a14:m>
                  <m:oMath>
                    <m:r>
                      <m:rPr>
                        <m:sty m:val="i"/>
                      </m:rPr>
                      <a:rPr lang="en-US" sz="1200" dirty="0">
                        <a:solidFill>
                          <a:srgbClr val="000000"/>
                        </a:solidFill>
                        <a:effectLst/>
                      </a:rPr>
                      <m:t>α</m:t>
                    </m:r>
                  </m:oMath>
                </a14:m>
                <a:r>
                  <a:rPr lang="en-US" sz="1200" dirty="0">
                    <a:effectLst/>
                  </a:rPr>
                  <a:t>-methyl group in CA grafted unit onto the chain by </a:t>
                </a:r>
                <a:r>
                  <a:rPr lang="en-US" sz="1200" dirty="0">
                    <a:effectLst/>
                  </a:rPr>
                  <a:t>​</a:t>
                </a:r>
                <a14:m>
                  <m:oMath>
                    <m:r>
                      <m:rPr>
                        <m:sty m:val="i"/>
                      </m:rPr>
                      <a:rPr lang="en-US" sz="1200" dirty="0">
                        <a:solidFill>
                          <a:srgbClr val="000000"/>
                        </a:solidFill>
                        <a:effectLst/>
                      </a:rPr>
                      <m:t>β</m:t>
                    </m:r>
                  </m:oMath>
                </a14:m>
                <a:r>
                  <a:rPr lang="en-US" sz="1200" dirty="0">
                    <a:effectLst/>
                  </a:rPr>
                  <a:t>-scission reactions and no homopolymerization of CA in the chosen grafting conditions. The effect of concentration on the anhydride content and grafting efficiency was also investigated. In this study the grafted monomer content varies in the range of 0.01-0.56 mol %. As a general behavior, the grafted monomer content first increases with the comonomer content in the feed, reaches a maximum value and then decreases. The maximum grafting is achieved at 7.5 wt. % for CA monomer content in the feed. It was shown that the glass-transition temperature (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g</m:t>
                        </m:r>
                      </m:sub>
                    </m:sSub>
                  </m:oMath>
                </a14:m>
                <a:r>
                  <a:rPr lang="en-US" sz="1200" dirty="0">
                    <a:effectLst/>
                  </a:rPr>
                  <a:t> ) and crystalline properties of grafted </a:t>
                </a:r>
                <a:r>
                  <a:rPr lang="en-US" sz="1200" dirty="0">
                    <a:effectLst/>
                  </a:rPr>
                  <a:t>​</a:t>
                </a:r>
                <a14:m>
                  <m:oMath>
                    <m:r>
                      <m:rPr>
                        <m:sty m:val="i"/>
                      </m:rPr>
                      <a:rPr lang="en-US" sz="1200" dirty="0">
                        <a:solidFill>
                          <a:srgbClr val="000000"/>
                        </a:solidFill>
                        <a:effectLst/>
                      </a:rPr>
                      <m:t>i</m:t>
                    </m:r>
                  </m:oMath>
                </a14:m>
                <a:r>
                  <a:rPr lang="en-US" sz="1200" dirty="0">
                    <a:effectLst/>
                  </a:rPr>
                  <a:t>-PP</a:t>
                </a:r>
                <a:br>
                  <a:rPr lang="en-US" sz="1200" dirty="0"/>
                </a:br>
                <a:r>
                  <a:rPr lang="en-US" sz="1200" dirty="0">
                    <a:effectLst/>
                  </a:rPr>
                  <a:t> were different from non-grafted </a:t>
                </a:r>
                <a:r>
                  <a:rPr lang="en-US" sz="1200" dirty="0">
                    <a:effectLst/>
                  </a:rPr>
                  <a:t>​</a:t>
                </a:r>
                <a14:m>
                  <m:oMath>
                    <m:r>
                      <m:rPr>
                        <m:sty m:val="i"/>
                      </m:rPr>
                      <a:rPr lang="en-US" sz="1200" dirty="0">
                        <a:solidFill>
                          <a:srgbClr val="000000"/>
                        </a:solidFill>
                        <a:effectLst/>
                      </a:rPr>
                      <m:t>i</m:t>
                    </m:r>
                  </m:oMath>
                </a14:m>
                <a:r>
                  <a:rPr lang="en-US" sz="1200" dirty="0">
                    <a:effectLst/>
                  </a:rPr>
                  <a:t>-PP. In addition, the melting point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m</m:t>
                            </m:r>
                          </m:sub>
                        </m:sSub>
                      </m:e>
                    </m:d>
                  </m:oMath>
                </a14:m>
                <a:r>
                  <a:rPr lang="en-US" sz="1200" dirty="0">
                    <a:effectLst/>
                  </a:rPr>
                  <a:t> of the functionalized </a:t>
                </a:r>
                <a:r>
                  <a:rPr lang="en-US" sz="1200" dirty="0">
                    <a:effectLst/>
                  </a:rPr>
                  <a:t>​</a:t>
                </a:r>
                <a14:m>
                  <m:oMath>
                    <m:r>
                      <m:rPr>
                        <m:sty m:val="i"/>
                      </m:rPr>
                      <a:rPr lang="en-US" sz="1200" dirty="0">
                        <a:solidFill>
                          <a:srgbClr val="000000"/>
                        </a:solidFill>
                        <a:effectLst/>
                      </a:rPr>
                      <m:t>i</m:t>
                    </m:r>
                  </m:oMath>
                </a14:m>
                <a:r>
                  <a:rPr lang="en-US" sz="1200" dirty="0">
                    <a:effectLst/>
                  </a:rPr>
                  <a:t>-PP's changed little. The structure, macrotacticity, crystallinity, crystallization and thermal behavior of synthesized </a:t>
                </a:r>
                <a:r>
                  <a:rPr lang="en-US" sz="1200" dirty="0">
                    <a:effectLst/>
                  </a:rPr>
                  <a:t>​</a:t>
                </a:r>
                <a14:m>
                  <m:oMath>
                    <m:r>
                      <m:rPr>
                        <m:sty m:val="i"/>
                      </m:rPr>
                      <a:rPr lang="en-US" sz="1200" dirty="0">
                        <a:solidFill>
                          <a:srgbClr val="000000"/>
                        </a:solidFill>
                        <a:effectLst/>
                      </a:rPr>
                      <m:t>i</m:t>
                    </m:r>
                  </m:oMath>
                </a14:m>
                <a:r>
                  <a:rPr lang="en-US" sz="1200" dirty="0">
                    <a:effectLst/>
                  </a:rPr>
                  <a:t>-PP grafts depend on the monomer unit concentration in polymers. Grafting reaction with CA proceeds more selectively than those for MA. That can be explained by relatively low electron-acceptor properties of citraconic double bond due to a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CH</m:t>
                        </m:r>
                      </m:e>
                      <m:sub>
                        <m:r>
                          <m:rPr>
                            <m:sty m:val="p"/>
                          </m:rPr>
                          <a:rPr lang="en-US" sz="1200" dirty="0">
                            <a:solidFill>
                              <a:srgbClr val="000000"/>
                            </a:solidFill>
                            <a:effectLst/>
                          </a:rPr>
                          <m:t>3</m:t>
                        </m:r>
                      </m:sub>
                    </m:sSub>
                  </m:oMath>
                </a14:m>
                <a:r>
                  <a:rPr lang="en-US" sz="1200" dirty="0">
                    <a:effectLst/>
                  </a:rPr>
                  <a:t> group in the </a:t>
                </a:r>
                <a:r>
                  <a:rPr lang="en-US" sz="1200" dirty="0">
                    <a:effectLst/>
                  </a:rPr>
                  <a:t>​</a:t>
                </a:r>
                <a14:m>
                  <m:oMath>
                    <m:r>
                      <m:rPr>
                        <m:sty m:val="i"/>
                      </m:rPr>
                      <a:rPr lang="en-US" sz="1200" dirty="0">
                        <a:solidFill>
                          <a:srgbClr val="000000"/>
                        </a:solidFill>
                        <a:effectLst/>
                      </a:rPr>
                      <m:t>α</m:t>
                    </m:r>
                  </m:oMath>
                </a14:m>
                <a:r>
                  <a:rPr lang="en-US" sz="1200" dirty="0">
                    <a:effectLst/>
                  </a:rPr>
                  <a:t>-position, as well as by steric effect of this group [156].</a:t>
                </a:r>
              </a:p>
            </p:txBody>
          </p:sp>
        </mc:Choice>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743200"/>
              </a:xfrm>
              <a:prstGeom prst="rect">
                <a:avLst/>
              </a:prstGeom>
            </p:spPr>
            <p:txBody>
              <a:bodyPr anchor="t" lIns="0" tIns="0" rIns="0" bIns="0">
                <a:noAutofit/>
              </a:bodyPr>
              <a:lstStyle/>
              <a:p>
                <a:pPr>
                  <a:lnSpc>
                    <a:spcPct val="120000"/>
                  </a:lnSpc>
                </a:pPr>
                <a:r>
                  <a:rPr lang="en-US" sz="1200" dirty="0">
                    <a:effectLst/>
                  </a:rPr>
                  <a:t>As a general behavior, the anhydride content initially increases with the monomer content in the feed, reaches a maximum value and then decreases. For instance, for CA grafting, the maximum grafting is achieved at 7.5% (weight monomer/weight polymer) monomer content in the feed. When the CA content in the feed is low, there are enough initial radicals to combine with CA molecules and to initiate </a:t>
                </a:r>
                <a:r>
                  <a:rPr lang="en-US" sz="1200" dirty="0">
                    <a:effectLst/>
                  </a:rPr>
                  <a:t>​</a:t>
                </a:r>
                <a14:m>
                  <m:oMath>
                    <m:r>
                      <m:rPr>
                        <m:sty m:val="i"/>
                      </m:rPr>
                      <a:rPr lang="en-US" sz="1200" dirty="0">
                        <a:solidFill>
                          <a:srgbClr val="000000"/>
                        </a:solidFill>
                        <a:effectLst/>
                      </a:rPr>
                      <m:t>i</m:t>
                    </m:r>
                  </m:oMath>
                </a14:m>
                <a:r>
                  <a:rPr lang="en-US" sz="1200" dirty="0">
                    <a:effectLst/>
                  </a:rPr>
                  <a:t>-PP macroradicals. Therefore, the grafting degree would increase with increasing CA content in the feed. But with a further increase in the initial CA content, more and more radicals would be consumed in formation of radicals from the thermal decomposition (homolytic scission) of the initiator molecules, which can combine with CA monomers or </a:t>
                </a:r>
                <a:r>
                  <a:rPr lang="en-US" sz="1200" dirty="0">
                    <a:effectLst/>
                  </a:rPr>
                  <a:t>​</a:t>
                </a:r>
                <a14:m>
                  <m:oMath>
                    <m:r>
                      <m:rPr>
                        <m:sty m:val="i"/>
                      </m:rPr>
                      <a:rPr lang="en-US" sz="1200" dirty="0">
                        <a:solidFill>
                          <a:srgbClr val="000000"/>
                        </a:solidFill>
                        <a:effectLst/>
                      </a:rPr>
                      <m:t>i</m:t>
                    </m:r>
                  </m:oMath>
                </a14:m>
                <a:r>
                  <a:rPr lang="en-US" sz="1200" dirty="0">
                    <a:effectLst/>
                  </a:rPr>
                  <a:t>-PP backbone chains. The number of initial radicals to induce above considered reactions would then decrease consistently. Therefore, the grafting degree of </a:t>
                </a:r>
                <a:r>
                  <a:rPr lang="en-US" sz="1200" dirty="0">
                    <a:effectLst/>
                  </a:rPr>
                  <a:t>​</a:t>
                </a:r>
                <a14:m>
                  <m:oMath>
                    <m:r>
                      <m:rPr>
                        <m:sty m:val="i"/>
                      </m:rPr>
                      <a:rPr lang="en-US" sz="1200" dirty="0">
                        <a:solidFill>
                          <a:srgbClr val="000000"/>
                        </a:solidFill>
                        <a:effectLst/>
                      </a:rPr>
                      <m:t>i</m:t>
                    </m:r>
                  </m:oMath>
                </a14:m>
                <a:r>
                  <a:rPr lang="en-US" sz="1200" dirty="0">
                    <a:effectLst/>
                  </a:rPr>
                  <a:t>-PP would decrease and a maximum value for the grafting degree of </a:t>
                </a:r>
                <a:r>
                  <a:rPr lang="en-US" sz="1200" dirty="0">
                    <a:effectLst/>
                  </a:rPr>
                  <a:t>​</a:t>
                </a:r>
                <a14:m>
                  <m:oMath>
                    <m:r>
                      <m:rPr>
                        <m:sty m:val="i"/>
                      </m:rPr>
                      <a:rPr lang="en-US" sz="1200" dirty="0">
                        <a:solidFill>
                          <a:srgbClr val="000000"/>
                        </a:solidFill>
                        <a:effectLst/>
                      </a:rPr>
                      <m:t>i</m:t>
                    </m:r>
                  </m:oMath>
                </a14:m>
                <a:r>
                  <a:rPr lang="en-US" sz="1200" dirty="0">
                    <a:effectLst/>
                  </a:rPr>
                  <a:t>-PP appears. Thermal oxidation may also be a possible cause of degradation of the </a:t>
                </a:r>
                <a:r>
                  <a:rPr lang="en-US" sz="1200" dirty="0">
                    <a:effectLst/>
                  </a:rPr>
                  <a:t>​</a:t>
                </a:r>
                <a14:m>
                  <m:oMath>
                    <m:r>
                      <m:rPr>
                        <m:sty m:val="i"/>
                      </m:rPr>
                      <a:rPr lang="en-US" sz="1200" dirty="0">
                        <a:solidFill>
                          <a:srgbClr val="000000"/>
                        </a:solidFill>
                        <a:effectLst/>
                      </a:rPr>
                      <m:t>i</m:t>
                    </m:r>
                  </m:oMath>
                </a14:m>
                <a:r>
                  <a:rPr lang="en-US" sz="1200" dirty="0">
                    <a:effectLst/>
                  </a:rPr>
                  <a:t>-PP chains; however, in our case all the reactions were conducted under pure nitrogen atmosphere, therefore this side reaction could be neglected. Grafting reaction proceeds selectively which is not accompanied by oligomerization of CA and degradation of the main chain [156] as in known maleic anhydride/PP system [151,154]. CA homopolymerization is additionally tried to perform under the same experimental conditions, however CA graft homopolymerization does not take place.</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352800"/>
                <a:ext cx="9144000" cy="685800"/>
              </a:xfrm>
              <a:prstGeom prst="rect">
                <a:avLst/>
              </a:prstGeom>
            </p:spPr>
            <p:txBody>
              <a:bodyPr anchor="t" lIns="0" tIns="0" rIns="0" bIns="0">
                <a:noAutofit/>
              </a:bodyPr>
              <a:lstStyle/>
              <a:p>
                <a:pPr>
                  <a:lnSpc>
                    <a:spcPct val="120000"/>
                  </a:lnSpc>
                </a:pPr>
                <a:r>
                  <a:rPr lang="en-US" sz="1200" dirty="0">
                    <a:effectLst/>
                  </a:rPr>
                  <a:t>Although reactivity of CA radicals is lower than MA, grafting reaction of CA with </a:t>
                </a:r>
                <a:r>
                  <a:rPr lang="en-US" sz="1200" dirty="0">
                    <a:effectLst/>
                  </a:rPr>
                  <a:t>​</a:t>
                </a:r>
                <a14:m>
                  <m:oMath>
                    <m:r>
                      <m:rPr>
                        <m:sty m:val="i"/>
                      </m:rPr>
                      <a:rPr lang="en-US" sz="1200" dirty="0">
                        <a:solidFill>
                          <a:srgbClr val="000000"/>
                        </a:solidFill>
                        <a:effectLst/>
                      </a:rPr>
                      <m:t>i</m:t>
                    </m:r>
                  </m:oMath>
                </a14:m>
                <a:r>
                  <a:rPr lang="en-US" sz="1200" dirty="0">
                    <a:effectLst/>
                  </a:rPr>
                  <a:t>-PP is more selective than in the case of MA grafting reactions. This inhibition effect of chain scission of the </a:t>
                </a:r>
                <a:r>
                  <a:rPr lang="en-US" sz="1200" dirty="0">
                    <a:effectLst/>
                  </a:rPr>
                  <a:t>​</a:t>
                </a:r>
                <a14:m>
                  <m:oMath>
                    <m:r>
                      <m:rPr>
                        <m:sty m:val="i"/>
                      </m:rPr>
                      <a:rPr lang="en-US" sz="1200" dirty="0">
                        <a:solidFill>
                          <a:srgbClr val="000000"/>
                        </a:solidFill>
                        <a:effectLst/>
                      </a:rPr>
                      <m:t>α</m:t>
                    </m:r>
                  </m:oMath>
                </a14:m>
                <a:r>
                  <a:rPr lang="en-US" sz="1200" dirty="0">
                    <a:effectLst/>
                  </a:rPr>
                  <a:t>-methyl groups may be due to the formation of quaternary carbon atom in CA grafted linkage as shown in Figure 2 [45,46].</a:t>
                </a:r>
              </a:p>
            </p:txBody>
          </p:sp>
        </mc:Choice>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78979e795f71146a30587220adc21b9d3e2d4fee.jpg"/>
          <p:cNvPicPr/>
          <p:nvPr/>
        </p:nvPicPr>
        <p:blipFill>
          <a:blip r:embed="rId2" cstate="print"/>
          <a:srcRect/>
          <a:stretch>
            <a:fillRect/>
          </a:stretch>
        </p:blipFill>
        <p:spPr>
          <a:xfrm>
            <a:off x="1524000" y="457200"/>
            <a:ext cx="5943600" cy="59436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2. Proposed mechanism of grafting reactions of CA with i-PP through hemolytic chain degradation by </a:t>
                </a:r>
                <a:r>
                  <a:rPr lang="en-US" sz="1200" dirty="0">
                    <a:effectLst/>
                  </a:rPr>
                  <a:t>​</a:t>
                </a:r>
                <a14:m>
                  <m:oMath>
                    <m:r>
                      <m:rPr>
                        <m:sty m:val="i"/>
                      </m:rPr>
                      <a:rPr lang="en-US" sz="1200" dirty="0">
                        <a:solidFill>
                          <a:srgbClr val="000000"/>
                        </a:solidFill>
                        <a:effectLst/>
                      </a:rPr>
                      <m:t>β</m:t>
                    </m:r>
                  </m:oMath>
                </a14:m>
                <a:r>
                  <a:rPr lang="en-US" sz="1200" dirty="0">
                    <a:effectLst/>
                  </a:rPr>
                  <a:t>-scission.</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685800"/>
                <a:ext cx="9144000" cy="1828800"/>
              </a:xfrm>
              <a:prstGeom prst="rect">
                <a:avLst/>
              </a:prstGeom>
            </p:spPr>
            <p:txBody>
              <a:bodyPr anchor="t" lIns="0" tIns="0" rIns="0" bIns="0">
                <a:noAutofit/>
              </a:bodyPr>
              <a:lstStyle/>
              <a:p>
                <a:pPr>
                  <a:lnSpc>
                    <a:spcPct val="120000"/>
                  </a:lnSpc>
                </a:pPr>
                <a:r>
                  <a:rPr lang="en-US" sz="1200" dirty="0">
                    <a:effectLst/>
                  </a:rPr>
                  <a:t>Grafted anhydride linkages are characterized by FTIR and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r>
                      <m:rPr>
                        <m:sty m:val="p"/>
                      </m:rPr>
                      <a:rPr lang="en-US" sz="1200" dirty="0">
                        <a:solidFill>
                          <a:srgbClr val="000000"/>
                        </a:solidFill>
                        <a:effectLst/>
                      </a:rPr>
                      <m:t>H</m:t>
                    </m:r>
                    <m:r>
                      <m:rPr>
                        <m:sty m:val="p"/>
                      </m:rPr>
                      <a:rPr lang="en-US" sz="1200" dirty="0">
                        <a:solidFill>
                          <a:srgbClr val="000000"/>
                        </a:solidFill>
                        <a:effectLst/>
                      </a:rPr>
                      <m:t>NMR</m:t>
                    </m:r>
                    <m:r>
                      <m:rPr>
                        <m:sty m:val="p"/>
                      </m:rPr>
                      <a:rPr lang="en-US" sz="1200" dirty="0">
                        <a:solidFill>
                          <a:srgbClr val="000000"/>
                        </a:solidFill>
                        <a:effectLst/>
                      </a:rPr>
                      <m:t>(</m:t>
                    </m:r>
                    <m:r>
                      <m:rPr>
                        <m:sty m:val="p"/>
                      </m:rPr>
                      <a:rPr lang="en-US" sz="1200" dirty="0">
                        <a:solidFill>
                          <a:srgbClr val="000000"/>
                        </a:solidFill>
                        <a:effectLst/>
                      </a:rPr>
                      <m:t>400</m:t>
                    </m:r>
                    <m:r>
                      <m:rPr>
                        <m:sty m:val="p"/>
                      </m:rPr>
                      <a:rPr lang="en-US" sz="1200" dirty="0">
                        <a:solidFill>
                          <a:srgbClr val="000000"/>
                        </a:solidFill>
                        <a:effectLst/>
                      </a:rPr>
                      <m:t>MHz</m:t>
                    </m:r>
                    <m:r>
                      <m:rPr>
                        <m:sty m:val="p"/>
                      </m:rPr>
                      <a:rPr lang="en-US" sz="1200" dirty="0">
                        <a:solidFill>
                          <a:srgbClr val="000000"/>
                        </a:solidFill>
                        <a:effectLst/>
                      </a:rPr>
                      <m:t>)</m:t>
                    </m:r>
                  </m:oMath>
                </a14:m>
                <a:r>
                  <a:rPr lang="en-US" sz="1200" dirty="0">
                    <a:effectLst/>
                  </a:rPr>
                  <a:t> spectroscopy [156]. The visible change of intensity of stretching and deformation bands for </a:t>
                </a:r>
                <a:r>
                  <a:rPr lang="en-US" sz="1200" dirty="0">
                    <a:effectLst/>
                  </a:rPr>
                  <a:t>​</a:t>
                </a:r>
                <a14:m>
                  <m:oMath>
                    <m:r>
                      <m:rPr>
                        <m:sty m:val="p"/>
                      </m:rPr>
                      <a:rPr lang="en-US" sz="1200" dirty="0">
                        <a:solidFill>
                          <a:srgbClr val="000000"/>
                        </a:solidFill>
                        <a:effectLst/>
                      </a:rPr>
                      <m:t>CH</m:t>
                    </m:r>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CH</m:t>
                        </m:r>
                      </m:e>
                      <m:sub>
                        <m:r>
                          <m:rPr>
                            <m:sty m:val="p"/>
                          </m:rPr>
                          <a:rPr lang="en-US" sz="1200" dirty="0">
                            <a:solidFill>
                              <a:srgbClr val="000000"/>
                            </a:solidFill>
                            <a:effectLst/>
                          </a:rPr>
                          <m:t>2</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CH</m:t>
                        </m:r>
                      </m:e>
                      <m:sub>
                        <m:r>
                          <m:rPr>
                            <m:sty m:val="p"/>
                          </m:rPr>
                          <a:rPr lang="en-US" sz="1200" dirty="0">
                            <a:solidFill>
                              <a:srgbClr val="000000"/>
                            </a:solidFill>
                            <a:effectLst/>
                          </a:rPr>
                          <m:t>3</m:t>
                        </m:r>
                      </m:sub>
                    </m:sSub>
                  </m:oMath>
                </a14:m>
                <a:r>
                  <a:rPr lang="en-US" sz="1200" dirty="0">
                    <a:effectLst/>
                  </a:rPr>
                  <a:t> groups, which are dependent on the grafting degree, is also observed. The comparative analysis of spectra virgin </a:t>
                </a:r>
                <a:r>
                  <a:rPr lang="en-US" sz="1200" dirty="0">
                    <a:effectLst/>
                  </a:rPr>
                  <a:t>​</a:t>
                </a:r>
                <a14:m>
                  <m:oMath>
                    <m:r>
                      <m:rPr>
                        <m:sty m:val="i"/>
                      </m:rPr>
                      <a:rPr lang="en-US" sz="1200" dirty="0">
                        <a:solidFill>
                          <a:srgbClr val="000000"/>
                        </a:solidFill>
                        <a:effectLst/>
                      </a:rPr>
                      <m:t>i</m:t>
                    </m:r>
                  </m:oMath>
                </a14:m>
                <a:r>
                  <a:rPr lang="en-US" sz="1200" dirty="0">
                    <a:effectLst/>
                  </a:rPr>
                  <a:t>-PP and grafted polymers with different compositions indicated that the increasing in intensity of the characteristic bands at 2961, 2923, 2874 and </a:t>
                </a:r>
                <a:r>
                  <a:rPr lang="en-US" sz="1200" dirty="0">
                    <a:effectLst/>
                  </a:rPr>
                  <a:t>​</a:t>
                </a:r>
                <a14:m>
                  <m:oMath>
                    <m:r>
                      <m:rPr>
                        <m:sty m:val="p"/>
                      </m:rPr>
                      <a:rPr lang="en-US" sz="1200" dirty="0">
                        <a:solidFill>
                          <a:srgbClr val="000000"/>
                        </a:solidFill>
                        <a:effectLst/>
                      </a:rPr>
                      <m:t>2840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sup>
                    </m:sSup>
                  </m:oMath>
                </a14:m>
                <a:r>
                  <a:rPr lang="en-US" sz="1200" dirty="0">
                    <a:effectLst/>
                  </a:rPr>
                  <a:t>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oMath>
                </a14:m>
                <a:r>
                  <a:rPr lang="en-US" sz="1200" dirty="0">
                    <a:effectLst/>
                  </a:rPr>
                  <a:t> (C-H stretching in </a:t>
                </a:r>
                <a:r>
                  <a:rPr lang="en-US" sz="1200" dirty="0">
                    <a:effectLst/>
                  </a:rPr>
                  <a:t>​</a:t>
                </a:r>
                <a14:m>
                  <m:oMath>
                    <m:r>
                      <m:rPr>
                        <m:sty m:val="p"/>
                      </m:rPr>
                      <a:rPr lang="en-US" sz="1200" dirty="0">
                        <a:solidFill>
                          <a:srgbClr val="000000"/>
                        </a:solidFill>
                        <a:effectLst/>
                      </a:rPr>
                      <m:t>CH</m:t>
                    </m:r>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CH</m:t>
                        </m:r>
                      </m:e>
                      <m:sub>
                        <m:r>
                          <m:rPr>
                            <m:sty m:val="p"/>
                          </m:rPr>
                          <a:rPr lang="en-US" sz="1200" dirty="0">
                            <a:solidFill>
                              <a:srgbClr val="000000"/>
                            </a:solidFill>
                            <a:effectLst/>
                          </a:rPr>
                          <m:t>2</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CH</m:t>
                        </m:r>
                      </m:e>
                      <m:sub>
                        <m:r>
                          <m:rPr>
                            <m:sty m:val="p"/>
                          </m:rPr>
                          <a:rPr lang="en-US" sz="1200" dirty="0">
                            <a:solidFill>
                              <a:srgbClr val="000000"/>
                            </a:solidFill>
                            <a:effectLst/>
                          </a:rPr>
                          <m:t>3</m:t>
                        </m:r>
                      </m:sub>
                    </m:sSub>
                  </m:oMath>
                </a14:m>
                <a:r>
                  <a:rPr lang="en-US" sz="1200" dirty="0">
                    <a:effectLst/>
                  </a:rPr>
                  <a:t> groups), 1470 and 1380 (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CH</m:t>
                        </m:r>
                      </m:e>
                      <m:sub>
                        <m:r>
                          <m:rPr>
                            <m:sty m:val="p"/>
                          </m:rPr>
                          <a:rPr lang="en-US" sz="1200" dirty="0">
                            <a:solidFill>
                              <a:srgbClr val="000000"/>
                            </a:solidFill>
                            <a:effectLst/>
                          </a:rPr>
                          <m:t>2</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CH</m:t>
                        </m:r>
                      </m:e>
                      <m:sub>
                        <m:r>
                          <m:rPr>
                            <m:sty m:val="p"/>
                          </m:rPr>
                          <a:rPr lang="en-US" sz="1200" dirty="0">
                            <a:solidFill>
                              <a:srgbClr val="000000"/>
                            </a:solidFill>
                            <a:effectLst/>
                          </a:rPr>
                          <m:t>3</m:t>
                        </m:r>
                      </m:sub>
                    </m:sSub>
                  </m:oMath>
                </a14:m>
                <a:r>
                  <a:rPr lang="en-US" sz="1200" dirty="0">
                    <a:effectLst/>
                  </a:rPr>
                  <a:t> deformations) and </a:t>
                </a:r>
                <a:r>
                  <a:rPr lang="en-US" sz="1200" dirty="0">
                    <a:effectLst/>
                  </a:rPr>
                  <a:t>​</a:t>
                </a:r>
                <a14:m>
                  <m:oMath>
                    <m:r>
                      <m:rPr>
                        <m:sty m:val="p"/>
                      </m:rPr>
                      <a:rPr lang="en-US" sz="1200" dirty="0">
                        <a:solidFill>
                          <a:srgbClr val="000000"/>
                        </a:solidFill>
                        <a:effectLst/>
                      </a:rPr>
                      <m:t>1162</m:t>
                    </m:r>
                    <m:r>
                      <m:rPr>
                        <m:sty m:val="p"/>
                      </m:rPr>
                      <a:rPr lang="en-US" sz="1200" dirty="0">
                        <a:solidFill>
                          <a:srgbClr val="000000"/>
                        </a:solidFill>
                        <a:effectLst/>
                      </a:rPr>
                      <m:t>,</m:t>
                    </m:r>
                    <m:r>
                      <m:rPr>
                        <m:sty m:val="p"/>
                      </m:rPr>
                      <a:rPr lang="en-US" sz="1200" dirty="0">
                        <a:solidFill>
                          <a:srgbClr val="000000"/>
                        </a:solidFill>
                        <a:effectLst/>
                      </a:rPr>
                      <m:t>998</m:t>
                    </m:r>
                    <m:r>
                      <m:rPr>
                        <m:sty m:val="p"/>
                      </m:rPr>
                      <a:rPr lang="en-US" sz="1200" dirty="0">
                        <a:solidFill>
                          <a:srgbClr val="000000"/>
                        </a:solidFill>
                        <a:effectLst/>
                      </a:rPr>
                      <m:t>,</m:t>
                    </m:r>
                    <m:r>
                      <m:rPr>
                        <m:sty m:val="p"/>
                      </m:rPr>
                      <a:rPr lang="en-US" sz="1200" dirty="0">
                        <a:solidFill>
                          <a:srgbClr val="000000"/>
                        </a:solidFill>
                        <a:effectLst/>
                      </a:rPr>
                      <m:t>974</m:t>
                    </m:r>
                    <m:r>
                      <m:rPr>
                        <m:sty m:val="p"/>
                      </m:rPr>
                      <a:rPr lang="en-US" sz="1200" dirty="0">
                        <a:solidFill>
                          <a:srgbClr val="000000"/>
                        </a:solidFill>
                        <a:effectLst/>
                      </a:rPr>
                      <m:t>,</m:t>
                    </m:r>
                    <m:r>
                      <m:rPr>
                        <m:sty m:val="p"/>
                      </m:rPr>
                      <a:rPr lang="en-US" sz="1200" dirty="0">
                        <a:solidFill>
                          <a:srgbClr val="000000"/>
                        </a:solidFill>
                        <a:effectLst/>
                      </a:rPr>
                      <m:t>898</m:t>
                    </m:r>
                  </m:oMath>
                </a14:m>
                <a:r>
                  <a:rPr lang="en-US" sz="1200" dirty="0">
                    <a:effectLst/>
                  </a:rPr>
                  <a:t> and </a:t>
                </a:r>
                <a:r>
                  <a:rPr lang="en-US" sz="1200" dirty="0">
                    <a:effectLst/>
                  </a:rPr>
                  <a:t>​</a:t>
                </a:r>
                <a14:m>
                  <m:oMath>
                    <m:r>
                      <m:rPr>
                        <m:sty m:val="p"/>
                      </m:rPr>
                      <a:rPr lang="en-US" sz="1200" dirty="0">
                        <a:solidFill>
                          <a:srgbClr val="000000"/>
                        </a:solidFill>
                        <a:effectLst/>
                      </a:rPr>
                      <m:t>808</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which are associated with various vibrations of </a:t>
                </a:r>
                <a:r>
                  <a:rPr lang="en-US" sz="1200" dirty="0">
                    <a:effectLst/>
                  </a:rPr>
                  <a:t>​</a:t>
                </a:r>
                <a14:m>
                  <m:oMath>
                    <m:r>
                      <m:rPr>
                        <m:sty m:val="p"/>
                      </m:rPr>
                      <a:rPr lang="en-US" sz="1200" dirty="0">
                        <a:solidFill>
                          <a:srgbClr val="000000"/>
                        </a:solidFill>
                        <a:effectLst/>
                      </a:rPr>
                      <m:t>CH</m:t>
                    </m:r>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CH</m:t>
                        </m:r>
                      </m:e>
                      <m:sub>
                        <m:r>
                          <m:rPr>
                            <m:sty m:val="p"/>
                          </m:rPr>
                          <a:rPr lang="en-US" sz="1200" dirty="0">
                            <a:solidFill>
                              <a:srgbClr val="000000"/>
                            </a:solidFill>
                            <a:effectLst/>
                          </a:rPr>
                          <m:t>3</m:t>
                        </m:r>
                      </m:sub>
                    </m:sSub>
                  </m:oMath>
                </a14:m>
                <a:r>
                  <a:rPr lang="en-US" sz="1200" dirty="0">
                    <a:effectLst/>
                  </a:rPr>
                  <a:t> group conformation ( </a:t>
                </a:r>
                <a:r>
                  <a:rPr lang="en-US" sz="1200" dirty="0">
                    <a:effectLst/>
                  </a:rPr>
                  <a:t>​</a:t>
                </a:r>
                <a14:m>
                  <m:oMath>
                    <m:r>
                      <m:rPr>
                        <m:sty m:val="p"/>
                      </m:rPr>
                      <a:rPr lang="en-US" sz="1200" dirty="0">
                        <a:solidFill>
                          <a:srgbClr val="000000"/>
                        </a:solidFill>
                        <a:effectLst/>
                      </a:rPr>
                      <m:t>998</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helix band characterizes the fraction of isotactic spirals in </a:t>
                </a:r>
                <a:r>
                  <a:rPr lang="en-US" sz="1200" dirty="0">
                    <a:effectLst/>
                  </a:rPr>
                  <a:t>​</a:t>
                </a:r>
                <a14:m>
                  <m:oMath>
                    <m:r>
                      <m:rPr>
                        <m:sty m:val="i"/>
                      </m:rPr>
                      <a:rPr lang="en-US" sz="1200" dirty="0">
                        <a:solidFill>
                          <a:srgbClr val="000000"/>
                        </a:solidFill>
                        <a:effectLst/>
                      </a:rPr>
                      <m:t>i</m:t>
                    </m:r>
                  </m:oMath>
                </a14:m>
                <a:r>
                  <a:rPr lang="en-US" sz="1200" dirty="0">
                    <a:effectLst/>
                  </a:rPr>
                  <a:t>-PP structure and causes the interaction of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CH</m:t>
                        </m:r>
                      </m:e>
                      <m:sub>
                        <m:r>
                          <m:rPr>
                            <m:sty m:val="p"/>
                          </m:rPr>
                          <a:rPr lang="en-US" sz="1200" dirty="0">
                            <a:solidFill>
                              <a:srgbClr val="000000"/>
                            </a:solidFill>
                            <a:effectLst/>
                          </a:rPr>
                          <m:t>3</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CH</m:t>
                        </m:r>
                      </m:e>
                      <m:sub>
                        <m:r>
                          <m:rPr>
                            <m:sty m:val="p"/>
                          </m:rPr>
                          <a:rPr lang="en-US" sz="1200" dirty="0">
                            <a:solidFill>
                              <a:srgbClr val="000000"/>
                            </a:solidFill>
                            <a:effectLst/>
                          </a:rPr>
                          <m:t>2</m:t>
                        </m:r>
                      </m:sub>
                    </m:sSub>
                  </m:oMath>
                </a14:m>
                <a:r>
                  <a:rPr lang="en-US" sz="1200" dirty="0">
                    <a:effectLst/>
                  </a:rPr>
                  <a:t> groups; the intensity of this band usually used as a criterion of regularity of </a:t>
                </a:r>
                <a:r>
                  <a:rPr lang="en-US" sz="1200" dirty="0">
                    <a:effectLst/>
                  </a:rPr>
                  <a:t>​</a:t>
                </a:r>
                <a14:m>
                  <m:oMath>
                    <m:r>
                      <m:rPr>
                        <m:sty m:val="i"/>
                      </m:rPr>
                      <a:rPr lang="en-US" sz="1200" dirty="0">
                        <a:solidFill>
                          <a:srgbClr val="000000"/>
                        </a:solidFill>
                        <a:effectLst/>
                      </a:rPr>
                      <m:t>i</m:t>
                    </m:r>
                  </m:oMath>
                </a14:m>
                <a:r>
                  <a:rPr lang="en-US" sz="1200" dirty="0">
                    <a:effectLst/>
                  </a:rPr>
                  <a:t>-PP macrospirals; </a:t>
                </a:r>
                <a:r>
                  <a:rPr lang="en-US" sz="1200" dirty="0">
                    <a:effectLst/>
                  </a:rPr>
                  <a:t>​</a:t>
                </a:r>
                <a14:m>
                  <m:oMath>
                    <m:r>
                      <m:rPr>
                        <m:sty m:val="p"/>
                      </m:rPr>
                      <a:rPr lang="en-US" sz="1200" dirty="0">
                        <a:solidFill>
                          <a:srgbClr val="000000"/>
                        </a:solidFill>
                        <a:effectLst/>
                      </a:rPr>
                      <m:t>974</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band assignment to isotactic form of macromolecules intensity of which visibly increases in increasing the content of grafted carboxylic fragments in PP.</a:t>
                </a:r>
              </a:p>
            </p:txBody>
          </p:sp>
        </mc:Choice>
        <mc:Fallback/>
      </mc:AlternateContent>
      <mc:AlternateContent xmlns:mc="http://schemas.openxmlformats.org/markup-compatibility/2006">
        <mc:Choice xmlns:a14="http://schemas.microsoft.com/office/drawing/2010/main" Requires="a14">
          <p:graphicFrame>
            <p:nvGraphicFramePr>
              <p:cNvPr id="3" name="Table"/>
              <p:cNvGraphicFramePr>
                <a:graphicFrameLocks noGrp="1"/>
              </p:cNvGraphicFramePr>
              <p:nvPr/>
            </p:nvGraphicFramePr>
            <p:xfrm>
              <a:off x="2838450" y="2828925"/>
              <a:ext cx="6515100" cy="2105025"/>
            </p:xfrm>
            <a:graphic>
              <a:graphicData uri="http://schemas.openxmlformats.org/drawingml/2006/table">
                <a:tbl>
                  <a:tblPr firstRow="1" firstCol="1" bandRow="1">
                    <a:tableStyleId>{5940675A-B579-460E-94D1-54222C63F5DA}</a:tableStyleId>
                  </a:tblPr>
                  <a:tblGrid>
                    <a:gridCol w="962025"/>
                    <a:gridCol w="1962150"/>
                    <a:gridCol w="1847850"/>
                    <a:gridCol w="523875"/>
                    <a:gridCol w="400050"/>
                    <a:gridCol w="381000"/>
                    <a:gridCol w="428625"/>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266700">
                    <a:tc rowSpan="3">
                      <a:txBody>
                        <a:bodyPr anchor="t" lIns="76200" tIns="15240" rIns="0" bIns="0">
                          <a:noAutofit/>
                        </a:bodyPr>
                        <a:lstStyle/>
                        <a:p>
                          <a:pPr algn="l"/>
                          <a:r>
                            <a:rPr lang="en-US" sz="1200" dirty="0">
                              <a:effectLst/>
                            </a:rPr>
                            <a:t>Grafted PPs</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rowSpan="3">
                      <a:txBody>
                        <a:bodyPr anchor="t" lIns="76200" tIns="15240" rIns="0" bIns="0">
                          <a:noAutofit/>
                        </a:bodyPr>
                        <a:lstStyle/>
                        <a:p>
                          <a:pPr algn="l"/>
                          <a:r>
                            <a:rPr lang="en-US" sz="1200" dirty="0">
                              <a:effectLst/>
                            </a:rPr>
                            <a:t>Grafted monomer unit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rowSpan="3">
                      <a:txBody>
                        <a:bodyPr anchor="t" lIns="76200" tIns="15240" rIns="0" bIns="0">
                          <a:noAutofit/>
                        </a:bodyPr>
                        <a:lstStyle/>
                        <a:p>
                          <a:pPr algn="l"/>
                          <a:r>
                            <a:rPr lang="en-US" sz="1200" dirty="0">
                              <a:effectLst/>
                            </a:rPr>
                            <a:t>Tacticity* (%) A </a:t>
                          </a:r>
                          <a:r>
                            <a:rPr lang="en-US" sz="1200" dirty="0">
                              <a:effectLst/>
                            </a:rPr>
                            <a:t>​</a:t>
                          </a:r>
                          <a14:m>
                            <m:oMathPara>
                              <m:oMathParaPr>
                                <m:jc m:val="left"/>
                              </m:oMathParaPr>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998</m:t>
                                    </m:r>
                                  </m:sup>
                                </m:sSup>
                                <m:r>
                                  <m:rPr>
                                    <m:sty m:val="p"/>
                                  </m:rPr>
                                  <a:rPr lang="en-US" sz="1200" dirty="0">
                                    <a:solidFill>
                                      <a:srgbClr val="000000"/>
                                    </a:solidFill>
                                    <a:effectLst/>
                                  </a:rPr>
                                  <m:t>/</m:t>
                                </m:r>
                                <m:r>
                                  <m:rPr>
                                    <m:sty m:val="p"/>
                                  </m:rPr>
                                  <a:rPr lang="en-US" sz="1200" dirty="0">
                                    <a:solidFill>
                                      <a:srgbClr val="000000"/>
                                    </a:solidFill>
                                    <a:effectLst/>
                                  </a:rPr>
                                  <m:t>A</m:t>
                                </m:r>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974</m:t>
                                    </m:r>
                                  </m:sup>
                                </m:sSup>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gridSpan="4">
                      <a:txBody>
                        <a:bodyPr anchor="t" lIns="76200" tIns="15240" rIns="0" bIns="0">
                          <a:noAutofit/>
                        </a:bodyPr>
                        <a:lstStyle/>
                        <a:p>
                          <a:pPr algn="ctr"/>
                          <a:r>
                            <a:rPr lang="en-US" sz="1200" dirty="0">
                              <a:effectLst/>
                            </a:rPr>
                            <a:t>DSC-TGA analysis</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pPr/>
                          <a:endParaRPr/>
                        </a:p>
                      </a:txBody>
                      <a:tcPr marL="0" marR="0" marT="0" marB="0"/>
                    </a:tc>
                    <a:tc hMerge="1">
                      <a:txBody>
                        <a:bodyPr/>
                        <a:lstStyle/>
                        <a:p>
                          <a:pPr/>
                          <a:endParaRPr/>
                        </a:p>
                      </a:txBody>
                      <a:tcPr marL="0" marR="0" marT="0" marB="0"/>
                    </a:tc>
                    <a:tc hMerge="1">
                      <a:txBody>
                        <a:bodyPr/>
                        <a:lstStyle/>
                        <a:p>
                          <a:pPr/>
                          <a:endParaRPr/>
                        </a:p>
                      </a:txBody>
                      <a:tcPr marL="0" marR="0" marT="0" marB="0"/>
                    </a:tc>
                  </a:tr>
                  <a:tr h="266700">
                    <a:tc vMerge="1">
                      <a:txBody>
                        <a:bodyPr/>
                        <a:lstStyle/>
                        <a:p>
                          <a:pPr/>
                          <a:endParaRPr/>
                        </a:p>
                      </a:txBody>
                      <a:tcPr marL="0" marR="0" marT="0" marB="0"/>
                    </a:tc>
                    <a:tc vMerge="1">
                      <a:txBody>
                        <a:bodyPr/>
                        <a:lstStyle/>
                        <a:p>
                          <a:pPr/>
                          <a:endParaRPr/>
                        </a:p>
                      </a:txBody>
                      <a:tcPr marL="0" marR="0" marT="0" marB="0"/>
                    </a:tc>
                    <a:tc vMerge="1">
                      <a:txBody>
                        <a:bodyPr/>
                        <a:lstStyle/>
                        <a:p>
                          <a:pPr/>
                          <a:endParaRPr/>
                        </a:p>
                      </a:txBody>
                      <a:tcPr marL="0" marR="0" marT="0" marB="0"/>
                    </a:tc>
                    <a:tc gridSpan="4">
                      <a:txBody>
                        <a:bodyPr anchor="t" lIns="76200" tIns="15240" rIns="0" bIns="0">
                          <a:noAutofit/>
                        </a:bodyPr>
                        <a:lstStyle/>
                        <a:p>
                          <a:pPr algn="ctr"/>
                          <a:r>
                            <a:rPr lang="en-US" sz="1200" dirty="0">
                              <a:effectLst/>
                            </a:rPr>
                            <a:t>​</a:t>
                          </a:r>
                          <a14:m>
                            <m:oMathPara>
                              <m:oMathParaPr>
                                <m:jc m:val="center"/>
                              </m:oMathParaPr>
                              <m:oMath>
                                <m:d>
                                  <m:dPr>
                                    <m:begChr m:val="("/>
                                    <m:endChr m:val=")"/>
                                    <m:ctrlPr>
                                      <a:rPr sz="1200">
                                        <a:latin typeface="Cambria Math" panose="02040503050406030204" pitchFamily="18" charset="0"/>
                                      </a:rPr>
                                    </m:ctrlPr>
                                  </m:dPr>
                                  <m:e>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r>
                                      <m:rPr>
                                        <m:sty m:val="p"/>
                                      </m:rPr>
                                      <a:rPr lang="en-US" sz="1200" dirty="0">
                                        <a:solidFill>
                                          <a:srgbClr val="000000"/>
                                        </a:solidFill>
                                        <a:effectLst/>
                                      </a:rPr>
                                      <m:t>C</m:t>
                                    </m:r>
                                  </m:e>
                                </m:d>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pPr/>
                          <a:endParaRPr/>
                        </a:p>
                      </a:txBody>
                      <a:tcPr marL="0" marR="0" marT="0" marB="0"/>
                    </a:tc>
                    <a:tc hMerge="1">
                      <a:txBody>
                        <a:bodyPr/>
                        <a:lstStyle/>
                        <a:p>
                          <a:pPr/>
                          <a:endParaRPr/>
                        </a:p>
                      </a:txBody>
                      <a:tcPr marL="0" marR="0" marT="0" marB="0"/>
                    </a:tc>
                    <a:tc hMerge="1">
                      <a:txBody>
                        <a:bodyPr/>
                        <a:lstStyle/>
                        <a:p>
                          <a:pPr/>
                          <a:endParaRPr/>
                        </a:p>
                      </a:txBody>
                      <a:tcPr marL="0" marR="0" marT="0" marB="0"/>
                    </a:tc>
                  </a:tr>
                  <a:tr h="266700">
                    <a:tc vMerge="1">
                      <a:txBody>
                        <a:bodyPr/>
                        <a:lstStyle/>
                        <a:p>
                          <a:pPr/>
                          <a:endParaRPr/>
                        </a:p>
                      </a:txBody>
                      <a:tcPr marL="0" marR="0" marT="0" marB="0"/>
                    </a:tc>
                    <a:tc vMerge="1">
                      <a:txBody>
                        <a:bodyPr/>
                        <a:lstStyle/>
                        <a:p>
                          <a:pPr/>
                          <a:endParaRPr/>
                        </a:p>
                      </a:txBody>
                      <a:tcPr marL="0" marR="0" marT="0" marB="0"/>
                    </a:tc>
                    <a:tc vMerge="1">
                      <a:txBody>
                        <a:bodyPr/>
                        <a:lstStyle/>
                        <a:p>
                          <a:pPr/>
                          <a:endParaRPr/>
                        </a:p>
                      </a:txBody>
                      <a:tcPr marL="0" marR="0" marT="0" marB="0"/>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g</m:t>
                                    </m:r>
                                  </m:sub>
                                </m:sSub>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m</m:t>
                                    </m:r>
                                  </m:sub>
                                </m:sSub>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c</m:t>
                                    </m:r>
                                  </m:sub>
                                </m:sSub>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d</m:t>
                                    </m:r>
                                  </m:sub>
                                </m:sSub>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PP-g-CA</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0.45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97.6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58.2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158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117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401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PP-g-MA</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0.56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97.2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16.4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162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118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402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PP</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0.00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95.0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-28.3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166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115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379</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p:sp>
        <p:nvSpPr>
          <p:cNvPr id="2" name="Text"/>
          <p:cNvSpPr/>
          <p:nvPr/>
        </p:nvSpPr>
        <p:spPr>
          <a:xfrm>
            <a:off x="1524000" y="4933950"/>
            <a:ext cx="9144000" cy="685800"/>
          </a:xfrm>
          <a:prstGeom prst="rect">
            <a:avLst/>
          </a:prstGeom>
        </p:spPr>
        <p:txBody>
          <a:bodyPr anchor="t" lIns="0" tIns="0" rIns="0" bIns="0">
            <a:noAutofit/>
          </a:bodyPr>
          <a:lstStyle/>
          <a:p>
            <a:pPr>
              <a:lnSpc>
                <a:spcPct val="120000"/>
              </a:lnSpc>
            </a:pPr>
            <a:r>
              <a:rPr lang="en-US" sz="1800" dirty="0" b="1">
                <a:effectLst/>
              </a:rPr>
              <a:t>International Review of Chemical Engineering, volume 3, No 2, March, 2011 Int. Rev.Chem. Eng., 3(2011) 153-215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600200"/>
              </a:xfrm>
              <a:prstGeom prst="rect">
                <a:avLst/>
              </a:prstGeom>
            </p:spPr>
            <p:txBody>
              <a:bodyPr anchor="t" lIns="0" tIns="0" rIns="0" bIns="0">
                <a:noAutofit/>
              </a:bodyPr>
              <a:lstStyle/>
              <a:p>
                <a:pPr>
                  <a:lnSpc>
                    <a:spcPct val="120000"/>
                  </a:lnSpc>
                </a:pPr>
                <a:r>
                  <a:rPr lang="en-US" sz="1200" dirty="0">
                    <a:effectLst/>
                  </a:rPr>
                  <a:t>The ratio of absorbance values for these two bands (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A</m:t>
                        </m:r>
                      </m:e>
                      <m:sup>
                        <m:r>
                          <m:rPr>
                            <m:sty m:val="p"/>
                          </m:rPr>
                          <a:rPr lang="en-US" sz="1200" dirty="0">
                            <a:solidFill>
                              <a:srgbClr val="000000"/>
                            </a:solidFill>
                            <a:effectLst/>
                          </a:rPr>
                          <m:t>998</m:t>
                        </m:r>
                      </m:sup>
                    </m:sSup>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A</m:t>
                        </m:r>
                      </m:e>
                      <m:sup>
                        <m:r>
                          <m:rPr>
                            <m:sty m:val="p"/>
                          </m:rPr>
                          <a:rPr lang="en-US" sz="1200" dirty="0">
                            <a:solidFill>
                              <a:srgbClr val="000000"/>
                            </a:solidFill>
                            <a:effectLst/>
                          </a:rPr>
                          <m:t>974</m:t>
                        </m:r>
                      </m:sup>
                    </m:sSup>
                  </m:oMath>
                </a14:m>
                <a:r>
                  <a:rPr lang="en-US" sz="1200" dirty="0">
                    <a:effectLst/>
                  </a:rPr>
                  <a:t> ) are used for the determination of tacticity of the grafted </a:t>
                </a:r>
                <a:r>
                  <a:rPr lang="en-US" sz="1200" dirty="0">
                    <a:effectLst/>
                  </a:rPr>
                  <a:t>​</a:t>
                </a:r>
                <a14:m>
                  <m:oMath>
                    <m:r>
                      <m:rPr>
                        <m:sty m:val="i"/>
                      </m:rPr>
                      <a:rPr lang="en-US" sz="1200" dirty="0">
                        <a:solidFill>
                          <a:srgbClr val="000000"/>
                        </a:solidFill>
                        <a:effectLst/>
                      </a:rPr>
                      <m:t>i</m:t>
                    </m:r>
                  </m:oMath>
                </a14:m>
                <a:r>
                  <a:rPr lang="en-US" sz="1200" dirty="0">
                    <a:effectLst/>
                  </a:rPr>
                  <a:t>-PP's, the results of which are presented in Table 1. This is a well known method for the determination of tacticity of PP [127]. This observed effect also depends on the type of grafted monomer and grafting reaction. The properties of grafted </a:t>
                </a:r>
                <a:r>
                  <a:rPr lang="en-US" sz="1200" dirty="0">
                    <a:effectLst/>
                  </a:rPr>
                  <a:t>​</a:t>
                </a:r>
                <a14:m>
                  <m:oMath>
                    <m:r>
                      <m:rPr>
                        <m:sty m:val="i"/>
                      </m:rPr>
                      <a:rPr lang="en-US" sz="1200" dirty="0">
                        <a:solidFill>
                          <a:srgbClr val="000000"/>
                        </a:solidFill>
                        <a:effectLst/>
                      </a:rPr>
                      <m:t>i</m:t>
                    </m:r>
                  </m:oMath>
                </a14:m>
                <a:r>
                  <a:rPr lang="en-US" sz="1200" dirty="0">
                    <a:effectLst/>
                  </a:rPr>
                  <a:t>-PP in an engineering application are critically dependent on the extent of crystallinity and the nature of crystalline morphology of </a:t>
                </a:r>
                <a:r>
                  <a:rPr lang="en-US" sz="1200" dirty="0">
                    <a:effectLst/>
                  </a:rPr>
                  <a:t>​</a:t>
                </a:r>
                <a14:m>
                  <m:oMath>
                    <m:r>
                      <m:rPr>
                        <m:sty m:val="i"/>
                      </m:rPr>
                      <a:rPr lang="en-US" sz="1200" dirty="0">
                        <a:solidFill>
                          <a:srgbClr val="000000"/>
                        </a:solidFill>
                        <a:effectLst/>
                      </a:rPr>
                      <m:t>i</m:t>
                    </m:r>
                  </m:oMath>
                </a14:m>
                <a:r>
                  <a:rPr lang="en-US" sz="1200" dirty="0">
                    <a:effectLst/>
                  </a:rPr>
                  <a:t>-PP. The effects of the composition on the thermal behavior, crystallization parameters, and crystallinity of synthesized functional </a:t>
                </a:r>
                <a:r>
                  <a:rPr lang="en-US" sz="1200" dirty="0">
                    <a:effectLst/>
                  </a:rPr>
                  <a:t>​</a:t>
                </a:r>
                <a14:m>
                  <m:oMath>
                    <m:r>
                      <m:rPr>
                        <m:sty m:val="i"/>
                      </m:rPr>
                      <a:rPr lang="en-US" sz="1200" dirty="0">
                        <a:solidFill>
                          <a:srgbClr val="000000"/>
                        </a:solidFill>
                        <a:effectLst/>
                      </a:rPr>
                      <m:t>i</m:t>
                    </m:r>
                  </m:oMath>
                </a14:m>
                <a:r>
                  <a:rPr lang="en-US" sz="1200" dirty="0">
                    <a:effectLst/>
                  </a:rPr>
                  <a:t> -PPs were determined with DSC, differential thermogravimetry, and XRD analysis. The effect of variation of grafted monomer content on crystallization temperature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c</m:t>
                            </m:r>
                          </m:sub>
                        </m:sSub>
                      </m:e>
                    </m:d>
                  </m:oMath>
                </a14:m>
                <a:r>
                  <a:rPr lang="en-US" sz="1200" dirty="0">
                    <a:effectLst/>
                  </a:rPr>
                  <a:t> and melting temperature (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m</m:t>
                        </m:r>
                      </m:sub>
                    </m:sSub>
                  </m:oMath>
                </a14:m>
                <a:r>
                  <a:rPr lang="en-US" sz="1200" dirty="0">
                    <a:effectLst/>
                  </a:rPr>
                  <a:t> ) is given in Tables 1 and 2.</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209800"/>
                <a:ext cx="9144000" cy="914400"/>
              </a:xfrm>
              <a:prstGeom prst="rect">
                <a:avLst/>
              </a:prstGeom>
            </p:spPr>
            <p:txBody>
              <a:bodyPr anchor="t" lIns="0" tIns="0" rIns="0" bIns="0">
                <a:noAutofit/>
              </a:bodyPr>
              <a:lstStyle/>
              <a:p>
                <a:pPr>
                  <a:lnSpc>
                    <a:spcPct val="120000"/>
                  </a:lnSpc>
                </a:pPr>
                <a:r>
                  <a:rPr lang="en-US" sz="1200" dirty="0">
                    <a:effectLst/>
                  </a:rPr>
                  <a:t>DSC thermograms showed sharp exo- and endo-therms during cooling and heating, respectively. The grafted </a:t>
                </a:r>
                <a:r>
                  <a:rPr lang="en-US" sz="1200" dirty="0">
                    <a:effectLst/>
                  </a:rPr>
                  <a:t>​</a:t>
                </a:r>
                <a14:m>
                  <m:oMath>
                    <m:r>
                      <m:rPr>
                        <m:sty m:val="i"/>
                      </m:rPr>
                      <a:rPr lang="en-US" sz="1200" dirty="0">
                        <a:solidFill>
                          <a:srgbClr val="000000"/>
                        </a:solidFill>
                        <a:effectLst/>
                      </a:rPr>
                      <m:t>i</m:t>
                    </m:r>
                  </m:oMath>
                </a14:m>
                <a:r>
                  <a:rPr lang="en-US" sz="1200" dirty="0">
                    <a:effectLst/>
                  </a:rPr>
                  <a:t>-PP has a lower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i"/>
                          </m:rPr>
                          <a:rPr lang="en-US" sz="1200" dirty="0">
                            <a:solidFill>
                              <a:srgbClr val="000000"/>
                            </a:solidFill>
                            <a:effectLst/>
                          </a:rPr>
                          <m:t>m</m:t>
                        </m:r>
                      </m:sub>
                    </m:sSub>
                  </m:oMath>
                </a14:m>
                <a:r>
                  <a:rPr lang="en-US" sz="1200" dirty="0">
                    <a:effectLst/>
                  </a:rPr>
                  <a:t> than the ungrafted PP. This may be due to the grafting, which destroys the ordered structure of </a:t>
                </a:r>
                <a:r>
                  <a:rPr lang="en-US" sz="1200" dirty="0">
                    <a:effectLst/>
                  </a:rPr>
                  <a:t>​</a:t>
                </a:r>
                <a14:m>
                  <m:oMath>
                    <m:r>
                      <m:rPr>
                        <m:sty m:val="i"/>
                      </m:rPr>
                      <a:rPr lang="en-US" sz="1200" dirty="0">
                        <a:solidFill>
                          <a:srgbClr val="000000"/>
                        </a:solidFill>
                        <a:effectLst/>
                      </a:rPr>
                      <m:t>i</m:t>
                    </m:r>
                  </m:oMath>
                </a14:m>
                <a:r>
                  <a:rPr lang="en-US" sz="1200" dirty="0">
                    <a:effectLst/>
                  </a:rPr>
                  <a:t>-PP crystals. The chain degradation of </a:t>
                </a:r>
                <a:r>
                  <a:rPr lang="en-US" sz="1200" dirty="0">
                    <a:effectLst/>
                  </a:rPr>
                  <a:t>​</a:t>
                </a:r>
                <a14:m>
                  <m:oMath>
                    <m:r>
                      <m:rPr>
                        <m:sty m:val="i"/>
                      </m:rPr>
                      <a:rPr lang="en-US" sz="1200" dirty="0">
                        <a:solidFill>
                          <a:srgbClr val="000000"/>
                        </a:solidFill>
                        <a:effectLst/>
                      </a:rPr>
                      <m:t>i</m:t>
                    </m:r>
                  </m:oMath>
                </a14:m>
                <a:r>
                  <a:rPr lang="en-US" sz="1200" dirty="0">
                    <a:effectLst/>
                  </a:rPr>
                  <a:t>-PP during grafting may also result in a reduction of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i"/>
                          </m:rPr>
                          <a:rPr lang="en-US" sz="1200" dirty="0">
                            <a:solidFill>
                              <a:srgbClr val="000000"/>
                            </a:solidFill>
                            <a:effectLst/>
                          </a:rPr>
                          <m:t>m</m:t>
                        </m:r>
                      </m:sub>
                    </m:sSub>
                  </m:oMath>
                </a14:m>
                <a:r>
                  <a:rPr lang="en-US" sz="1200" dirty="0">
                    <a:effectLst/>
                  </a:rPr>
                  <a:t>. The </a:t>
                </a:r>
                <a:r>
                  <a:rPr lang="en-US" sz="1200" dirty="0">
                    <a:effectLst/>
                  </a:rPr>
                  <a:t>​</a:t>
                </a:r>
                <a14:m>
                  <m:oMath>
                    <m:r>
                      <m:rPr>
                        <m:sty m:val="p"/>
                      </m:rPr>
                      <a:rPr lang="en-US" sz="1200" dirty="0">
                        <a:solidFill>
                          <a:srgbClr val="000000"/>
                        </a:solidFill>
                        <a:effectLst/>
                      </a:rPr>
                      <m:t>Δ</m:t>
                    </m:r>
                    <m:sSub>
                      <m:sSubPr>
                        <m:ctrlPr>
                          <a:rPr sz="1200">
                            <a:latin typeface="Cambria Math" panose="02040503050406030204" pitchFamily="18" charset="0"/>
                          </a:rPr>
                        </m:ctrlPr>
                      </m:sSubPr>
                      <m:e>
                        <m:r>
                          <m:rPr>
                            <m:sty m:val="i"/>
                          </m:rPr>
                          <a:rPr lang="en-US" sz="1200" dirty="0">
                            <a:solidFill>
                              <a:srgbClr val="000000"/>
                            </a:solidFill>
                            <a:effectLst/>
                          </a:rPr>
                          <m:t>H</m:t>
                        </m:r>
                      </m:e>
                      <m:sub>
                        <m:r>
                          <m:rPr>
                            <m:sty m:val="i"/>
                          </m:rPr>
                          <a:rPr lang="en-US" sz="1200" dirty="0">
                            <a:solidFill>
                              <a:srgbClr val="000000"/>
                            </a:solidFill>
                            <a:effectLst/>
                          </a:rPr>
                          <m:t>m</m:t>
                        </m:r>
                      </m:sub>
                    </m:sSub>
                  </m:oMath>
                </a14:m>
                <a:r>
                  <a:rPr lang="en-US" sz="1200" dirty="0">
                    <a:effectLst/>
                  </a:rPr>
                  <a:t> results show that the crystallinity of grafted PP is higher than that of virgin isotactic PP.</a:t>
                </a:r>
              </a:p>
            </p:txBody>
          </p:sp>
        </mc:Choice>
        <mc:Fallback/>
      </mc:AlternateContent>
      <mc:AlternateContent xmlns:mc="http://schemas.openxmlformats.org/markup-compatibility/2006">
        <mc:Choice xmlns:a14="http://schemas.microsoft.com/office/drawing/2010/main" Requires="a14">
          <p:graphicFrame>
            <p:nvGraphicFramePr>
              <p:cNvPr id="3" name="Table"/>
              <p:cNvGraphicFramePr>
                <a:graphicFrameLocks noGrp="1"/>
              </p:cNvGraphicFramePr>
              <p:nvPr/>
            </p:nvGraphicFramePr>
            <p:xfrm>
              <a:off x="2686050" y="3438525"/>
              <a:ext cx="6829425" cy="2933700"/>
            </p:xfrm>
            <a:graphic>
              <a:graphicData uri="http://schemas.openxmlformats.org/drawingml/2006/table">
                <a:tbl>
                  <a:tblPr firstRow="1" firstCol="1" bandRow="1">
                    <a:tableStyleId>{5940675A-B579-460E-94D1-54222C63F5DA}</a:tableStyleId>
                  </a:tblPr>
                  <a:tblGrid>
                    <a:gridCol w="2343150"/>
                    <a:gridCol w="485775"/>
                    <a:gridCol w="2171700"/>
                    <a:gridCol w="685800"/>
                    <a:gridCol w="1133475"/>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Monomer content in feed (wt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AN*</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Grafted unit contents (mol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m</m:t>
                                    </m:r>
                                  </m:sub>
                                </m:sSub>
                              </m:oMath>
                            </m:oMathPara>
                          </a14:m>
                          <a:r>
                            <a:rPr lang="en-US" sz="1200" dirty="0">
                              <a:effectLst/>
                            </a:rPr>
                            <a:t> (°C)</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i"/>
                                      </m:rPr>
                                      <a:rPr lang="en-US" sz="1200" dirty="0">
                                        <a:solidFill>
                                          <a:srgbClr val="000000"/>
                                        </a:solidFill>
                                        <a:effectLst/>
                                      </a:rPr>
                                      <m:t>χ</m:t>
                                    </m:r>
                                  </m:e>
                                  <m:sub>
                                    <m:r>
                                      <m:rPr>
                                        <m:sty m:val="p"/>
                                      </m:rPr>
                                      <a:rPr lang="en-US" sz="1200" dirty="0">
                                        <a:solidFill>
                                          <a:srgbClr val="000000"/>
                                        </a:solidFill>
                                        <a:effectLst/>
                                      </a:rPr>
                                      <m:t>c</m:t>
                                    </m:r>
                                  </m:sub>
                                </m:sSub>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t>
                                </m:r>
                              </m:oMath>
                            </m:oMathPara>
                          </a14:m>
                          <a:r>
                            <a:rPr lang="en-US" sz="1200" dirty="0">
                              <a:effectLst/>
                            </a:rPr>
                            <a:t> by DSC</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gridSpan="5">
                      <a:txBody>
                        <a:bodyPr anchor="t" lIns="76200" tIns="15240" rIns="0" bIns="0">
                          <a:noAutofit/>
                        </a:bodyPr>
                        <a:lstStyle/>
                        <a:p>
                          <a:pPr algn="l"/>
                          <a:r>
                            <a:rPr lang="en-US" sz="1200" dirty="0">
                              <a:effectLst/>
                            </a:rPr>
                            <a:t>​</a:t>
                          </a:r>
                          <a14:m>
                            <m:oMathPara>
                              <m:oMathParaPr>
                                <m:jc m:val="left"/>
                              </m:oMathParaPr>
                              <m:oMath>
                                <m:r>
                                  <m:rPr>
                                    <m:sty m:val="i"/>
                                  </m:rPr>
                                  <a:rPr lang="en-US" sz="1200" dirty="0">
                                    <a:solidFill>
                                      <a:srgbClr val="000000"/>
                                    </a:solidFill>
                                    <a:effectLst/>
                                  </a:rPr>
                                  <m:t>i</m:t>
                                </m:r>
                                <m:r>
                                  <m:rPr>
                                    <m:sty m:val="p"/>
                                  </m:rPr>
                                  <a:rPr lang="en-US" sz="1200" dirty="0">
                                    <a:solidFill>
                                      <a:srgbClr val="000000"/>
                                    </a:solidFill>
                                    <a:effectLst/>
                                  </a:rPr>
                                  <m:t>−</m:t>
                                </m:r>
                                <m:r>
                                  <m:rPr>
                                    <m:sty m:val="p"/>
                                  </m:rPr>
                                  <a:rPr lang="en-US" sz="1200" dirty="0">
                                    <a:solidFill>
                                      <a:srgbClr val="000000"/>
                                    </a:solidFill>
                                    <a:effectLst/>
                                  </a:rPr>
                                  <m:t>PP</m:t>
                                </m:r>
                                <m:r>
                                  <m:rPr>
                                    <m:sty m:val="p"/>
                                  </m:rPr>
                                  <a:rPr lang="en-US" sz="1200" dirty="0">
                                    <a:solidFill>
                                      <a:srgbClr val="000000"/>
                                    </a:solidFill>
                                    <a:effectLst/>
                                  </a:rPr>
                                  <m:t>−</m:t>
                                </m:r>
                                <m:r>
                                  <m:rPr>
                                    <m:sty m:val="i"/>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CA</m:t>
                                </m:r>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pPr/>
                          <a:endParaRPr/>
                        </a:p>
                      </a:txBody>
                      <a:tcPr marL="0" marR="0" marT="0" marB="0"/>
                    </a:tc>
                    <a:tc hMerge="1">
                      <a:txBody>
                        <a:bodyPr/>
                        <a:lstStyle/>
                        <a:p>
                          <a:pPr/>
                          <a:endParaRPr/>
                        </a:p>
                      </a:txBody>
                      <a:tcPr marL="0" marR="0" marT="0" marB="0"/>
                    </a:tc>
                    <a:tc hMerge="1">
                      <a:txBody>
                        <a:bodyPr/>
                        <a:lstStyle/>
                        <a:p>
                          <a:pPr/>
                          <a:endParaRPr/>
                        </a:p>
                      </a:txBody>
                      <a:tcPr marL="0" marR="0" marT="0" marB="0"/>
                    </a:tc>
                    <a:tc hMerge="1">
                      <a:txBody>
                        <a:bodyPr/>
                        <a:lstStyle/>
                        <a:p>
                          <a:pPr/>
                          <a:endParaRPr/>
                        </a:p>
                      </a:txBody>
                      <a:tcPr marL="0" marR="0" marT="0" marB="0"/>
                    </a:tc>
                  </a:tr>
                  <a:tr h="266700">
                    <a:tc>
                      <a:txBody>
                        <a:bodyPr anchor="t" lIns="76200" tIns="15240" rIns="0" bIns="0">
                          <a:noAutofit/>
                        </a:bodyPr>
                        <a:lstStyle/>
                        <a:p>
                          <a:pPr algn="l"/>
                          <a:r>
                            <a:rPr lang="en-US" sz="1200" dirty="0">
                              <a:effectLst/>
                            </a:rPr>
                            <a:t>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0.14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0.01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163.2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37.4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2.5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1.12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0.10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162.9</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40.7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2.46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0.22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161.9</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44.2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7.5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5.05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0.45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158.4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49.0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10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1.68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0.15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162.5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43.3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gridSpan="5">
                      <a:txBody>
                        <a:bodyPr anchor="t" lIns="76200" tIns="15240" rIns="0" bIns="0">
                          <a:noAutofit/>
                        </a:bodyPr>
                        <a:lstStyle/>
                        <a:p>
                          <a:pPr algn="l"/>
                          <a:r>
                            <a:rPr lang="en-US" sz="1200" dirty="0">
                              <a:effectLst/>
                            </a:rPr>
                            <a:t>i-PP-g-MA</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pPr/>
                          <a:endParaRPr/>
                        </a:p>
                      </a:txBody>
                      <a:tcPr marL="0" marR="0" marT="0" marB="0"/>
                    </a:tc>
                    <a:tc hMerge="1">
                      <a:txBody>
                        <a:bodyPr/>
                        <a:lstStyle/>
                        <a:p>
                          <a:pPr/>
                          <a:endParaRPr/>
                        </a:p>
                      </a:txBody>
                      <a:tcPr marL="0" marR="0" marT="0" marB="0"/>
                    </a:tc>
                    <a:tc hMerge="1">
                      <a:txBody>
                        <a:bodyPr/>
                        <a:lstStyle/>
                        <a:p>
                          <a:pPr/>
                          <a:endParaRPr/>
                        </a:p>
                      </a:txBody>
                      <a:tcPr marL="0" marR="0" marT="0" marB="0"/>
                    </a:tc>
                    <a:tc hMerge="1">
                      <a:txBody>
                        <a:bodyPr/>
                        <a:lstStyle/>
                        <a:p>
                          <a:pPr/>
                          <a:endParaRPr/>
                        </a:p>
                      </a:txBody>
                      <a:tcPr marL="0" marR="0" marT="0" marB="0"/>
                    </a:tc>
                  </a:tr>
                  <a:tr h="266700">
                    <a:tc>
                      <a:txBody>
                        <a:bodyPr anchor="t" lIns="76200" tIns="15240" rIns="0" bIns="0">
                          <a:noAutofit/>
                        </a:bodyPr>
                        <a:lstStyle/>
                        <a:p>
                          <a:pPr algn="l"/>
                          <a:r>
                            <a:rPr lang="en-US" sz="1200" dirty="0">
                              <a:effectLst/>
                            </a:rPr>
                            <a:t>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1.40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0.13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161.3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33.5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2.5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5.61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0.50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158.5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43.1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4" name="Table"/>
              <p:cNvGraphicFramePr>
                <a:graphicFrameLocks noGrp="1"/>
              </p:cNvGraphicFramePr>
              <p:nvPr/>
            </p:nvGraphicFramePr>
            <p:xfrm>
              <a:off x="2686050" y="457200"/>
              <a:ext cx="6829425" cy="1066800"/>
            </p:xfrm>
            <a:graphic>
              <a:graphicData uri="http://schemas.openxmlformats.org/drawingml/2006/table">
                <a:tbl>
                  <a:tblPr firstRow="1" firstCol="1" bandRow="1">
                    <a:tableStyleId>{5940675A-B579-460E-94D1-54222C63F5DA}</a:tableStyleId>
                  </a:tblPr>
                  <a:tblGrid>
                    <a:gridCol w="2343150"/>
                    <a:gridCol w="485775"/>
                    <a:gridCol w="2171700"/>
                    <a:gridCol w="685800"/>
                    <a:gridCol w="1133475"/>
                  </a:tblGrid>
                  <a:tr h="266700">
                    <a:tc>
                      <a:txBody>
                        <a:bodyPr anchor="t" lIns="76200" tIns="15240" rIns="0" bIns="0">
                          <a:noAutofit/>
                        </a:bodyPr>
                        <a:lstStyle/>
                        <a:p>
                          <a:pPr algn="l"/>
                          <a:r>
                            <a:rPr lang="en-US" sz="1200" dirty="0">
                              <a:effectLst/>
                            </a:rPr>
                            <a:t>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6.31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0.56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162.2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45.0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noFill/>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7.5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4.21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0.38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163.3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42.7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10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2.10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0.19</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163.0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37.3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Virgin </a:t>
                          </a:r>
                          <a:r>
                            <a:rPr lang="en-US" sz="1200" dirty="0">
                              <a:effectLst/>
                            </a:rPr>
                            <a:t>​</a:t>
                          </a:r>
                          <a14:m>
                            <m:oMathPara>
                              <m:oMathParaPr>
                                <m:jc m:val="left"/>
                              </m:oMathParaPr>
                              <m:oMath>
                                <m:r>
                                  <m:rPr>
                                    <m:sty m:val="i"/>
                                  </m:rPr>
                                  <a:rPr lang="en-US" sz="1200" dirty="0">
                                    <a:solidFill>
                                      <a:srgbClr val="000000"/>
                                    </a:solidFill>
                                    <a:effectLst/>
                                  </a:rPr>
                                  <m:t>i</m:t>
                                </m:r>
                              </m:oMath>
                            </m:oMathPara>
                          </a14:m>
                          <a:r>
                            <a:rPr lang="en-US" sz="1200" dirty="0">
                              <a:effectLst/>
                            </a:rPr>
                            <a:t>-PP</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0.00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0.00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166.0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32.4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mc:AlternateContent xmlns:mc="http://schemas.openxmlformats.org/markup-compatibility/2006">
        <mc:Choice xmlns:a14="http://schemas.microsoft.com/office/drawing/2010/main" Requires="a14">
          <p:sp>
            <p:nvSpPr>
              <p:cNvPr id="2" name="Text"/>
              <p:cNvSpPr/>
              <p:nvPr/>
            </p:nvSpPr>
            <p:spPr>
              <a:xfrm>
                <a:off x="1524000" y="1524000"/>
                <a:ext cx="9144000" cy="1828800"/>
              </a:xfrm>
              <a:prstGeom prst="rect">
                <a:avLst/>
              </a:prstGeom>
            </p:spPr>
            <p:txBody>
              <a:bodyPr anchor="t" lIns="0" tIns="0" rIns="0" bIns="0">
                <a:noAutofit/>
              </a:bodyPr>
              <a:lstStyle/>
              <a:p>
                <a:pPr>
                  <a:lnSpc>
                    <a:spcPct val="120000"/>
                  </a:lnSpc>
                </a:pPr>
                <a:r>
                  <a:rPr lang="en-US" sz="1200" dirty="0">
                    <a:effectLst/>
                  </a:rPr>
                  <a:t>*Acid number (mg KOH/g).</a:t>
                </a:r>
                <a:br>
                  <a:rPr lang="en-US" sz="1200" dirty="0"/>
                </a:br>
                <a:r>
                  <a:rPr lang="en-US" sz="1200" dirty="0">
                    <a:effectLst/>
                  </a:rPr>
                  <a:t> The degree of crystallinity of the sample was determined by measuring the enthalpic change. The crystallinity values depend on carboxylic acid contents of the grafted </a:t>
                </a:r>
                <a:r>
                  <a:rPr lang="en-US" sz="1200" dirty="0">
                    <a:effectLst/>
                  </a:rPr>
                  <a:t>​</a:t>
                </a:r>
                <a14:m>
                  <m:oMath>
                    <m:r>
                      <m:rPr>
                        <m:sty m:val="i"/>
                      </m:rPr>
                      <a:rPr lang="en-US" sz="1200" dirty="0">
                        <a:solidFill>
                          <a:srgbClr val="000000"/>
                        </a:solidFill>
                        <a:effectLst/>
                      </a:rPr>
                      <m:t>i</m:t>
                    </m:r>
                  </m:oMath>
                </a14:m>
                <a:r>
                  <a:rPr lang="en-US" sz="1200" dirty="0">
                    <a:effectLst/>
                  </a:rPr>
                  <a:t>-PPs. The observed differences between crystallinity values for all the grafted copolymers are related to carbonyl group contents of monomers on </a:t>
                </a:r>
                <a:r>
                  <a:rPr lang="en-US" sz="1200" dirty="0">
                    <a:effectLst/>
                  </a:rPr>
                  <a:t>​</a:t>
                </a:r>
                <a14:m>
                  <m:oMath>
                    <m:r>
                      <m:rPr>
                        <m:sty m:val="i"/>
                      </m:rPr>
                      <a:rPr lang="en-US" sz="1200" dirty="0">
                        <a:solidFill>
                          <a:srgbClr val="000000"/>
                        </a:solidFill>
                        <a:effectLst/>
                      </a:rPr>
                      <m:t>i</m:t>
                    </m:r>
                  </m:oMath>
                </a14:m>
                <a:r>
                  <a:rPr lang="en-US" sz="1200" dirty="0">
                    <a:effectLst/>
                  </a:rPr>
                  <a:t>-PP backbone. It is known that the functionalization caused an increase in the polarity of the medium, intensifying the interaction forces between the grafted </a:t>
                </a:r>
                <a:r>
                  <a:rPr lang="en-US" sz="1200" dirty="0">
                    <a:effectLst/>
                  </a:rPr>
                  <a:t>​</a:t>
                </a:r>
                <a14:m>
                  <m:oMath>
                    <m:r>
                      <m:rPr>
                        <m:sty m:val="i"/>
                      </m:rPr>
                      <a:rPr lang="en-US" sz="1200" dirty="0">
                        <a:solidFill>
                          <a:srgbClr val="000000"/>
                        </a:solidFill>
                        <a:effectLst/>
                      </a:rPr>
                      <m:t>i</m:t>
                    </m:r>
                  </m:oMath>
                </a14:m>
                <a:r>
                  <a:rPr lang="en-US" sz="1200" dirty="0">
                    <a:effectLst/>
                  </a:rPr>
                  <a:t>-PP molecules, and then increasing the polymer crystallinity [157,158]. The crystallization temperature was recorded from cooling scans of the samples. Maximum crystallization temperature of 122.3°C was obtained with MA grafted </a:t>
                </a:r>
                <a:r>
                  <a:rPr lang="en-US" sz="1200" dirty="0">
                    <a:effectLst/>
                  </a:rPr>
                  <a:t>​</a:t>
                </a:r>
                <a14:m>
                  <m:oMath>
                    <m:r>
                      <m:rPr>
                        <m:sty m:val="i"/>
                      </m:rPr>
                      <a:rPr lang="en-US" sz="1200" dirty="0">
                        <a:solidFill>
                          <a:srgbClr val="000000"/>
                        </a:solidFill>
                        <a:effectLst/>
                      </a:rPr>
                      <m:t>i</m:t>
                    </m:r>
                  </m:oMath>
                </a14:m>
                <a:r>
                  <a:rPr lang="en-US" sz="1200" dirty="0">
                    <a:effectLst/>
                  </a:rPr>
                  <a:t>-PP. Higher crystallinity and higher intensity in the cooling crystallization peak was observed for poly ( </a:t>
                </a:r>
                <a:r>
                  <a:rPr lang="en-US" sz="1200" dirty="0">
                    <a:effectLst/>
                  </a:rPr>
                  <a:t>​</a:t>
                </a:r>
                <a14:m>
                  <m:oMath>
                    <m:r>
                      <m:rPr>
                        <m:sty m:val="i"/>
                      </m:rPr>
                      <a:rPr lang="en-US" sz="1200" dirty="0">
                        <a:solidFill>
                          <a:srgbClr val="000000"/>
                        </a:solidFill>
                        <a:effectLst/>
                      </a:rPr>
                      <m:t>i</m:t>
                    </m:r>
                    <m:r>
                      <m:rPr>
                        <m:sty m:val="p"/>
                      </m:rPr>
                      <a:rPr lang="en-US" sz="1200" dirty="0">
                        <a:solidFill>
                          <a:srgbClr val="000000"/>
                        </a:solidFill>
                        <a:effectLst/>
                      </a:rPr>
                      <m:t>−</m:t>
                    </m:r>
                    <m:r>
                      <m:rPr>
                        <m:sty m:val="p"/>
                      </m:rPr>
                      <a:rPr lang="en-US" sz="1200" dirty="0">
                        <a:solidFill>
                          <a:srgbClr val="000000"/>
                        </a:solidFill>
                        <a:effectLst/>
                      </a:rPr>
                      <m:t>PP</m:t>
                    </m:r>
                    <m:r>
                      <m:rPr>
                        <m:sty m:val="p"/>
                      </m:rPr>
                      <a:rPr lang="en-US" sz="1200" dirty="0">
                        <a:solidFill>
                          <a:srgbClr val="000000"/>
                        </a:solidFill>
                        <a:effectLst/>
                      </a:rPr>
                      <m:t>−</m:t>
                    </m:r>
                    <m:r>
                      <m:rPr>
                        <m:sty m:val="i"/>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CA</m:t>
                    </m:r>
                  </m:oMath>
                </a14:m>
                <a:r>
                  <a:rPr lang="en-US" sz="1200" dirty="0">
                    <a:effectLst/>
                  </a:rPr>
                  <a:t> ) in comparison with </a:t>
                </a:r>
                <a:r>
                  <a:rPr lang="en-US" sz="1200" dirty="0">
                    <a:effectLst/>
                  </a:rPr>
                  <a:t>​</a:t>
                </a:r>
                <a14:m>
                  <m:oMath>
                    <m:r>
                      <m:rPr>
                        <m:sty m:val="i"/>
                      </m:rPr>
                      <a:rPr lang="en-US" sz="1200" dirty="0">
                        <a:solidFill>
                          <a:srgbClr val="000000"/>
                        </a:solidFill>
                        <a:effectLst/>
                      </a:rPr>
                      <m:t>i</m:t>
                    </m:r>
                    <m:r>
                      <m:rPr>
                        <m:sty m:val="p"/>
                      </m:rPr>
                      <a:rPr lang="en-US" sz="1200" dirty="0">
                        <a:solidFill>
                          <a:srgbClr val="000000"/>
                        </a:solidFill>
                        <a:effectLst/>
                      </a:rPr>
                      <m:t>−</m:t>
                    </m:r>
                    <m:r>
                      <m:rPr>
                        <m:sty m:val="p"/>
                      </m:rPr>
                      <a:rPr lang="en-US" sz="1200" dirty="0">
                        <a:solidFill>
                          <a:srgbClr val="000000"/>
                        </a:solidFill>
                        <a:effectLst/>
                      </a:rPr>
                      <m:t>PP</m:t>
                    </m:r>
                  </m:oMath>
                </a14:m>
                <a:r>
                  <a:rPr lang="en-US" sz="1200" dirty="0">
                    <a:effectLst/>
                  </a:rPr>
                  <a:t>.</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505200"/>
                <a:ext cx="9144000" cy="685800"/>
              </a:xfrm>
              <a:prstGeom prst="rect">
                <a:avLst/>
              </a:prstGeom>
            </p:spPr>
            <p:txBody>
              <a:bodyPr anchor="t" lIns="0" tIns="0" rIns="0" bIns="0">
                <a:noAutofit/>
              </a:bodyPr>
              <a:lstStyle/>
              <a:p>
                <a:pPr>
                  <a:lnSpc>
                    <a:spcPct val="120000"/>
                  </a:lnSpc>
                </a:pPr>
                <a:r>
                  <a:rPr lang="en-US" sz="1200" dirty="0">
                    <a:effectLst/>
                  </a:rPr>
                  <a:t>The results obtained by TGA analysis indicate that the degradation reaction does not occur under the reaction conditions. The thermal stability was slightly increased by the presence of grafted CA and MA units. The initial decomposition temperature and overall degradation values of all the grafted copolymers changed very little compared to </a:t>
                </a:r>
                <a:r>
                  <a:rPr lang="en-US" sz="1200" dirty="0">
                    <a:effectLst/>
                  </a:rPr>
                  <a:t>​</a:t>
                </a:r>
                <a14:m>
                  <m:oMath>
                    <m:r>
                      <m:rPr>
                        <m:sty m:val="i"/>
                      </m:rPr>
                      <a:rPr lang="en-US" sz="1200" dirty="0">
                        <a:solidFill>
                          <a:srgbClr val="000000"/>
                        </a:solidFill>
                        <a:effectLst/>
                      </a:rPr>
                      <m:t>i</m:t>
                    </m:r>
                  </m:oMath>
                </a14:m>
                <a:r>
                  <a:rPr lang="en-US" sz="1200" dirty="0">
                    <a:effectLst/>
                  </a:rPr>
                  <a:t>-PP [156].</a:t>
                </a:r>
              </a:p>
            </p:txBody>
          </p:sp>
        </mc:Choice>
        <mc:Fallback/>
      </mc:AlternateContent>
      <p:sp>
        <p:nvSpPr>
          <p:cNvPr id="2" name="Text"/>
          <p:cNvSpPr/>
          <p:nvPr/>
        </p:nvSpPr>
        <p:spPr>
          <a:xfrm>
            <a:off x="1524000" y="4343400"/>
            <a:ext cx="9144000" cy="266700"/>
          </a:xfrm>
          <a:prstGeom prst="rect">
            <a:avLst/>
          </a:prstGeom>
        </p:spPr>
        <p:txBody>
          <a:bodyPr anchor="t" lIns="0" tIns="0" rIns="0" bIns="0">
            <a:noAutofit/>
          </a:bodyPr>
          <a:lstStyle/>
          <a:p>
            <a:pPr>
              <a:lnSpc>
                <a:spcPct val="125800"/>
              </a:lnSpc>
            </a:pPr>
            <a:r>
              <a:rPr lang="en-US" sz="1400" dirty="0" b="1">
                <a:effectLst/>
              </a:rPr>
              <a:t>2.2. Grafting in melt by reactive extrusion</a:t>
            </a:r>
          </a:p>
        </p:txBody>
      </p:sp>
      <p:sp>
        <p:nvSpPr>
          <p:cNvPr id="2" name="Text"/>
          <p:cNvSpPr/>
          <p:nvPr/>
        </p:nvSpPr>
        <p:spPr>
          <a:xfrm>
            <a:off x="1524000" y="4788408"/>
            <a:ext cx="9144000" cy="1371600"/>
          </a:xfrm>
          <a:prstGeom prst="rect">
            <a:avLst/>
          </a:prstGeom>
        </p:spPr>
        <p:txBody>
          <a:bodyPr anchor="t" lIns="0" tIns="0" rIns="0" bIns="0">
            <a:noAutofit/>
          </a:bodyPr>
          <a:lstStyle/>
          <a:p>
            <a:pPr>
              <a:lnSpc>
                <a:spcPct val="120000"/>
              </a:lnSpc>
            </a:pPr>
            <a:r>
              <a:rPr lang="en-US" sz="1200" dirty="0">
                <a:effectLst/>
              </a:rPr>
              <a:t>The modification of themoplastics in twin-screw extruder systems is achieved to produce new materials is an inexpensive and rapid way to obtain new commercially valuable polymers. Twin-extruders act as continuous flow reactors for polymers playing an increasingly important role in producing high performance thermoplastics [127,130]. It was noted that this reactive extrusion technology is an increasingly important method of producing sizable quantities of modified polymers for various industrial applications. Twin-screw extruders as continuous flow reactors for polymer processing are playing an increasingly important role in producing high performance engineering thermolastics.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743200"/>
              </a:xfrm>
              <a:prstGeom prst="rect">
                <a:avLst/>
              </a:prstGeom>
            </p:spPr>
            <p:txBody>
              <a:bodyPr anchor="t" lIns="0" tIns="0" rIns="0" bIns="0">
                <a:noAutofit/>
              </a:bodyPr>
              <a:lstStyle/>
              <a:p>
                <a:pPr>
                  <a:lnSpc>
                    <a:spcPct val="120000"/>
                  </a:lnSpc>
                </a:pPr>
                <a:r>
                  <a:rPr lang="en-US" sz="1200" dirty="0">
                    <a:effectLst/>
                  </a:rPr>
                  <a:t>The most investigations were related with MA grafting of PP in the melt using various types of extruders and mixers. Thus, the MA functionalization of PP in the melt phase was studied by Gaylord and Mishra [132] and Ho et al. [146] and mechanism for the grafting was proposed. Their reactions were carried out in Brabender Plasticorder and their conclutions were that degradation of the polymer chain is, to a certain extent, a result of the disproportionation of polymer radicals generated by propagating MA homopolymer or graft copolymer. The effect of MA and peroxide initiator concentrations on the amount of grafts and on the degradation was determined using a twin screw extruder. It was showed that chain scission of PP is suppressed at high initial concentration of MA. Heinen et al. [159] used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13</m:t>
                        </m:r>
                      </m:sup>
                    </m:sSup>
                    <m:r>
                      <m:rPr>
                        <m:sty m:val="p"/>
                      </m:rPr>
                      <a:rPr lang="en-US" sz="1200" dirty="0">
                        <a:solidFill>
                          <a:srgbClr val="000000"/>
                        </a:solidFill>
                        <a:effectLst/>
                      </a:rPr>
                      <m:t>C</m:t>
                    </m:r>
                  </m:oMath>
                </a14:m>
                <a:r>
                  <a:rPr lang="en-US" sz="1200" dirty="0">
                    <a:effectLst/>
                  </a:rPr>
                  <a:t> NMR in combination with specific labels in the MA monomer to determine the locations of the grafts formed from the radically induced grafting of MA onto high- and low-density PEs, isotactic PP and E-P copolymers. Obtained results showed grafting does not occur along the polymer chain. On the high- and low-density PEs and isotactic PP the MA was attached in the form of single succinic anhydride rings as well as short oligomers [160,161]. They suggested that formation of oligomeric graft structures in maleated PP, as described by Gaylord and Mishra [132], is of minor importance for high-temperature PP grafting and in these conditions, </a:t>
                </a:r>
                <a:r>
                  <a:rPr lang="en-US" sz="1200" dirty="0">
                    <a:effectLst/>
                  </a:rPr>
                  <a:t>​</a:t>
                </a:r>
                <a14:m>
                  <m:oMath>
                    <m:r>
                      <m:rPr>
                        <m:sty m:val="i"/>
                      </m:rPr>
                      <a:rPr lang="en-US" sz="1200" dirty="0">
                        <a:solidFill>
                          <a:srgbClr val="000000"/>
                        </a:solidFill>
                        <a:effectLst/>
                      </a:rPr>
                      <m:t>β</m:t>
                    </m:r>
                  </m:oMath>
                </a14:m>
                <a:r>
                  <a:rPr lang="en-US" sz="1200" dirty="0">
                    <a:effectLst/>
                  </a:rPr>
                  <a:t> -scission of PP chain does not occur [159].</a:t>
                </a:r>
              </a:p>
            </p:txBody>
          </p:sp>
        </mc:Choice>
        <mc:Fallback/>
      </mc:AlternateContent>
      <p:sp>
        <p:nvSpPr>
          <p:cNvPr id="2" name="Text"/>
          <p:cNvSpPr/>
          <p:nvPr/>
        </p:nvSpPr>
        <p:spPr>
          <a:xfrm>
            <a:off x="1524000" y="3352800"/>
            <a:ext cx="9144000" cy="457200"/>
          </a:xfrm>
          <a:prstGeom prst="rect">
            <a:avLst/>
          </a:prstGeom>
        </p:spPr>
        <p:txBody>
          <a:bodyPr anchor="t" lIns="0" tIns="0" rIns="0" bIns="0">
            <a:noAutofit/>
          </a:bodyPr>
          <a:lstStyle/>
          <a:p>
            <a:pPr>
              <a:lnSpc>
                <a:spcPct val="120000"/>
              </a:lnSpc>
            </a:pPr>
            <a:r>
              <a:rPr lang="en-US" sz="1200" dirty="0">
                <a:effectLst/>
              </a:rPr>
              <a:t>The influence of residence time on degree of MA grafting onto PP in an internal mixer and a twin-screw extruder was studied by Cha and White [127] through measuring reaction yieds with respect to reaction time in</a:t>
            </a:r>
          </a:p>
        </p:txBody>
      </p:sp>
      <p:sp>
        <p:nvSpPr>
          <p:cNvPr id="2" name="Text"/>
          <p:cNvSpPr/>
          <p:nvPr/>
        </p:nvSpPr>
        <p:spPr>
          <a:xfrm>
            <a:off x="1524000" y="3962400"/>
            <a:ext cx="9144000" cy="685800"/>
          </a:xfrm>
          <a:prstGeom prst="rect">
            <a:avLst/>
          </a:prstGeom>
        </p:spPr>
        <p:txBody>
          <a:bodyPr anchor="t" lIns="0" tIns="0" rIns="0" bIns="0">
            <a:noAutofit/>
          </a:bodyPr>
          <a:lstStyle/>
          <a:p>
            <a:pPr>
              <a:lnSpc>
                <a:spcPct val="120000"/>
              </a:lnSpc>
            </a:pPr>
            <a:r>
              <a:rPr lang="en-US" sz="1800" dirty="0" b="1">
                <a:effectLst/>
              </a:rPr>
              <a:t>International Review of Chemical Engineering, volume 3, No 2, March, 2011 Int. Rev.Chem. Eng., 3(2011) 153-215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600200"/>
          </a:xfrm>
          <a:prstGeom prst="rect">
            <a:avLst/>
          </a:prstGeom>
        </p:spPr>
        <p:txBody>
          <a:bodyPr anchor="t" lIns="0" tIns="0" rIns="0" bIns="0">
            <a:noAutofit/>
          </a:bodyPr>
          <a:lstStyle/>
          <a:p>
            <a:pPr>
              <a:lnSpc>
                <a:spcPct val="120000"/>
              </a:lnSpc>
            </a:pPr>
            <a:r>
              <a:rPr lang="en-US" sz="1200" dirty="0">
                <a:effectLst/>
              </a:rPr>
              <a:t>the internal mixer as well as along the screw axis in the extruder using various peroxide type initiators. The degree of MA grafting in both systems increases with an increase of peroxide concentration. On the other hand, the degree of grafting with respect to initial monomer concentration exhibits a maximum reaction yield value at approximately 4 % of intial MA concentration in both used systems. Comparison of the degree of MA grafting in these sytems shows that the former is slightly higher than that of the twin-screw extruder because of air contact of the reaction medium. The grafting reaction in the twin-screw extruder is largely accomplished in the first half of the total extruder. It was also observed that the complex viscosity was slightly increased with an increase of MA grafting concentration while dramatically decreased by addition of peroxide, which plays a greater role in decreasing viscosity than shear effect.</a:t>
            </a:r>
          </a:p>
        </p:txBody>
      </p:sp>
      <mc:AlternateContent xmlns:mc="http://schemas.openxmlformats.org/markup-compatibility/2006">
        <mc:Choice xmlns:a14="http://schemas.microsoft.com/office/drawing/2010/main" Requires="a14">
          <p:sp>
            <p:nvSpPr>
              <p:cNvPr id="2" name="Text"/>
              <p:cNvSpPr/>
              <p:nvPr/>
            </p:nvSpPr>
            <p:spPr>
              <a:xfrm>
                <a:off x="1524000" y="2209800"/>
                <a:ext cx="9144000" cy="1143000"/>
              </a:xfrm>
              <a:prstGeom prst="rect">
                <a:avLst/>
              </a:prstGeom>
            </p:spPr>
            <p:txBody>
              <a:bodyPr anchor="t" lIns="0" tIns="0" rIns="0" bIns="0">
                <a:noAutofit/>
              </a:bodyPr>
              <a:lstStyle/>
              <a:p>
                <a:pPr>
                  <a:lnSpc>
                    <a:spcPct val="120000"/>
                  </a:lnSpc>
                </a:pPr>
                <a:r>
                  <a:rPr lang="en-US" sz="1200" dirty="0">
                    <a:effectLst/>
                  </a:rPr>
                  <a:t>Bettini and Agnelli [136,137] have investigated the effects of the monomer and initiator concentrations, rotor speed and reaction time on the grafting reaction of MA onto PP. Reactive processing was performed in a Haake torque rheometer at 180 °C under nitrogen atmosphere. They obtained the level of reacted MA by FTIR spectroscopy using </a:t>
                </a:r>
                <a:r>
                  <a:rPr lang="en-US" sz="1200" dirty="0">
                    <a:effectLst/>
                  </a:rPr>
                  <a:t>​</a:t>
                </a:r>
                <a14:m>
                  <m:oMath>
                    <m:r>
                      <m:rPr>
                        <m:sty m:val="p"/>
                      </m:rPr>
                      <a:rPr lang="en-US" sz="1200" dirty="0">
                        <a:solidFill>
                          <a:srgbClr val="000000"/>
                        </a:solidFill>
                        <a:effectLst/>
                      </a:rPr>
                      <m:t>1790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r>
                      <m:rPr>
                        <m:sty m:val="p"/>
                      </m:rPr>
                      <a:rPr lang="en-US" sz="1200" dirty="0">
                        <a:solidFill>
                          <a:srgbClr val="000000"/>
                        </a:solidFill>
                        <a:effectLst/>
                      </a:rPr>
                      <m:t>(</m:t>
                    </m:r>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O</m:t>
                    </m:r>
                  </m:oMath>
                </a14:m>
                <a:r>
                  <a:rPr lang="en-US" sz="1200" dirty="0">
                    <a:effectLst/>
                  </a:rPr>
                  <a:t> anhydride unit) and </a:t>
                </a:r>
                <a:r>
                  <a:rPr lang="en-US" sz="1200" dirty="0">
                    <a:effectLst/>
                  </a:rPr>
                  <a:t>​</a:t>
                </a:r>
                <a14:m>
                  <m:oMath>
                    <m:r>
                      <m:rPr>
                        <m:sty m:val="p"/>
                      </m:rPr>
                      <a:rPr lang="en-US" sz="1200" dirty="0">
                        <a:solidFill>
                          <a:srgbClr val="000000"/>
                        </a:solidFill>
                        <a:effectLst/>
                      </a:rPr>
                      <m:t>1167</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p"/>
                              </m:rPr>
                              <a:rPr lang="en-US" sz="1200" dirty="0">
                                <a:solidFill>
                                  <a:srgbClr val="000000"/>
                                </a:solidFill>
                                <a:effectLst/>
                              </a:rPr>
                              <m:t>CH</m:t>
                            </m:r>
                          </m:e>
                          <m:sub>
                            <m:r>
                              <m:rPr>
                                <m:sty m:val="p"/>
                              </m:rPr>
                              <a:rPr lang="en-US" sz="1200" dirty="0">
                                <a:solidFill>
                                  <a:srgbClr val="000000"/>
                                </a:solidFill>
                                <a:effectLst/>
                              </a:rPr>
                              <m:t>3</m:t>
                            </m:r>
                          </m:sub>
                        </m:sSub>
                      </m:e>
                    </m:d>
                  </m:oMath>
                </a14:m>
                <a:r>
                  <a:rPr lang="en-US" sz="1200" dirty="0">
                    <a:effectLst/>
                  </a:rPr>
                  <a:t> in propylene unit) as the analytical bands; the Carbonyl Index </a:t>
                </a:r>
                <a:r>
                  <a:rPr lang="en-US" sz="1200" dirty="0">
                    <a:effectLst/>
                  </a:rPr>
                  <a:t>​</a:t>
                </a:r>
                <a14:m>
                  <m:oMath>
                    <m:r>
                      <m:rPr>
                        <m:sty m:val="p"/>
                      </m:rPr>
                      <a:rPr lang="en-US" sz="1200" dirty="0">
                        <a:solidFill>
                          <a:srgbClr val="000000"/>
                        </a:solidFill>
                        <a:effectLst/>
                      </a:rPr>
                      <m:t>(</m:t>
                    </m:r>
                    <m:r>
                      <m:rPr>
                        <m:sty m:val="i"/>
                      </m:rPr>
                      <a:rPr lang="en-US" sz="1200" dirty="0">
                        <a:solidFill>
                          <a:srgbClr val="000000"/>
                        </a:solidFill>
                        <a:effectLst/>
                      </a:rPr>
                      <m:t>C</m:t>
                    </m:r>
                    <m:r>
                      <m:rPr>
                        <m:sty m:val="i"/>
                      </m:rPr>
                      <a:rPr lang="en-US" sz="1200" dirty="0">
                        <a:solidFill>
                          <a:srgbClr val="000000"/>
                        </a:solidFill>
                        <a:effectLst/>
                      </a:rPr>
                      <m:t>I</m:t>
                    </m:r>
                    <m:r>
                      <m:rPr>
                        <m:sty m:val="p"/>
                      </m:rPr>
                      <a:rPr lang="en-US" sz="1200" dirty="0">
                        <a:solidFill>
                          <a:srgbClr val="000000"/>
                        </a:solidFill>
                        <a:effectLst/>
                      </a:rPr>
                      <m:t>)</m:t>
                    </m:r>
                  </m:oMath>
                </a14:m>
                <a:r>
                  <a:rPr lang="en-US" sz="1200" dirty="0">
                    <a:effectLst/>
                  </a:rPr>
                  <a:t> was calculated using the ratio of absorbance of these bands:</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505200"/>
                <a:ext cx="9144000" cy="200025"/>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r>
                              <m:rPr>
                                <m:sty m:val="i"/>
                              </m:rPr>
                              <a:rPr lang="en-US" sz="1200" dirty="0">
                                <a:solidFill>
                                  <a:srgbClr val="000000"/>
                                </a:solidFill>
                                <a:effectLst/>
                              </a:rPr>
                              <m:t>C</m:t>
                            </m:r>
                            <m:r>
                              <m:rPr>
                                <m:sty m:val="i"/>
                              </m:rPr>
                              <a:rPr lang="en-US" sz="1200" dirty="0">
                                <a:solidFill>
                                  <a:srgbClr val="000000"/>
                                </a:solidFill>
                                <a:effectLst/>
                              </a:rPr>
                              <m:t>I</m:t>
                            </m:r>
                            <m:r>
                              <m:rPr>
                                <m:sty m:val="p"/>
                              </m:rPr>
                              <a:rPr lang="en-US" sz="1200" dirty="0">
                                <a:solidFill>
                                  <a:srgbClr val="000000"/>
                                </a:solidFill>
                                <a:effectLst/>
                              </a:rPr>
                              <m:t>=</m:t>
                            </m:r>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A</m:t>
                                    </m:r>
                                  </m:e>
                                  <m:sub>
                                    <m:r>
                                      <m:rPr>
                                        <m:sty m:val="p"/>
                                      </m:rPr>
                                      <a:rPr lang="en-US" sz="1200" dirty="0">
                                        <a:solidFill>
                                          <a:srgbClr val="000000"/>
                                        </a:solidFill>
                                        <a:effectLst/>
                                      </a:rPr>
                                      <m:t>1790</m:t>
                                    </m:r>
                                  </m:sub>
                                </m:sSub>
                                <m:r>
                                  <m:rPr>
                                    <m:sty m:val="p"/>
                                  </m:rPr>
                                  <a:rPr lang="en-US" sz="1200" dirty="0">
                                    <a:solidFill>
                                      <a:srgbClr val="000000"/>
                                    </a:solidFill>
                                    <a:effectLst/>
                                  </a:rPr>
                                  <m:t>(</m:t>
                                </m:r>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O</m:t>
                                </m:r>
                                <m:r>
                                  <m:rPr>
                                    <m:sty m:val="p"/>
                                  </m:rPr>
                                  <a:rPr lang="en-US" sz="1200" dirty="0">
                                    <a:solidFill>
                                      <a:srgbClr val="000000"/>
                                    </a:solidFill>
                                    <a:effectLst/>
                                  </a:rPr>
                                  <m:t>)</m:t>
                                </m:r>
                              </m:e>
                            </m:d>
                            <m:r>
                              <m:rPr>
                                <m:sty m:val="p"/>
                              </m:rPr>
                              <a:rPr lang="en-US" sz="1200" dirty="0">
                                <a:solidFill>
                                  <a:srgbClr val="000000"/>
                                </a:solidFill>
                                <a:effectLst/>
                              </a:rPr>
                              <m:t>/</m:t>
                            </m:r>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A</m:t>
                                    </m:r>
                                  </m:e>
                                  <m:sub>
                                    <m:r>
                                      <m:rPr>
                                        <m:sty m:val="p"/>
                                      </m:rPr>
                                      <a:rPr lang="en-US" sz="1200" dirty="0">
                                        <a:solidFill>
                                          <a:srgbClr val="000000"/>
                                        </a:solidFill>
                                        <a:effectLst/>
                                      </a:rPr>
                                      <m:t>1167</m:t>
                                    </m:r>
                                  </m:sub>
                                </m:sSub>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p"/>
                                          </m:rPr>
                                          <a:rPr lang="en-US" sz="1200" dirty="0">
                                            <a:solidFill>
                                              <a:srgbClr val="000000"/>
                                            </a:solidFill>
                                            <a:effectLst/>
                                          </a:rPr>
                                          <m:t>CH</m:t>
                                        </m:r>
                                      </m:e>
                                      <m:sub>
                                        <m:r>
                                          <m:rPr>
                                            <m:sty m:val="p"/>
                                          </m:rPr>
                                          <a:rPr lang="en-US" sz="1200" dirty="0">
                                            <a:solidFill>
                                              <a:srgbClr val="000000"/>
                                            </a:solidFill>
                                            <a:effectLst/>
                                          </a:rPr>
                                          <m:t>3</m:t>
                                        </m:r>
                                      </m:sub>
                                    </m:sSub>
                                  </m:e>
                                </m:d>
                              </m:e>
                            </m:d>
                          </m:e>
                          <m:e>
                            <m:r>
                              <m:rPr>
                                <m:sty m:val="p"/>
                              </m:rPr>
                              <a:rPr lang="en-US" sz="1200" dirty="0">
                                <a:solidFill>
                                  <a:srgbClr val="000000"/>
                                </a:solidFill>
                                <a:effectLst/>
                              </a:rPr>
                              <m:t>(1)</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857625"/>
                <a:ext cx="9144000" cy="1371600"/>
              </a:xfrm>
              <a:prstGeom prst="rect">
                <a:avLst/>
              </a:prstGeom>
            </p:spPr>
            <p:txBody>
              <a:bodyPr anchor="t" lIns="0" tIns="0" rIns="0" bIns="0">
                <a:noAutofit/>
              </a:bodyPr>
              <a:lstStyle/>
              <a:p>
                <a:pPr>
                  <a:lnSpc>
                    <a:spcPct val="120000"/>
                  </a:lnSpc>
                </a:pPr>
                <a:r>
                  <a:rPr lang="en-US" sz="1200" dirty="0">
                    <a:effectLst/>
                  </a:rPr>
                  <a:t>Authors also studied the effect of the rotor speed and reaction time on the extent of degradation by means of melt-flow index (MFI) measurements. It was shown that effect of these operational parameters on the reacted MA content and on the MFI depends on the levels of MA and peroxide initiator [46.5 % concentration of 2,5-dimethyl-2,5-di( </a:t>
                </a:r>
                <a:r>
                  <a:rPr lang="en-US" sz="1200" dirty="0">
                    <a:effectLst/>
                  </a:rPr>
                  <a:t>​</a:t>
                </a:r>
                <a14:m>
                  <m:oMath>
                    <m:r>
                      <m:rPr>
                        <m:sty m:val="i"/>
                      </m:rPr>
                      <a:rPr lang="en-US" sz="1200" dirty="0">
                        <a:solidFill>
                          <a:srgbClr val="000000"/>
                        </a:solidFill>
                        <a:effectLst/>
                      </a:rPr>
                      <m:t>t</m:t>
                    </m:r>
                  </m:oMath>
                </a14:m>
                <a:r>
                  <a:rPr lang="en-US" sz="1200" dirty="0">
                    <a:effectLst/>
                  </a:rPr>
                  <a:t>-butylperoxy) hexane in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CaCO</m:t>
                        </m:r>
                      </m:e>
                      <m:sub>
                        <m:r>
                          <m:rPr>
                            <m:sty m:val="p"/>
                          </m:rPr>
                          <a:rPr lang="en-US" sz="1200" dirty="0">
                            <a:solidFill>
                              <a:srgbClr val="000000"/>
                            </a:solidFill>
                            <a:effectLst/>
                          </a:rPr>
                          <m:t>3</m:t>
                        </m:r>
                      </m:sub>
                    </m:sSub>
                  </m:oMath>
                </a14:m>
                <a:r>
                  <a:rPr lang="en-US" sz="1200" dirty="0">
                    <a:effectLst/>
                  </a:rPr>
                  <a:t> ] concentration, which could not be analyzed separately. According to authors, the increase in rotor speed leads to better mixing of MA in the reaction mass, an increase in the production of macroradicals and sublimation of MA monomer, due to the increase in reaction temperature [136,137].</a:t>
                </a:r>
              </a:p>
            </p:txBody>
          </p:sp>
        </mc:Choice>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971800"/>
              </a:xfrm>
              <a:prstGeom prst="rect">
                <a:avLst/>
              </a:prstGeom>
            </p:spPr>
            <p:txBody>
              <a:bodyPr anchor="t" lIns="0" tIns="0" rIns="0" bIns="0">
                <a:noAutofit/>
              </a:bodyPr>
              <a:lstStyle/>
              <a:p>
                <a:pPr>
                  <a:lnSpc>
                    <a:spcPct val="120000"/>
                  </a:lnSpc>
                </a:pPr>
                <a:r>
                  <a:rPr lang="en-US" sz="1200" dirty="0">
                    <a:effectLst/>
                  </a:rPr>
                  <a:t>A reactive extrusion process for the functionalization (free radical grafting) of PP with MA in the presence of supercritical carbon dioxide was studied by Dorscht and Tzoganakis [161]. Carbon dioxide was used in this system to reduce the viscosity of the PP melt phase by forming a polymer-gas solution in order to promote better mixing of the reactants. Subsequently, the effect of supercritical carbon dioxide on the level of grafting, product homogeneity, and molecular weight was evaluated. It was observed that the use of carbon dioxide led to improved grafting when high levels of MA were used. Chang and White [162] used a range of continuous mixing machines (such as nonintermeshing modular counterrotating, intermeshing modular corotating and intermeshing modular counterrotating twin-screw extruders, and Kobelco Nex-T continuous mixer) as continuous reactors for grafting MA onto PP. They investigated the grafting of MA onto PP and degradation of PP during grafting reaction, as well as the influence of the extrusion parameters on the polymer characteristics as means for comparing these different machines for reactive extrusion. It was demonstrated that the Kobelco Nex-T continuous mixer had highest level of grafted MA (0.32 g/100g sample) as compared to other used extruder systems. The level of grafted MA was determined by both the alkali titration and infrared method. The intensity of the carbonyl absorption peak at </a:t>
                </a:r>
                <a:r>
                  <a:rPr lang="en-US" sz="1200" dirty="0">
                    <a:effectLst/>
                  </a:rPr>
                  <a:t>​</a:t>
                </a:r>
                <a14:m>
                  <m:oMath>
                    <m:r>
                      <m:rPr>
                        <m:sty m:val="p"/>
                      </m:rPr>
                      <a:rPr lang="en-US" sz="1200" dirty="0">
                        <a:solidFill>
                          <a:srgbClr val="000000"/>
                        </a:solidFill>
                        <a:effectLst/>
                      </a:rPr>
                      <m:t>1785</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divided by that of the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CH</m:t>
                        </m:r>
                      </m:e>
                      <m:sub>
                        <m:r>
                          <m:rPr>
                            <m:sty m:val="p"/>
                          </m:rPr>
                          <a:rPr lang="en-US" sz="1200" dirty="0">
                            <a:solidFill>
                              <a:srgbClr val="000000"/>
                            </a:solidFill>
                            <a:effectLst/>
                          </a:rPr>
                          <m:t>3</m:t>
                        </m:r>
                      </m:sub>
                    </m:sSub>
                  </m:oMath>
                </a14:m>
                <a:r>
                  <a:rPr lang="en-US" sz="1200" dirty="0">
                    <a:effectLst/>
                  </a:rPr>
                  <a:t> absorption peak at </a:t>
                </a:r>
                <a:r>
                  <a:rPr lang="en-US" sz="1200" dirty="0">
                    <a:effectLst/>
                  </a:rPr>
                  <a:t>​</a:t>
                </a:r>
                <a14:m>
                  <m:oMath>
                    <m:r>
                      <m:rPr>
                        <m:sty m:val="p"/>
                      </m:rPr>
                      <a:rPr lang="en-US" sz="1200" dirty="0">
                        <a:solidFill>
                          <a:srgbClr val="000000"/>
                        </a:solidFill>
                        <a:effectLst/>
                      </a:rPr>
                      <m:t>1165</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was defined as the carbonyl index, and used as a measure of the amount of grafted MA.</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581400"/>
                <a:ext cx="9144000" cy="2286000"/>
              </a:xfrm>
              <a:prstGeom prst="rect">
                <a:avLst/>
              </a:prstGeom>
            </p:spPr>
            <p:txBody>
              <a:bodyPr anchor="t" lIns="0" tIns="0" rIns="0" bIns="0">
                <a:noAutofit/>
              </a:bodyPr>
              <a:lstStyle/>
              <a:p>
                <a:pPr>
                  <a:lnSpc>
                    <a:spcPct val="120000"/>
                  </a:lnSpc>
                </a:pPr>
                <a:r>
                  <a:rPr lang="en-US" sz="1200" dirty="0">
                    <a:effectLst/>
                  </a:rPr>
                  <a:t>Dong and Liu [163] also studied the styrene-assisted free-radical graft copolymerization of MA onto PP in supercritical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CO</m:t>
                        </m:r>
                      </m:e>
                      <m:sub>
                        <m:r>
                          <m:rPr>
                            <m:sty m:val="p"/>
                          </m:rPr>
                          <a:rPr lang="en-US" sz="1200" dirty="0">
                            <a:solidFill>
                              <a:srgbClr val="000000"/>
                            </a:solidFill>
                            <a:effectLst/>
                          </a:rPr>
                          <m:t>2</m:t>
                        </m:r>
                      </m:sub>
                    </m:sSub>
                  </m:oMath>
                </a14:m>
                <a:r>
                  <a:rPr lang="en-US" sz="1200" dirty="0">
                    <a:effectLst/>
                  </a:rPr>
                  <a:t>. It was shown that the addition of styrene drastically increased the MA functionality degree, which reached a maximum when the molar ratio of MA and styrene was 1:1. Styrene, an electron-donor monomer, could interact with MA through charge-transfer complex (CTC) to form the styrene-MA copolymer, which could then react with PP macroradicals to produce branches by termination between radicals. The highest MA functionality degree was obtained when the concentration of AIBN initiator was 0.6 wt % based on PP. An increase in the temperature increased the diffusion of monomers and radicals in the disperse reaction system of supercritical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CO</m:t>
                        </m:r>
                      </m:e>
                      <m:sub>
                        <m:r>
                          <m:rPr>
                            <m:sty m:val="p"/>
                          </m:rPr>
                          <a:rPr lang="en-US" sz="1200" dirty="0">
                            <a:solidFill>
                              <a:srgbClr val="000000"/>
                            </a:solidFill>
                            <a:effectLst/>
                          </a:rPr>
                          <m:t>2</m:t>
                        </m:r>
                      </m:sub>
                    </m:sSub>
                  </m:oMath>
                </a14:m>
                <a:r>
                  <a:rPr lang="en-US" sz="1200" dirty="0">
                    <a:effectLst/>
                  </a:rPr>
                  <a:t>. The highest degree of grafting was observed at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80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Degree of grafting decreased with an increase in the pressure of supercritical carbon dioxide within the experimental range. The morphologies of pure PP and grafted PP were significantly different under polarizing optical microscope. The PP spherulites were about </a:t>
                </a:r>
                <a:r>
                  <a:rPr lang="en-US" sz="1200" dirty="0">
                    <a:effectLst/>
                  </a:rPr>
                  <a:t>​</a:t>
                </a:r>
                <a14:m>
                  <m:oMath>
                    <m:r>
                      <m:rPr>
                        <m:sty m:val="p"/>
                      </m:rPr>
                      <a:rPr lang="en-US" sz="1200" dirty="0">
                        <a:solidFill>
                          <a:srgbClr val="000000"/>
                        </a:solidFill>
                        <a:effectLst/>
                      </a:rPr>
                      <m:t>38</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m</m:t>
                    </m:r>
                  </m:oMath>
                </a14:m>
                <a:r>
                  <a:rPr lang="en-US" sz="1200" dirty="0">
                    <a:effectLst/>
                  </a:rPr>
                  <a:t> in size, and the grafted spherulites were significantly reduced because of heterogeneous nucleation.</a:t>
                </a:r>
              </a:p>
            </p:txBody>
          </p:sp>
        </mc:Choice>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3886200"/>
              </a:xfrm>
              <a:prstGeom prst="rect">
                <a:avLst/>
              </a:prstGeom>
            </p:spPr>
            <p:txBody>
              <a:bodyPr anchor="t" lIns="0" tIns="0" rIns="0" bIns="0">
                <a:noAutofit/>
              </a:bodyPr>
              <a:lstStyle/>
              <a:p>
                <a:pPr>
                  <a:lnSpc>
                    <a:spcPct val="120000"/>
                  </a:lnSpc>
                </a:pPr>
                <a:r>
                  <a:rPr lang="en-US" sz="1200" dirty="0">
                    <a:effectLst/>
                  </a:rPr>
                  <a:t>Li et al. [164] found that the addition of styrene as a second monomer in the melt grafting system assisted in increasing the grafting degree of MA on PP. The styrene comonomer serves as a medium to bridge the gap between the PP macroradicals and the MA monomer. They have proposed that, in the aforementioned system, styrene preferentially reacts with the PP macroradicals to form more stable styrene macroradicals, which then copolymerize with MA to form branches. As noted by the authors, supercritical graft copolymerization is an advantageous process compared with known conventional methods (melt-grafting technology, solution graft copolymerization, etc.): (1) used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CO</m:t>
                        </m:r>
                      </m:e>
                      <m:sub>
                        <m:r>
                          <m:rPr>
                            <m:sty m:val="p"/>
                          </m:rPr>
                          <a:rPr lang="en-US" sz="1200" dirty="0">
                            <a:solidFill>
                              <a:srgbClr val="000000"/>
                            </a:solidFill>
                            <a:effectLst/>
                          </a:rPr>
                          <m:t>2</m:t>
                        </m:r>
                      </m:sub>
                    </m:sSub>
                  </m:oMath>
                </a14:m>
                <a:r>
                  <a:rPr lang="en-US" sz="1200" dirty="0">
                    <a:effectLst/>
                  </a:rPr>
                  <a:t> as a medium is nontoxic, nonflammable, and inexpensive; (2) reaction temperature can be controlled (60-90 °C) and is much lower than that of melt-grafting technology; (3) supercritical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CO</m:t>
                        </m:r>
                      </m:e>
                      <m:sub>
                        <m:r>
                          <m:rPr>
                            <m:sty m:val="p"/>
                          </m:rPr>
                          <a:rPr lang="en-US" sz="1200" dirty="0">
                            <a:solidFill>
                              <a:srgbClr val="000000"/>
                            </a:solidFill>
                            <a:effectLst/>
                          </a:rPr>
                          <m:t>2</m:t>
                        </m:r>
                      </m:sub>
                    </m:sSub>
                  </m:oMath>
                </a14:m>
                <a:r>
                  <a:rPr lang="en-US" sz="1200" dirty="0">
                    <a:effectLst/>
                  </a:rPr>
                  <a:t> causes considerable polymer swelling and significant depression of the polymer glass-transition temperature; (4) mass transfer in a supercritical medium is very high; (5) the solvency of the medium can be controlled through changes in the density of the reaction medium through temperature and pressure profiling; (6) application of supercritical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CO</m:t>
                        </m:r>
                      </m:e>
                      <m:sub>
                        <m:r>
                          <m:rPr>
                            <m:sty m:val="p"/>
                          </m:rPr>
                          <a:rPr lang="en-US" sz="1200" dirty="0">
                            <a:solidFill>
                              <a:srgbClr val="000000"/>
                            </a:solidFill>
                            <a:effectLst/>
                          </a:rPr>
                          <m:t>2</m:t>
                        </m:r>
                      </m:sub>
                    </m:sSub>
                  </m:oMath>
                </a14:m>
                <a:r>
                  <a:rPr lang="en-US" sz="1200" dirty="0">
                    <a:effectLst/>
                  </a:rPr>
                  <a:t> fluid provides significant economic and social benefits for environmental protection</a:t>
                </a:r>
                <a:br>
                  <a:rPr lang="en-US" sz="1200" dirty="0"/>
                </a:br>
                <a:r>
                  <a:rPr lang="en-US" sz="1200" dirty="0">
                    <a:effectLst/>
                  </a:rPr>
                  <a:t> and energy conservation.</a:t>
                </a:r>
                <a:br>
                  <a:rPr lang="en-US" sz="1200" dirty="0"/>
                </a:br>
                <a:r>
                  <a:rPr lang="en-US" sz="1200" dirty="0">
                    <a:effectLst/>
                  </a:rPr>
                  <a:t> The grafting reaction of MA with commercial polymers such as polyethylene (PE) [165-170], ethylene-propylene (E-P) copolymer [159], polypropylene PP [166,167-169] and polystyrene (PS) [150] in the presence of peroxide initiators were investigated extensively. MA has been grafted onto polyolefins especially in order to improve their compatibility with polar thermoplastic polymers such as polyamides and polyesters, and to promote their adhesion to glass fibers in polymer composites [169]. Melt functionalization of polyolefins (PO) [166,171] through MA grafting [166,171-173] was the topic of recent publications, too.</a:t>
                </a:r>
              </a:p>
            </p:txBody>
          </p:sp>
        </mc:Choice>
        <mc:Fallback/>
      </mc:AlternateContent>
      <p:sp>
        <p:nvSpPr>
          <p:cNvPr id="2" name="Text"/>
          <p:cNvSpPr/>
          <p:nvPr/>
        </p:nvSpPr>
        <p:spPr>
          <a:xfrm>
            <a:off x="1524000" y="4495800"/>
            <a:ext cx="9144000" cy="1371600"/>
          </a:xfrm>
          <a:prstGeom prst="rect">
            <a:avLst/>
          </a:prstGeom>
        </p:spPr>
        <p:txBody>
          <a:bodyPr anchor="t" lIns="0" tIns="0" rIns="0" bIns="0">
            <a:noAutofit/>
          </a:bodyPr>
          <a:lstStyle/>
          <a:p>
            <a:pPr>
              <a:lnSpc>
                <a:spcPct val="120000"/>
              </a:lnSpc>
            </a:pPr>
            <a:r>
              <a:rPr lang="en-US" sz="1200" dirty="0">
                <a:effectLst/>
              </a:rPr>
              <a:t>In several publications [160,174-176], the melt grafting of dibutyl maleate onto E-P copolymer has been investigated in detail. In most of these studies, the possibility of the addition of anhydride units on the polymer backbone, accompanied mainly by crosslinking and degradation of macromolecules has also been determined. The peroxide-initiated grafting of MA is accompanied by crosslinking for PEs [173-175], while degradation through chain scission is the dominant effect in the case of molten PP [168,175,176]. To the extent of saturation of E-P copolymers, both crosslinking and degradation reactions should occur in maleation in the presence of peroxide initiators [168,177].</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2286000"/>
              </a:xfrm>
              <a:prstGeom prst="rect">
                <a:avLst/>
              </a:prstGeom>
            </p:spPr>
            <p:txBody>
              <a:bodyPr anchor="t" lIns="0" tIns="0" rIns="0" bIns="0">
                <a:noAutofit/>
              </a:bodyPr>
              <a:lstStyle/>
              <a:p>
                <a:pPr>
                  <a:lnSpc>
                    <a:spcPct val="120000"/>
                  </a:lnSpc>
                </a:pPr>
                <a:r>
                  <a:rPr lang="en-US" sz="1200" dirty="0">
                    <a:effectLst/>
                  </a:rPr>
                  <a:t> The molecular characterization of MA meltfunctionalized PP, poly(PP-g-MA), the grafting mechanism, the nature, the concentration, and location of grafted anhydride species onto the PP chain were described by Roover et al. in detail [167,168]. The PP functionalization was performed using a pre-heated Brabender plastograph (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194</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4 min of mixing time). It was demonstrated that the organic peroxide used in these experimental conditions undergoes an homolytic rupture and carries out a PP ternary hydrogen abstraction.. Resulting macroradical undergoes a </a:t>
                </a:r>
                <a:r>
                  <a:rPr lang="en-US" sz="1200" dirty="0">
                    <a:effectLst/>
                  </a:rPr>
                  <a:t>​</a:t>
                </a:r>
                <a14:m>
                  <m:oMath>
                    <m:r>
                      <m:rPr>
                        <m:sty m:val="i"/>
                      </m:rPr>
                      <a:rPr lang="en-US" sz="1200" dirty="0">
                        <a:solidFill>
                          <a:srgbClr val="000000"/>
                        </a:solidFill>
                        <a:effectLst/>
                      </a:rPr>
                      <m:t>β</m:t>
                    </m:r>
                  </m:oMath>
                </a14:m>
                <a:r>
                  <a:rPr lang="en-US" sz="1200" dirty="0">
                    <a:effectLst/>
                  </a:rPr>
                  <a:t>-scission leading to a radical chain end which reacts with MA. When a termination reaction occurs at this first step a succinic type anhydride chain end is obtained. However, oligomerization of MA was found to occur more frequently leading to poly(MA) chain end. Concentration of both anhydride units and minimal length of the grafted poly(MA) were determined. It was found that a fraction of MA does not react with PP, thus, homopolymerization leading to nongrafted poly(MA). However, it can be noted that at high temperature conditions free or grafted oligo(MA) fragments can easily undergo the decarboxylation reaction with formation of conjugated system [167].</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895600"/>
                <a:ext cx="9144000" cy="2743200"/>
              </a:xfrm>
              <a:prstGeom prst="rect">
                <a:avLst/>
              </a:prstGeom>
            </p:spPr>
            <p:txBody>
              <a:bodyPr anchor="t" lIns="0" tIns="0" rIns="0" bIns="0">
                <a:noAutofit/>
              </a:bodyPr>
              <a:lstStyle/>
              <a:p>
                <a:pPr>
                  <a:lnSpc>
                    <a:spcPct val="120000"/>
                  </a:lnSpc>
                </a:pPr>
                <a:r>
                  <a:rPr lang="en-US" sz="1200" dirty="0">
                    <a:effectLst/>
                  </a:rPr>
                  <a:t>The functionalization of PE with MA through a free radical reaction in both solution and melt processes have been widely studied [177-180]. It has been generally accepted that primary free radicals generated by initiators first abstract hydrogen atoms from the PE backbone to form macroradicals, after which the macroradicals undergo grafting with MA or cross-linking between themselves [181]. Heinen et al. [159] synthesized [2,3-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13</m:t>
                        </m:r>
                      </m:sup>
                    </m:sSup>
                    <m:sSub>
                      <m:sSubPr>
                        <m:ctrlPr>
                          <a:rPr sz="1200">
                            <a:latin typeface="Cambria Math" panose="02040503050406030204" pitchFamily="18" charset="0"/>
                          </a:rPr>
                        </m:ctrlPr>
                      </m:sSubPr>
                      <m:e>
                        <m:r>
                          <m:rPr>
                            <m:sty m:val="p"/>
                          </m:rPr>
                          <a:rPr lang="en-US" sz="1200" dirty="0">
                            <a:solidFill>
                              <a:srgbClr val="000000"/>
                            </a:solidFill>
                            <a:effectLst/>
                          </a:rPr>
                          <m:t>C</m:t>
                        </m:r>
                      </m:e>
                      <m:sub>
                        <m:r>
                          <m:rPr>
                            <m:sty m:val="p"/>
                          </m:rPr>
                          <a:rPr lang="en-US" sz="1200" dirty="0">
                            <a:solidFill>
                              <a:srgbClr val="000000"/>
                            </a:solidFill>
                            <a:effectLst/>
                          </a:rPr>
                          <m:t>2</m:t>
                        </m:r>
                      </m:sub>
                    </m:sSub>
                  </m:oMath>
                </a14:m>
                <a:r>
                  <a:rPr lang="en-US" sz="1200" dirty="0">
                    <a:effectLst/>
                  </a:rPr>
                  <a:t> ] MA- g-PE both in solution and in melt systems, including highdensity PE (HDPE) and low-density PE (LDPE). From noise-docoupled and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r>
                      <m:rPr>
                        <m:sty m:val="p"/>
                      </m:rPr>
                      <a:rPr lang="en-US" sz="1200" dirty="0">
                        <a:solidFill>
                          <a:srgbClr val="000000"/>
                        </a:solidFill>
                        <a:effectLst/>
                      </a:rPr>
                      <m:t>D</m:t>
                    </m:r>
                  </m:oMath>
                </a14:m>
                <a:r>
                  <a:rPr lang="en-US" sz="1200" dirty="0">
                    <a:effectLst/>
                  </a:rPr>
                  <a:t> inadequate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13</m:t>
                        </m:r>
                      </m:sup>
                    </m:sSup>
                    <m:r>
                      <m:rPr>
                        <m:sty m:val="p"/>
                      </m:rPr>
                      <a:rPr lang="en-US" sz="1200" dirty="0">
                        <a:solidFill>
                          <a:srgbClr val="000000"/>
                        </a:solidFill>
                        <a:effectLst/>
                      </a:rPr>
                      <m:t>C</m:t>
                    </m:r>
                  </m:oMath>
                </a14:m>
                <a:r>
                  <a:rPr lang="en-US" sz="1200" dirty="0">
                    <a:effectLst/>
                  </a:rPr>
                  <a:t> NMR spectroscopy, they found that MA groups grafted onto HDPE and LDPE are in the form of single succinic anhydride (SA) and sort of oligomeric SA, the average chain length of which is about 1-2 when the grafting is carried out in MA with </a:t>
                </a:r>
                <a:r>
                  <a:rPr lang="en-US" sz="1200" dirty="0">
                    <a:effectLst/>
                  </a:rPr>
                  <a:t>​</a:t>
                </a:r>
                <a14:m>
                  <m:oMath>
                    <m:r>
                      <m:rPr>
                        <m:sty m:val="p"/>
                      </m:rPr>
                      <a:rPr lang="en-US" sz="1200" dirty="0">
                        <a:solidFill>
                          <a:srgbClr val="000000"/>
                        </a:solidFill>
                        <a:effectLst/>
                      </a:rPr>
                      <m:t>10</m:t>
                    </m:r>
                    <m:r>
                      <m:rPr>
                        <m:sty m:val="p"/>
                      </m:rPr>
                      <a:rPr lang="en-US" sz="1200" dirty="0">
                        <a:solidFill>
                          <a:srgbClr val="000000"/>
                        </a:solidFill>
                        <a:effectLst/>
                      </a:rPr>
                      <m:t>wt</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PE</m:t>
                    </m:r>
                  </m:oMath>
                </a14:m>
                <a:r>
                  <a:rPr lang="en-US" sz="1200" dirty="0">
                    <a:effectLst/>
                  </a:rPr>
                  <a:t>. It was found that the sites of attachment and the structures of the grafting fragments depend on (co)polymer composition. In E-P random copolymer, MA attaches to methylene and methine carbons in the backbone. In alternating E-P copolymer, MA attaches solely to polymer chain methine groups, indicating that </a:t>
                </a:r>
                <a:r>
                  <a:rPr lang="en-US" sz="1200" dirty="0">
                    <a:effectLst/>
                  </a:rPr>
                  <a:t>​</a:t>
                </a:r>
                <a14:m>
                  <m:oMath>
                    <m:sSub>
                      <m:sSubPr>
                        <m:ctrlPr>
                          <a:rPr sz="1200">
                            <a:latin typeface="Cambria Math" panose="02040503050406030204" pitchFamily="18" charset="0"/>
                          </a:rPr>
                        </m:ctrlPr>
                      </m:sSubPr>
                      <m:e>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p"/>
                                  </m:rPr>
                                  <a:rPr lang="en-US" sz="1200" dirty="0">
                                    <a:solidFill>
                                      <a:srgbClr val="000000"/>
                                    </a:solidFill>
                                    <a:effectLst/>
                                  </a:rPr>
                                  <m:t>CH</m:t>
                                </m:r>
                              </m:e>
                              <m:sub>
                                <m:r>
                                  <m:rPr>
                                    <m:sty m:val="p"/>
                                  </m:rPr>
                                  <a:rPr lang="en-US" sz="1200" dirty="0">
                                    <a:solidFill>
                                      <a:srgbClr val="000000"/>
                                    </a:solidFill>
                                    <a:effectLst/>
                                  </a:rPr>
                                  <m:t>2</m:t>
                                </m:r>
                              </m:sub>
                            </m:sSub>
                          </m:e>
                        </m:d>
                      </m:e>
                      <m:sub>
                        <m:r>
                          <m:rPr>
                            <m:sty m:val="i"/>
                          </m:rPr>
                          <a:rPr lang="en-US" sz="1200" dirty="0">
                            <a:solidFill>
                              <a:srgbClr val="000000"/>
                            </a:solidFill>
                            <a:effectLst/>
                          </a:rPr>
                          <m:t>n</m:t>
                        </m:r>
                      </m:sub>
                    </m:sSub>
                  </m:oMath>
                </a14:m>
                <a:r>
                  <a:rPr lang="en-US" sz="1200" dirty="0">
                    <a:effectLst/>
                  </a:rPr>
                  <a:t> sequences with </a:t>
                </a:r>
                <a:r>
                  <a:rPr lang="en-US" sz="1200" dirty="0">
                    <a:effectLst/>
                  </a:rPr>
                  <a:t>​</a:t>
                </a:r>
                <a14:m>
                  <m:oMath>
                    <m:r>
                      <m:rPr>
                        <m:sty m:val="i"/>
                      </m:rPr>
                      <a:rPr lang="en-US" sz="1200" dirty="0">
                        <a:solidFill>
                          <a:srgbClr val="000000"/>
                        </a:solidFill>
                        <a:effectLst/>
                      </a:rPr>
                      <m:t>n</m:t>
                    </m:r>
                    <m:r>
                      <m:rPr>
                        <m:sty m:val="p"/>
                      </m:rPr>
                      <a:rPr lang="en-US" sz="1200" dirty="0">
                        <a:solidFill>
                          <a:srgbClr val="000000"/>
                        </a:solidFill>
                        <a:effectLst/>
                      </a:rPr>
                      <m:t>&gt;</m:t>
                    </m:r>
                    <m:r>
                      <m:rPr>
                        <m:sty m:val="p"/>
                      </m:rPr>
                      <a:rPr lang="en-US" sz="1200" dirty="0">
                        <a:solidFill>
                          <a:srgbClr val="000000"/>
                        </a:solidFill>
                        <a:effectLst/>
                      </a:rPr>
                      <m:t>3</m:t>
                    </m:r>
                  </m:oMath>
                </a14:m>
                <a:r>
                  <a:rPr lang="en-US" sz="1200" dirty="0">
                    <a:effectLst/>
                  </a:rPr>
                  <a:t> are needed for MA attachment to backbone methylene carbons. In the copolymers and in isotactic PP, grafts are single succinic anhydride rings; in HDPE and LDPE short MA oligomers are also present. It was assumed that the chain scission can yield structures in which the anhydride ring is attached to the unsaturated end chain group through a fully substituted double bond.</a:t>
                </a:r>
              </a:p>
            </p:txBody>
          </p:sp>
        </mc:Choice>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600200"/>
              </a:xfrm>
              <a:prstGeom prst="rect">
                <a:avLst/>
              </a:prstGeom>
            </p:spPr>
            <p:txBody>
              <a:bodyPr anchor="t" lIns="0" tIns="0" rIns="0" bIns="0">
                <a:noAutofit/>
              </a:bodyPr>
              <a:lstStyle/>
              <a:p>
                <a:pPr>
                  <a:lnSpc>
                    <a:spcPct val="120000"/>
                  </a:lnSpc>
                </a:pPr>
                <a:r>
                  <a:rPr lang="en-US" sz="1200" dirty="0">
                    <a:effectLst/>
                  </a:rPr>
                  <a:t>Yang et al. [182] described the molecular structure of poly(MA- </a:t>
                </a:r>
                <a:r>
                  <a:rPr lang="en-US" sz="1200" dirty="0">
                    <a:effectLst/>
                  </a:rPr>
                  <a:t>​</a:t>
                </a:r>
                <a14:m>
                  <m:oMath>
                    <m:r>
                      <m:rPr>
                        <m:sty m:val="i"/>
                      </m:rPr>
                      <a:rPr lang="en-US" sz="1200" dirty="0">
                        <a:solidFill>
                          <a:srgbClr val="000000"/>
                        </a:solidFill>
                        <a:effectLst/>
                      </a:rPr>
                      <m:t>g</m:t>
                    </m:r>
                  </m:oMath>
                </a14:m>
                <a:r>
                  <a:rPr lang="en-US" sz="1200" dirty="0">
                    <a:effectLst/>
                  </a:rPr>
                  <a:t>-PE), which was synthesized in solution, as resolved with solution state NMR and FTIR spectroscopy. They demonstrated for the first time the formation of the fewer SA oligomeric grafts with a terminal unsaturated MA ring (oligo-MA) in addition to the more SA oligomeric grafts terminating in a saturated SA ring (oligoSA). The only structure observed prior to this study was [2,3-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13</m:t>
                        </m:r>
                      </m:sup>
                    </m:sSup>
                    <m:sSub>
                      <m:sSubPr>
                        <m:ctrlPr>
                          <a:rPr sz="1200">
                            <a:latin typeface="Cambria Math" panose="02040503050406030204" pitchFamily="18" charset="0"/>
                          </a:rPr>
                        </m:ctrlPr>
                      </m:sSubPr>
                      <m:e>
                        <m:r>
                          <m:rPr>
                            <m:sty m:val="p"/>
                          </m:rPr>
                          <a:rPr lang="en-US" sz="1200" dirty="0">
                            <a:solidFill>
                              <a:srgbClr val="000000"/>
                            </a:solidFill>
                            <a:effectLst/>
                          </a:rPr>
                          <m:t>C</m:t>
                        </m:r>
                      </m:e>
                      <m:sub>
                        <m:r>
                          <m:rPr>
                            <m:sty m:val="p"/>
                          </m:rPr>
                          <a:rPr lang="en-US" sz="1200" dirty="0">
                            <a:solidFill>
                              <a:srgbClr val="000000"/>
                            </a:solidFill>
                            <a:effectLst/>
                          </a:rPr>
                          <m:t>2</m:t>
                        </m:r>
                      </m:sub>
                    </m:sSub>
                  </m:oMath>
                </a14:m>
                <a:r>
                  <a:rPr lang="en-US" sz="1200" dirty="0">
                    <a:effectLst/>
                  </a:rPr>
                  <a:t> ] MA grafted onto low molecular weight PE (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w</m:t>
                        </m:r>
                      </m:sub>
                    </m:sSub>
                  </m:oMath>
                </a14:m>
                <a:r>
                  <a:rPr lang="en-US" sz="1200" dirty="0">
                    <a:effectLst/>
                  </a:rPr>
                  <a:t>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4000</m:t>
                    </m:r>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n</m:t>
                        </m:r>
                      </m:sub>
                    </m:sSub>
                    <m:r>
                      <m:rPr>
                        <m:sty m:val="p"/>
                      </m:rPr>
                      <a:rPr lang="en-US" sz="1200" dirty="0">
                        <a:solidFill>
                          <a:srgbClr val="000000"/>
                        </a:solidFill>
                        <a:effectLst/>
                      </a:rPr>
                      <m:t>=</m:t>
                    </m:r>
                    <m:r>
                      <m:rPr>
                        <m:sty m:val="p"/>
                      </m:rPr>
                      <a:rPr lang="en-US" sz="1200" dirty="0">
                        <a:solidFill>
                          <a:srgbClr val="000000"/>
                        </a:solidFill>
                        <a:effectLst/>
                      </a:rPr>
                      <m:t>1700</m:t>
                    </m:r>
                  </m:oMath>
                </a14:m>
                <a:r>
                  <a:rPr lang="en-US" sz="1200" dirty="0">
                    <a:effectLst/>
                  </a:rPr>
                  <a:t> ). A grafting mechanism with two different termination processes, (a) dispropotionation between a grafting radical and a macroradical of a secondary carbon in low-molecular weight PE or another grafting radical as well as (2) the hydrogen abstraction of a grafting radical from a secondary carbon in this PE, is described to explain the formation of oligo-MA and oligo-SA.</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209800"/>
                <a:ext cx="9144000" cy="3429000"/>
              </a:xfrm>
              <a:prstGeom prst="rect">
                <a:avLst/>
              </a:prstGeom>
            </p:spPr>
            <p:txBody>
              <a:bodyPr anchor="t" lIns="0" tIns="0" rIns="0" bIns="0">
                <a:noAutofit/>
              </a:bodyPr>
              <a:lstStyle/>
              <a:p>
                <a:pPr>
                  <a:lnSpc>
                    <a:spcPct val="120000"/>
                  </a:lnSpc>
                </a:pPr>
                <a:r>
                  <a:rPr lang="en-US" sz="1200" dirty="0">
                    <a:effectLst/>
                  </a:rPr>
                  <a:t>Periodical and patent publications on the synthesis of polyolefin graft copolymers including polyolefins with grafted MA, maleates, fumarates, maleimides, etc. by reactive extrusion or other forms of melt phase processing were reviewed by Moad [150]. Primary concerns are the structures of the graft copolymers formed, the mechanism of grafting reactions and their relationship to processing conditions, as well as methods for characterizing modified polyolefins. Shi et al. [183] studied chemical structure and molecular parameters of grafted materials of poly(PP- </a:t>
                </a:r>
                <a:r>
                  <a:rPr lang="en-US" sz="1200" dirty="0">
                    <a:effectLst/>
                  </a:rPr>
                  <a:t>​</a:t>
                </a:r>
                <a14:m>
                  <m:oMath>
                    <m:r>
                      <m:rPr>
                        <m:sty m:val="i"/>
                      </m:rPr>
                      <a:rPr lang="en-US" sz="1200" dirty="0">
                        <a:solidFill>
                          <a:srgbClr val="000000"/>
                        </a:solidFill>
                        <a:effectLst/>
                      </a:rPr>
                      <m:t>g</m:t>
                    </m:r>
                  </m:oMath>
                </a14:m>
                <a:r>
                  <a:rPr lang="en-US" sz="1200" dirty="0">
                    <a:effectLst/>
                  </a:rPr>
                  <a:t> -MA) prepared by melt reactive extrusion by using electrospray ionization-mass spectrometer (EI-MS) and gel permeation chromatogrphy (GPC). It was found that the initial radicals, due to homolytic scission of dicumyl peroxide could be combined with MA monomer as well as isotactic PP molecular chains. Authors believed that the homopolymerization of MA cannot occur and the MA radicals undergo dismutational reaction under the processing condition (180-190 °C). Authors tentatively proposed the mechanism of melt grafting MA onto PP as</a:t>
                </a:r>
                <a:br>
                  <a:rPr lang="en-US" sz="1200" dirty="0"/>
                </a:br>
                <a:r>
                  <a:rPr lang="en-US" sz="1200" dirty="0">
                    <a:effectLst/>
                  </a:rPr>
                  <a:t> follows: (1) the initial radicals that were formed by initiator homolytic scission can combine with MA monomer as well as with isotactic PP molecular chain; (2) the homopolymerization of MA does not take place under the conditions used in this reactive extrusion process; (3) the MA radicals could be dismutationally terminated or acted as a chain transfer agent; (4) not all the ternary macroradicals can be involved in the </a:t>
                </a:r>
                <a:r>
                  <a:rPr lang="en-US" sz="1200" dirty="0">
                    <a:effectLst/>
                  </a:rPr>
                  <a:t>​</a:t>
                </a:r>
                <a14:m>
                  <m:oMath>
                    <m:r>
                      <m:rPr>
                        <m:sty m:val="i"/>
                      </m:rPr>
                      <a:rPr lang="en-US" sz="1200" dirty="0">
                        <a:solidFill>
                          <a:srgbClr val="000000"/>
                        </a:solidFill>
                        <a:effectLst/>
                      </a:rPr>
                      <m:t>β</m:t>
                    </m:r>
                  </m:oMath>
                </a14:m>
                <a:r>
                  <a:rPr lang="en-US" sz="1200" dirty="0">
                    <a:effectLst/>
                  </a:rPr>
                  <a:t>-scission that leads to the degradation of the polymer, and not all the secondary macroradicals can be involved in combination that leads to the increase of the molecular weight; (5) different structures were formed during melt reactive grafting of PP with MA. According to authors, the oxidation effect could be neglected during the processing.</a:t>
                </a:r>
              </a:p>
            </p:txBody>
          </p:sp>
        </mc:Choice>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743200"/>
              </a:xfrm>
              <a:prstGeom prst="rect">
                <a:avLst/>
              </a:prstGeom>
            </p:spPr>
            <p:txBody>
              <a:bodyPr anchor="t" lIns="0" tIns="0" rIns="0" bIns="0">
                <a:noAutofit/>
              </a:bodyPr>
              <a:lstStyle/>
              <a:p>
                <a:pPr>
                  <a:lnSpc>
                    <a:spcPct val="120000"/>
                  </a:lnSpc>
                </a:pPr>
                <a:r>
                  <a:rPr lang="en-US" sz="1200" dirty="0">
                    <a:effectLst/>
                  </a:rPr>
                  <a:t>Zhu et al. [184] investigated the grafting of MA onto isotactic PP initiated by dicumyl peroxide at higher temperature (190 °C) by means of Monte Carlo method. The ceiling temperature theory, i.e., no possibility for the homopolymerization of MA to occur at higher temperatures, was used in this study. The simulation results show that most MA monomers were grafted onto the radical ends arising from </a:t>
                </a:r>
                <a:r>
                  <a:rPr lang="en-US" sz="1200" dirty="0">
                    <a:effectLst/>
                  </a:rPr>
                  <a:t>​</a:t>
                </a:r>
                <a14:m>
                  <m:oMath>
                    <m:r>
                      <m:rPr>
                        <m:sty m:val="i"/>
                      </m:rPr>
                      <a:rPr lang="en-US" sz="1200" dirty="0">
                        <a:solidFill>
                          <a:srgbClr val="000000"/>
                        </a:solidFill>
                        <a:effectLst/>
                      </a:rPr>
                      <m:t>β</m:t>
                    </m:r>
                  </m:oMath>
                </a14:m>
                <a:r>
                  <a:rPr lang="en-US" sz="1200" dirty="0">
                    <a:effectLst/>
                  </a:rPr>
                  <a:t>-scission at a lower concentration of MA, whereas the amount of MA monomers attached to the ternary carbons was much larger than that of the grafted onto the radical chain ends at a higher MA concentration for various initiator concentrations. The variations of the grafting degree of MA and number-average molecular weight of PP with reaction time for 2 wt. % initiator concentration, respectively, have shown that the grafting degree of MA increases considerably with increasing reaction time up to about 100 s; thereafter, it almost remains unchanged with increasing reaction time. Obtained results are in agreement with the experimental results of Jaehyug and James [185], in which the grafting degree of MA reached a plateau value after 2 min for melt grafting of MA onto PP. On the other hand, the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n</m:t>
                        </m:r>
                      </m:sub>
                    </m:sSub>
                  </m:oMath>
                </a14:m>
                <a:r>
                  <a:rPr lang="en-US" sz="1200" dirty="0">
                    <a:effectLst/>
                  </a:rPr>
                  <a:t> of PP decreases markedly with increasing reaction time up to about 100 s. Atactic PP grafted with </a:t>
                </a:r>
                <a:r>
                  <a:rPr lang="en-US" sz="1200" dirty="0">
                    <a:effectLst/>
                  </a:rPr>
                  <a:t>​</a:t>
                </a:r>
                <a14:m>
                  <m:oMath>
                    <m:r>
                      <m:rPr>
                        <m:sty m:val="p"/>
                      </m:rPr>
                      <a:rPr lang="en-US" sz="1200" dirty="0">
                        <a:solidFill>
                          <a:srgbClr val="000000"/>
                        </a:solidFill>
                        <a:effectLst/>
                      </a:rPr>
                      <m:t>4.5</m:t>
                    </m:r>
                    <m:r>
                      <m:rPr>
                        <m:sty m:val="p"/>
                      </m:rPr>
                      <a:rPr lang="en-US" sz="1200" dirty="0">
                        <a:solidFill>
                          <a:srgbClr val="000000"/>
                        </a:solidFill>
                        <a:effectLst/>
                      </a:rPr>
                      <m:t>%</m:t>
                    </m:r>
                  </m:oMath>
                </a14:m>
                <a:r>
                  <a:rPr lang="en-US" sz="1200" dirty="0">
                    <a:effectLst/>
                  </a:rPr>
                  <a:t> MA exhibits a tensile strength of 1.91 MPa , elongation of 400 %, and hardness of 50-55 % (against for ungrafted PP of 0.53 MPa, 110 % and 10-15, respectively) [186,187].</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352800"/>
                <a:ext cx="9144000" cy="1600200"/>
              </a:xfrm>
              <a:prstGeom prst="rect">
                <a:avLst/>
              </a:prstGeom>
            </p:spPr>
            <p:txBody>
              <a:bodyPr anchor="t" lIns="0" tIns="0" rIns="0" bIns="0">
                <a:noAutofit/>
              </a:bodyPr>
              <a:lstStyle/>
              <a:p>
                <a:pPr>
                  <a:lnSpc>
                    <a:spcPct val="120000"/>
                  </a:lnSpc>
                </a:pPr>
                <a:r>
                  <a:rPr lang="en-US" sz="1200" dirty="0">
                    <a:effectLst/>
                  </a:rPr>
                  <a:t>Zhang et al. [188] assumed that the blend compatibilizing, oil dispersion, and rheological properties of poly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E</m:t>
                    </m:r>
                    <m:r>
                      <m:rPr>
                        <m:sty m:val="p"/>
                      </m:rPr>
                      <a:rPr lang="en-US" sz="1200" dirty="0">
                        <a:solidFill>
                          <a:srgbClr val="000000"/>
                        </a:solidFill>
                        <a:effectLst/>
                      </a:rPr>
                      <m:t>−</m:t>
                    </m:r>
                    <m:r>
                      <m:rPr>
                        <m:sty m:val="i"/>
                      </m:rPr>
                      <a:rPr lang="en-US" sz="1200" dirty="0">
                        <a:solidFill>
                          <a:srgbClr val="000000"/>
                        </a:solidFill>
                        <a:effectLst/>
                      </a:rPr>
                      <m:t>c</m:t>
                    </m:r>
                    <m:r>
                      <m:rPr>
                        <m:sty m:val="i"/>
                      </m:rPr>
                      <a:rPr lang="en-US" sz="1200" dirty="0">
                        <a:solidFill>
                          <a:srgbClr val="000000"/>
                        </a:solidFill>
                        <a:effectLst/>
                      </a:rPr>
                      <m:t>o</m:t>
                    </m:r>
                    <m:r>
                      <m:rPr>
                        <m:sty m:val="p"/>
                      </m:rPr>
                      <a:rPr lang="en-US" sz="1200" dirty="0">
                        <a:solidFill>
                          <a:srgbClr val="000000"/>
                        </a:solidFill>
                        <a:effectLst/>
                      </a:rPr>
                      <m:t>−</m:t>
                    </m:r>
                    <m:r>
                      <m:rPr>
                        <m:sty m:val="p"/>
                      </m:rPr>
                      <a:rPr lang="en-US" sz="1200" dirty="0">
                        <a:solidFill>
                          <a:srgbClr val="000000"/>
                        </a:solidFill>
                        <a:effectLst/>
                      </a:rPr>
                      <m:t>P</m:t>
                    </m:r>
                    <m:r>
                      <m:rPr>
                        <m:sty m:val="p"/>
                      </m:rPr>
                      <a:rPr lang="en-US" sz="1200" dirty="0">
                        <a:solidFill>
                          <a:srgbClr val="000000"/>
                        </a:solidFill>
                        <a:effectLst/>
                      </a:rPr>
                      <m:t>)</m:t>
                    </m:r>
                    <m:r>
                      <m:rPr>
                        <m:sty m:val="p"/>
                      </m:rPr>
                      <a:rPr lang="en-US" sz="1200" dirty="0">
                        <a:solidFill>
                          <a:srgbClr val="000000"/>
                        </a:solidFill>
                        <a:effectLst/>
                      </a:rPr>
                      <m:t>−</m:t>
                    </m:r>
                    <m:r>
                      <m:rPr>
                        <m:sty m:val="i"/>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MA</m:t>
                    </m:r>
                    <m:r>
                      <m:rPr>
                        <m:sty m:val="p"/>
                      </m:rPr>
                      <a:rPr lang="en-US" sz="1200" dirty="0">
                        <a:solidFill>
                          <a:srgbClr val="000000"/>
                        </a:solidFill>
                        <a:effectLst/>
                      </a:rPr>
                      <m:t>]</m:t>
                    </m:r>
                  </m:oMath>
                </a14:m>
                <a:r>
                  <a:rPr lang="en-US" sz="1200" dirty="0">
                    <a:effectLst/>
                  </a:rPr>
                  <a:t> can be expected to depend on the graft microstructure. A detailed knowledge of the nature of the grafted units whether isolated anhydride units or oligoanhydride fragments of clustered anhydride units (Figure 3) is quite important for improving the properties of this MA grafted copolymer. Grafting of single saturated succinic anhydride (SA) (micro-structure I) [188] is usually reported by many researchers [150,189-191]. However, it has also been shown that oligomeric or polymeric MA grafts can be formed as well (microstructure II) [136,178,192,193]. Microstructure III has been proposed, where MA is attached to the backbone as both individual and clustered units [190].</a:t>
                </a:r>
              </a:p>
            </p:txBody>
          </p:sp>
        </mc:Choice>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42ad8090e519c57ed9b38ddb5da35c8ed6bd4b71.jpg"/>
          <p:cNvPicPr/>
          <p:nvPr/>
        </p:nvPicPr>
        <p:blipFill>
          <a:blip r:embed="rId2" cstate="print"/>
          <a:srcRect/>
          <a:stretch>
            <a:fillRect/>
          </a:stretch>
        </p:blipFill>
        <p:spPr>
          <a:xfrm>
            <a:off x="1524000" y="457200"/>
            <a:ext cx="7400925" cy="4762500"/>
          </a:xfrm>
          <a:prstGeom prst="rect">
            <a:avLst/>
          </a:prstGeom>
        </p:spPr>
      </p:pic>
      <p:sp>
        <p:nvSpPr>
          <p:cNvPr id="3" name="Text"/>
          <p:cNvSpPr/>
          <p:nvPr/>
        </p:nvSpPr>
        <p:spPr>
          <a:xfrm>
            <a:off x="1524000" y="5219700"/>
            <a:ext cx="9144000" cy="228600"/>
          </a:xfrm>
          <a:prstGeom prst="rect">
            <a:avLst/>
          </a:prstGeom>
        </p:spPr>
        <p:txBody>
          <a:bodyPr anchor="t" lIns="0" tIns="0" rIns="0" bIns="0">
            <a:noAutofit/>
          </a:bodyPr>
          <a:lstStyle/>
          <a:p>
            <a:pPr>
              <a:lnSpc>
                <a:spcPct val="120000"/>
              </a:lnSpc>
            </a:pPr>
            <a:r>
              <a:rPr lang="en-US" sz="1200" dirty="0">
                <a:effectLst/>
              </a:rPr>
              <a:t>Figure 3. Schematic representation of graft microstructures in poly[(E-co-P)-g-MA]. Adapted from [188].</a:t>
            </a:r>
          </a:p>
        </p:txBody>
      </p:sp>
      <p:sp>
        <p:nvSpPr>
          <p:cNvPr id="2" name="Text"/>
          <p:cNvSpPr/>
          <p:nvPr/>
        </p:nvSpPr>
        <p:spPr>
          <a:xfrm>
            <a:off x="1524000" y="5448300"/>
            <a:ext cx="9144000" cy="914400"/>
          </a:xfrm>
          <a:prstGeom prst="rect">
            <a:avLst/>
          </a:prstGeom>
        </p:spPr>
        <p:txBody>
          <a:bodyPr anchor="t" lIns="0" tIns="0" rIns="0" bIns="0">
            <a:noAutofit/>
          </a:bodyPr>
          <a:lstStyle/>
          <a:p>
            <a:pPr>
              <a:lnSpc>
                <a:spcPct val="120000"/>
              </a:lnSpc>
            </a:pPr>
            <a:r>
              <a:rPr lang="en-US" sz="1200" dirty="0">
                <a:effectLst/>
              </a:rPr>
              <a:t>Vangani et al. [194,195] have shown that fluorescence experiments have the potential to yield the level of SA clustering of poly[(E-co-P)-g-MA]. This study requires attaching the pyrene dye onto the SA moieties of a poly[(E-co-P)-g-MA]. Upon absorption of a photon, the encounter of an excited pyrene with a ground-state pyrene leads to the formation of an excited complex called an excimer. The time scale of excimer formation depends on whether the two pyrenes are attached onto SA grafted units which are clustered or isolated.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057400"/>
              </a:xfrm>
              <a:prstGeom prst="rect">
                <a:avLst/>
              </a:prstGeom>
            </p:spPr>
            <p:txBody>
              <a:bodyPr anchor="t" lIns="0" tIns="0" rIns="0" bIns="0">
                <a:noAutofit/>
              </a:bodyPr>
              <a:lstStyle/>
              <a:p>
                <a:pPr>
                  <a:lnSpc>
                    <a:spcPct val="120000"/>
                  </a:lnSpc>
                </a:pPr>
                <a:r>
                  <a:rPr lang="en-US" sz="1200" dirty="0">
                    <a:effectLst/>
                  </a:rPr>
                  <a:t>An ethylene (E)-propylene (P) random copolymer was maleated according to two different procedures which were expected to yield different distributions of SA unit along the backbone [188]. The two maleated EP copolymers, referred to as EP-I and EP-II, were labeled with fluorescent dyes such as pyrenes and/or naphthalene by reacting 1- pyrenemethylamine and/or 1-pyrenebutanoic acid hydrazine (or 1-naphthalenemethyl amine) with the SA moieties randomly attached along the EP copolymer Authors detected the presence of MA attached onto the EP copolymer by monitoring the absorption band at 1778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characteristic of the </a:t>
                </a:r>
                <a:r>
                  <a:rPr lang="en-US" sz="1200" dirty="0">
                    <a:effectLst/>
                  </a:rPr>
                  <a:t>​</a:t>
                </a:r>
                <a14:m>
                  <m:oMath>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O</m:t>
                    </m:r>
                  </m:oMath>
                </a14:m>
                <a:r>
                  <a:rPr lang="en-US" sz="1200" dirty="0">
                    <a:effectLst/>
                  </a:rPr>
                  <a:t> anhydride unit in the FTIR spectra. After EP- </a:t>
                </a:r>
                <a:r>
                  <a:rPr lang="en-US" sz="1200" dirty="0">
                    <a:effectLst/>
                  </a:rPr>
                  <a:t>​</a:t>
                </a:r>
                <a14:m>
                  <m:oMath>
                    <m:r>
                      <m:rPr>
                        <m:sty m:val="i"/>
                      </m:rPr>
                      <a:rPr lang="en-US" sz="1200" dirty="0">
                        <a:solidFill>
                          <a:srgbClr val="000000"/>
                        </a:solidFill>
                        <a:effectLst/>
                      </a:rPr>
                      <m:t>g</m:t>
                    </m:r>
                  </m:oMath>
                </a14:m>
                <a:r>
                  <a:rPr lang="en-US" sz="1200" dirty="0">
                    <a:effectLst/>
                  </a:rPr>
                  <a:t>-MA copolymer had reacted with 1 pyrenemethylamine (or other fluorescents) the </a:t>
                </a:r>
                <a:r>
                  <a:rPr lang="en-US" sz="1200" dirty="0">
                    <a:effectLst/>
                  </a:rPr>
                  <a:t>​</a:t>
                </a:r>
                <a14:m>
                  <m:oMath>
                    <m:r>
                      <m:rPr>
                        <m:sty m:val="p"/>
                      </m:rPr>
                      <a:rPr lang="en-US" sz="1200" dirty="0">
                        <a:solidFill>
                          <a:srgbClr val="000000"/>
                        </a:solidFill>
                        <a:effectLst/>
                      </a:rPr>
                      <m:t>1778</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band disappeared and a new peak appeared at </a:t>
                </a:r>
                <a:r>
                  <a:rPr lang="en-US" sz="1200" dirty="0">
                    <a:effectLst/>
                  </a:rPr>
                  <a:t>​</a:t>
                </a:r>
                <a14:m>
                  <m:oMath>
                    <m:r>
                      <m:rPr>
                        <m:sty m:val="p"/>
                      </m:rPr>
                      <a:rPr lang="en-US" sz="1200" dirty="0">
                        <a:solidFill>
                          <a:srgbClr val="000000"/>
                        </a:solidFill>
                        <a:effectLst/>
                      </a:rPr>
                      <m:t>1710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characteristic of the presence of succinimide carbonyls. Hexane and THF were chosen as solvents. Pyrene excimer formation and fluorescence resonance energy transfer measurements were performed to demonstrate that the SA units are attached to EP-I in a less clustered manner than to EP-II (Figure 4).</a:t>
                </a:r>
              </a:p>
            </p:txBody>
          </p:sp>
        </mc:Choice>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4104e9aa8af5a1143940907f99010f40eca3752c.jpg"/>
          <p:cNvPicPr/>
          <p:nvPr/>
        </p:nvPicPr>
        <p:blipFill>
          <a:blip r:embed="rId2" cstate="print"/>
          <a:srcRect/>
          <a:stretch>
            <a:fillRect/>
          </a:stretch>
        </p:blipFill>
        <p:spPr>
          <a:xfrm>
            <a:off x="1524000" y="457200"/>
            <a:ext cx="5172075" cy="59436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4. Chemical structure of pyrene-labeled derivatives of EP-g-MA graft copolymers. Adapted from [188].</a:t>
            </a:r>
          </a:p>
        </p:txBody>
      </p:sp>
      <p:sp>
        <p:nvSpPr>
          <p:cNvPr id="2" name="Text"/>
          <p:cNvSpPr/>
          <p:nvPr/>
        </p:nvSpPr>
        <p:spPr>
          <a:xfrm>
            <a:off x="1524000" y="685800"/>
            <a:ext cx="9144000" cy="1143000"/>
          </a:xfrm>
          <a:prstGeom prst="rect">
            <a:avLst/>
          </a:prstGeom>
        </p:spPr>
        <p:txBody>
          <a:bodyPr anchor="t" lIns="0" tIns="0" rIns="0" bIns="0">
            <a:noAutofit/>
          </a:bodyPr>
          <a:lstStyle/>
          <a:p>
            <a:pPr>
              <a:lnSpc>
                <a:spcPct val="120000"/>
              </a:lnSpc>
            </a:pPr>
            <a:r>
              <a:rPr lang="en-US" sz="1200" dirty="0">
                <a:effectLst/>
              </a:rPr>
              <a:t>Viscosity measurements were performed on both pyrene-labeled EP copolymers to evaluate the effect of SA clustering on the solution properties of the polymers in hexane. The solution viscosity of the pyrene-labeled EP-I increases less steeply with polymer concentration than that of the pyrene-labeled EP-II. Authors concluded that fluorescence can be applied to investigate the microstructure of maleated EP copolymers and that SA clustering of a maleated EP copolymer can affect its properties in nonpolar solvents [188].</a:t>
            </a:r>
          </a:p>
        </p:txBody>
      </p:sp>
      <p:sp>
        <p:nvSpPr>
          <p:cNvPr id="2" name="Text"/>
          <p:cNvSpPr/>
          <p:nvPr/>
        </p:nvSpPr>
        <p:spPr>
          <a:xfrm>
            <a:off x="1524000" y="1981200"/>
            <a:ext cx="9144000" cy="1828800"/>
          </a:xfrm>
          <a:prstGeom prst="rect">
            <a:avLst/>
          </a:prstGeom>
        </p:spPr>
        <p:txBody>
          <a:bodyPr anchor="t" lIns="0" tIns="0" rIns="0" bIns="0">
            <a:noAutofit/>
          </a:bodyPr>
          <a:lstStyle/>
          <a:p>
            <a:pPr>
              <a:lnSpc>
                <a:spcPct val="120000"/>
              </a:lnSpc>
            </a:pPr>
            <a:r>
              <a:rPr lang="en-US" sz="1200" dirty="0">
                <a:effectLst/>
              </a:rPr>
              <a:t>Hong and Chen [196] surface grafted a thermoplastic olefin elastomer with MA/radical initiator (benzophenone, benzoyl peroxide or AIBN) mixture under ozone and studied adhesion and surface properties of the grafted polymer. Ozone was used to initiate the grafting reaction, and a procedure different from the conventional ozone treating procedures was applied. The surface of elastomer was first dip-coated with a MA/radical initiator mixture and then exposed to ozone to initiate the surface grafting reaction of MA. In the conventional ozone treating method, the functionalized surface grafting agents are applied after the polymer surface are exposed to ozone. Hence the grafting efficiency could be easily affected because the active radicals on the ozone treated surface are liable to be contaminated and then deactivated before the surface grafting process. The surfaces of modified polymer samples were characterized by FTIR-ART surface analysis, contact angle measurement, and lap shear strength measurement.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743200"/>
              </a:xfrm>
              <a:prstGeom prst="rect">
                <a:avLst/>
              </a:prstGeom>
            </p:spPr>
            <p:txBody>
              <a:bodyPr anchor="t" lIns="0" tIns="0" rIns="0" bIns="0">
                <a:noAutofit/>
              </a:bodyPr>
              <a:lstStyle/>
              <a:p>
                <a:pPr>
                  <a:lnSpc>
                    <a:spcPct val="120000"/>
                  </a:lnSpc>
                </a:pPr>
                <a:r>
                  <a:rPr lang="en-US" sz="1200" dirty="0">
                    <a:effectLst/>
                  </a:rPr>
                  <a:t>The modification of PP through free-radical grafting of itaconic acid onto LDPE by reactive extrusion [197-202] have also been reported. Many aspects of the grafting mechanism of itaconic acid (IA) onto polyolefin macromolecules have been investigated by Jurkowski et al. [198-202]. The most important formulation and technological factors have been determined and optimized so as to control the course of the grafting process, the grafting efficiency, the course of the by-process including crosslinking of PE macromolecules and the poly(PE- </a:t>
                </a:r>
                <a:r>
                  <a:rPr lang="en-US" sz="1200" dirty="0">
                    <a:effectLst/>
                  </a:rPr>
                  <a:t>​</a:t>
                </a:r>
                <a14:m>
                  <m:oMath>
                    <m:r>
                      <m:rPr>
                        <m:sty m:val="i"/>
                      </m:rPr>
                      <a:rPr lang="en-US" sz="1200" dirty="0">
                        <a:solidFill>
                          <a:srgbClr val="000000"/>
                        </a:solidFill>
                        <a:effectLst/>
                      </a:rPr>
                      <m:t>g</m:t>
                    </m:r>
                  </m:oMath>
                </a14:m>
                <a:r>
                  <a:rPr lang="en-US" sz="1200" dirty="0">
                    <a:effectLst/>
                  </a:rPr>
                  <a:t>-IA) physical structure. It is known that the chemical neutralization of carboxylic groups grafted onto polyolefin macromolecules greatly influences their compatibilizing activity in blends of thermoplastics and increases thermal stability and, as a result, the properties of the modified polyolefins [150,203]. Therefore, grafting of IA onto LDPE was performed by reactive extrusion in the presence of DCP initiator and metal oxide and hydroxides [ZnO, </a:t>
                </a:r>
                <a:r>
                  <a:rPr lang="en-US" sz="1200" dirty="0">
                    <a:effectLst/>
                  </a:rPr>
                  <a:t>​</a:t>
                </a:r>
                <a14:m>
                  <m:oMath>
                    <m:r>
                      <m:rPr>
                        <m:sty m:val="p"/>
                      </m:rPr>
                      <a:rPr lang="en-US" sz="1200" dirty="0">
                        <a:solidFill>
                          <a:srgbClr val="000000"/>
                        </a:solidFill>
                        <a:effectLst/>
                      </a:rPr>
                      <m:t>Zn</m:t>
                    </m:r>
                    <m:r>
                      <m:rPr>
                        <m:sty m:val="p"/>
                      </m:rPr>
                      <a:rPr lang="en-US" sz="1200" dirty="0">
                        <a:solidFill>
                          <a:srgbClr val="000000"/>
                        </a:solidFill>
                        <a:effectLst/>
                      </a:rPr>
                      <m:t>(</m:t>
                    </m:r>
                    <m:r>
                      <m:rPr>
                        <m:sty m:val="p"/>
                      </m:rPr>
                      <a:rPr lang="en-US" sz="1200" dirty="0">
                        <a:solidFill>
                          <a:srgbClr val="000000"/>
                        </a:solidFill>
                        <a:effectLst/>
                      </a:rPr>
                      <m:t>OH</m:t>
                    </m:r>
                    <m:sSub>
                      <m:sSubPr>
                        <m:ctrlPr>
                          <a:rPr sz="1200">
                            <a:latin typeface="Cambria Math" panose="02040503050406030204" pitchFamily="18" charset="0"/>
                          </a:rPr>
                        </m:ctrlPr>
                      </m:sSubPr>
                      <m:e>
                        <m:r>
                          <m:rPr>
                            <m:sty m:val="p"/>
                          </m:rPr>
                          <a:rPr lang="en-US" sz="1200" dirty="0">
                            <a:solidFill>
                              <a:srgbClr val="000000"/>
                            </a:solidFill>
                            <a:effectLst/>
                          </a:rPr>
                          <m:t>)</m:t>
                        </m:r>
                      </m:e>
                      <m:sub>
                        <m:r>
                          <m:rPr>
                            <m:sty m:val="p"/>
                          </m:rPr>
                          <a:rPr lang="en-US" sz="1200" dirty="0">
                            <a:solidFill>
                              <a:srgbClr val="000000"/>
                            </a:solidFill>
                            <a:effectLst/>
                          </a:rPr>
                          <m:t>2</m:t>
                        </m:r>
                      </m:sub>
                    </m:sSub>
                    <m:r>
                      <m:rPr>
                        <m:sty m:val="p"/>
                      </m:rPr>
                      <a:rPr lang="en-US" sz="1200" dirty="0">
                        <a:solidFill>
                          <a:srgbClr val="000000"/>
                        </a:solidFill>
                        <a:effectLst/>
                      </a:rPr>
                      <m:t>,</m:t>
                    </m:r>
                    <m:r>
                      <m:rPr>
                        <m:sty m:val="p"/>
                      </m:rPr>
                      <a:rPr lang="en-US" sz="1200" dirty="0">
                        <a:solidFill>
                          <a:srgbClr val="000000"/>
                        </a:solidFill>
                        <a:effectLst/>
                      </a:rPr>
                      <m:t>MgO</m:t>
                    </m:r>
                  </m:oMath>
                </a14:m>
                <a:r>
                  <a:rPr lang="en-US" sz="1200" dirty="0">
                    <a:effectLst/>
                  </a:rPr>
                  <a:t> and </a:t>
                </a:r>
                <a:r>
                  <a:rPr lang="en-US" sz="1200" dirty="0">
                    <a:effectLst/>
                  </a:rPr>
                  <a:t>​</a:t>
                </a:r>
                <a14:m>
                  <m:oMath>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OH</m:t>
                    </m:r>
                    <m:sSub>
                      <m:sSubPr>
                        <m:ctrlPr>
                          <a:rPr sz="1200">
                            <a:latin typeface="Cambria Math" panose="02040503050406030204" pitchFamily="18" charset="0"/>
                          </a:rPr>
                        </m:ctrlPr>
                      </m:sSubPr>
                      <m:e>
                        <m:r>
                          <m:rPr>
                            <m:sty m:val="p"/>
                          </m:rPr>
                          <a:rPr lang="en-US" sz="1200" dirty="0">
                            <a:solidFill>
                              <a:srgbClr val="000000"/>
                            </a:solidFill>
                            <a:effectLst/>
                          </a:rPr>
                          <m:t>)</m:t>
                        </m:r>
                      </m:e>
                      <m:sub>
                        <m:r>
                          <m:rPr>
                            <m:sty m:val="p"/>
                          </m:rPr>
                          <a:rPr lang="en-US" sz="1200" dirty="0">
                            <a:solidFill>
                              <a:srgbClr val="000000"/>
                            </a:solidFill>
                            <a:effectLst/>
                          </a:rPr>
                          <m:t>2</m:t>
                        </m:r>
                      </m:sub>
                    </m:sSub>
                  </m:oMath>
                </a14:m>
                <a:r>
                  <a:rPr lang="en-US" sz="1200" dirty="0">
                    <a:effectLst/>
                  </a:rPr>
                  <a:t> ] as the neutralizing agents (NAs) [202]. Free carboxylic groups of IA units were neutralized in molten LDPE directly in the course of acid grafting, and in prefabricated functionalized PE, i.e., poly(PE- </a:t>
                </a:r>
                <a:r>
                  <a:rPr lang="en-US" sz="1200" dirty="0">
                    <a:effectLst/>
                  </a:rPr>
                  <a:t>​</a:t>
                </a:r>
                <a14:m>
                  <m:oMath>
                    <m:r>
                      <m:rPr>
                        <m:sty m:val="i"/>
                      </m:rPr>
                      <a:rPr lang="en-US" sz="1200" dirty="0">
                        <a:solidFill>
                          <a:srgbClr val="000000"/>
                        </a:solidFill>
                        <a:effectLst/>
                      </a:rPr>
                      <m:t>g</m:t>
                    </m:r>
                  </m:oMath>
                </a14:m>
                <a:r>
                  <a:rPr lang="en-US" sz="1200" dirty="0">
                    <a:effectLst/>
                  </a:rPr>
                  <a:t>-IA) while the -COOH groups were neutralized partially or totally through chemical reactions. Authors have demonstrated that NAs, added into the initial reaction mixture improved the grafting efficiency of IA onto LDPE, and prepared poly(PE-g-IA-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M</m:t>
                        </m:r>
                      </m:e>
                      <m:sup>
                        <m:r>
                          <m:rPr>
                            <m:sty m:val="p"/>
                          </m:rPr>
                          <a:rPr lang="en-US" sz="1200" dirty="0">
                            <a:solidFill>
                              <a:srgbClr val="000000"/>
                            </a:solidFill>
                            <a:effectLst/>
                          </a:rPr>
                          <m:t>+</m:t>
                        </m:r>
                      </m:sup>
                    </m:sSup>
                  </m:oMath>
                </a14:m>
                <a:r>
                  <a:rPr lang="en-US" sz="1200" dirty="0">
                    <a:effectLst/>
                  </a:rPr>
                  <a:t>)s exhibit higher thermal stability and resistance to thermal oxidation compared with that of poly(PE- </a:t>
                </a:r>
                <a:r>
                  <a:rPr lang="en-US" sz="1200" dirty="0">
                    <a:effectLst/>
                  </a:rPr>
                  <a:t>​</a:t>
                </a:r>
                <a14:m>
                  <m:oMath>
                    <m:r>
                      <m:rPr>
                        <m:sty m:val="i"/>
                      </m:rPr>
                      <a:rPr lang="en-US" sz="1200" dirty="0">
                        <a:solidFill>
                          <a:srgbClr val="000000"/>
                        </a:solidFill>
                        <a:effectLst/>
                      </a:rPr>
                      <m:t>g</m:t>
                    </m:r>
                  </m:oMath>
                </a14:m>
                <a:r>
                  <a:rPr lang="en-US" sz="1200" dirty="0">
                    <a:effectLst/>
                  </a:rPr>
                  <a:t>-IA).</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352800"/>
                <a:ext cx="9144000" cy="2514600"/>
              </a:xfrm>
              <a:prstGeom prst="rect">
                <a:avLst/>
              </a:prstGeom>
            </p:spPr>
            <p:txBody>
              <a:bodyPr anchor="t" lIns="0" tIns="0" rIns="0" bIns="0">
                <a:noAutofit/>
              </a:bodyPr>
              <a:lstStyle/>
              <a:p>
                <a:pPr>
                  <a:lnSpc>
                    <a:spcPct val="120000"/>
                  </a:lnSpc>
                </a:pPr>
                <a:r>
                  <a:rPr lang="en-US" sz="1200" dirty="0">
                    <a:effectLst/>
                  </a:rPr>
                  <a:t>Reactive blends of poly(PE- </a:t>
                </a:r>
                <a:r>
                  <a:rPr lang="en-US" sz="1200" dirty="0">
                    <a:effectLst/>
                  </a:rPr>
                  <a:t>​</a:t>
                </a:r>
                <a14:m>
                  <m:oMath>
                    <m:r>
                      <m:rPr>
                        <m:sty m:val="i"/>
                      </m:rPr>
                      <a:rPr lang="en-US" sz="1200" dirty="0">
                        <a:solidFill>
                          <a:srgbClr val="000000"/>
                        </a:solidFill>
                        <a:effectLst/>
                      </a:rPr>
                      <m:t>g</m:t>
                    </m:r>
                  </m:oMath>
                </a14:m>
                <a:r>
                  <a:rPr lang="en-US" sz="1200" dirty="0">
                    <a:effectLst/>
                  </a:rPr>
                  <a:t>-IA) with polyamide 6 (PA6) were chosen to show that IA grafted onto PE improves adhesion of interphases in the blends, increases the impact strength of the materials, and improves their processability [200]. A comparative study of the structure and properties of two-phase blends of PA6 and LDPE modified in the course of reactive extrusion, by grafting of İA without neutralization of carboxylic groups [poly(PE-g-IA)] and with neutralized carboxylic groups [poly(PE-g-</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IA</m:t>
                        </m:r>
                      </m:e>
                      <m:sup>
                        <m:r>
                          <m:rPr>
                            <m:sty m:val="p"/>
                          </m:rPr>
                          <a:rPr lang="en-US" sz="1200" dirty="0">
                            <a:solidFill>
                              <a:srgbClr val="000000"/>
                            </a:solidFill>
                            <a:effectLst/>
                          </a:rPr>
                          <m:t>−</m:t>
                        </m:r>
                      </m:sup>
                    </m:sSup>
                    <m:sSup>
                      <m:sSupPr>
                        <m:ctrlPr>
                          <a:rPr sz="1200">
                            <a:latin typeface="Cambria Math" panose="02040503050406030204" pitchFamily="18" charset="0"/>
                          </a:rPr>
                        </m:ctrlPr>
                      </m:sSupPr>
                      <m:e>
                        <m:r>
                          <m:rPr>
                            <m:sty m:val="p"/>
                          </m:rPr>
                          <a:rPr lang="en-US" sz="1200" dirty="0">
                            <a:solidFill>
                              <a:srgbClr val="000000"/>
                            </a:solidFill>
                            <a:effectLst/>
                          </a:rPr>
                          <m:t>M</m:t>
                        </m:r>
                      </m:e>
                      <m:sup>
                        <m:r>
                          <m:rPr>
                            <m:sty m:val="p"/>
                          </m:rPr>
                          <a:rPr lang="en-US" sz="1200" dirty="0">
                            <a:solidFill>
                              <a:srgbClr val="000000"/>
                            </a:solidFill>
                            <a:effectLst/>
                          </a:rPr>
                          <m:t>+</m:t>
                        </m:r>
                      </m:sup>
                    </m:sSup>
                  </m:oMath>
                </a14:m>
                <a:r>
                  <a:rPr lang="en-US" sz="1200" dirty="0">
                    <a:effectLst/>
                  </a:rPr>
                  <a:t>)] was carried out. It was shown that 30 wt.% of poly(PE- </a:t>
                </a:r>
                <a:r>
                  <a:rPr lang="en-US" sz="1200" dirty="0">
                    <a:effectLst/>
                  </a:rPr>
                  <a:t>​</a:t>
                </a:r>
                <a14:m>
                  <m:oMath>
                    <m:r>
                      <m:rPr>
                        <m:sty m:val="i"/>
                      </m:rPr>
                      <a:rPr lang="en-US" sz="1200" dirty="0">
                        <a:solidFill>
                          <a:srgbClr val="000000"/>
                        </a:solidFill>
                        <a:effectLst/>
                      </a:rPr>
                      <m:t>g</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IA</m:t>
                        </m:r>
                      </m:e>
                      <m:sup>
                        <m:r>
                          <m:rPr>
                            <m:sty m:val="p"/>
                          </m:rPr>
                          <a:rPr lang="en-US" sz="1200" dirty="0">
                            <a:solidFill>
                              <a:srgbClr val="000000"/>
                            </a:solidFill>
                            <a:effectLst/>
                          </a:rPr>
                          <m:t>−</m:t>
                        </m:r>
                      </m:sup>
                    </m:sSup>
                    <m:sSup>
                      <m:sSupPr>
                        <m:ctrlPr>
                          <a:rPr sz="1200">
                            <a:latin typeface="Cambria Math" panose="02040503050406030204" pitchFamily="18" charset="0"/>
                          </a:rPr>
                        </m:ctrlPr>
                      </m:sSupPr>
                      <m:e>
                        <m:r>
                          <m:rPr>
                            <m:sty m:val="p"/>
                          </m:rPr>
                          <a:rPr lang="en-US" sz="1200" dirty="0">
                            <a:solidFill>
                              <a:srgbClr val="000000"/>
                            </a:solidFill>
                            <a:effectLst/>
                          </a:rPr>
                          <m:t>M</m:t>
                        </m:r>
                      </m:e>
                      <m:sup>
                        <m:r>
                          <m:rPr>
                            <m:sty m:val="p"/>
                          </m:rPr>
                          <a:rPr lang="en-US" sz="1200" dirty="0">
                            <a:solidFill>
                              <a:srgbClr val="000000"/>
                            </a:solidFill>
                            <a:effectLst/>
                          </a:rPr>
                          <m:t>+</m:t>
                        </m:r>
                      </m:sup>
                    </m:sSup>
                  </m:oMath>
                </a14:m>
                <a:r>
                  <a:rPr lang="en-US" sz="1200" dirty="0">
                    <a:effectLst/>
                  </a:rPr>
                  <a:t>) introduced to PA6 resulted in blends of higher Charpy impact strength compared with that of PA6/poly(PE- </a:t>
                </a:r>
                <a:r>
                  <a:rPr lang="en-US" sz="1200" dirty="0">
                    <a:effectLst/>
                  </a:rPr>
                  <a:t>​</a:t>
                </a:r>
                <a14:m>
                  <m:oMath>
                    <m:r>
                      <m:rPr>
                        <m:sty m:val="i"/>
                      </m:rPr>
                      <a:rPr lang="en-US" sz="1200" dirty="0">
                        <a:solidFill>
                          <a:srgbClr val="000000"/>
                        </a:solidFill>
                        <a:effectLst/>
                      </a:rPr>
                      <m:t>g</m:t>
                    </m:r>
                  </m:oMath>
                </a14:m>
                <a:r>
                  <a:rPr lang="en-US" sz="1200" dirty="0">
                    <a:effectLst/>
                  </a:rPr>
                  <a:t>-IA) blends. The maximum increase was achieved when </a:t>
                </a:r>
                <a:r>
                  <a:rPr lang="en-US" sz="1200" dirty="0">
                    <a:effectLst/>
                  </a:rPr>
                  <a:t>​</a:t>
                </a:r>
                <a14:m>
                  <m:oMath>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OH</m:t>
                    </m:r>
                    <m:sSub>
                      <m:sSubPr>
                        <m:ctrlPr>
                          <a:rPr sz="1200">
                            <a:latin typeface="Cambria Math" panose="02040503050406030204" pitchFamily="18" charset="0"/>
                          </a:rPr>
                        </m:ctrlPr>
                      </m:sSubPr>
                      <m:e>
                        <m:r>
                          <m:rPr>
                            <m:sty m:val="p"/>
                          </m:rPr>
                          <a:rPr lang="en-US" sz="1200" dirty="0">
                            <a:solidFill>
                              <a:srgbClr val="000000"/>
                            </a:solidFill>
                            <a:effectLst/>
                          </a:rPr>
                          <m:t>)</m:t>
                        </m:r>
                      </m:e>
                      <m:sub>
                        <m:r>
                          <m:rPr>
                            <m:sty m:val="p"/>
                          </m:rPr>
                          <a:rPr lang="en-US" sz="1200" dirty="0">
                            <a:solidFill>
                              <a:srgbClr val="000000"/>
                            </a:solidFill>
                            <a:effectLst/>
                          </a:rPr>
                          <m:t>2</m:t>
                        </m:r>
                      </m:sub>
                    </m:sSub>
                  </m:oMath>
                </a14:m>
                <a:r>
                  <a:rPr lang="en-US" sz="1200" dirty="0">
                    <a:effectLst/>
                  </a:rPr>
                  <a:t> was used as a neutralizing agent [201]. The structure and properties of PP/LDPE blends grafted with IA in the melt by reactive extrusion have also been studied [202]. The data of DSC and relaxation spectrometry indicated the incompatibility of PP and LDPE in the poly[PP/LDPE)- </a:t>
                </a:r>
                <a:r>
                  <a:rPr lang="en-US" sz="1200" dirty="0">
                    <a:effectLst/>
                  </a:rPr>
                  <a:t>​</a:t>
                </a:r>
                <a14:m>
                  <m:oMath>
                    <m:r>
                      <m:rPr>
                        <m:sty m:val="i"/>
                      </m:rPr>
                      <a:rPr lang="en-US" sz="1200" dirty="0">
                        <a:solidFill>
                          <a:srgbClr val="000000"/>
                        </a:solidFill>
                        <a:effectLst/>
                      </a:rPr>
                      <m:t>g</m:t>
                    </m:r>
                  </m:oMath>
                </a14:m>
                <a:r>
                  <a:rPr lang="en-US" sz="1200" dirty="0">
                    <a:effectLst/>
                  </a:rPr>
                  <a:t>-IA] systems on the level of crystalline phases; however, favorable interactions were observed within the amorphous phases of the polymers. Variations in the ratios of the polymers in the poly[PP/LDPE)- </a:t>
                </a:r>
                <a:r>
                  <a:rPr lang="en-US" sz="1200" dirty="0">
                    <a:effectLst/>
                  </a:rPr>
                  <a:t>​</a:t>
                </a:r>
                <a14:m>
                  <m:oMath>
                    <m:r>
                      <m:rPr>
                        <m:sty m:val="i"/>
                      </m:rPr>
                      <a:rPr lang="en-US" sz="1200" dirty="0">
                        <a:solidFill>
                          <a:srgbClr val="000000"/>
                        </a:solidFill>
                        <a:effectLst/>
                      </a:rPr>
                      <m:t>g</m:t>
                    </m:r>
                  </m:oMath>
                </a14:m>
                <a:r>
                  <a:rPr lang="en-US" sz="1200" dirty="0">
                    <a:effectLst/>
                  </a:rPr>
                  <a:t>-IA] systems led to both nonadditive and complex changes in the viscoelastic properties as well as mechanical characteristics for the composites.</a:t>
                </a:r>
              </a:p>
            </p:txBody>
          </p:sp>
        </mc:Choice>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514600"/>
              </a:xfrm>
              <a:prstGeom prst="rect">
                <a:avLst/>
              </a:prstGeom>
            </p:spPr>
            <p:txBody>
              <a:bodyPr anchor="t" lIns="0" tIns="0" rIns="0" bIns="0">
                <a:noAutofit/>
              </a:bodyPr>
              <a:lstStyle/>
              <a:p>
                <a:pPr>
                  <a:lnSpc>
                    <a:spcPct val="120000"/>
                  </a:lnSpc>
                </a:pPr>
                <a:r>
                  <a:rPr lang="en-US" sz="1200" dirty="0">
                    <a:effectLst/>
                  </a:rPr>
                  <a:t>MA grafted PE is of considerable importance for application as a copolymer precursor in polymer blends, and has received intense attention in the past decade. Monte Carlo simulation was used to study the graft of MA onto linear PE poly(PE- </a:t>
                </a:r>
                <a:r>
                  <a:rPr lang="en-US" sz="1200" dirty="0">
                    <a:effectLst/>
                  </a:rPr>
                  <a:t>​</a:t>
                </a:r>
                <a14:m>
                  <m:oMath>
                    <m:r>
                      <m:rPr>
                        <m:sty m:val="i"/>
                      </m:rPr>
                      <a:rPr lang="en-US" sz="1200" dirty="0">
                        <a:solidFill>
                          <a:srgbClr val="000000"/>
                        </a:solidFill>
                        <a:effectLst/>
                      </a:rPr>
                      <m:t>g</m:t>
                    </m:r>
                  </m:oMath>
                </a14:m>
                <a:r>
                  <a:rPr lang="en-US" sz="1200" dirty="0">
                    <a:effectLst/>
                  </a:rPr>
                  <a:t>-MA) initiated by dicumyl peroxide [204]. Simulation results revealed that major MA monomers were attracted onto PE chains as branched graft at higher MA content. However, at extremely low MA content, the fraction of bridged graft was very close to that of branched graft. This conclusion was somewhat different from the well known viewpoint, namely, the fraction of</a:t>
                </a:r>
                <a:br>
                  <a:rPr lang="en-US" sz="1200" dirty="0"/>
                </a:br>
                <a:r>
                  <a:rPr lang="en-US" sz="1200" dirty="0">
                    <a:effectLst/>
                  </a:rPr>
                  <a:t> bridged graft was always much lower than that of branched graft under any conditions. Moreover, the results indicated that the grafting degree increased almost linearly to MA and dicumyl peroxide concentrations. On the other hand, it was found that the amount of grafted MA dropped sharply with increasing the length of grafted MA, indicating that MA monomers were mainly attracted onto the PE chain as single MA units or very short oligomers. Furthermore, the results suggested that the fraction of PE-(MA) </a:t>
                </a:r>
                <a:r>
                  <a:rPr lang="en-US" sz="1200" dirty="0">
                    <a:effectLst/>
                  </a:rPr>
                  <a:t>​</a:t>
                </a:r>
                <a14:m>
                  <m:oMath>
                    <m:sSub>
                      <m:sSubPr>
                        <m:ctrlPr>
                          <a:rPr sz="1200">
                            <a:latin typeface="Cambria Math" panose="02040503050406030204" pitchFamily="18" charset="0"/>
                          </a:rPr>
                        </m:ctrlPr>
                      </m:sSubPr>
                      <m:e>
                        <m:r>
                          <m:t xml:space="preserve"> </m:t>
                        </m:r>
                      </m:e>
                      <m:sub>
                        <m:r>
                          <m:rPr>
                            <m:sty m:val="p"/>
                          </m:rPr>
                          <a:rPr lang="en-US" sz="1200" dirty="0">
                            <a:solidFill>
                              <a:srgbClr val="000000"/>
                            </a:solidFill>
                            <a:effectLst/>
                          </a:rPr>
                          <m:t>n</m:t>
                        </m:r>
                      </m:sub>
                    </m:sSub>
                  </m:oMath>
                </a14:m>
                <a:r>
                  <a:rPr lang="en-US" sz="1200" dirty="0">
                    <a:effectLst/>
                  </a:rPr>
                  <a:t>-PE crosslink increased continuously with increasing MA content, whereas the fraction of PE-PE crosslink decreased correspondingly with increasing MA content.</a:t>
                </a:r>
              </a:p>
            </p:txBody>
          </p:sp>
        </mc:Choice>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3429000"/>
              </a:xfrm>
              <a:prstGeom prst="rect">
                <a:avLst/>
              </a:prstGeom>
            </p:spPr>
            <p:txBody>
              <a:bodyPr anchor="t" lIns="0" tIns="0" rIns="0" bIns="0">
                <a:noAutofit/>
              </a:bodyPr>
              <a:lstStyle/>
              <a:p>
                <a:pPr>
                  <a:lnSpc>
                    <a:spcPct val="120000"/>
                  </a:lnSpc>
                </a:pPr>
                <a:r>
                  <a:rPr lang="en-US" sz="1200" dirty="0">
                    <a:effectLst/>
                  </a:rPr>
                  <a:t>The functionalization of ethylene polymers with diethylmaleate (DEM) initiated by dicumyl peroxide has been reported by Passaglis et al. [205]. The degree of functionalization has been determined by FTIR and NMR spectroscopy and through comparison with the mixtures of the same polyethylene and poly(diethyl- fumarate). A good linear correlation was obtained between the ratio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A</m:t>
                        </m:r>
                      </m:e>
                      <m:sub>
                        <m:r>
                          <m:rPr>
                            <m:sty m:val="p"/>
                          </m:rPr>
                          <a:rPr lang="en-US" sz="1200" dirty="0">
                            <a:solidFill>
                              <a:srgbClr val="000000"/>
                            </a:solidFill>
                            <a:effectLst/>
                          </a:rPr>
                          <m:t>1</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A</m:t>
                        </m:r>
                      </m:e>
                      <m:sub>
                        <m:r>
                          <m:rPr>
                            <m:sty m:val="p"/>
                          </m:rPr>
                          <a:rPr lang="en-US" sz="1200" dirty="0">
                            <a:solidFill>
                              <a:srgbClr val="000000"/>
                            </a:solidFill>
                            <a:effectLst/>
                          </a:rPr>
                          <m:t>2</m:t>
                        </m:r>
                      </m:sub>
                    </m:sSub>
                  </m:oMath>
                </a14:m>
                <a:r>
                  <a:rPr lang="en-US" sz="1200" dirty="0">
                    <a:effectLst/>
                  </a:rPr>
                  <a:t> (where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A</m:t>
                        </m:r>
                      </m:e>
                      <m:sub>
                        <m:r>
                          <m:rPr>
                            <m:sty m:val="p"/>
                          </m:rPr>
                          <a:rPr lang="en-US" sz="1200" dirty="0">
                            <a:solidFill>
                              <a:srgbClr val="000000"/>
                            </a:solidFill>
                            <a:effectLst/>
                          </a:rPr>
                          <m:t>1</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A</m:t>
                        </m:r>
                      </m:e>
                      <m:sub>
                        <m:r>
                          <m:rPr>
                            <m:sty m:val="p"/>
                          </m:rPr>
                          <a:rPr lang="en-US" sz="1200" dirty="0">
                            <a:solidFill>
                              <a:srgbClr val="000000"/>
                            </a:solidFill>
                            <a:effectLst/>
                          </a:rPr>
                          <m:t>2</m:t>
                        </m:r>
                      </m:sub>
                    </m:sSub>
                  </m:oMath>
                </a14:m>
                <a:r>
                  <a:rPr lang="en-US" sz="1200" dirty="0">
                    <a:effectLst/>
                  </a:rPr>
                  <a:t> are the integrated areas of the vibrational bands at 1738 and </a:t>
                </a:r>
                <a:r>
                  <a:rPr lang="en-US" sz="1200" dirty="0">
                    <a:effectLst/>
                  </a:rPr>
                  <a:t>​</a:t>
                </a:r>
                <a14:m>
                  <m:oMath>
                    <m:r>
                      <m:rPr>
                        <m:sty m:val="p"/>
                      </m:rPr>
                      <a:rPr lang="en-US" sz="1200" dirty="0">
                        <a:solidFill>
                          <a:srgbClr val="000000"/>
                        </a:solidFill>
                        <a:effectLst/>
                      </a:rPr>
                      <m:t>1460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for </a:t>
                </a:r>
                <a:r>
                  <a:rPr lang="en-US" sz="1200" dirty="0">
                    <a:effectLst/>
                  </a:rPr>
                  <a:t>​</a:t>
                </a:r>
                <a14:m>
                  <m:oMath>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O</m:t>
                    </m:r>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CH</m:t>
                        </m:r>
                      </m:e>
                      <m:sub>
                        <m:r>
                          <m:rPr>
                            <m:sty m:val="p"/>
                          </m:rPr>
                          <a:rPr lang="en-US" sz="1200" dirty="0">
                            <a:solidFill>
                              <a:srgbClr val="000000"/>
                            </a:solidFill>
                            <a:effectLst/>
                          </a:rPr>
                          <m:t>2</m:t>
                        </m:r>
                      </m:sub>
                    </m:sSub>
                  </m:oMath>
                </a14:m>
                <a:r>
                  <a:rPr lang="en-US" sz="1200" dirty="0">
                    <a:effectLst/>
                  </a:rPr>
                  <a:t> groups, respectively) and the content of grafted 2-(diethylsuccinate) groups. The data obtained show that in all cases, the functionalization degree is appreciably affected by the amount and ratio of monomer and initiator used, thus allowing one to devise experiments aimed at controlled chemical modifications and to propose a reasonable reaction mechanism. In general, the grafting reaction occurs by the addition of the terminal macroradical, formed through </a:t>
                </a:r>
                <a:r>
                  <a:rPr lang="en-US" sz="1200" dirty="0">
                    <a:effectLst/>
                  </a:rPr>
                  <a:t>​</a:t>
                </a:r>
                <a14:m>
                  <m:oMath>
                    <m:r>
                      <m:rPr>
                        <m:sty m:val="i"/>
                      </m:rPr>
                      <a:rPr lang="en-US" sz="1200" dirty="0">
                        <a:solidFill>
                          <a:srgbClr val="000000"/>
                        </a:solidFill>
                        <a:effectLst/>
                      </a:rPr>
                      <m:t>β</m:t>
                    </m:r>
                  </m:oMath>
                </a14:m>
                <a:r>
                  <a:rPr lang="en-US" sz="1200" dirty="0">
                    <a:effectLst/>
                  </a:rPr>
                  <a:t>-scission, to the monomer double bond. PE [121], diethyl maleate (DEM) or a mixture of DEM/MA (2:1 molar ratio) with dicumyl peroxide (1:1) yielded PP with good functionalization degree, ranging from 0.2 to 1.0 mol %, but with a remarkable decrement of PP molecular weight [200]. The competition of the projected grafting reaction against scission can be improved via the formation of stabilized macroradicals. Romani et al. [206] have studied the chemical cross-linking of PP performed under dynamic conditions using a peroxide and a furan or bis(maleimide based coagent, such as bis(2-furanyl) aldazine or </a:t>
                </a:r>
                <a:r>
                  <a:rPr lang="en-US" sz="1200" dirty="0">
                    <a:effectLst/>
                  </a:rPr>
                  <a:t>​</a:t>
                </a:r>
                <a14:m>
                  <m:oMath>
                    <m:r>
                      <m:rPr>
                        <m:sty m:val="i"/>
                      </m:rPr>
                      <a:rPr lang="en-US" sz="1200" dirty="0">
                        <a:solidFill>
                          <a:srgbClr val="000000"/>
                        </a:solidFill>
                        <a:effectLst/>
                      </a:rPr>
                      <m:t>N</m:t>
                    </m:r>
                    <m:r>
                      <m:rPr>
                        <m:sty m:val="p"/>
                      </m:rPr>
                      <a:rPr lang="en-US" sz="1200" dirty="0">
                        <a:solidFill>
                          <a:srgbClr val="000000"/>
                        </a:solidFill>
                        <a:effectLst/>
                      </a:rPr>
                      <m:t>,</m:t>
                    </m:r>
                    <m:r>
                      <m:rPr>
                        <m:sty m:val="i"/>
                      </m:rPr>
                      <a:rPr lang="en-US" sz="1200" dirty="0">
                        <a:solidFill>
                          <a:srgbClr val="000000"/>
                        </a:solidFill>
                        <a:effectLst/>
                      </a:rPr>
                      <m:t>N</m:t>
                    </m:r>
                    <m:r>
                      <m:rPr>
                        <m:sty m:val="p"/>
                      </m:rPr>
                      <a:rPr lang="en-US" sz="1200" dirty="0">
                        <a:solidFill>
                          <a:srgbClr val="000000"/>
                        </a:solidFill>
                        <a:effectLst/>
                      </a:rPr>
                      <m:t>−</m:t>
                    </m:r>
                    <m:r>
                      <m:rPr>
                        <m:sty m:val="i"/>
                      </m:rPr>
                      <a:rPr lang="en-US" sz="1200" dirty="0">
                        <a:solidFill>
                          <a:srgbClr val="000000"/>
                        </a:solidFill>
                        <a:effectLst/>
                      </a:rPr>
                      <m:t>p</m:t>
                    </m:r>
                  </m:oMath>
                </a14:m>
                <a:r>
                  <a:rPr lang="en-US" sz="1200" dirty="0">
                    <a:effectLst/>
                  </a:rPr>
                  <a:t> -phenylene-bis(maleimide), as the crosslinking promoter [173,207]. These coagents are able to react properly with the macroradicals, produced by the primary radicals, thus spacing the free radical from the backbone of PP and promoting chain extension and/or preventing the </a:t>
                </a:r>
                <a:r>
                  <a:rPr lang="en-US" sz="1200" dirty="0">
                    <a:effectLst/>
                  </a:rPr>
                  <a:t>​</a:t>
                </a:r>
                <a14:m>
                  <m:oMath>
                    <m:r>
                      <m:rPr>
                        <m:sty m:val="i"/>
                      </m:rPr>
                      <a:rPr lang="en-US" sz="1200" dirty="0">
                        <a:solidFill>
                          <a:srgbClr val="000000"/>
                        </a:solidFill>
                        <a:effectLst/>
                      </a:rPr>
                      <m:t>β</m:t>
                    </m:r>
                  </m:oMath>
                </a14:m>
                <a:r>
                  <a:rPr lang="en-US" sz="1200" dirty="0">
                    <a:effectLst/>
                  </a:rPr>
                  <a:t> -scission.</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038600"/>
                <a:ext cx="9144000" cy="1371600"/>
              </a:xfrm>
              <a:prstGeom prst="rect">
                <a:avLst/>
              </a:prstGeom>
            </p:spPr>
            <p:txBody>
              <a:bodyPr anchor="t" lIns="0" tIns="0" rIns="0" bIns="0">
                <a:noAutofit/>
              </a:bodyPr>
              <a:lstStyle/>
              <a:p>
                <a:pPr>
                  <a:lnSpc>
                    <a:spcPct val="120000"/>
                  </a:lnSpc>
                </a:pPr>
                <a:r>
                  <a:rPr lang="en-US" sz="1200" dirty="0">
                    <a:effectLst/>
                  </a:rPr>
                  <a:t>Ciardelli et al. [208] studied the control of degradation reactions during radical functionalization of isotactic PP with MA in the melt by using furan derivative, butyl-3-(2-furanyl)propenoate (BFA). This coagent, successfully used for </a:t>
                </a:r>
                <a:r>
                  <a:rPr lang="en-US" sz="1200" dirty="0">
                    <a:effectLst/>
                  </a:rPr>
                  <a:t>​</a:t>
                </a:r>
                <a14:m>
                  <m:oMath>
                    <m:r>
                      <m:rPr>
                        <m:sty m:val="i"/>
                      </m:rPr>
                      <a:rPr lang="en-US" sz="1200" dirty="0">
                        <a:solidFill>
                          <a:srgbClr val="000000"/>
                        </a:solidFill>
                        <a:effectLst/>
                      </a:rPr>
                      <m:t>i</m:t>
                    </m:r>
                  </m:oMath>
                </a14:m>
                <a:r>
                  <a:rPr lang="en-US" sz="1200" dirty="0">
                    <a:effectLst/>
                  </a:rPr>
                  <a:t>-PP cross-linking without any remarkable increase of MFR, was used as a free radical remover and MA as a functionalizing monomer. The results indicate a detectable improvement with respect to the use of MA and peroxide only, allowing a significant grafting of functional groups and only partial degradation. Authors reperesented the proposed general mechanism of free radical functionalization of PP in the melt as follows (Schemes 5):</a:t>
                </a:r>
              </a:p>
            </p:txBody>
          </p:sp>
        </mc:Choice>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fa95d79db867887abd183db33ea68ec399ca5f25.jpg"/>
          <p:cNvPicPr/>
          <p:nvPr/>
        </p:nvPicPr>
        <p:blipFill>
          <a:blip r:embed="rId2" cstate="print"/>
          <a:srcRect/>
          <a:stretch>
            <a:fillRect/>
          </a:stretch>
        </p:blipFill>
        <p:spPr>
          <a:xfrm>
            <a:off x="1524000" y="457200"/>
            <a:ext cx="2619375" cy="59436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5. General mechanism of free radical functionalization of PP with furan derivatives in the melt. Adapted from [208].</a:t>
            </a:r>
          </a:p>
        </p:txBody>
      </p:sp>
      <mc:AlternateContent xmlns:mc="http://schemas.openxmlformats.org/markup-compatibility/2006">
        <mc:Choice xmlns:a14="http://schemas.microsoft.com/office/drawing/2010/main" Requires="a14">
          <p:sp>
            <p:nvSpPr>
              <p:cNvPr id="2" name="Text"/>
              <p:cNvSpPr/>
              <p:nvPr/>
            </p:nvSpPr>
            <p:spPr>
              <a:xfrm>
                <a:off x="1524000" y="685800"/>
                <a:ext cx="9144000" cy="1600200"/>
              </a:xfrm>
              <a:prstGeom prst="rect">
                <a:avLst/>
              </a:prstGeom>
            </p:spPr>
            <p:txBody>
              <a:bodyPr anchor="t" lIns="0" tIns="0" rIns="0" bIns="0">
                <a:noAutofit/>
              </a:bodyPr>
              <a:lstStyle/>
              <a:p>
                <a:pPr>
                  <a:lnSpc>
                    <a:spcPct val="120000"/>
                  </a:lnSpc>
                </a:pPr>
                <a:r>
                  <a:rPr lang="en-US" sz="1200" dirty="0">
                    <a:effectLst/>
                  </a:rPr>
                  <a:t>The grafting of functional antioxidants in polymer melts, particularly polyolefins, is one of the most important approaches [209,210]. Thus, melt free-radical grafting of maleimide and newly designed monomeric antioxidants, maleimides with hindered phenol groups onto PE reported by Kim et al. [211,212]. These monomer-antioxidants with carbamate (1) and ester (2) linker functionality (Figure 6) were synthesized [212] and grafted onto PE via meltprocessing with free-radical initiators (dicumyl peroxide and AIBN or BP) in a minimax molder at </a:t>
                </a:r>
                <a:r>
                  <a:rPr lang="en-US" sz="1200" dirty="0">
                    <a:effectLst/>
                  </a:rPr>
                  <a:t>​</a:t>
                </a:r>
                <a14:m>
                  <m:oMath>
                    <m:r>
                      <m:rPr>
                        <m:sty m:val="p"/>
                      </m:rPr>
                      <a:rPr lang="en-US" sz="1200" dirty="0">
                        <a:solidFill>
                          <a:srgbClr val="000000"/>
                        </a:solidFill>
                        <a:effectLst/>
                      </a:rPr>
                      <m:t>120</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180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for 4-20 min. Authors used IR spectroscopy for the quantitative determination of the extent of grafting with the monomeric antioxidants. The peaks at 2025 and </a:t>
                </a:r>
                <a:r>
                  <a:rPr lang="en-US" sz="1200" dirty="0">
                    <a:effectLst/>
                  </a:rPr>
                  <a:t>​</a:t>
                </a:r>
                <a14:m>
                  <m:oMath>
                    <m:r>
                      <m:rPr>
                        <m:sty m:val="p"/>
                      </m:rPr>
                      <a:rPr lang="en-US" sz="1200" dirty="0">
                        <a:solidFill>
                          <a:srgbClr val="000000"/>
                        </a:solidFill>
                        <a:effectLst/>
                      </a:rPr>
                      <m:t>1720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from PE and grafted monomers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O</m:t>
                    </m:r>
                    <m:r>
                      <m:rPr>
                        <m:sty m:val="p"/>
                      </m:rPr>
                      <a:rPr lang="en-US" sz="1200" dirty="0">
                        <a:solidFill>
                          <a:srgbClr val="000000"/>
                        </a:solidFill>
                        <a:effectLst/>
                      </a:rPr>
                      <m:t>)</m:t>
                    </m:r>
                  </m:oMath>
                </a14:m>
                <a:r>
                  <a:rPr lang="en-US" sz="1200" dirty="0">
                    <a:effectLst/>
                  </a:rPr>
                  <a:t>, respectively, were chosen as analytical bands, the integral ratios of which were used as a</a:t>
                </a:r>
              </a:p>
            </p:txBody>
          </p:sp>
        </mc:Choice>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610f640834a98b22f5221edb3caccfdc6c3c43db.jpg"/>
          <p:cNvPicPr/>
          <p:nvPr/>
        </p:nvPicPr>
        <p:blipFill>
          <a:blip r:embed="rId2" cstate="print"/>
          <a:srcRect/>
          <a:stretch>
            <a:fillRect/>
          </a:stretch>
        </p:blipFill>
        <p:spPr>
          <a:xfrm>
            <a:off x="1524000" y="457200"/>
            <a:ext cx="6800850" cy="577215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6. Chemical structure of monomer-antioxidants grafted onto PE by melt-processing. Adapted from [212].</a:t>
            </a:r>
          </a:p>
        </p:txBody>
      </p:sp>
      <mc:AlternateContent xmlns:mc="http://schemas.openxmlformats.org/markup-compatibility/2006">
        <mc:Choice xmlns:a14="http://schemas.microsoft.com/office/drawing/2010/main" Requires="a14">
          <p:sp>
            <p:nvSpPr>
              <p:cNvPr id="2" name="Text"/>
              <p:cNvSpPr/>
              <p:nvPr/>
            </p:nvSpPr>
            <p:spPr>
              <a:xfrm>
                <a:off x="1524000" y="685800"/>
                <a:ext cx="9144000" cy="914400"/>
              </a:xfrm>
              <a:prstGeom prst="rect">
                <a:avLst/>
              </a:prstGeom>
            </p:spPr>
            <p:txBody>
              <a:bodyPr anchor="t" lIns="0" tIns="0" rIns="0" bIns="0">
                <a:noAutofit/>
              </a:bodyPr>
              <a:lstStyle/>
              <a:p>
                <a:pPr>
                  <a:lnSpc>
                    <a:spcPct val="120000"/>
                  </a:lnSpc>
                </a:pPr>
                <a:r>
                  <a:rPr lang="en-US" sz="1200" dirty="0">
                    <a:effectLst/>
                  </a:rPr>
                  <a:t>convenient measure of the degree of grafting. They observed that the grafted PE possessed some stabilizing effect against thermal oxidation with oven aging in air at 120°C for 5 days, with no intensity change indicated in the IR peak at </a:t>
                </a:r>
                <a:r>
                  <a:rPr lang="en-US" sz="1200" dirty="0">
                    <a:effectLst/>
                  </a:rPr>
                  <a:t>​</a:t>
                </a:r>
                <a14:m>
                  <m:oMath>
                    <m:r>
                      <m:rPr>
                        <m:sty m:val="p"/>
                      </m:rPr>
                      <a:rPr lang="en-US" sz="1200" dirty="0">
                        <a:solidFill>
                          <a:srgbClr val="000000"/>
                        </a:solidFill>
                        <a:effectLst/>
                      </a:rPr>
                      <m:t>1720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Grafting was accompanied by partial crosslinking, the extent of which was determined from the gel content. To optimize the reaction conditions, authors studied the effects of the monomer and initiator concentrations, reaction time, and temperature on the extent of grafting [213].</a:t>
                </a:r>
              </a:p>
            </p:txBody>
          </p:sp>
        </mc:Choice>
        <mc:Fallback/>
      </mc:AlternateContent>
      <p:sp>
        <p:nvSpPr>
          <p:cNvPr id="2" name="Text"/>
          <p:cNvSpPr/>
          <p:nvPr/>
        </p:nvSpPr>
        <p:spPr>
          <a:xfrm>
            <a:off x="1524000" y="1752600"/>
            <a:ext cx="9144000" cy="1828800"/>
          </a:xfrm>
          <a:prstGeom prst="rect">
            <a:avLst/>
          </a:prstGeom>
        </p:spPr>
        <p:txBody>
          <a:bodyPr anchor="t" lIns="0" tIns="0" rIns="0" bIns="0">
            <a:noAutofit/>
          </a:bodyPr>
          <a:lstStyle/>
          <a:p>
            <a:pPr>
              <a:lnSpc>
                <a:spcPct val="120000"/>
              </a:lnSpc>
            </a:pPr>
            <a:r>
              <a:rPr lang="en-US" sz="1200" dirty="0">
                <a:effectLst/>
              </a:rPr>
              <a:t>The performance of adhesion and compatibilization of polyolefins functionalized with MA can be expected to depend on the microstructure of the graft copolymer and detailed knowledge of it is important for understanding structure-property relationships for these graft copolymers [150,209]. In polyolefins several structurally different radical sites can be produced by the action of radical initiators. Predominantly, secondary and tertiary macroradicals have different reactivities toward MA. It is generally accepted that cross-linking in PE and chain scission in PP may occur simultaneously with the graft reaction. E-P copolymers may undergo both side reactions. Besides the exact site of attachment, an additional item that has been speculated upon is the structure of the MA graft. A single, saturated succinic anhydride graft is usually suggested [1,214,215], but unsaturated [178], oligomeric [178,216], polymeric grafts [169], and combination of single and oligomeric grafts [132] have also been proposed.</a:t>
            </a:r>
          </a:p>
        </p:txBody>
      </p:sp>
      <mc:AlternateContent xmlns:mc="http://schemas.openxmlformats.org/markup-compatibility/2006">
        <mc:Choice xmlns:a14="http://schemas.microsoft.com/office/drawing/2010/main" Requires="a14">
          <p:sp>
            <p:nvSpPr>
              <p:cNvPr id="2" name="Text"/>
              <p:cNvSpPr/>
              <p:nvPr/>
            </p:nvSpPr>
            <p:spPr>
              <a:xfrm>
                <a:off x="1524000" y="3733800"/>
                <a:ext cx="9144000" cy="1600200"/>
              </a:xfrm>
              <a:prstGeom prst="rect">
                <a:avLst/>
              </a:prstGeom>
            </p:spPr>
            <p:txBody>
              <a:bodyPr anchor="t" lIns="0" tIns="0" rIns="0" bIns="0">
                <a:noAutofit/>
              </a:bodyPr>
              <a:lstStyle/>
              <a:p>
                <a:pPr>
                  <a:lnSpc>
                    <a:spcPct val="120000"/>
                  </a:lnSpc>
                </a:pPr>
                <a:r>
                  <a:rPr lang="en-US" sz="1200" dirty="0">
                    <a:effectLst/>
                  </a:rPr>
                  <a:t>Poly(MA- </a:t>
                </a:r>
                <a:r>
                  <a:rPr lang="en-US" sz="1200" dirty="0">
                    <a:effectLst/>
                  </a:rPr>
                  <a:t>​</a:t>
                </a:r>
                <a14:m>
                  <m:oMath>
                    <m:r>
                      <m:rPr>
                        <m:sty m:val="i"/>
                      </m:rPr>
                      <a:rPr lang="en-US" sz="1200" dirty="0">
                        <a:solidFill>
                          <a:srgbClr val="000000"/>
                        </a:solidFill>
                        <a:effectLst/>
                      </a:rPr>
                      <m:t>g</m:t>
                    </m:r>
                  </m:oMath>
                </a14:m>
                <a:r>
                  <a:rPr lang="en-US" sz="1200" dirty="0">
                    <a:effectLst/>
                  </a:rPr>
                  <a:t>-PP) was usually synthesized by chemical modification of preformed PP under free radical conditions [192,217]. Due to the inert nature of the PP structure and poor control of the free radical reaction, this MA grafting reaction includes many undesirable side reactions [218], such as </a:t>
                </a:r>
                <a:r>
                  <a:rPr lang="en-US" sz="1200" dirty="0">
                    <a:effectLst/>
                  </a:rPr>
                  <a:t>​</a:t>
                </a:r>
                <a14:m>
                  <m:oMath>
                    <m:r>
                      <m:rPr>
                        <m:sty m:val="i"/>
                      </m:rPr>
                      <a:rPr lang="en-US" sz="1200" dirty="0">
                        <a:solidFill>
                          <a:srgbClr val="000000"/>
                        </a:solidFill>
                        <a:effectLst/>
                      </a:rPr>
                      <m:t>β</m:t>
                    </m:r>
                  </m:oMath>
                </a14:m>
                <a:r>
                  <a:rPr lang="en-US" sz="1200" dirty="0">
                    <a:effectLst/>
                  </a:rPr>
                  <a:t>-scission, chain transfer, and coupling. The MA incorporation is usually inversely proportional to the resulting polymer molecular weight. In addition to the MA units incorporated along the polymer side chain, it has been generally suggested that a significant portion of poly(MA- </a:t>
                </a:r>
                <a:r>
                  <a:rPr lang="en-US" sz="1200" dirty="0">
                    <a:effectLst/>
                  </a:rPr>
                  <a:t>​</a:t>
                </a:r>
                <a14:m>
                  <m:oMath>
                    <m:r>
                      <m:rPr>
                        <m:sty m:val="i"/>
                      </m:rPr>
                      <a:rPr lang="en-US" sz="1200" dirty="0">
                        <a:solidFill>
                          <a:srgbClr val="000000"/>
                        </a:solidFill>
                        <a:effectLst/>
                      </a:rPr>
                      <m:t>g</m:t>
                    </m:r>
                  </m:oMath>
                </a14:m>
                <a:r>
                  <a:rPr lang="en-US" sz="1200" dirty="0">
                    <a:effectLst/>
                  </a:rPr>
                  <a:t>-PP) have a succinic anhydride group located at the polymer chain end [158,180] resulting from </a:t>
                </a:r>
                <a:r>
                  <a:rPr lang="en-US" sz="1200" dirty="0">
                    <a:effectLst/>
                  </a:rPr>
                  <a:t>​</a:t>
                </a:r>
                <a14:m>
                  <m:oMath>
                    <m:r>
                      <m:rPr>
                        <m:sty m:val="i"/>
                      </m:rPr>
                      <a:rPr lang="en-US" sz="1200" dirty="0">
                        <a:solidFill>
                          <a:srgbClr val="000000"/>
                        </a:solidFill>
                        <a:effectLst/>
                      </a:rPr>
                      <m:t>β</m:t>
                    </m:r>
                  </m:oMath>
                </a14:m>
                <a:r>
                  <a:rPr lang="en-US" sz="1200" dirty="0">
                    <a:effectLst/>
                  </a:rPr>
                  <a:t>-scission. In general, the inherent complexity of poly(MA-g-PP) molecular structure has significantly limited the understanding of its structure-property relationship, especially the ability of poly(MA- </a:t>
                </a:r>
                <a:r>
                  <a:rPr lang="en-US" sz="1200" dirty="0">
                    <a:effectLst/>
                  </a:rPr>
                  <a:t>​</a:t>
                </a:r>
                <a14:m>
                  <m:oMath>
                    <m:r>
                      <m:rPr>
                        <m:sty m:val="i"/>
                      </m:rPr>
                      <a:rPr lang="en-US" sz="1200" dirty="0">
                        <a:solidFill>
                          <a:srgbClr val="000000"/>
                        </a:solidFill>
                        <a:effectLst/>
                      </a:rPr>
                      <m:t>g</m:t>
                    </m:r>
                  </m:oMath>
                </a14:m>
                <a:r>
                  <a:rPr lang="en-US" sz="1200" dirty="0">
                    <a:effectLst/>
                  </a:rPr>
                  <a:t>-PP) as an interfacial agent in PP blends and composites.</a:t>
                </a:r>
              </a:p>
            </p:txBody>
          </p:sp>
        </mc:Choice>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3657600"/>
              </a:xfrm>
              <a:prstGeom prst="rect">
                <a:avLst/>
              </a:prstGeom>
            </p:spPr>
            <p:txBody>
              <a:bodyPr anchor="t" lIns="0" tIns="0" rIns="0" bIns="0">
                <a:noAutofit/>
              </a:bodyPr>
              <a:lstStyle/>
              <a:p>
                <a:pPr>
                  <a:lnSpc>
                    <a:spcPct val="120000"/>
                  </a:lnSpc>
                </a:pPr>
                <a:r>
                  <a:rPr lang="en-US" sz="1200" dirty="0">
                    <a:effectLst/>
                  </a:rPr>
                  <a:t>A new synthetic route for preparing poly(MA- </a:t>
                </a:r>
                <a:r>
                  <a:rPr lang="en-US" sz="1200" dirty="0">
                    <a:effectLst/>
                  </a:rPr>
                  <a:t>​</a:t>
                </a:r>
                <a14:m>
                  <m:oMath>
                    <m:r>
                      <m:rPr>
                        <m:sty m:val="i"/>
                      </m:rPr>
                      <a:rPr lang="en-US" sz="1200" dirty="0">
                        <a:solidFill>
                          <a:srgbClr val="000000"/>
                        </a:solidFill>
                        <a:effectLst/>
                      </a:rPr>
                      <m:t>g</m:t>
                    </m:r>
                  </m:oMath>
                </a14:m>
                <a:r>
                  <a:rPr lang="en-US" sz="1200" dirty="0">
                    <a:effectLst/>
                  </a:rPr>
                  <a:t>-PP), which involves the borane terminated PP and a free radical graft-form reaction with MA reported by Priola et al. [219] and Ruggeri et al. [220]. It was shown that the resulting poly(MA- </a:t>
                </a:r>
                <a:r>
                  <a:rPr lang="en-US" sz="1200" dirty="0">
                    <a:effectLst/>
                  </a:rPr>
                  <a:t>​</a:t>
                </a:r>
                <a14:m>
                  <m:oMath>
                    <m:r>
                      <m:rPr>
                        <m:sty m:val="i"/>
                      </m:rPr>
                      <a:rPr lang="en-US" sz="1200" dirty="0">
                        <a:solidFill>
                          <a:srgbClr val="000000"/>
                        </a:solidFill>
                        <a:effectLst/>
                      </a:rPr>
                      <m:t>g</m:t>
                    </m:r>
                  </m:oMath>
                </a14:m>
                <a:r>
                  <a:rPr lang="en-US" sz="1200" dirty="0">
                    <a:effectLst/>
                  </a:rPr>
                  <a:t>-PP) containing a chain end terminated MA group was an effective compatibilizer in a PP/polyamide blend. Synthesis a new class of MA modified PP, having a relatively well-defined molecular structure was also described by Russell [217]. The chemistry involves the borane-terminated PP inter- mediate that prepared by hydroboration of the chain-end unsaturated PP. According to thje authors [220], the borane group at the chain end can be selectively oxidized by oxygen to form a "stable" polymer radical which then in situ react with MA to produce MA terminated PP (PP- </a:t>
                </a:r>
                <a:r>
                  <a:rPr lang="en-US" sz="1200" dirty="0">
                    <a:effectLst/>
                  </a:rPr>
                  <a:t>​</a:t>
                </a:r>
                <a14:m>
                  <m:oMath>
                    <m:r>
                      <m:rPr>
                        <m:sty m:val="i"/>
                      </m:rPr>
                      <a:rPr lang="en-US" sz="1200" dirty="0">
                        <a:solidFill>
                          <a:srgbClr val="000000"/>
                        </a:solidFill>
                        <a:effectLst/>
                      </a:rPr>
                      <m:t>t</m:t>
                    </m:r>
                  </m:oMath>
                </a14:m>
                <a:r>
                  <a:rPr lang="en-US" sz="1200" dirty="0">
                    <a:effectLst/>
                  </a:rPr>
                  <a:t>-MA) with a single MA unit. It was found that the polymeric radical initiated an alternating copolymerization of styrene and MA to produce PP- </a:t>
                </a:r>
                <a:r>
                  <a:rPr lang="en-US" sz="1200" dirty="0">
                    <a:effectLst/>
                  </a:rPr>
                  <a:t>​</a:t>
                </a:r>
                <a14:m>
                  <m:oMath>
                    <m:r>
                      <m:rPr>
                        <m:sty m:val="i"/>
                      </m:rPr>
                      <a:rPr lang="en-US" sz="1200" dirty="0">
                        <a:solidFill>
                          <a:srgbClr val="000000"/>
                        </a:solidFill>
                        <a:effectLst/>
                      </a:rPr>
                      <m:t>b</m:t>
                    </m:r>
                  </m:oMath>
                </a14:m>
                <a:r>
                  <a:rPr lang="en-US" sz="1200" dirty="0">
                    <a:effectLst/>
                  </a:rPr>
                  <a:t>-SMA diblock copolymers, and the incorporated MA units are proportional to the concentration of styrene and the reaction time. The resulting relatively well-defined PP-MA copolymers, with controllable PP molecular weight and MA concentration, evaluated systematically in the reactive PP/PP-MA/polyamide blends. It was established that the compatibility of these blend is dependent not only on the microstructure of the compatibilizer, formed in situ by reacting PP-MA with polyamide chains, but also on the composition of the PP/polyamide blend. According to authors, in polyamiderich blends, all PP-MA copolymers show limited compatibility. Higher MA concentrations result in poor blend morphologies. Most of the compatibilizers formed fail to position themselves at the interfaces between the PP and polyamide domains. On the other hand, in PP-rich blends the in situ formed compatibilizers are generally very effective, especially those involving the PP- </a:t>
                </a:r>
                <a:r>
                  <a:rPr lang="en-US" sz="1200" dirty="0">
                    <a:effectLst/>
                  </a:rPr>
                  <a:t>​</a:t>
                </a:r>
                <a14:m>
                  <m:oMath>
                    <m:r>
                      <m:rPr>
                        <m:sty m:val="i"/>
                      </m:rPr>
                      <a:rPr lang="en-US" sz="1200" dirty="0">
                        <a:solidFill>
                          <a:srgbClr val="000000"/>
                        </a:solidFill>
                        <a:effectLst/>
                      </a:rPr>
                      <m:t>b</m:t>
                    </m:r>
                  </m:oMath>
                </a14:m>
                <a:r>
                  <a:rPr lang="en-US" sz="1200" dirty="0">
                    <a:effectLst/>
                  </a:rPr>
                  <a:t>-SMA with high PP molecular weight and multiple MA units. The MA concentration in the polymer estimated by FTIR spectroscopy with the following equation [220,221]:</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267200"/>
                <a:ext cx="9144000" cy="200025"/>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r>
                              <m:rPr>
                                <m:sty m:val="p"/>
                              </m:rPr>
                              <a:rPr lang="en-US" sz="1200" dirty="0">
                                <a:solidFill>
                                  <a:srgbClr val="000000"/>
                                </a:solidFill>
                                <a:effectLst/>
                              </a:rPr>
                              <m:t> MA wt </m:t>
                            </m:r>
                            <m:r>
                              <m:rPr>
                                <m:sty m:val="p"/>
                              </m:rPr>
                              <a:rPr lang="en-US" sz="1200" dirty="0">
                                <a:solidFill>
                                  <a:srgbClr val="000000"/>
                                </a:solidFill>
                                <a:effectLst/>
                              </a:rPr>
                              <m:t>%</m:t>
                            </m:r>
                            <m:r>
                              <m:rPr>
                                <m:sty m:val="p"/>
                              </m:rPr>
                              <a:rPr lang="en-US" sz="1200" dirty="0">
                                <a:solidFill>
                                  <a:srgbClr val="000000"/>
                                </a:solidFill>
                                <a:effectLst/>
                              </a:rPr>
                              <m:t>=</m:t>
                            </m:r>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1</m:t>
                                    </m:r>
                                  </m:sub>
                                </m:sSub>
                                <m:sSub>
                                  <m:sSubPr>
                                    <m:ctrlPr>
                                      <a:rPr sz="1200">
                                        <a:latin typeface="Cambria Math" panose="02040503050406030204" pitchFamily="18" charset="0"/>
                                      </a:rPr>
                                    </m:ctrlPr>
                                  </m:sSubPr>
                                  <m:e>
                                    <m:r>
                                      <m:rPr>
                                        <m:sty m:val="i"/>
                                      </m:rPr>
                                      <a:rPr lang="en-US" sz="1200" dirty="0">
                                        <a:solidFill>
                                          <a:srgbClr val="000000"/>
                                        </a:solidFill>
                                        <a:effectLst/>
                                      </a:rPr>
                                      <m:t>A</m:t>
                                    </m:r>
                                  </m:e>
                                  <m:sub>
                                    <m:r>
                                      <m:rPr>
                                        <m:sty m:val="p"/>
                                      </m:rPr>
                                      <a:rPr lang="en-US" sz="1200" dirty="0">
                                        <a:solidFill>
                                          <a:srgbClr val="000000"/>
                                        </a:solidFill>
                                        <a:effectLst/>
                                      </a:rPr>
                                      <m:t>1780</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2</m:t>
                                    </m:r>
                                  </m:sub>
                                </m:sSub>
                                <m:sSub>
                                  <m:sSubPr>
                                    <m:ctrlPr>
                                      <a:rPr sz="1200">
                                        <a:latin typeface="Cambria Math" panose="02040503050406030204" pitchFamily="18" charset="0"/>
                                      </a:rPr>
                                    </m:ctrlPr>
                                  </m:sSubPr>
                                  <m:e>
                                    <m:r>
                                      <m:rPr>
                                        <m:sty m:val="i"/>
                                      </m:rPr>
                                      <a:rPr lang="en-US" sz="1200" dirty="0">
                                        <a:solidFill>
                                          <a:srgbClr val="000000"/>
                                        </a:solidFill>
                                        <a:effectLst/>
                                      </a:rPr>
                                      <m:t>A</m:t>
                                    </m:r>
                                  </m:e>
                                  <m:sub>
                                    <m:r>
                                      <m:rPr>
                                        <m:sty m:val="p"/>
                                      </m:rPr>
                                      <a:rPr lang="en-US" sz="1200" dirty="0">
                                        <a:solidFill>
                                          <a:srgbClr val="000000"/>
                                        </a:solidFill>
                                        <a:effectLst/>
                                      </a:rPr>
                                      <m:t>1710</m:t>
                                    </m:r>
                                  </m:sub>
                                </m:sSub>
                              </m:e>
                            </m:d>
                            <m:r>
                              <m:rPr>
                                <m:sty m:val="p"/>
                              </m:rPr>
                              <a:rPr lang="en-US" sz="1200" dirty="0">
                                <a:solidFill>
                                  <a:srgbClr val="000000"/>
                                </a:solidFill>
                                <a:effectLst/>
                              </a:rPr>
                              <m:t>/</m:t>
                            </m:r>
                            <m:r>
                              <m:rPr>
                                <m:sty m:val="i"/>
                              </m:rPr>
                              <a:rPr lang="en-US" sz="1200" dirty="0">
                                <a:solidFill>
                                  <a:srgbClr val="000000"/>
                                </a:solidFill>
                                <a:effectLst/>
                              </a:rPr>
                              <m:t>d</m:t>
                            </m:r>
                          </m:e>
                          <m:e>
                            <m:r>
                              <m:rPr>
                                <m:sty m:val="p"/>
                              </m:rPr>
                              <a:rPr lang="en-US" sz="1200" dirty="0">
                                <a:solidFill>
                                  <a:srgbClr val="000000"/>
                                </a:solidFill>
                                <a:effectLst/>
                              </a:rPr>
                              <m:t>(2)</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619625"/>
                <a:ext cx="9144000" cy="4572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r>
                      <m:rPr>
                        <m:sty m:val="i"/>
                      </m:rPr>
                      <a:rPr lang="en-US" sz="1200" dirty="0">
                        <a:solidFill>
                          <a:srgbClr val="000000"/>
                        </a:solidFill>
                        <a:effectLst/>
                      </a:rPr>
                      <m:t>d</m:t>
                    </m:r>
                  </m:oMath>
                </a14:m>
                <a:r>
                  <a:rPr lang="en-US" sz="1200" dirty="0">
                    <a:effectLst/>
                  </a:rPr>
                  <a:t> is the film thickness, </a:t>
                </a:r>
                <a:r>
                  <a:rPr lang="en-US" sz="1200" dirty="0">
                    <a:effectLst/>
                  </a:rPr>
                  <a:t>​</a:t>
                </a:r>
                <a14:m>
                  <m:oMath>
                    <m:r>
                      <m:rPr>
                        <m:sty m:val="i"/>
                      </m:rPr>
                      <a:rPr lang="en-US" sz="1200" dirty="0">
                        <a:solidFill>
                          <a:srgbClr val="000000"/>
                        </a:solidFill>
                        <a:effectLst/>
                      </a:rPr>
                      <m:t>A</m:t>
                    </m:r>
                  </m:oMath>
                </a14:m>
                <a:r>
                  <a:rPr lang="en-US" sz="1200" dirty="0">
                    <a:effectLst/>
                  </a:rPr>
                  <a:t> is the corresponding peak absorbances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1</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2</m:t>
                        </m:r>
                      </m:sub>
                    </m:sSub>
                  </m:oMath>
                </a14:m>
                <a:r>
                  <a:rPr lang="en-US" sz="1200" dirty="0">
                    <a:effectLst/>
                  </a:rPr>
                  <a:t> are the absorption constants for anhydride ( </a:t>
                </a:r>
                <a:r>
                  <a:rPr lang="en-US" sz="1200" dirty="0">
                    <a:effectLst/>
                  </a:rPr>
                  <a:t>​</a:t>
                </a:r>
                <a14:m>
                  <m:oMath>
                    <m:r>
                      <m:rPr>
                        <m:sty m:val="p"/>
                      </m:rPr>
                      <a:rPr lang="en-US" sz="1200" dirty="0">
                        <a:solidFill>
                          <a:srgbClr val="000000"/>
                        </a:solidFill>
                        <a:effectLst/>
                      </a:rPr>
                      <m:t>1780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 and acid ( </a:t>
                </a:r>
                <a:r>
                  <a:rPr lang="en-US" sz="1200" dirty="0">
                    <a:effectLst/>
                  </a:rPr>
                  <a:t>​</a:t>
                </a:r>
                <a14:m>
                  <m:oMath>
                    <m:r>
                      <m:rPr>
                        <m:sty m:val="p"/>
                      </m:rPr>
                      <a:rPr lang="en-US" sz="1200" dirty="0">
                        <a:solidFill>
                          <a:srgbClr val="000000"/>
                        </a:solidFill>
                        <a:effectLst/>
                      </a:rPr>
                      <m:t>1710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 respectively.</a:t>
                </a:r>
              </a:p>
            </p:txBody>
          </p:sp>
        </mc:Choice>
        <mc:Fallback/>
      </mc:AlternateContent>
      <p:sp>
        <p:nvSpPr>
          <p:cNvPr id="2" name="Text"/>
          <p:cNvSpPr/>
          <p:nvPr/>
        </p:nvSpPr>
        <p:spPr>
          <a:xfrm>
            <a:off x="1524000" y="5229225"/>
            <a:ext cx="9144000" cy="685800"/>
          </a:xfrm>
          <a:prstGeom prst="rect">
            <a:avLst/>
          </a:prstGeom>
        </p:spPr>
        <p:txBody>
          <a:bodyPr anchor="t" lIns="0" tIns="0" rIns="0" bIns="0">
            <a:noAutofit/>
          </a:bodyPr>
          <a:lstStyle/>
          <a:p>
            <a:pPr>
              <a:lnSpc>
                <a:spcPct val="120000"/>
              </a:lnSpc>
            </a:pPr>
            <a:r>
              <a:rPr lang="en-US" sz="1200" dirty="0">
                <a:effectLst/>
              </a:rPr>
              <a:t>The method of synthesizing funtionalized polymers including MA grafting polyolefins by using reactive extrusion system increasingly finding favor as a procedure of new functional polymer synthesis [222,223]. Authors assumed that this method compared with alternative processes have the advantages: (1) no or little use solvents; (2) simple product isolation; (3) short reaction (grafting)</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914400"/>
          </a:xfrm>
          <a:prstGeom prst="rect">
            <a:avLst/>
          </a:prstGeom>
        </p:spPr>
        <p:txBody>
          <a:bodyPr anchor="t" lIns="0" tIns="0" rIns="0" bIns="0">
            <a:noAutofit/>
          </a:bodyPr>
          <a:lstStyle/>
          <a:p>
            <a:pPr>
              <a:lnSpc>
                <a:spcPct val="120000"/>
              </a:lnSpc>
            </a:pPr>
            <a:r>
              <a:rPr lang="en-US" sz="1200" dirty="0">
                <a:effectLst/>
              </a:rPr>
              <a:t> time; (4) continuous process. The potential environmental and economic benefits of reactive extrusion process are such as to justify significant efforts aimed as resolving some difficulties relating to high reaction temperatures necessary to form the polymer melt and possibility of polymer degradation or polymer cross-linking accompanying processing. The patent and periodical publications in this area through 1990 were summarized and described in book edited by Xanthos [222].</a:t>
            </a:r>
          </a:p>
        </p:txBody>
      </p:sp>
      <mc:AlternateContent xmlns:mc="http://schemas.openxmlformats.org/markup-compatibility/2006">
        <mc:Choice xmlns:a14="http://schemas.microsoft.com/office/drawing/2010/main" Requires="a14">
          <p:sp>
            <p:nvSpPr>
              <p:cNvPr id="2" name="Text"/>
              <p:cNvSpPr/>
              <p:nvPr/>
            </p:nvSpPr>
            <p:spPr>
              <a:xfrm>
                <a:off x="1524000" y="1524000"/>
                <a:ext cx="9144000" cy="3657600"/>
              </a:xfrm>
              <a:prstGeom prst="rect">
                <a:avLst/>
              </a:prstGeom>
            </p:spPr>
            <p:txBody>
              <a:bodyPr anchor="t" lIns="0" tIns="0" rIns="0" bIns="0">
                <a:noAutofit/>
              </a:bodyPr>
              <a:lstStyle/>
              <a:p>
                <a:pPr>
                  <a:lnSpc>
                    <a:spcPct val="120000"/>
                  </a:lnSpc>
                </a:pPr>
                <a:r>
                  <a:rPr lang="en-US" sz="1200" dirty="0">
                    <a:effectLst/>
                  </a:rPr>
                  <a:t>Chemical modification of polyolefins with MA (socalled "maleation") is one of the most studied polyolefin modification processes yet many aspects of the process remain controversial. As a consequence, the process still attracts much attention in the periodical [167,168,223-228]. The maleation of conventional and metallocene linear low density polyethylenes (LLDPE) by reactive extrusion has been explored with a view to defining the conditions necessary for a robust process of both high grafting efficiencies (&gt;80 %) and minimal degradation or cross-linking. The dependence of grafting efficiency on various operating parameters (MA level, MA/initiator ratio, throughput rate, direction of screw rotation, temperature) has been established [132]. A final graft level of 1.3-4.2 % MA was obtained at MA:initiator = 1:19 ratio and LLDPE throughput of 16 kg/h. A mechanism was suggested for the maleation of LLDPE which foresaw the following reaction directions: (1) formation of a macroradical from reaction initiator with polymer chain; (2) grafting of MA to macrochain with formation of -MA* in the side chain; (3) transformation of -MA° to succinic anhydride units via H-transfer (it should be noted that a general consensus implies that MA is grafted to polyolefins as single succinic anhydride units) [226]; (4) predominant oligomerization of -MA° by the addition of free MA. It was shown that the structure of MA grafts may vary in terms of the fraction of grafts appearing as isolated succinic anhydride units vs. oligo(MA) chains, the length of any oligo(MA) grafts, and/or in the distribution of the grafts [217]. Applying FTIR analysis method for identification of both grafting fragments ( </a:t>
                </a:r>
                <a:r>
                  <a:rPr lang="en-US" sz="1200" dirty="0">
                    <a:effectLst/>
                  </a:rPr>
                  <a:t>​</a:t>
                </a:r>
                <a14:m>
                  <m:oMath>
                    <m:r>
                      <m:rPr>
                        <m:sty m:val="p"/>
                      </m:rPr>
                      <a:rPr lang="en-US" sz="1200" dirty="0">
                        <a:solidFill>
                          <a:srgbClr val="000000"/>
                        </a:solidFill>
                        <a:effectLst/>
                      </a:rPr>
                      <m:t>1784</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for the oligo-MA absorption band and </a:t>
                </a:r>
                <a:r>
                  <a:rPr lang="en-US" sz="1200" dirty="0">
                    <a:effectLst/>
                  </a:rPr>
                  <a:t>​</a:t>
                </a:r>
                <a14:m>
                  <m:oMath>
                    <m:r>
                      <m:rPr>
                        <m:sty m:val="p"/>
                      </m:rPr>
                      <a:rPr lang="en-US" sz="1200" dirty="0">
                        <a:solidFill>
                          <a:srgbClr val="000000"/>
                        </a:solidFill>
                        <a:effectLst/>
                      </a:rPr>
                      <m:t>1792</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for the single alkyl succinate band), authors suggested that the proportion of such grafts may be even higher, such that most grafts may be oligomeric. Analogous results were obtained by De Roover, et al. [168,224] in a systematic study of the IR spectra of various commercial and synthesized poly(MA- </a:t>
                </a:r>
                <a:r>
                  <a:rPr lang="en-US" sz="1200" dirty="0">
                    <a:effectLst/>
                  </a:rPr>
                  <a:t>​</a:t>
                </a:r>
                <a14:m>
                  <m:oMath>
                    <m:r>
                      <m:rPr>
                        <m:sty m:val="i"/>
                      </m:rPr>
                      <a:rPr lang="en-US" sz="1200" dirty="0">
                        <a:solidFill>
                          <a:srgbClr val="000000"/>
                        </a:solidFill>
                        <a:effectLst/>
                      </a:rPr>
                      <m:t>g</m:t>
                    </m:r>
                  </m:oMath>
                </a14:m>
                <a:r>
                  <a:rPr lang="en-US" sz="1200" dirty="0">
                    <a:effectLst/>
                  </a:rPr>
                  <a:t>-PP).</a:t>
                </a:r>
              </a:p>
            </p:txBody>
          </p:sp>
        </mc:Choice>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057400"/>
              </a:xfrm>
              <a:prstGeom prst="rect">
                <a:avLst/>
              </a:prstGeom>
            </p:spPr>
            <p:txBody>
              <a:bodyPr anchor="t" lIns="0" tIns="0" rIns="0" bIns="0">
                <a:noAutofit/>
              </a:bodyPr>
              <a:lstStyle/>
              <a:p>
                <a:pPr>
                  <a:lnSpc>
                    <a:spcPct val="120000"/>
                  </a:lnSpc>
                </a:pPr>
                <a:r>
                  <a:rPr lang="en-US" sz="1200" dirty="0">
                    <a:effectLst/>
                  </a:rPr>
                  <a:t>The MA grafted paraffin (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n</m:t>
                        </m:r>
                      </m:sub>
                    </m:sSub>
                    <m:r>
                      <m:rPr>
                        <m:sty m:val="p"/>
                      </m:rPr>
                      <a:rPr lang="en-US" sz="1200" dirty="0">
                        <a:solidFill>
                          <a:srgbClr val="000000"/>
                        </a:solidFill>
                        <a:effectLst/>
                      </a:rPr>
                      <m:t>=</m:t>
                    </m:r>
                    <m:r>
                      <m:rPr>
                        <m:sty m:val="p"/>
                      </m:rPr>
                      <a:rPr lang="en-US" sz="1200" dirty="0">
                        <a:solidFill>
                          <a:srgbClr val="000000"/>
                        </a:solidFill>
                        <a:effectLst/>
                      </a:rPr>
                      <m:t>785</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mol</m:t>
                    </m:r>
                  </m:oMath>
                </a14:m>
                <a:r>
                  <a:rPr lang="en-US" sz="1200" dirty="0">
                    <a:effectLst/>
                  </a:rPr>
                  <a:t>, density 0.94 </a:t>
                </a:r>
                <a:r>
                  <a:rPr lang="en-US" sz="1200" dirty="0">
                    <a:effectLst/>
                  </a:rPr>
                  <a:t>​</a:t>
                </a:r>
                <a14:m>
                  <m:oMath>
                    <m:r>
                      <m:rPr>
                        <m:sty m:val="p"/>
                      </m:rPr>
                      <a:rPr lang="en-US" sz="1200" dirty="0">
                        <a:solidFill>
                          <a:srgbClr val="000000"/>
                        </a:solidFill>
                        <a:effectLst/>
                      </a:rPr>
                      <m:t>g</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cm</m:t>
                        </m:r>
                      </m:e>
                      <m:sup>
                        <m:r>
                          <m:rPr>
                            <m:sty m:val="p"/>
                          </m:rPr>
                          <a:rPr lang="en-US" sz="1200" dirty="0">
                            <a:solidFill>
                              <a:srgbClr val="000000"/>
                            </a:solidFill>
                            <a:effectLst/>
                          </a:rPr>
                          <m:t>3</m:t>
                        </m:r>
                      </m:sup>
                    </m:sSup>
                  </m:oMath>
                </a14:m>
                <a:r>
                  <a:rPr lang="en-US" sz="1200" dirty="0">
                    <a:effectLst/>
                  </a:rPr>
                  <a:t> ) was prepared by heating the wax-85/MA-10/benzoyl peroxide-5 mixture at 140 °C for 10 min under nitrogen atmosphere [229]. The real concentration of grafted MA unit was 3.6 wt. %, which represented 36 % efficiency of grafting. For the maleated wax, the characteristic FTIR absorption bands were </a:t>
                </a:r>
                <a:r>
                  <a:rPr lang="en-US" sz="1200" dirty="0">
                    <a:effectLst/>
                  </a:rPr>
                  <a:t>​</a:t>
                </a:r>
                <a14:m>
                  <m:oMath>
                    <m:r>
                      <m:rPr>
                        <m:sty m:val="p"/>
                      </m:rPr>
                      <a:rPr lang="en-US" sz="1200" dirty="0">
                        <a:solidFill>
                          <a:srgbClr val="000000"/>
                        </a:solidFill>
                        <a:effectLst/>
                      </a:rPr>
                      <m:t>1713</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(C=O groups from carboxylic dimer acids) and </a:t>
                </a:r>
                <a:r>
                  <a:rPr lang="en-US" sz="1200" dirty="0">
                    <a:effectLst/>
                  </a:rPr>
                  <a:t>​</a:t>
                </a:r>
                <a14:m>
                  <m:oMath>
                    <m:r>
                      <m:rPr>
                        <m:sty m:val="p"/>
                      </m:rPr>
                      <a:rPr lang="en-US" sz="1200" dirty="0">
                        <a:solidFill>
                          <a:srgbClr val="000000"/>
                        </a:solidFill>
                        <a:effectLst/>
                      </a:rPr>
                      <m:t>1790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(C=O of five-membered cyclic anhydride). Then authors studied the modification of the polarity and adhesive properties of LLDPE, LDPE and isotactic PP through MA grafted paraffin wax [230]. It was shown that MA grafted oligomer significantly increased the polar component of the total surface free energy of POs. Modified POs also had significantly higher adhesion to the polar substrate, a crosslinked, epoxy-based resin. The conservation of the good mechanical properties of the blends was observed up to 10 % grafted wax, except for PP blends, for which there was a reduction in the stress and strain at break at MA- </a:t>
                </a:r>
                <a:r>
                  <a:rPr lang="en-US" sz="1200" dirty="0">
                    <a:effectLst/>
                  </a:rPr>
                  <a:t>​</a:t>
                </a:r>
                <a14:m>
                  <m:oMath>
                    <m:r>
                      <m:rPr>
                        <m:sty m:val="i"/>
                      </m:rPr>
                      <a:rPr lang="en-US" sz="1200" dirty="0">
                        <a:solidFill>
                          <a:srgbClr val="000000"/>
                        </a:solidFill>
                        <a:effectLst/>
                      </a:rPr>
                      <m:t>g</m:t>
                    </m:r>
                  </m:oMath>
                </a14:m>
                <a:r>
                  <a:rPr lang="en-US" sz="1200" dirty="0">
                    <a:effectLst/>
                  </a:rPr>
                  <a:t> -wax concentrations higher than 5 %.</a:t>
                </a:r>
              </a:p>
            </p:txBody>
          </p:sp>
        </mc:Choice>
        <mc:Fallback/>
      </mc:AlternateContent>
      <p:sp>
        <p:nvSpPr>
          <p:cNvPr id="2" name="Text"/>
          <p:cNvSpPr/>
          <p:nvPr/>
        </p:nvSpPr>
        <p:spPr>
          <a:xfrm>
            <a:off x="1524000" y="2667000"/>
            <a:ext cx="9144000" cy="457200"/>
          </a:xfrm>
          <a:prstGeom prst="rect">
            <a:avLst/>
          </a:prstGeom>
        </p:spPr>
        <p:txBody>
          <a:bodyPr anchor="t" lIns="0" tIns="0" rIns="0" bIns="0">
            <a:noAutofit/>
          </a:bodyPr>
          <a:lstStyle/>
          <a:p>
            <a:pPr>
              <a:lnSpc>
                <a:spcPct val="120000"/>
              </a:lnSpc>
            </a:pPr>
            <a:r>
              <a:rPr lang="en-US" sz="1200" dirty="0">
                <a:effectLst/>
              </a:rPr>
              <a:t>Hagiwara et al. [231] reported the original method of functionalization of the thelechelic oligopropylenes. They were synthesized from MA-containing oligopropylenes by the 'ene' reaction of MA with terminal vinyl or vinylidene groups on the polymer end (Figure 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8cb9aba22e6282f1f17be86b9887cccbe8cf46c9.jpg"/>
          <p:cNvPicPr/>
          <p:nvPr/>
        </p:nvPicPr>
        <p:blipFill>
          <a:blip r:embed="rId2" cstate="print"/>
          <a:srcRect/>
          <a:stretch>
            <a:fillRect/>
          </a:stretch>
        </p:blipFill>
        <p:spPr>
          <a:xfrm>
            <a:off x="1524000" y="457200"/>
            <a:ext cx="6543675" cy="59436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7. Schematic representation of MA functionalization of thelechelic oligopropylenes. Adapted from [231].</a:t>
            </a:r>
          </a:p>
        </p:txBody>
      </p:sp>
      <mc:AlternateContent xmlns:mc="http://schemas.openxmlformats.org/markup-compatibility/2006">
        <mc:Choice xmlns:a14="http://schemas.microsoft.com/office/drawing/2010/main" Requires="a14">
          <p:sp>
            <p:nvSpPr>
              <p:cNvPr id="2" name="Text"/>
              <p:cNvSpPr/>
              <p:nvPr/>
            </p:nvSpPr>
            <p:spPr>
              <a:xfrm>
                <a:off x="1524000" y="685800"/>
                <a:ext cx="9144000" cy="685800"/>
              </a:xfrm>
              <a:prstGeom prst="rect">
                <a:avLst/>
              </a:prstGeom>
            </p:spPr>
            <p:txBody>
              <a:bodyPr anchor="t" lIns="0" tIns="0" rIns="0" bIns="0">
                <a:noAutofit/>
              </a:bodyPr>
              <a:lstStyle/>
              <a:p>
                <a:pPr>
                  <a:lnSpc>
                    <a:spcPct val="120000"/>
                  </a:lnSpc>
                </a:pPr>
                <a:r>
                  <a:rPr lang="en-US" sz="1200" dirty="0">
                    <a:effectLst/>
                  </a:rPr>
                  <a:t>Multiblock copolyolefins, which have dissociable bonds in the main chain, prepared by the esterificastion polycondensation equimolar mixture of i-PP-MA (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n</m:t>
                        </m:r>
                      </m:sub>
                    </m:sSub>
                    <m:r>
                      <m:rPr>
                        <m:sty m:val="p"/>
                      </m:rPr>
                      <a:rPr lang="en-US" sz="1200" dirty="0">
                        <a:solidFill>
                          <a:srgbClr val="000000"/>
                        </a:solidFill>
                        <a:effectLst/>
                      </a:rPr>
                      <m:t>=</m:t>
                    </m:r>
                  </m:oMath>
                </a14:m>
                <a:r>
                  <a:rPr lang="en-US" sz="1200" dirty="0">
                    <a:effectLst/>
                  </a:rPr>
                  <a:t> </a:t>
                </a:r>
                <a:r>
                  <a:rPr lang="en-US" sz="1200" dirty="0">
                    <a:effectLst/>
                  </a:rPr>
                  <a:t>​</a:t>
                </a:r>
                <a14:m>
                  <m:oMath>
                    <m:d>
                      <m:dPr>
                        <m:begChr m:val=""/>
                        <m:endChr m:val=")"/>
                        <m:ctrlPr>
                          <a:rPr sz="1200">
                            <a:latin typeface="Cambria Math" panose="02040503050406030204" pitchFamily="18" charset="0"/>
                          </a:rPr>
                        </m:ctrlPr>
                      </m:dPr>
                      <m:e>
                        <m:r>
                          <m:rPr>
                            <m:sty m:val="p"/>
                          </m:rPr>
                          <a:rPr lang="en-US" sz="1200" dirty="0">
                            <a:solidFill>
                              <a:srgbClr val="000000"/>
                            </a:solidFill>
                            <a:effectLst/>
                          </a:rPr>
                          <m:t>2400</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mol</m:t>
                        </m:r>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w</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n</m:t>
                            </m:r>
                          </m:sub>
                        </m:sSub>
                        <m:r>
                          <m:rPr>
                            <m:sty m:val="p"/>
                          </m:rPr>
                          <a:rPr lang="en-US" sz="1200" dirty="0">
                            <a:solidFill>
                              <a:srgbClr val="000000"/>
                            </a:solidFill>
                            <a:effectLst/>
                          </a:rPr>
                          <m:t>=</m:t>
                        </m:r>
                        <m:r>
                          <m:rPr>
                            <m:sty m:val="p"/>
                          </m:rPr>
                          <a:rPr lang="en-US" sz="1200" dirty="0">
                            <a:solidFill>
                              <a:srgbClr val="000000"/>
                            </a:solidFill>
                            <a:effectLst/>
                          </a:rPr>
                          <m:t>1.5</m:t>
                        </m:r>
                      </m:e>
                    </m:d>
                  </m:oMath>
                </a14:m>
                <a:r>
                  <a:rPr lang="en-US" sz="1200" dirty="0">
                    <a:effectLst/>
                  </a:rPr>
                  <a:t> with telechelic oligomers such as i-PP-OH (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n</m:t>
                        </m:r>
                      </m:sub>
                    </m:sSub>
                    <m:r>
                      <m:rPr>
                        <m:sty m:val="p"/>
                      </m:rPr>
                      <a:rPr lang="en-US" sz="1200" dirty="0">
                        <a:solidFill>
                          <a:srgbClr val="000000"/>
                        </a:solidFill>
                        <a:effectLst/>
                      </a:rPr>
                      <m:t>=</m:t>
                    </m:r>
                    <m:r>
                      <m:rPr>
                        <m:sty m:val="p"/>
                      </m:rPr>
                      <a:rPr lang="en-US" sz="1200" dirty="0">
                        <a:solidFill>
                          <a:srgbClr val="000000"/>
                        </a:solidFill>
                        <a:effectLst/>
                      </a:rPr>
                      <m:t>2100</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mol</m:t>
                    </m:r>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w</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n</m:t>
                        </m:r>
                      </m:sub>
                    </m:sSub>
                    <m:r>
                      <m:rPr>
                        <m:sty m:val="p"/>
                      </m:rPr>
                      <a:rPr lang="en-US" sz="1200" dirty="0">
                        <a:solidFill>
                          <a:srgbClr val="000000"/>
                        </a:solidFill>
                        <a:effectLst/>
                      </a:rPr>
                      <m:t>=</m:t>
                    </m:r>
                    <m:r>
                      <m:rPr>
                        <m:sty m:val="p"/>
                      </m:rPr>
                      <a:rPr lang="en-US" sz="1200" dirty="0">
                        <a:solidFill>
                          <a:srgbClr val="000000"/>
                        </a:solidFill>
                        <a:effectLst/>
                      </a:rPr>
                      <m:t>1.8</m:t>
                    </m:r>
                  </m:oMath>
                </a14:m>
                <a:r>
                  <a:rPr lang="en-US" sz="1200" dirty="0">
                    <a:effectLst/>
                  </a:rPr>
                  <a:t> ) in the presence of catalytic amount of p-toluenesulfonic acid [232].</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524000"/>
                <a:ext cx="9144000" cy="1828800"/>
              </a:xfrm>
              <a:prstGeom prst="rect">
                <a:avLst/>
              </a:prstGeom>
            </p:spPr>
            <p:txBody>
              <a:bodyPr anchor="t" lIns="0" tIns="0" rIns="0" bIns="0">
                <a:noAutofit/>
              </a:bodyPr>
              <a:lstStyle/>
              <a:p>
                <a:pPr>
                  <a:lnSpc>
                    <a:spcPct val="120000"/>
                  </a:lnSpc>
                </a:pPr>
                <a:r>
                  <a:rPr lang="en-US" sz="1200" dirty="0">
                    <a:effectLst/>
                  </a:rPr>
                  <a:t>Liu and Baker [229] also analyzed structure of poly(MA- </a:t>
                </a:r>
                <a:r>
                  <a:rPr lang="en-US" sz="1200" dirty="0">
                    <a:effectLst/>
                  </a:rPr>
                  <a:t>​</a:t>
                </a:r>
                <a14:m>
                  <m:oMath>
                    <m:r>
                      <m:rPr>
                        <m:sty m:val="i"/>
                      </m:rPr>
                      <a:rPr lang="en-US" sz="1200" dirty="0">
                        <a:solidFill>
                          <a:srgbClr val="000000"/>
                        </a:solidFill>
                        <a:effectLst/>
                      </a:rPr>
                      <m:t>g</m:t>
                    </m:r>
                  </m:oMath>
                </a14:m>
                <a:r>
                  <a:rPr lang="en-US" sz="1200" dirty="0">
                    <a:effectLst/>
                  </a:rPr>
                  <a:t>-LLDPE) by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r>
                      <m:rPr>
                        <m:sty m:val="p"/>
                      </m:rPr>
                      <a:rPr lang="en-US" sz="1200" dirty="0">
                        <a:solidFill>
                          <a:srgbClr val="000000"/>
                        </a:solidFill>
                        <a:effectLst/>
                      </a:rPr>
                      <m:t>H</m:t>
                    </m:r>
                    <m:r>
                      <m:rPr>
                        <m:sty m:val="p"/>
                      </m:rPr>
                      <a:rPr lang="en-US" sz="1200" dirty="0">
                        <a:solidFill>
                          <a:srgbClr val="000000"/>
                        </a:solidFill>
                        <a:effectLst/>
                      </a:rPr>
                      <m:t>−</m:t>
                    </m:r>
                    <m:r>
                      <m:rPr>
                        <m:sty m:val="p"/>
                      </m:rPr>
                      <a:rPr lang="en-US" sz="1200" dirty="0">
                        <a:solidFill>
                          <a:srgbClr val="000000"/>
                        </a:solidFill>
                        <a:effectLst/>
                      </a:rPr>
                      <m:t>NMR</m:t>
                    </m:r>
                  </m:oMath>
                </a14:m>
                <a:r>
                  <a:rPr lang="en-US" sz="1200" dirty="0">
                    <a:effectLst/>
                  </a:rPr>
                  <a:t> and proposed that oligo(MA) and single succinic anhydride grafts may be distinguished by the chemical shift of the anhydride methine groups. They found that signals attributable to oligo(MA) could not be detected and concluded that poly(MA- </a:t>
                </a:r>
                <a:r>
                  <a:rPr lang="en-US" sz="1200" dirty="0">
                    <a:effectLst/>
                  </a:rPr>
                  <a:t>​</a:t>
                </a:r>
                <a14:m>
                  <m:oMath>
                    <m:r>
                      <m:rPr>
                        <m:sty m:val="i"/>
                      </m:rPr>
                      <a:rPr lang="en-US" sz="1200" dirty="0">
                        <a:solidFill>
                          <a:srgbClr val="000000"/>
                        </a:solidFill>
                        <a:effectLst/>
                      </a:rPr>
                      <m:t>g</m:t>
                    </m:r>
                  </m:oMath>
                </a14:m>
                <a:r>
                  <a:rPr lang="en-US" sz="1200" dirty="0">
                    <a:effectLst/>
                  </a:rPr>
                  <a:t>-LLDPE) contained predominantly single unit grafts. However, as noted in work [231], this determination is considered unreliable because of the relative broadness of the signal assigned to oligo(MA). Qualitative analysis of the FTIR spectra of poly(MA- </a:t>
                </a:r>
                <a:r>
                  <a:rPr lang="en-US" sz="1200" dirty="0">
                    <a:effectLst/>
                  </a:rPr>
                  <a:t>​</a:t>
                </a:r>
                <a14:m>
                  <m:oMath>
                    <m:r>
                      <m:rPr>
                        <m:sty m:val="i"/>
                      </m:rPr>
                      <a:rPr lang="en-US" sz="1200" dirty="0">
                        <a:solidFill>
                          <a:srgbClr val="000000"/>
                        </a:solidFill>
                        <a:effectLst/>
                      </a:rPr>
                      <m:t>g</m:t>
                    </m:r>
                  </m:oMath>
                </a14:m>
                <a:r>
                  <a:rPr lang="en-US" sz="1200" dirty="0">
                    <a:effectLst/>
                  </a:rPr>
                  <a:t>-LLDPE) and some model systems suggest that MA is most likely incorporated as a mixture of single unit and oligomeric grafts. This observed fact is supported by the study of the grafting of MA onto PE, PP and E-P copolymers [168,233] conducted as a study of the grafting of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13</m:t>
                        </m:r>
                      </m:sup>
                    </m:sSup>
                    <m:r>
                      <m:rPr>
                        <m:sty m:val="p"/>
                      </m:rPr>
                      <a:rPr lang="en-US" sz="1200" dirty="0">
                        <a:solidFill>
                          <a:srgbClr val="000000"/>
                        </a:solidFill>
                        <a:effectLst/>
                      </a:rPr>
                      <m:t>C</m:t>
                    </m:r>
                  </m:oMath>
                </a14:m>
                <a:r>
                  <a:rPr lang="en-US" sz="1200" dirty="0">
                    <a:effectLst/>
                  </a:rPr>
                  <a:t>-labeled MA onto polyolefins. Thus, the reaction products from the radically initiated</a:t>
                </a:r>
              </a:p>
            </p:txBody>
          </p:sp>
        </mc:Choice>
        <mc:Fallback/>
      </mc:AlternateContent>
      <p:sp>
        <p:nvSpPr>
          <p:cNvPr id="2" name="Text"/>
          <p:cNvSpPr/>
          <p:nvPr/>
        </p:nvSpPr>
        <p:spPr>
          <a:xfrm>
            <a:off x="1524000" y="3505200"/>
            <a:ext cx="9144000" cy="685800"/>
          </a:xfrm>
          <a:prstGeom prst="rect">
            <a:avLst/>
          </a:prstGeom>
        </p:spPr>
        <p:txBody>
          <a:bodyPr anchor="t" lIns="0" tIns="0" rIns="0" bIns="0">
            <a:noAutofit/>
          </a:bodyPr>
          <a:lstStyle/>
          <a:p>
            <a:pPr>
              <a:lnSpc>
                <a:spcPct val="120000"/>
              </a:lnSpc>
            </a:pPr>
            <a:r>
              <a:rPr lang="en-US" sz="1800" dirty="0" b="1">
                <a:effectLst/>
              </a:rPr>
              <a:t>International Review of Chemical Engineering, volume 3, No 2, March, 2011 Int. Rev.Chem. Eng., 3(2011) 153-215</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286000"/>
              </a:xfrm>
              <a:prstGeom prst="rect">
                <a:avLst/>
              </a:prstGeom>
            </p:spPr>
            <p:txBody>
              <a:bodyPr anchor="t" lIns="0" tIns="0" rIns="0" bIns="0">
                <a:noAutofit/>
              </a:bodyPr>
              <a:lstStyle/>
              <a:p>
                <a:pPr>
                  <a:lnSpc>
                    <a:spcPct val="120000"/>
                  </a:lnSpc>
                </a:pPr>
                <a:r>
                  <a:rPr lang="en-US" sz="1200" dirty="0">
                    <a:effectLst/>
                  </a:rPr>
                  <a:t>grafting of specifically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13</m:t>
                        </m:r>
                      </m:sup>
                    </m:sSup>
                    <m:r>
                      <m:rPr>
                        <m:sty m:val="p"/>
                      </m:rPr>
                      <a:rPr lang="en-US" sz="1200" dirty="0">
                        <a:solidFill>
                          <a:srgbClr val="000000"/>
                        </a:solidFill>
                        <a:effectLst/>
                      </a:rPr>
                      <m:t>C</m:t>
                    </m:r>
                  </m:oMath>
                </a14:m>
                <a:r>
                  <a:rPr lang="en-US" sz="1200" dirty="0">
                    <a:effectLst/>
                  </a:rPr>
                  <a:t>-enriched MA ( </a:t>
                </a:r>
                <a:r>
                  <a:rPr lang="en-US" sz="1200" dirty="0">
                    <a:effectLst/>
                  </a:rPr>
                  <a:t>​</a:t>
                </a:r>
                <a14:m>
                  <m:oMath>
                    <m:d>
                      <m:dPr>
                        <m:begChr m:val="["/>
                        <m:endChr m:val="]"/>
                        <m:ctrlPr>
                          <a:rPr sz="1200">
                            <a:latin typeface="Cambria Math" panose="02040503050406030204" pitchFamily="18" charset="0"/>
                          </a:rPr>
                        </m:ctrlPr>
                      </m:dPr>
                      <m:e>
                        <m:r>
                          <m:rPr>
                            <m:sty m:val="p"/>
                          </m:rPr>
                          <a:rPr lang="en-US" sz="1200" dirty="0">
                            <a:solidFill>
                              <a:srgbClr val="000000"/>
                            </a:solidFill>
                            <a:effectLst/>
                          </a:rPr>
                          <m:t>2</m:t>
                        </m:r>
                        <m:r>
                          <m:rPr>
                            <m:sty m:val="p"/>
                          </m:rPr>
                          <a:rPr lang="en-US" sz="1200" dirty="0">
                            <a:solidFill>
                              <a:srgbClr val="000000"/>
                            </a:solidFill>
                            <a:effectLst/>
                          </a:rPr>
                          <m:t>,</m:t>
                        </m:r>
                        <m:r>
                          <m:rPr>
                            <m:sty m:val="p"/>
                          </m:rPr>
                          <a:rPr lang="en-US" sz="1200" dirty="0">
                            <a:solidFill>
                              <a:srgbClr val="000000"/>
                            </a:solidFill>
                            <a:effectLst/>
                          </a:rPr>
                          <m:t>3</m:t>
                        </m:r>
                        <m:r>
                          <m:rPr>
                            <m:sty m:val="p"/>
                          </m:rPr>
                          <a:rPr lang="en-US" sz="1200" dirty="0">
                            <a:solidFill>
                              <a:srgbClr val="000000"/>
                            </a:solidFill>
                            <a:effectLst/>
                          </a:rPr>
                          <m:t>−</m:t>
                        </m:r>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13</m:t>
                            </m:r>
                          </m:sup>
                        </m:sSup>
                        <m:sSub>
                          <m:sSubPr>
                            <m:ctrlPr>
                              <a:rPr sz="1200">
                                <a:latin typeface="Cambria Math" panose="02040503050406030204" pitchFamily="18" charset="0"/>
                              </a:rPr>
                            </m:ctrlPr>
                          </m:sSubPr>
                          <m:e>
                            <m:r>
                              <m:rPr>
                                <m:sty m:val="p"/>
                              </m:rPr>
                              <a:rPr lang="en-US" sz="1200" dirty="0">
                                <a:solidFill>
                                  <a:srgbClr val="000000"/>
                                </a:solidFill>
                                <a:effectLst/>
                              </a:rPr>
                              <m:t>C</m:t>
                            </m:r>
                          </m:e>
                          <m:sub>
                            <m:r>
                              <m:rPr>
                                <m:sty m:val="p"/>
                              </m:rPr>
                              <a:rPr lang="en-US" sz="1200" dirty="0">
                                <a:solidFill>
                                  <a:srgbClr val="000000"/>
                                </a:solidFill>
                                <a:effectLst/>
                              </a:rPr>
                              <m:t>2</m:t>
                            </m:r>
                          </m:sub>
                        </m:sSub>
                      </m:e>
                    </m:d>
                    <m:r>
                      <m:rPr>
                        <m:sty m:val="p"/>
                      </m:rPr>
                      <a:rPr lang="en-US" sz="1200" dirty="0">
                        <a:solidFill>
                          <a:srgbClr val="000000"/>
                        </a:solidFill>
                        <a:effectLst/>
                      </a:rPr>
                      <m:t>MA</m:t>
                    </m:r>
                  </m:oMath>
                </a14:m>
                <a:r>
                  <a:rPr lang="en-US" sz="1200" dirty="0">
                    <a:effectLst/>
                  </a:rPr>
                  <a:t> ) onto PE, isotactic PP and E-P random or alternating copolymers in the melt by using a small scale extruder in biphenyl solution at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170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under nitrogen atmosphere were investigated by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13</m:t>
                        </m:r>
                      </m:sup>
                    </m:sSup>
                    <m:r>
                      <m:rPr>
                        <m:sty m:val="p"/>
                      </m:rPr>
                      <a:rPr lang="en-US" sz="1200" dirty="0">
                        <a:solidFill>
                          <a:srgbClr val="000000"/>
                        </a:solidFill>
                        <a:effectLst/>
                      </a:rPr>
                      <m:t>C</m:t>
                    </m:r>
                  </m:oMath>
                </a14:m>
                <a:r>
                  <a:rPr lang="en-US" sz="1200" dirty="0">
                    <a:effectLst/>
                  </a:rPr>
                  <a:t>-NMR spectroscopy [150,223]. It was shown that the sites of attachment and the structures of the grafts depend on polyolefin composition. In random E-P copolymer, MA attaches to methylene and methine carbons in the backbone. In alternating E-P copolymer, MA attaches solely to polymer methines, indicating that </a:t>
                </a:r>
                <a:r>
                  <a:rPr lang="en-US" sz="1200" dirty="0">
                    <a:effectLst/>
                  </a:rPr>
                  <a:t>​</a:t>
                </a:r>
                <a14:m>
                  <m:oMath>
                    <m:sSub>
                      <m:sSubPr>
                        <m:ctrlPr>
                          <a:rPr sz="1200">
                            <a:latin typeface="Cambria Math" panose="02040503050406030204" pitchFamily="18" charset="0"/>
                          </a:rPr>
                        </m:ctrlPr>
                      </m:sSubPr>
                      <m:e>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p"/>
                                  </m:rPr>
                                  <a:rPr lang="en-US" sz="1200" dirty="0">
                                    <a:solidFill>
                                      <a:srgbClr val="000000"/>
                                    </a:solidFill>
                                    <a:effectLst/>
                                  </a:rPr>
                                  <m:t>CH</m:t>
                                </m:r>
                              </m:e>
                              <m:sub>
                                <m:r>
                                  <m:rPr>
                                    <m:sty m:val="p"/>
                                  </m:rPr>
                                  <a:rPr lang="en-US" sz="1200" dirty="0">
                                    <a:solidFill>
                                      <a:srgbClr val="000000"/>
                                    </a:solidFill>
                                    <a:effectLst/>
                                  </a:rPr>
                                  <m:t>2</m:t>
                                </m:r>
                              </m:sub>
                            </m:sSub>
                          </m:e>
                        </m:d>
                      </m:e>
                      <m:sub>
                        <m:r>
                          <m:rPr>
                            <m:sty m:val="p"/>
                          </m:rPr>
                          <a:rPr lang="en-US" sz="1200" dirty="0">
                            <a:solidFill>
                              <a:srgbClr val="000000"/>
                            </a:solidFill>
                            <a:effectLst/>
                          </a:rPr>
                          <m:t>m</m:t>
                        </m:r>
                      </m:sub>
                    </m:sSub>
                  </m:oMath>
                </a14:m>
                <a:r>
                  <a:rPr lang="en-US" sz="1200" dirty="0">
                    <a:effectLst/>
                  </a:rPr>
                  <a:t> sequences with </a:t>
                </a:r>
                <a:r>
                  <a:rPr lang="en-US" sz="1200" dirty="0">
                    <a:effectLst/>
                  </a:rPr>
                  <a:t>​</a:t>
                </a:r>
                <a14:m>
                  <m:oMath>
                    <m:r>
                      <m:rPr>
                        <m:sty m:val="i"/>
                      </m:rPr>
                      <a:rPr lang="en-US" sz="1200" dirty="0">
                        <a:solidFill>
                          <a:srgbClr val="000000"/>
                        </a:solidFill>
                        <a:effectLst/>
                      </a:rPr>
                      <m:t>m</m:t>
                    </m:r>
                    <m:r>
                      <m:rPr>
                        <m:sty m:val="p"/>
                      </m:rPr>
                      <a:rPr lang="en-US" sz="1200" dirty="0">
                        <a:solidFill>
                          <a:srgbClr val="000000"/>
                        </a:solidFill>
                        <a:effectLst/>
                      </a:rPr>
                      <m:t>&gt;</m:t>
                    </m:r>
                    <m:r>
                      <m:rPr>
                        <m:sty m:val="p"/>
                      </m:rPr>
                      <a:rPr lang="en-US" sz="1200" dirty="0">
                        <a:solidFill>
                          <a:srgbClr val="000000"/>
                        </a:solidFill>
                        <a:effectLst/>
                      </a:rPr>
                      <m:t>3</m:t>
                    </m:r>
                  </m:oMath>
                </a14:m>
                <a:r>
                  <a:rPr lang="en-US" sz="1200" dirty="0">
                    <a:effectLst/>
                  </a:rPr>
                  <a:t> are needed for MA attachment to backbone methylene carbons. In the copolymers and in PP, grafts are single succinic anhydride rings; chain scission can yield structures in which the anhydride ring is attached to the chain terminus via a fully substituted double bond. It was shown that a signal at </a:t>
                </a:r>
                <a:r>
                  <a:rPr lang="en-US" sz="1200" dirty="0">
                    <a:effectLst/>
                  </a:rPr>
                  <a:t>​</a:t>
                </a:r>
                <a14:m>
                  <m:oMath>
                    <m:r>
                      <m:rPr>
                        <m:sty m:val="i"/>
                      </m:rPr>
                      <a:rPr lang="en-US" sz="1200" dirty="0">
                        <a:solidFill>
                          <a:srgbClr val="000000"/>
                        </a:solidFill>
                        <a:effectLst/>
                      </a:rPr>
                      <m:t>δ</m:t>
                    </m:r>
                    <m:r>
                      <m:rPr>
                        <m:sty m:val="p"/>
                      </m:rPr>
                      <a:rPr lang="en-US" sz="1200" dirty="0">
                        <a:solidFill>
                          <a:srgbClr val="000000"/>
                        </a:solidFill>
                        <a:effectLst/>
                      </a:rPr>
                      <m:t>=</m:t>
                    </m:r>
                    <m:r>
                      <m:rPr>
                        <m:sty m:val="p"/>
                      </m:rPr>
                      <a:rPr lang="en-US" sz="1200" dirty="0">
                        <a:solidFill>
                          <a:srgbClr val="000000"/>
                        </a:solidFill>
                        <a:effectLst/>
                      </a:rPr>
                      <m:t>44</m:t>
                    </m:r>
                    <m:r>
                      <m:rPr>
                        <m:sty m:val="p"/>
                      </m:rPr>
                      <a:rPr lang="en-US" sz="1200" dirty="0">
                        <a:solidFill>
                          <a:srgbClr val="000000"/>
                        </a:solidFill>
                        <a:effectLst/>
                      </a:rPr>
                      <m:t>−</m:t>
                    </m:r>
                    <m:r>
                      <m:rPr>
                        <m:sty m:val="p"/>
                      </m:rPr>
                      <a:rPr lang="en-US" sz="1200" dirty="0">
                        <a:solidFill>
                          <a:srgbClr val="000000"/>
                        </a:solidFill>
                        <a:effectLst/>
                      </a:rPr>
                      <m:t>55</m:t>
                    </m:r>
                    <m:r>
                      <m:rPr>
                        <m:sty m:val="i"/>
                      </m:rPr>
                      <a:rPr lang="en-US" sz="1200" dirty="0">
                        <a:solidFill>
                          <a:srgbClr val="000000"/>
                        </a:solidFill>
                        <a:effectLst/>
                      </a:rPr>
                      <m:t>p</m:t>
                    </m:r>
                    <m:r>
                      <m:rPr>
                        <m:sty m:val="i"/>
                      </m:rPr>
                      <a:rPr lang="en-US" sz="1200" dirty="0">
                        <a:solidFill>
                          <a:srgbClr val="000000"/>
                        </a:solidFill>
                        <a:effectLst/>
                      </a:rPr>
                      <m:t>p</m:t>
                    </m:r>
                    <m:r>
                      <m:rPr>
                        <m:sty m:val="i"/>
                      </m:rPr>
                      <a:rPr lang="en-US" sz="1200" dirty="0">
                        <a:solidFill>
                          <a:srgbClr val="000000"/>
                        </a:solidFill>
                        <a:effectLst/>
                      </a:rPr>
                      <m:t>m</m:t>
                    </m:r>
                  </m:oMath>
                </a14:m>
                <a:r>
                  <a:rPr lang="en-US" sz="1200" dirty="0">
                    <a:effectLst/>
                  </a:rPr>
                  <a:t> for the poly(MA-g-PE) should indeed arise from oligo(MA) grafts, taking into account that the chemical shift of the methine groups in oligo(MA) is about 45 ppm. In alternating E-P copolymer and PP, MA grafts onto the polymer backbone chiefly in the form of single succinic anhydride rings [227].</a:t>
                </a:r>
              </a:p>
            </p:txBody>
          </p:sp>
        </mc:Choice>
        <mc:Fallback/>
      </mc:AlternateContent>
      <p:sp>
        <p:nvSpPr>
          <p:cNvPr id="2" name="Text"/>
          <p:cNvSpPr/>
          <p:nvPr/>
        </p:nvSpPr>
        <p:spPr>
          <a:xfrm>
            <a:off x="1524000" y="2895600"/>
            <a:ext cx="9144000" cy="457200"/>
          </a:xfrm>
          <a:prstGeom prst="rect">
            <a:avLst/>
          </a:prstGeom>
        </p:spPr>
        <p:txBody>
          <a:bodyPr anchor="t" lIns="0" tIns="0" rIns="0" bIns="0">
            <a:noAutofit/>
          </a:bodyPr>
          <a:lstStyle/>
          <a:p>
            <a:pPr>
              <a:lnSpc>
                <a:spcPct val="120000"/>
              </a:lnSpc>
            </a:pPr>
            <a:r>
              <a:rPr lang="en-US" sz="1200" dirty="0">
                <a:effectLst/>
              </a:rPr>
              <a:t>Atactic PP grafted with 4.5 % MA exhibits a tensile strength of 1.91 MPa, elongation of 400 %, and hardness of 50-55 % (against for ungrafted PP of 0.53 MPa, 110 % and 10-15, respectively) [228].</a:t>
            </a:r>
          </a:p>
        </p:txBody>
      </p:sp>
      <mc:AlternateContent xmlns:mc="http://schemas.openxmlformats.org/markup-compatibility/2006">
        <mc:Choice xmlns:a14="http://schemas.microsoft.com/office/drawing/2010/main" Requires="a14">
          <p:sp>
            <p:nvSpPr>
              <p:cNvPr id="2" name="Text"/>
              <p:cNvSpPr/>
              <p:nvPr/>
            </p:nvSpPr>
            <p:spPr>
              <a:xfrm>
                <a:off x="1524000" y="3505200"/>
                <a:ext cx="9144000" cy="2286000"/>
              </a:xfrm>
              <a:prstGeom prst="rect">
                <a:avLst/>
              </a:prstGeom>
            </p:spPr>
            <p:txBody>
              <a:bodyPr anchor="t" lIns="0" tIns="0" rIns="0" bIns="0">
                <a:noAutofit/>
              </a:bodyPr>
              <a:lstStyle/>
              <a:p>
                <a:pPr>
                  <a:lnSpc>
                    <a:spcPct val="120000"/>
                  </a:lnSpc>
                </a:pPr>
                <a:r>
                  <a:rPr lang="en-US" sz="1200" dirty="0">
                    <a:effectLst/>
                  </a:rPr>
                  <a:t>Some studies developed to the grafting of polar monomers (MA and IA) onto polyolefin binary blends especially onto PP/LDPE blends [133,134]. It has been shown that PP introduced into LDPE can affect both the amount of MA grafted onto a blend and its rheological behavior [233]. Itaconic acid (IAc) was grafted onto PP/LDPE blends by Pesetskii et al. [234] in melt with 2,5-dimethyl-2,5-di(tert-butyl peroxy)-hexane as a initiator using a reactive extrusion. Authors described the probable chemical reactions occurring at free-radical grafting of IAc onto PP/LDPE blends. According to the authors, grafting efficiency increased by introducing LDPE into PP. Apart from the interaction with the IAc monomer, LDPE macroradicals were involved in recombination reactions leading to crosslinking, branching, or chain extension, which increased the apparent viscosity (and decreased the related MFI) of LDPE- </a:t>
                </a:r>
                <a:r>
                  <a:rPr lang="en-US" sz="1200" dirty="0">
                    <a:effectLst/>
                  </a:rPr>
                  <a:t>​</a:t>
                </a:r>
                <a14:m>
                  <m:oMath>
                    <m:r>
                      <m:rPr>
                        <m:sty m:val="i"/>
                      </m:rPr>
                      <a:rPr lang="en-US" sz="1200" dirty="0">
                        <a:solidFill>
                          <a:srgbClr val="000000"/>
                        </a:solidFill>
                        <a:effectLst/>
                      </a:rPr>
                      <m:t>g</m:t>
                    </m:r>
                  </m:oMath>
                </a14:m>
                <a:r>
                  <a:rPr lang="en-US" sz="1200" dirty="0">
                    <a:effectLst/>
                  </a:rPr>
                  <a:t>-IAc as well as (PP/LDPE)- </a:t>
                </a:r>
                <a:r>
                  <a:rPr lang="en-US" sz="1200" dirty="0">
                    <a:effectLst/>
                  </a:rPr>
                  <a:t>​</a:t>
                </a:r>
                <a14:m>
                  <m:oMath>
                    <m:r>
                      <m:rPr>
                        <m:sty m:val="i"/>
                      </m:rPr>
                      <a:rPr lang="en-US" sz="1200" dirty="0">
                        <a:solidFill>
                          <a:srgbClr val="000000"/>
                        </a:solidFill>
                        <a:effectLst/>
                      </a:rPr>
                      <m:t>g</m:t>
                    </m:r>
                  </m:oMath>
                </a14:m>
                <a:r>
                  <a:rPr lang="en-US" sz="1200" dirty="0">
                    <a:effectLst/>
                  </a:rPr>
                  <a:t>-IAc systems containing higher amounts of LDPE. It was shown that variations in the ratio of polymeric components in the (PP/LDPE)- </a:t>
                </a:r>
                <a:r>
                  <a:rPr lang="en-US" sz="1200" dirty="0">
                    <a:effectLst/>
                  </a:rPr>
                  <a:t>​</a:t>
                </a:r>
                <a14:m>
                  <m:oMath>
                    <m:r>
                      <m:rPr>
                        <m:sty m:val="i"/>
                      </m:rPr>
                      <a:rPr lang="en-US" sz="1200" dirty="0">
                        <a:solidFill>
                          <a:srgbClr val="000000"/>
                        </a:solidFill>
                        <a:effectLst/>
                      </a:rPr>
                      <m:t>g</m:t>
                    </m:r>
                  </m:oMath>
                </a14:m>
                <a:r>
                  <a:rPr lang="en-US" sz="1200" dirty="0">
                    <a:effectLst/>
                  </a:rPr>
                  <a:t>-IAc systems cause nonaadditive, complex changes in the swell index of a molten jet and in the strength of the molten blended materials [234].</a:t>
                </a:r>
              </a:p>
            </p:txBody>
          </p:sp>
        </mc:Choice>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971800"/>
              </a:xfrm>
              <a:prstGeom prst="rect">
                <a:avLst/>
              </a:prstGeom>
            </p:spPr>
            <p:txBody>
              <a:bodyPr anchor="t" lIns="0" tIns="0" rIns="0" bIns="0">
                <a:noAutofit/>
              </a:bodyPr>
              <a:lstStyle/>
              <a:p>
                <a:pPr>
                  <a:lnSpc>
                    <a:spcPct val="120000"/>
                  </a:lnSpc>
                </a:pPr>
                <a:r>
                  <a:rPr lang="en-US" sz="1200" dirty="0">
                    <a:effectLst/>
                  </a:rPr>
                  <a:t>We have been reported [235-241] the synthesis of poly(PP- </a:t>
                </a:r>
                <a:r>
                  <a:rPr lang="en-US" sz="1200" dirty="0">
                    <a:effectLst/>
                  </a:rPr>
                  <a:t>​</a:t>
                </a:r>
                <a14:m>
                  <m:oMath>
                    <m:r>
                      <m:rPr>
                        <m:sty m:val="i"/>
                      </m:rPr>
                      <a:rPr lang="en-US" sz="1200" dirty="0">
                        <a:solidFill>
                          <a:srgbClr val="000000"/>
                        </a:solidFill>
                        <a:effectLst/>
                      </a:rPr>
                      <m:t>g</m:t>
                    </m:r>
                  </m:oMath>
                </a14:m>
                <a:r>
                  <a:rPr lang="en-US" sz="1200" dirty="0">
                    <a:effectLst/>
                  </a:rPr>
                  <a:t>-MA)s with different compositions as the precursor for the preparation of nanocomposites by radical grafting reaction of powder and granular PP with MA in melt by reactive extrusion using dicumyl peroxide (DCP) as an initiator. It was demonstrated that the structure, macrotacticity, crystallinity, crystallization rate, and thermal behavior of PP changed with grafting and depended on the grafting degree. The MA grafting efficiency of powder PP was higher than that obtained for the granular form of PP. In general, the grafting degree first increased with the MA or DCP content in the feed, then reached a maximum value, and finally decreased because of several possible anternative reactions during the grafting. The grafting of powder PP was more successful because of better initial mixing and less diffusional resistance during the grafting. We also have been investigated the grafting of MA onto powder PP in the thermal oxidative conditions using reactive extrusion [236,241]. Obtained results show that chain scission reactions are significantly suppressed at 3.0 wt. % MA concentration, especially when more than 1.0 wt. % of DCP is used. The effect of DCP concentration on the melt flow index (MFI) of isotactic PP in the absence of MA was also studied. In these conditions, the degradation of PP is not a controllable process and essentially depends on many factors, such as temperature, screw speed, and other extrusion parameters. The introduction of MA into this system allows the process to reasonably control the chain degradation reactions [241].</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581400"/>
                <a:ext cx="9144000" cy="1143000"/>
              </a:xfrm>
              <a:prstGeom prst="rect">
                <a:avLst/>
              </a:prstGeom>
            </p:spPr>
            <p:txBody>
              <a:bodyPr anchor="t" lIns="0" tIns="0" rIns="0" bIns="0">
                <a:noAutofit/>
              </a:bodyPr>
              <a:lstStyle/>
              <a:p>
                <a:pPr>
                  <a:lnSpc>
                    <a:spcPct val="120000"/>
                  </a:lnSpc>
                </a:pPr>
                <a:r>
                  <a:rPr lang="en-US" sz="1200" dirty="0">
                    <a:effectLst/>
                  </a:rPr>
                  <a:t>Above mentioned numerous investigations of free-radical grafting of MA and its isostructural analogues onto different POs (LDPE, HDPE, PP, EPR, EPDM, etc.) indicated that side reactions (crosslinking, degradation, oligomerization of monomer, </a:t>
                </a:r>
                <a:r>
                  <a:rPr lang="en-US" sz="1200" dirty="0">
                    <a:effectLst/>
                  </a:rPr>
                  <a:t>​</a:t>
                </a:r>
                <a14:m>
                  <m:oMath>
                    <m:r>
                      <m:rPr>
                        <m:sty m:val="i"/>
                      </m:rPr>
                      <a:rPr lang="en-US" sz="1200" dirty="0">
                        <a:solidFill>
                          <a:srgbClr val="000000"/>
                        </a:solidFill>
                        <a:effectLst/>
                      </a:rPr>
                      <m:t>β</m:t>
                    </m:r>
                  </m:oMath>
                </a14:m>
                <a:r>
                  <a:rPr lang="en-US" sz="1200" dirty="0">
                    <a:effectLst/>
                  </a:rPr>
                  <a:t>-scission of C-C bonds in the main chain, etc.) occurred simultaneously with the grafting reactions which are caused some changes in the molecular structure of POs, depending on the type of used polymers. The use of various types of reactive extrusion systems in the grafting process provides the important advantages in the production of high performance commercial materials.</a:t>
                </a:r>
              </a:p>
            </p:txBody>
          </p:sp>
        </mc:Choice>
        <mc:Fallback/>
      </mc:AlternateContent>
      <p:sp>
        <p:nvSpPr>
          <p:cNvPr id="2" name="Text"/>
          <p:cNvSpPr/>
          <p:nvPr/>
        </p:nvSpPr>
        <p:spPr>
          <a:xfrm>
            <a:off x="1524000" y="4876800"/>
            <a:ext cx="9144000" cy="266700"/>
          </a:xfrm>
          <a:prstGeom prst="rect">
            <a:avLst/>
          </a:prstGeom>
        </p:spPr>
        <p:txBody>
          <a:bodyPr anchor="t" lIns="0" tIns="0" rIns="0" bIns="0">
            <a:noAutofit/>
          </a:bodyPr>
          <a:lstStyle/>
          <a:p>
            <a:pPr>
              <a:lnSpc>
                <a:spcPct val="125800"/>
              </a:lnSpc>
            </a:pPr>
            <a:r>
              <a:rPr lang="en-US" sz="1400" dirty="0" b="1">
                <a:effectLst/>
              </a:rPr>
              <a:t>2.3. Solid state grafting</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3200400"/>
              </a:xfrm>
              <a:prstGeom prst="rect">
                <a:avLst/>
              </a:prstGeom>
            </p:spPr>
            <p:txBody>
              <a:bodyPr anchor="t" lIns="0" tIns="0" rIns="0" bIns="0">
                <a:noAutofit/>
              </a:bodyPr>
              <a:lstStyle/>
              <a:p>
                <a:pPr>
                  <a:lnSpc>
                    <a:spcPct val="120000"/>
                  </a:lnSpc>
                </a:pPr>
                <a:r>
                  <a:rPr lang="en-US" sz="1200" dirty="0">
                    <a:effectLst/>
                  </a:rPr>
                  <a:t>Graft copolymerization of thermoplastic polymers and elastomers with MA and its isostructural analogues can also be performed in the solid state or in an aqueous suspension. Solid-phase graft copolymerization is a relatively new method developed by many researchers [124,202,242-266]. Many investigations on solid-phase grafting of PP are mainly based on the MA monomer [193,242-245]. Since the self-polymerization of MA is very difficult, the MA grafted units only exist as a monomer or a short branch with low grafting degree (&lt;5 %) on the PP macromolecules. Jia et al. [245] found that solid-phase graft copolymerization of PP with two acceptor-donor type monomers, MA and styrene, significantly increased the grafting percentage and grafting efficiency. Solid-phase graft copolymerization was carried out by using benzoyl peroxide as an initiator and xylene as an interfacial agent. The effect of monomer concentration, monomer ratio and initiator on grafting percentage (acid number:r) and grafting efficiency were studied by these authors. The structure of the graft copolymer was characterized by FTIR spectroscopy (the absorption band at 1789 and </a:t>
                </a:r>
                <a:r>
                  <a:rPr lang="en-US" sz="1200" dirty="0">
                    <a:effectLst/>
                  </a:rPr>
                  <a:t>​</a:t>
                </a:r>
                <a14:m>
                  <m:oMath>
                    <m:r>
                      <m:rPr>
                        <m:sty m:val="p"/>
                      </m:rPr>
                      <a:rPr lang="en-US" sz="1200" dirty="0">
                        <a:solidFill>
                          <a:srgbClr val="000000"/>
                        </a:solidFill>
                        <a:effectLst/>
                      </a:rPr>
                      <m:t>709</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for </a:t>
                </a:r>
                <a:r>
                  <a:rPr lang="en-US" sz="1200" dirty="0">
                    <a:effectLst/>
                  </a:rPr>
                  <a:t>​</a:t>
                </a:r>
                <a14:m>
                  <m:oMath>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O</m:t>
                    </m:r>
                  </m:oMath>
                </a14:m>
                <a:r>
                  <a:rPr lang="en-US" sz="1200" dirty="0">
                    <a:effectLst/>
                  </a:rPr>
                  <a:t> and benzene ring in MA and styrene grafted units, respectively), pyrolysis gas</a:t>
                </a:r>
                <a:br>
                  <a:rPr lang="en-US" sz="1200" dirty="0"/>
                </a:br>
                <a:r>
                  <a:rPr lang="en-US" sz="1200" dirty="0">
                    <a:effectLst/>
                  </a:rPr>
                  <a:t> chromatography-mass spectroscopy (the characteristic peaks at </a:t>
                </a:r>
                <a:r>
                  <a:rPr lang="en-US" sz="1200" dirty="0">
                    <a:effectLst/>
                  </a:rPr>
                  <a:t>​</a:t>
                </a:r>
                <a14:m>
                  <m:oMath>
                    <m:r>
                      <m:rPr>
                        <m:sty m:val="p"/>
                      </m:rPr>
                      <a:rPr lang="en-US" sz="1200" dirty="0">
                        <a:solidFill>
                          <a:srgbClr val="000000"/>
                        </a:solidFill>
                        <a:effectLst/>
                      </a:rPr>
                      <m:t>t</m:t>
                    </m:r>
                    <m:r>
                      <m:rPr>
                        <m:sty m:val="p"/>
                      </m:rPr>
                      <a:rPr lang="en-US" sz="1200" dirty="0">
                        <a:solidFill>
                          <a:srgbClr val="000000"/>
                        </a:solidFill>
                        <a:effectLst/>
                      </a:rPr>
                      <m:t>=</m:t>
                    </m:r>
                    <m:r>
                      <m:rPr>
                        <m:sty m:val="p"/>
                      </m:rPr>
                      <a:rPr lang="en-US" sz="1200" dirty="0">
                        <a:solidFill>
                          <a:srgbClr val="000000"/>
                        </a:solidFill>
                        <a:effectLst/>
                      </a:rPr>
                      <m:t>4.66</m:t>
                    </m:r>
                  </m:oMath>
                </a14:m>
                <a:r>
                  <a:rPr lang="en-US" sz="1200" dirty="0">
                    <a:effectLst/>
                  </a:rPr>
                  <a:t> and 5.51 min for MA and styrene units, respectively, at 423°C), and dynamic mechanical analysis. Authors found that the grafting percentage of the graft copolymer of PP with these two monomers were considerably higher than those of the graft copolymers of PP with MA and styrene alone; the graft segments were shown to be the copolymers of MA and styrene with a substantial molecular weight.</a:t>
                </a:r>
              </a:p>
            </p:txBody>
          </p:sp>
        </mc:Choice>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4343400"/>
              </a:xfrm>
              <a:prstGeom prst="rect">
                <a:avLst/>
              </a:prstGeom>
            </p:spPr>
            <p:txBody>
              <a:bodyPr anchor="t" lIns="0" tIns="0" rIns="0" bIns="0">
                <a:noAutofit/>
              </a:bodyPr>
              <a:lstStyle/>
              <a:p>
                <a:pPr>
                  <a:lnSpc>
                    <a:spcPct val="120000"/>
                  </a:lnSpc>
                </a:pPr>
                <a:r>
                  <a:rPr lang="en-US" sz="1200" dirty="0">
                    <a:effectLst/>
                  </a:rPr>
                  <a:t>Grafting reaction in solid state between plasma activated polyolefin films and MA-vinyltriethoxysilane (VTES) cooligomer and surface properties of the modified films obtained were investigated [246]. The oligo(MA-alt-VTES) was synthesized by radical copolymerization with benzoyl peroxide in bulk at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80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under nitrogen atmosphere [247]. For the activation of polyolefin film surfaces in the conditions of cold plasma, discharge parameters selected and used were as follows: pressure 0.2 Torr, power 1200 J/min, and discharde duration 30 min. A inductively coupled glow discharge system working a fixed RF frequency of 13.56 MHz was used for this plasma surface treatment. Thin coatings with characteristic thicknesses of </a:t>
                </a:r>
                <a:r>
                  <a:rPr lang="en-US" sz="1200" dirty="0">
                    <a:effectLst/>
                  </a:rPr>
                  <a:t>​</a:t>
                </a:r>
                <a14:m>
                  <m:oMath>
                    <m:r>
                      <m:rPr>
                        <m:sty m:val="p"/>
                      </m:rPr>
                      <a:rPr lang="en-US" sz="1200" dirty="0">
                        <a:solidFill>
                          <a:srgbClr val="000000"/>
                        </a:solidFill>
                        <a:effectLst/>
                      </a:rPr>
                      <m:t>10</m:t>
                    </m:r>
                    <m:r>
                      <m:rPr>
                        <m:sty m:val="p"/>
                      </m:rPr>
                      <a:rPr lang="en-US" sz="1200" dirty="0">
                        <a:solidFill>
                          <a:srgbClr val="000000"/>
                        </a:solidFill>
                        <a:effectLst/>
                      </a:rPr>
                      <m:t>−</m:t>
                    </m:r>
                    <m:r>
                      <m:rPr>
                        <m:sty m:val="p"/>
                      </m:rPr>
                      <a:rPr lang="en-US" sz="1200" dirty="0">
                        <a:solidFill>
                          <a:srgbClr val="000000"/>
                        </a:solidFill>
                        <a:effectLst/>
                      </a:rPr>
                      <m:t>15</m:t>
                    </m:r>
                    <m:r>
                      <m:rPr>
                        <m:sty m:val="i"/>
                      </m:rPr>
                      <a:rPr lang="en-US" sz="1200" dirty="0">
                        <a:solidFill>
                          <a:srgbClr val="000000"/>
                        </a:solidFill>
                        <a:effectLst/>
                      </a:rPr>
                      <m:t>μ</m:t>
                    </m:r>
                    <m:r>
                      <m:rPr>
                        <m:sty m:val="i"/>
                      </m:rPr>
                      <a:rPr lang="en-US" sz="1200" dirty="0">
                        <a:solidFill>
                          <a:srgbClr val="000000"/>
                        </a:solidFill>
                        <a:effectLst/>
                      </a:rPr>
                      <m:t>m</m:t>
                    </m:r>
                  </m:oMath>
                </a14:m>
                <a:r>
                  <a:rPr lang="en-US" sz="1200" dirty="0">
                    <a:effectLst/>
                  </a:rPr>
                  <a:t> on plasma-activated surfaces of PP and PE films are formed from a 5 % solution of oligomer in MEK by centrifugation. The observed systematic increase of surface energies both by the increase of modification times and temperature allows one to suggest that the chemical modification expected is accomplished. Increases of thermotreatment time and temperature are expected to increase the probability of formation of hydrophobic organosiloxane fragments of a crosslinked character. The grafted coats obtained on PP and PE films were found to be durable. A similar, thin and yet durable coating was found to be impossible to obtain on virgin polyolefin films without use of plasma, even if the same procedure is applied afterwards. FTIR-ART spectroscopic studies of modified film surfaces at different conditions of thermotreatment show that the chemical reaction between plasma-activated polyolefin surfaces and MA-VTES cooligomer has proceeded. New bands at 1720, 1770 and </a:t>
                </a:r>
                <a:r>
                  <a:rPr lang="en-US" sz="1200" dirty="0">
                    <a:effectLst/>
                  </a:rPr>
                  <a:t>​</a:t>
                </a:r>
                <a14:m>
                  <m:oMath>
                    <m:r>
                      <m:rPr>
                        <m:sty m:val="p"/>
                      </m:rPr>
                      <a:rPr lang="en-US" sz="1200" dirty="0">
                        <a:solidFill>
                          <a:srgbClr val="000000"/>
                        </a:solidFill>
                        <a:effectLst/>
                      </a:rPr>
                      <m:t>1835</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consisting of </a:t>
                </a:r>
                <a:r>
                  <a:rPr lang="en-US" sz="1200" dirty="0">
                    <a:effectLst/>
                  </a:rPr>
                  <a:t>​</a:t>
                </a:r>
                <a14:m>
                  <m:oMath>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O</m:t>
                    </m:r>
                  </m:oMath>
                </a14:m>
                <a:r>
                  <a:rPr lang="en-US" sz="1200" dirty="0">
                    <a:effectLst/>
                  </a:rPr>
                  <a:t> (ester) and C=O (anhydride), respectively, appear in the spectra of the surface grafted PP films. Moreover, it is observed that in case of an increase of both modification temperature and duration of surface treatment increases the intensity of ester band and also decreases that of hydroxyl band ( 3360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which allows one to demonstrate the probable reaction steps for the plasma-treated PP with oligomer as follows: (1) intermolecular esterification of anhydride units with PP surface hydroxyl groups, (2) intramolecular reaction between carboxyl and ethoxysilyl groups, and (3) polycondensation of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Si</m:t>
                    </m:r>
                    <m:sSub>
                      <m:sSubPr>
                        <m:ctrlPr>
                          <a:rPr sz="1200">
                            <a:latin typeface="Cambria Math" panose="02040503050406030204" pitchFamily="18" charset="0"/>
                          </a:rPr>
                        </m:ctrlPr>
                      </m:sSubPr>
                      <m:e>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p"/>
                                  </m:rPr>
                                  <a:rPr lang="en-US" sz="1200" dirty="0">
                                    <a:solidFill>
                                      <a:srgbClr val="000000"/>
                                    </a:solidFill>
                                    <a:effectLst/>
                                  </a:rPr>
                                  <m:t>C</m:t>
                                </m:r>
                              </m:e>
                              <m:sub>
                                <m:r>
                                  <m:rPr>
                                    <m:sty m:val="p"/>
                                  </m:rPr>
                                  <a:rPr lang="en-US" sz="1200" dirty="0">
                                    <a:solidFill>
                                      <a:srgbClr val="000000"/>
                                    </a:solidFill>
                                    <a:effectLst/>
                                  </a:rPr>
                                  <m:t>2</m:t>
                                </m:r>
                              </m:sub>
                            </m:sSub>
                            <m:sSub>
                              <m:sSubPr>
                                <m:ctrlPr>
                                  <a:rPr sz="1200">
                                    <a:latin typeface="Cambria Math" panose="02040503050406030204" pitchFamily="18" charset="0"/>
                                  </a:rPr>
                                </m:ctrlPr>
                              </m:sSubPr>
                              <m:e>
                                <m:r>
                                  <m:rPr>
                                    <m:sty m:val="p"/>
                                  </m:rPr>
                                  <a:rPr lang="en-US" sz="1200" dirty="0">
                                    <a:solidFill>
                                      <a:srgbClr val="000000"/>
                                    </a:solidFill>
                                    <a:effectLst/>
                                  </a:rPr>
                                  <m:t>H</m:t>
                                </m:r>
                              </m:e>
                              <m:sub>
                                <m:r>
                                  <m:rPr>
                                    <m:sty m:val="p"/>
                                  </m:rPr>
                                  <a:rPr lang="en-US" sz="1200" dirty="0">
                                    <a:solidFill>
                                      <a:srgbClr val="000000"/>
                                    </a:solidFill>
                                    <a:effectLst/>
                                  </a:rPr>
                                  <m:t>5</m:t>
                                </m:r>
                              </m:sub>
                            </m:sSub>
                          </m:e>
                        </m:d>
                      </m:e>
                      <m:sub>
                        <m:r>
                          <m:rPr>
                            <m:sty m:val="p"/>
                          </m:rPr>
                          <a:rPr lang="en-US" sz="1200" dirty="0">
                            <a:solidFill>
                              <a:srgbClr val="000000"/>
                            </a:solidFill>
                            <a:effectLst/>
                          </a:rPr>
                          <m:t>3</m:t>
                        </m:r>
                      </m:sub>
                    </m:sSub>
                  </m:oMath>
                </a14:m>
                <a:r>
                  <a:rPr lang="en-US" sz="1200" dirty="0">
                    <a:effectLst/>
                  </a:rPr>
                  <a:t> fragments, as initiated by free -COOH, via formation of crosslinked structure. These can be presented schematically as follows (Figure 8):</a:t>
                </a:r>
              </a:p>
            </p:txBody>
          </p:sp>
        </mc:Choice>
        <mc:Fallback/>
      </mc:AlternateContent>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732e9496c799879fa8dcf8ce4c4953ca9597b527.jpg"/>
          <p:cNvPicPr/>
          <p:nvPr/>
        </p:nvPicPr>
        <p:blipFill>
          <a:blip r:embed="rId2" cstate="print"/>
          <a:srcRect/>
          <a:stretch>
            <a:fillRect/>
          </a:stretch>
        </p:blipFill>
        <p:spPr>
          <a:xfrm>
            <a:off x="1524000" y="457200"/>
            <a:ext cx="8077200" cy="4572000"/>
          </a:xfrm>
          <a:prstGeom prst="rect">
            <a:avLst/>
          </a:prstGeom>
        </p:spPr>
      </p:pic>
      <p:sp>
        <p:nvSpPr>
          <p:cNvPr id="3" name="Text"/>
          <p:cNvSpPr/>
          <p:nvPr/>
        </p:nvSpPr>
        <p:spPr>
          <a:xfrm>
            <a:off x="1524000" y="5029200"/>
            <a:ext cx="9144000" cy="457200"/>
          </a:xfrm>
          <a:prstGeom prst="rect">
            <a:avLst/>
          </a:prstGeom>
        </p:spPr>
        <p:txBody>
          <a:bodyPr anchor="t" lIns="0" tIns="0" rIns="0" bIns="0">
            <a:noAutofit/>
          </a:bodyPr>
          <a:lstStyle/>
          <a:p>
            <a:pPr>
              <a:lnSpc>
                <a:spcPct val="120000"/>
              </a:lnSpc>
            </a:pPr>
            <a:r>
              <a:rPr lang="en-US" sz="1200" dirty="0">
                <a:effectLst/>
              </a:rPr>
              <a:t>Figure 8. Proposed mechanism of formation of the PP/ organosilica structure via esterification (grafting)-hydro-lysis-polycondensation reactions.</a:t>
            </a:r>
          </a:p>
        </p:txBody>
      </p:sp>
      <p:sp>
        <p:nvSpPr>
          <p:cNvPr id="2" name="Text"/>
          <p:cNvSpPr/>
          <p:nvPr/>
        </p:nvSpPr>
        <p:spPr>
          <a:xfrm>
            <a:off x="1524000" y="5486400"/>
            <a:ext cx="9144000" cy="685800"/>
          </a:xfrm>
          <a:prstGeom prst="rect">
            <a:avLst/>
          </a:prstGeom>
        </p:spPr>
        <p:txBody>
          <a:bodyPr anchor="t" lIns="0" tIns="0" rIns="0" bIns="0">
            <a:noAutofit/>
          </a:bodyPr>
          <a:lstStyle/>
          <a:p>
            <a:pPr>
              <a:lnSpc>
                <a:spcPct val="120000"/>
              </a:lnSpc>
            </a:pPr>
            <a:r>
              <a:rPr lang="en-US" sz="1200" dirty="0">
                <a:effectLst/>
              </a:rPr>
              <a:t>It was concluded that the modification of plasmaactivated polyolefin surfaces by use of MA-VTES oligomer mainly proceeded via esterification and polycondensation reactions, as traced by the carboxyl and triethoxysilyl fragments, leading to crosslinked poly(organosilica) structures [246].</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600200"/>
          </a:xfrm>
          <a:prstGeom prst="rect">
            <a:avLst/>
          </a:prstGeom>
        </p:spPr>
        <p:txBody>
          <a:bodyPr anchor="t" lIns="0" tIns="0" rIns="0" bIns="0">
            <a:noAutofit/>
          </a:bodyPr>
          <a:lstStyle/>
          <a:p>
            <a:pPr>
              <a:lnSpc>
                <a:spcPct val="120000"/>
              </a:lnSpc>
            </a:pPr>
            <a:r>
              <a:rPr lang="en-US" sz="1200" dirty="0">
                <a:effectLst/>
              </a:rPr>
              <a:t>Zelenetskii et al. [248] have studied the effect of solidphase MA grafting onto LDPE on the mechanical properties of LDPE and its wood-polymer composites, besides its adhesion to Al-foil. LDPE powder was mixed with MA and fed to a twin-screw continuous-action extruder. Treatment of the reaction mixtures was carried out in a solid-phase regime on an extruder at 80-90 °C, i,e., below the melting temperature of the polymer for 7-70 min. It was shown that when a small amount of MA groups were introduced into the chain of LDPE by means of solidphase extrusion there was a considerable increase in the elastic modulus of the polymer and a reduction in the tensile strength. Solid phase grafting polyolefins possessed considerably higher adhesion properties compared to polyolefins modified in the melt.</a:t>
            </a:r>
          </a:p>
        </p:txBody>
      </p:sp>
      <p:sp>
        <p:nvSpPr>
          <p:cNvPr id="2" name="Text"/>
          <p:cNvSpPr/>
          <p:nvPr/>
        </p:nvSpPr>
        <p:spPr>
          <a:xfrm>
            <a:off x="1524000" y="2209800"/>
            <a:ext cx="9144000" cy="342900"/>
          </a:xfrm>
          <a:prstGeom prst="rect">
            <a:avLst/>
          </a:prstGeom>
        </p:spPr>
        <p:txBody>
          <a:bodyPr anchor="t" lIns="0" tIns="0" rIns="0" bIns="0">
            <a:noAutofit/>
          </a:bodyPr>
          <a:lstStyle/>
          <a:p>
            <a:pPr>
              <a:lnSpc>
                <a:spcPct val="120000"/>
              </a:lnSpc>
            </a:pPr>
            <a:r>
              <a:rPr lang="en-US" sz="1800" dirty="0" b="1">
                <a:effectLst/>
              </a:rPr>
              <a:t>2. 4. Photo-induced surface grafting</a:t>
            </a:r>
          </a:p>
        </p:txBody>
      </p:sp>
      <p:sp>
        <p:nvSpPr>
          <p:cNvPr id="2" name="Text"/>
          <p:cNvSpPr/>
          <p:nvPr/>
        </p:nvSpPr>
        <p:spPr>
          <a:xfrm>
            <a:off x="1524000" y="2742439"/>
            <a:ext cx="9144000" cy="1828800"/>
          </a:xfrm>
          <a:prstGeom prst="rect">
            <a:avLst/>
          </a:prstGeom>
        </p:spPr>
        <p:txBody>
          <a:bodyPr anchor="t" lIns="0" tIns="0" rIns="0" bIns="0">
            <a:noAutofit/>
          </a:bodyPr>
          <a:lstStyle/>
          <a:p>
            <a:pPr>
              <a:lnSpc>
                <a:spcPct val="120000"/>
              </a:lnSpc>
            </a:pPr>
            <a:r>
              <a:rPr lang="en-US" sz="1200" dirty="0">
                <a:effectLst/>
              </a:rPr>
              <a:t>Extensive attention has been paid to the surface chemical modification and functionalization of polyolefin substrates, especially starting from the 1990s, by which targeted products possessing various functional groups and different properties can be provided on the polyolefin surfaces using various developed methods [249,250]. Among these techniques, photografting (co)polymeriza-tion has drawn great interest, mostly because of its obvious advantages, such as low operation cost, mild reaction conditions, selectivity to absorb UV radiation, and relatively permanent modification effects, without the destruction of the bulk properties of substrates. For this purpose, acrylic acid and its derivatives and MA have been employed [251-254]. To make the technology of surface photografting polymeri- zation more practical and less costly but more versatile and environmentally friendly, anhydrides of unsaturated dicarboxylic acids, preferably MA has been selected. However, it is widely accepted that MA cannot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3657600"/>
              </a:xfrm>
              <a:prstGeom prst="rect">
                <a:avLst/>
              </a:prstGeom>
            </p:spPr>
            <p:txBody>
              <a:bodyPr anchor="t" lIns="0" tIns="0" rIns="0" bIns="0">
                <a:noAutofit/>
              </a:bodyPr>
              <a:lstStyle/>
              <a:p>
                <a:pPr>
                  <a:lnSpc>
                    <a:spcPct val="120000"/>
                  </a:lnSpc>
                </a:pPr>
                <a:r>
                  <a:rPr lang="en-US" sz="1200" dirty="0">
                    <a:effectLst/>
                  </a:rPr>
                  <a:t> homopolymerize under normal conditions but easily participates in donor-acceptor type copolymerization with various comonomers [1-4,27,255-257]. Surface photografting polymerization of MA and its charge transfer complexes (CTCs) with vinyl acetate monomer and various solvents onto different polymeric substrates reported by many researchers [258-262]. Deng et al. [258-260] successfully photografted MA and vinyl acetate (VA) onto LDPE films, but for either single monomer, both the grafting rate and grafting efficiency were actually too low to be industrialized. Furthermore, authors identified the formation of grafted film with FTIR and ESCA surface analysis methods [262]. Accordint to authors [261,262], MA can be grafted onto polymer substrates under UVirradiation rather easily. In this study, the photo-grafting polymerization of MA was examined with LDPE film as a substrate in different solvents (THF, 2,4-dioxane, ethyl acetate and acetone) using benzophenone as a photoinitiator and benzoyl peroxide as a radical initiator. The effects of some principal factors, such as temperature, solvent, and UV intensity, on the grafting polymerization of MA also investigated. It was shown that solvents have a great influence on the grafting polymerization, and the grafting still occurs in the absence of photoinitiators. This fact authors explained by the abstraction of hydrogen atom from the LDPE chain with MA itself when UV-irradiated [260]. THF and dioxane solvents even seem to take part in the reaction. To explain this phenomena, authors should consider the known reaction between these solvents and MA. The ether oxygen atoms in both THF and dioxane are prone to give off ctrons. When they meet strong electron acceptor MA, the CTC between them and MA may be formed and, as shown in works [263], even participate in the reaction to a relatively high degree. For example, the equilibrium constant of the CTC formation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c</m:t>
                            </m:r>
                          </m:sub>
                        </m:sSub>
                      </m:e>
                    </m:d>
                  </m:oMath>
                </a14:m>
                <a:r>
                  <a:rPr lang="en-US" sz="1200" dirty="0">
                    <a:effectLst/>
                  </a:rPr>
                  <a:t> in the MA/THF system was determined to be </a:t>
                </a:r>
                <a:r>
                  <a:rPr lang="en-US" sz="1200" dirty="0">
                    <a:effectLst/>
                  </a:rPr>
                  <a:t>​</a:t>
                </a:r>
                <a14:m>
                  <m:oMath>
                    <m:r>
                      <m:rPr>
                        <m:sty m:val="p"/>
                      </m:rPr>
                      <a:rPr lang="en-US" sz="1200" dirty="0">
                        <a:solidFill>
                          <a:srgbClr val="000000"/>
                        </a:solidFill>
                        <a:effectLst/>
                      </a:rPr>
                      <m:t>0.44</m:t>
                    </m:r>
                    <m:r>
                      <m:rPr>
                        <m:sty m:val="p"/>
                      </m:rPr>
                      <a:rPr lang="en-US" sz="1200" dirty="0">
                        <a:solidFill>
                          <a:srgbClr val="000000"/>
                        </a:solidFill>
                        <a:effectLst/>
                      </a:rPr>
                      <m:t xml:space="preserve"> </m:t>
                    </m:r>
                    <m:r>
                      <m:rPr>
                        <m:sty m:val="p"/>
                      </m:rPr>
                      <a:rPr lang="en-US" sz="1200" dirty="0">
                        <a:solidFill>
                          <a:srgbClr val="000000"/>
                        </a:solidFill>
                        <a:effectLst/>
                      </a:rPr>
                      <m:t>L</m:t>
                    </m:r>
                    <m:r>
                      <m:rPr>
                        <m:sty m:val="p"/>
                      </m:rPr>
                      <a:rPr lang="en-US" sz="1200" dirty="0">
                        <a:solidFill>
                          <a:srgbClr val="000000"/>
                        </a:solidFill>
                        <a:effectLst/>
                      </a:rPr>
                      <m:t>/</m:t>
                    </m:r>
                    <m:r>
                      <m:rPr>
                        <m:sty m:val="p"/>
                      </m:rPr>
                      <a:rPr lang="en-US" sz="1200" dirty="0">
                        <a:solidFill>
                          <a:srgbClr val="000000"/>
                        </a:solidFill>
                        <a:effectLst/>
                      </a:rPr>
                      <m:t>mol</m:t>
                    </m:r>
                  </m:oMath>
                </a14:m>
                <a:r>
                  <a:rPr lang="en-US" sz="1200" dirty="0">
                    <a:effectLst/>
                  </a:rPr>
                  <a:t> [264]; with irradiation from UV light, the following reactions can occur (Figure 9) [265]:</a:t>
                </a:r>
              </a:p>
            </p:txBody>
          </p:sp>
        </mc:Choice>
        <mc:Fallback/>
      </mc:AlternateContent>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cdd3239770631811aff11295eef6094473225dac.jpg"/>
          <p:cNvPicPr/>
          <p:nvPr/>
        </p:nvPicPr>
        <p:blipFill>
          <a:blip r:embed="rId2" cstate="print"/>
          <a:srcRect/>
          <a:stretch>
            <a:fillRect/>
          </a:stretch>
        </p:blipFill>
        <p:spPr>
          <a:xfrm>
            <a:off x="1524000" y="457200"/>
            <a:ext cx="7105650" cy="59436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9. The formation of MA...THF CTC complex in the surface UV-grafting of LDPE with MA in THF solu</a:t>
            </a:r>
          </a:p>
        </p:txBody>
      </p:sp>
      <p:sp>
        <p:nvSpPr>
          <p:cNvPr id="2" name="Text"/>
          <p:cNvSpPr/>
          <p:nvPr/>
        </p:nvSpPr>
        <p:spPr>
          <a:xfrm>
            <a:off x="1524000" y="685800"/>
            <a:ext cx="9144000" cy="914400"/>
          </a:xfrm>
          <a:prstGeom prst="rect">
            <a:avLst/>
          </a:prstGeom>
        </p:spPr>
        <p:txBody>
          <a:bodyPr anchor="t" lIns="0" tIns="0" rIns="0" bIns="0">
            <a:noAutofit/>
          </a:bodyPr>
          <a:lstStyle/>
          <a:p>
            <a:pPr>
              <a:lnSpc>
                <a:spcPct val="120000"/>
              </a:lnSpc>
            </a:pPr>
            <a:r>
              <a:rPr lang="en-US" sz="1200" dirty="0">
                <a:effectLst/>
              </a:rPr>
              <a:t>Similarly, the irradiation of the MA/dioxane solution leads to the formation of an oligomer composed of MA and dioxane [261]. With respect to acetone (or ethyl acetate) , as noted by the authors [265], it may also be thought that the CTC can form between itself and MA [255], but its ability to give off electrons is lower than that of THF and dioxane; therefore the grafting polymerization of MA proceeds preferentially.</a:t>
            </a:r>
          </a:p>
        </p:txBody>
      </p:sp>
      <mc:AlternateContent xmlns:mc="http://schemas.openxmlformats.org/markup-compatibility/2006">
        <mc:Choice xmlns:a14="http://schemas.microsoft.com/office/drawing/2010/main" Requires="a14">
          <p:sp>
            <p:nvSpPr>
              <p:cNvPr id="2" name="Text"/>
              <p:cNvSpPr/>
              <p:nvPr/>
            </p:nvSpPr>
            <p:spPr>
              <a:xfrm>
                <a:off x="1524000" y="1752600"/>
                <a:ext cx="9144000" cy="2286000"/>
              </a:xfrm>
              <a:prstGeom prst="rect">
                <a:avLst/>
              </a:prstGeom>
            </p:spPr>
            <p:txBody>
              <a:bodyPr anchor="t" lIns="0" tIns="0" rIns="0" bIns="0">
                <a:noAutofit/>
              </a:bodyPr>
              <a:lstStyle/>
              <a:p>
                <a:pPr>
                  <a:lnSpc>
                    <a:spcPct val="120000"/>
                  </a:lnSpc>
                </a:pPr>
                <a:r>
                  <a:rPr lang="en-US" sz="1200" dirty="0">
                    <a:effectLst/>
                  </a:rPr>
                  <a:t>MA was photografted onto LDPE substrates at temperatures above the melting point of MA. The effects of some principal factors including irradiation temperature, photoinitiators, the intensity of UV radiation, and the far UV radiation on the grafting polymerization were studied in detail. It was shown that the photografting polymerization of of MA can proceed smoothly at temperatures higher than the melting point of MA ( &gt;55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 the far UV radiation and the intensity of the UV radiation affect the grafting polymerization greatly. According to FTIR spectra, it is confirmed that the grafted film samples contain anhydride groups (the newly appearing sharp absorption peaks at around 1870, 1850 and </a:t>
                </a:r>
                <a:r>
                  <a:rPr lang="en-US" sz="1200" dirty="0">
                    <a:effectLst/>
                  </a:rPr>
                  <a:t>​</a:t>
                </a:r>
                <a14:m>
                  <m:oMath>
                    <m:r>
                      <m:rPr>
                        <m:sty m:val="p"/>
                      </m:rPr>
                      <a:rPr lang="en-US" sz="1200" dirty="0">
                        <a:solidFill>
                          <a:srgbClr val="000000"/>
                        </a:solidFill>
                        <a:effectLst/>
                      </a:rPr>
                      <m:t>1125</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 The contact angle measurements demonstrate that the wettability of the poly(LDPE- </a:t>
                </a:r>
                <a:r>
                  <a:rPr lang="en-US" sz="1200" dirty="0">
                    <a:effectLst/>
                  </a:rPr>
                  <a:t>​</a:t>
                </a:r>
                <a14:m>
                  <m:oMath>
                    <m:r>
                      <m:rPr>
                        <m:sty m:val="i"/>
                      </m:rPr>
                      <a:rPr lang="en-US" sz="1200" dirty="0">
                        <a:solidFill>
                          <a:srgbClr val="000000"/>
                        </a:solidFill>
                        <a:effectLst/>
                      </a:rPr>
                      <m:t>g</m:t>
                    </m:r>
                  </m:oMath>
                </a14:m>
                <a:r>
                  <a:rPr lang="en-US" sz="1200" dirty="0">
                    <a:effectLst/>
                  </a:rPr>
                  <a:t>-MA) films is enhanced obviously, especially for those grafted film samples through hydrolysis [263]. It is known that PP polymeric radical in situ reacts with MA to produce MA terminated PP with a single MA unit. In the presence of styrene, the polymeric radical initiates a "stable" copolymer of styrene and MA with an alternating manner [266]. The resulting PP- </a:t>
                </a:r>
                <a:r>
                  <a:rPr lang="en-US" sz="1200" dirty="0">
                    <a:effectLst/>
                  </a:rPr>
                  <a:t>​</a:t>
                </a:r>
                <a14:m>
                  <m:oMath>
                    <m:r>
                      <m:rPr>
                        <m:sty m:val="i"/>
                      </m:rPr>
                      <a:rPr lang="en-US" sz="1200" dirty="0">
                        <a:solidFill>
                          <a:srgbClr val="000000"/>
                        </a:solidFill>
                        <a:effectLst/>
                      </a:rPr>
                      <m:t>b</m:t>
                    </m:r>
                  </m:oMath>
                </a14:m>
                <a:r>
                  <a:rPr lang="en-US" sz="1200" dirty="0">
                    <a:effectLst/>
                  </a:rPr>
                  <a:t>-SMA diblock copolymer contains both PP and alternating styrene-MA segments.</a:t>
                </a:r>
              </a:p>
            </p:txBody>
          </p:sp>
        </mc:Choice>
        <mc:Fallback/>
      </mc:AlternateContent>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286000"/>
          </a:xfrm>
          <a:prstGeom prst="rect">
            <a:avLst/>
          </a:prstGeom>
        </p:spPr>
        <p:txBody>
          <a:bodyPr anchor="t" lIns="0" tIns="0" rIns="0" bIns="0">
            <a:noAutofit/>
          </a:bodyPr>
          <a:lstStyle/>
          <a:p>
            <a:pPr>
              <a:lnSpc>
                <a:spcPct val="120000"/>
              </a:lnSpc>
            </a:pPr>
            <a:r>
              <a:rPr lang="en-US" sz="1200" dirty="0">
                <a:effectLst/>
              </a:rPr>
              <a:t>In some studies, binary monomer systems were applied to photografting copolymerization, but most were carried out in the vapor phase [267-269]. That is, the substrate and MA and another monomer were placed in a reactor; by heating, the reactor was filled with monomer vapor, and some monomer precipated on the substrate, and with UVlight irradiation, photografting polymerization was started. According to these studies, adding MA definitely facilitated the photografting polymerization of some monomers, such as styrene and vinyl ethers, but for other monomers, this effect was not obvious. According to authors, one disadvantage of this technology lies in the fact that photografting polymerization in the vapor phase needs more time, as much as several hours, even though a higher grafting yield can be obtained.. The effects of several crucial factors, including the composition and total concentration of the monomer solution and different types of photoinitiators and solvents, on the grafting copolymerization were investigated in detail by Deng and Yang [268]. The conversion percentage (CP), grafting efficientcy (GE), and grafting percentage (GP) were measured by gravimetry using the following definitions:</a:t>
            </a:r>
          </a:p>
        </p:txBody>
      </p:sp>
      <mc:AlternateContent xmlns:mc="http://schemas.openxmlformats.org/markup-compatibility/2006">
        <mc:Choice xmlns:a14="http://schemas.microsoft.com/office/drawing/2010/main" Requires="a14">
          <p:sp>
            <p:nvSpPr>
              <p:cNvPr id="2" name="Text"/>
              <p:cNvSpPr/>
              <p:nvPr/>
            </p:nvSpPr>
            <p:spPr>
              <a:xfrm>
                <a:off x="1524000" y="2895600"/>
                <a:ext cx="9144000" cy="419100"/>
              </a:xfrm>
              <a:prstGeom prst="rect">
                <a:avLst/>
              </a:prstGeom>
            </p:spPr>
            <p:txBody>
              <a:bodyPr anchor="ctr" lIns="0" tIns="0" rIns="0" bIns="0">
                <a:noAutofit/>
              </a:bodyPr>
              <a:lstStyle/>
              <a:p>
                <a:pPr algn="ctr"/>
                <a14:m>
                  <m:oMathPara>
                    <m:oMath>
                      <m:m>
                        <m:mPr>
                          <m:plcHide m:val="1"/>
                          <m:cGpRule m:val="4"/>
                          <m:mcs>
                            <m:mc>
                              <m:mcPr>
                                <m:count m:val="1"/>
                                <m:mcJc m:val="right"/>
                              </m:mcPr>
                            </m:mc>
                            <m:mc>
                              <m:mcPr>
                                <m:count m:val="1"/>
                                <m:mcJc m:val="left"/>
                              </m:mcPr>
                            </m:mc>
                          </m:mcs>
                          <m:ctrlPr>
                            <a:rPr sz="1200" i="1">
                              <a:latin typeface="Cambria Math" panose="02040503050406030204" pitchFamily="18" charset="0"/>
                            </a:rPr>
                          </m:ctrlPr>
                        </m:mPr>
                        <m:mr>
                          <m:e>
                            <m:r>
                              <m:t xml:space="preserve"> </m:t>
                            </m:r>
                          </m:e>
                          <m:e>
                            <m:r>
                              <m:rPr>
                                <m:sty m:val="p"/>
                              </m:rPr>
                              <a:rPr lang="en-US" sz="1200" dirty="0">
                                <a:solidFill>
                                  <a:srgbClr val="000000"/>
                                </a:solidFill>
                                <a:effectLst/>
                              </a:rPr>
                              <m:t>CP</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t>
                            </m:r>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p"/>
                                      </m:rPr>
                                      <a:rPr lang="en-US" sz="1200" dirty="0">
                                        <a:solidFill>
                                          <a:srgbClr val="000000"/>
                                        </a:solidFill>
                                        <a:effectLst/>
                                      </a:rPr>
                                      <m:t>W</m:t>
                                    </m:r>
                                  </m:e>
                                  <m:sub>
                                    <m:r>
                                      <m:rPr>
                                        <m:sty m:val="i"/>
                                      </m:rPr>
                                      <a:rPr lang="en-US" sz="1200" dirty="0">
                                        <a:solidFill>
                                          <a:srgbClr val="000000"/>
                                        </a:solidFill>
                                        <a:effectLst/>
                                      </a:rPr>
                                      <m:t>P</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W</m:t>
                                    </m:r>
                                  </m:e>
                                  <m:sub>
                                    <m:r>
                                      <m:rPr>
                                        <m:sty m:val="i"/>
                                      </m:rPr>
                                      <a:rPr lang="en-US" sz="1200" dirty="0">
                                        <a:solidFill>
                                          <a:srgbClr val="000000"/>
                                        </a:solidFill>
                                        <a:effectLst/>
                                      </a:rPr>
                                      <m:t>M</m:t>
                                    </m:r>
                                  </m:sub>
                                </m:sSub>
                              </m:e>
                            </m:d>
                            <m:r>
                              <m:rPr>
                                <m:sty m:val="p"/>
                              </m:rPr>
                              <a:rPr lang="en-US" sz="1200" dirty="0">
                                <a:solidFill>
                                  <a:srgbClr val="000000"/>
                                </a:solidFill>
                                <a:effectLst/>
                              </a:rPr>
                              <m:t>×</m:t>
                            </m:r>
                            <m:r>
                              <m:rPr>
                                <m:sty m:val="p"/>
                              </m:rPr>
                              <a:rPr lang="en-US" sz="1200" dirty="0">
                                <a:solidFill>
                                  <a:srgbClr val="000000"/>
                                </a:solidFill>
                                <a:effectLst/>
                              </a:rPr>
                              <m:t>100</m:t>
                            </m:r>
                          </m:e>
                          <m:e>
                            <m:r>
                              <m:rPr>
                                <m:sty m:val="p"/>
                              </m:rPr>
                              <a:rPr lang="en-US" sz="1200" dirty="0">
                                <a:solidFill>
                                  <a:srgbClr val="000000"/>
                                </a:solidFill>
                                <a:effectLst/>
                              </a:rPr>
                              <m:t>(3)</m:t>
                            </m:r>
                          </m:e>
                        </m:mr>
                        <m:mr>
                          <m:e>
                            <m:r>
                              <m:t xml:space="preserve"> </m:t>
                            </m:r>
                          </m:e>
                          <m:e>
                            <m:r>
                              <m:rPr>
                                <m:sty m:val="p"/>
                              </m:rPr>
                              <a:rPr lang="en-US" sz="1200" dirty="0">
                                <a:solidFill>
                                  <a:srgbClr val="000000"/>
                                </a:solidFill>
                                <a:effectLst/>
                              </a:rPr>
                              <m:t>GE</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t>
                            </m:r>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p"/>
                                      </m:rPr>
                                      <a:rPr lang="en-US" sz="1200" dirty="0">
                                        <a:solidFill>
                                          <a:srgbClr val="000000"/>
                                        </a:solidFill>
                                        <a:effectLst/>
                                      </a:rPr>
                                      <m:t>W</m:t>
                                    </m:r>
                                  </m:e>
                                  <m:sub>
                                    <m:r>
                                      <m:rPr>
                                        <m:sty m:val="i"/>
                                      </m:rPr>
                                      <a:rPr lang="en-US" sz="1200" dirty="0">
                                        <a:solidFill>
                                          <a:srgbClr val="000000"/>
                                        </a:solidFill>
                                        <a:effectLst/>
                                      </a:rPr>
                                      <m:t>G</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W</m:t>
                                    </m:r>
                                  </m:e>
                                  <m:sub>
                                    <m:r>
                                      <m:rPr>
                                        <m:sty m:val="i"/>
                                      </m:rPr>
                                      <a:rPr lang="en-US" sz="1200" dirty="0">
                                        <a:solidFill>
                                          <a:srgbClr val="000000"/>
                                        </a:solidFill>
                                        <a:effectLst/>
                                      </a:rPr>
                                      <m:t>P</m:t>
                                    </m:r>
                                  </m:sub>
                                </m:sSub>
                              </m:e>
                            </m:d>
                            <m:r>
                              <m:rPr>
                                <m:sty m:val="p"/>
                              </m:rPr>
                              <a:rPr lang="en-US" sz="1200" dirty="0">
                                <a:solidFill>
                                  <a:srgbClr val="000000"/>
                                </a:solidFill>
                                <a:effectLst/>
                              </a:rPr>
                              <m:t>×</m:t>
                            </m:r>
                            <m:r>
                              <m:rPr>
                                <m:sty m:val="p"/>
                              </m:rPr>
                              <a:rPr lang="en-US" sz="1200" dirty="0">
                                <a:solidFill>
                                  <a:srgbClr val="000000"/>
                                </a:solidFill>
                                <a:effectLst/>
                              </a:rPr>
                              <m:t>100</m:t>
                            </m:r>
                          </m:e>
                          <m:e>
                            <m:r>
                              <m:rPr>
                                <m:sty m:val="p"/>
                              </m:rPr>
                              <a:rPr lang="en-US" sz="1200" dirty="0">
                                <a:solidFill>
                                  <a:srgbClr val="000000"/>
                                </a:solidFill>
                                <a:effectLst/>
                              </a:rPr>
                              <m:t>(4)</m:t>
                            </m:r>
                          </m:e>
                        </m:mr>
                      </m:m>
                    </m:oMath>
                  </m:oMathPara>
                </a14:m>
              </a:p>
            </p:txBody>
          </p:sp>
        </mc:Choice>
        <mc:Fallback/>
      </mc:AlternateContent>
      <p:sp>
        <p:nvSpPr>
          <p:cNvPr id="2" name="Text"/>
          <p:cNvSpPr/>
          <p:nvPr/>
        </p:nvSpPr>
        <p:spPr>
          <a:xfrm>
            <a:off x="1524000" y="3467100"/>
            <a:ext cx="9144000" cy="685800"/>
          </a:xfrm>
          <a:prstGeom prst="rect">
            <a:avLst/>
          </a:prstGeom>
        </p:spPr>
        <p:txBody>
          <a:bodyPr anchor="t" lIns="0" tIns="0" rIns="0" bIns="0">
            <a:noAutofit/>
          </a:bodyPr>
          <a:lstStyle/>
          <a:p>
            <a:pPr>
              <a:lnSpc>
                <a:spcPct val="120000"/>
              </a:lnSpc>
            </a:pPr>
            <a:r>
              <a:rPr lang="en-US" sz="1800" dirty="0" b="1">
                <a:effectLst/>
              </a:rPr>
              <a:t>International Review of Chemical Engineering, volume 3, No 2, March, 2011 Int. Rev.Chem. Eng., 3(2011) 153-215</a:t>
            </a:r>
          </a:p>
        </p:txBody>
      </p:sp>
      <mc:AlternateContent xmlns:mc="http://schemas.openxmlformats.org/markup-compatibility/2006">
        <mc:Choice xmlns:a14="http://schemas.microsoft.com/office/drawing/2010/main" Requires="a14">
          <p:sp>
            <p:nvSpPr>
              <p:cNvPr id="2" name="Text"/>
              <p:cNvSpPr/>
              <p:nvPr/>
            </p:nvSpPr>
            <p:spPr>
              <a:xfrm>
                <a:off x="1524000" y="4342639"/>
                <a:ext cx="9144000" cy="200025"/>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r>
                              <m:rPr>
                                <m:sty m:val="p"/>
                              </m:rPr>
                              <a:rPr lang="en-US" sz="1200" dirty="0">
                                <a:solidFill>
                                  <a:srgbClr val="000000"/>
                                </a:solidFill>
                                <a:effectLst/>
                              </a:rPr>
                              <m:t>GP</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t>
                            </m:r>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p"/>
                                      </m:rPr>
                                      <a:rPr lang="en-US" sz="1200" dirty="0">
                                        <a:solidFill>
                                          <a:srgbClr val="000000"/>
                                        </a:solidFill>
                                        <a:effectLst/>
                                      </a:rPr>
                                      <m:t>W</m:t>
                                    </m:r>
                                  </m:e>
                                  <m:sub>
                                    <m:r>
                                      <m:rPr>
                                        <m:sty m:val="i"/>
                                      </m:rPr>
                                      <a:rPr lang="en-US" sz="1200" dirty="0">
                                        <a:solidFill>
                                          <a:srgbClr val="000000"/>
                                        </a:solidFill>
                                        <a:effectLst/>
                                      </a:rPr>
                                      <m:t>G</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W</m:t>
                                    </m:r>
                                  </m:e>
                                  <m:sub>
                                    <m:r>
                                      <m:rPr>
                                        <m:sty m:val="i"/>
                                      </m:rPr>
                                      <a:rPr lang="en-US" sz="1200" dirty="0">
                                        <a:solidFill>
                                          <a:srgbClr val="000000"/>
                                        </a:solidFill>
                                        <a:effectLst/>
                                      </a:rPr>
                                      <m:t>F</m:t>
                                    </m:r>
                                  </m:sub>
                                </m:sSub>
                              </m:e>
                            </m:d>
                            <m:r>
                              <m:rPr>
                                <m:sty m:val="p"/>
                              </m:rPr>
                              <a:rPr lang="en-US" sz="1200" dirty="0">
                                <a:solidFill>
                                  <a:srgbClr val="000000"/>
                                </a:solidFill>
                                <a:effectLst/>
                              </a:rPr>
                              <m:t>×</m:t>
                            </m:r>
                            <m:r>
                              <m:rPr>
                                <m:sty m:val="p"/>
                              </m:rPr>
                              <a:rPr lang="en-US" sz="1200" dirty="0">
                                <a:solidFill>
                                  <a:srgbClr val="000000"/>
                                </a:solidFill>
                                <a:effectLst/>
                              </a:rPr>
                              <m:t>100</m:t>
                            </m:r>
                          </m:e>
                          <m:e>
                            <m:r>
                              <m:rPr>
                                <m:sty m:val="p"/>
                              </m:rPr>
                              <a:rPr lang="en-US" sz="1200" dirty="0">
                                <a:solidFill>
                                  <a:srgbClr val="000000"/>
                                </a:solidFill>
                                <a:effectLst/>
                              </a:rPr>
                              <m:t>(5)</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695064"/>
                <a:ext cx="9144000" cy="9144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W</m:t>
                        </m:r>
                      </m:e>
                      <m:sub>
                        <m:r>
                          <m:rPr>
                            <m:sty m:val="i"/>
                          </m:rPr>
                          <a:rPr lang="en-US" sz="1200" dirty="0">
                            <a:solidFill>
                              <a:srgbClr val="000000"/>
                            </a:solidFill>
                            <a:effectLst/>
                          </a:rPr>
                          <m:t>F</m:t>
                        </m:r>
                      </m:sub>
                    </m:sSub>
                  </m:oMath>
                </a14:m>
                <a:r>
                  <a:rPr lang="en-US" sz="1200" dirty="0">
                    <a:effectLst/>
                  </a:rPr>
                  <a:t> is the weight of the LDPE flms before the grafting copolymerization;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W</m:t>
                        </m:r>
                      </m:e>
                      <m:sub>
                        <m:r>
                          <m:rPr>
                            <m:sty m:val="i"/>
                          </m:rPr>
                          <a:rPr lang="en-US" sz="1200" dirty="0">
                            <a:solidFill>
                              <a:srgbClr val="000000"/>
                            </a:solidFill>
                            <a:effectLst/>
                          </a:rPr>
                          <m:t>M</m:t>
                        </m:r>
                      </m:sub>
                    </m:sSub>
                  </m:oMath>
                </a14:m>
                <a:r>
                  <a:rPr lang="en-US" sz="1200" dirty="0">
                    <a:effectLst/>
                  </a:rPr>
                  <a:t> is the weight of the added monomers between the two films;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W</m:t>
                        </m:r>
                      </m:e>
                      <m:sub>
                        <m:r>
                          <m:rPr>
                            <m:sty m:val="i"/>
                          </m:rPr>
                          <a:rPr lang="en-US" sz="1200" dirty="0">
                            <a:solidFill>
                              <a:srgbClr val="000000"/>
                            </a:solidFill>
                            <a:effectLst/>
                          </a:rPr>
                          <m:t>P</m:t>
                        </m:r>
                      </m:sub>
                    </m:sSub>
                  </m:oMath>
                </a14:m>
                <a:r>
                  <a:rPr lang="en-US" sz="1200" dirty="0">
                    <a:effectLst/>
                  </a:rPr>
                  <a:t> is the weight of the polymer formed, including both the homopolymers of VA and MA and the copolymers grafted and not grafted onto LDPE films, obtained by weighing the films after the vaporization of the residual monomers; and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W</m:t>
                        </m:r>
                      </m:e>
                      <m:sub>
                        <m:r>
                          <m:rPr>
                            <m:sty m:val="i"/>
                          </m:rPr>
                          <a:rPr lang="en-US" sz="1200" dirty="0">
                            <a:solidFill>
                              <a:srgbClr val="000000"/>
                            </a:solidFill>
                            <a:effectLst/>
                          </a:rPr>
                          <m:t>G</m:t>
                        </m:r>
                      </m:sub>
                    </m:sSub>
                  </m:oMath>
                </a14:m>
                <a:r>
                  <a:rPr lang="en-US" sz="1200" dirty="0">
                    <a:effectLst/>
                  </a:rPr>
                  <a:t> is the weight of the grafted polymer, which was obtained after the extraction of the homopolymers and nongrafted copolymers with acetone.</a:t>
                </a:r>
              </a:p>
            </p:txBody>
          </p:sp>
        </mc:Choice>
        <mc:Fallback/>
      </mc:AlternateContent>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600200"/>
          </a:xfrm>
          <a:prstGeom prst="rect">
            <a:avLst/>
          </a:prstGeom>
        </p:spPr>
        <p:txBody>
          <a:bodyPr anchor="t" lIns="0" tIns="0" rIns="0" bIns="0">
            <a:noAutofit/>
          </a:bodyPr>
          <a:lstStyle/>
          <a:p>
            <a:pPr>
              <a:lnSpc>
                <a:spcPct val="120000"/>
              </a:lnSpc>
            </a:pPr>
            <a:r>
              <a:rPr lang="en-US" sz="1200" dirty="0">
                <a:effectLst/>
              </a:rPr>
              <a:t>The results of authors showed that the monomer composition played a great role in this binary system; appropriately increasing the MA content in the monomer feed was suited for grafting copolymerization. The three photoinitiators (2,2-dimethoxy-2-phenylaceto- phenone, benzoyl peroxide, and benzophenone) led to only slight differences in CP, but for GE, benzoyl peroxide was the most suitable. As for various other solvents (acetone, ethyl acetate, THF, and chloroform), the usage of those enabled the donation of electrons (acetone and THF) resulting in relatively higher CP values: on the contrary, the use of other solvents made GE obviously higher, and this should be attributed to the charge-transfer complex (CTC) formed in this system. It is known that in acceptor-donor MA(A)-VA(D) monomer system, when irradiated by UV light, an exciplex ([D-A*]) can be generated [268,269]:</a:t>
            </a:r>
          </a:p>
        </p:txBody>
      </p:sp>
      <mc:AlternateContent xmlns:mc="http://schemas.openxmlformats.org/markup-compatibility/2006">
        <mc:Choice xmlns:a14="http://schemas.microsoft.com/office/drawing/2010/main" Requires="a14">
          <p:sp>
            <p:nvSpPr>
              <p:cNvPr id="2" name="Text"/>
              <p:cNvSpPr/>
              <p:nvPr/>
            </p:nvSpPr>
            <p:spPr>
              <a:xfrm>
                <a:off x="1524000" y="2209800"/>
                <a:ext cx="9144000" cy="1381125"/>
              </a:xfrm>
              <a:prstGeom prst="rect">
                <a:avLst/>
              </a:prstGeom>
            </p:spPr>
            <p:txBody>
              <a:bodyPr anchor="ctr" lIns="0" tIns="0" rIns="0" bIns="0">
                <a:noAutofit/>
              </a:bodyPr>
              <a:lstStyle/>
              <a:p>
                <a:pPr algn="ctr"/>
                <a14:m>
                  <m:oMathPara>
                    <m:oMath>
                      <m:m>
                        <m:mPr>
                          <m:plcHide m:val="1"/>
                          <m:cGpRule m:val="4"/>
                          <m:mcs>
                            <m:mc>
                              <m:mcPr>
                                <m:count m:val="1"/>
                                <m:mcJc m:val="right"/>
                              </m:mcPr>
                            </m:mc>
                            <m:mc>
                              <m:mcPr>
                                <m:count m:val="1"/>
                                <m:mcJc m:val="left"/>
                              </m:mcPr>
                            </m:mc>
                          </m:mcs>
                          <m:ctrlPr>
                            <a:rPr sz="1200" i="1">
                              <a:latin typeface="Cambria Math" panose="02040503050406030204" pitchFamily="18" charset="0"/>
                            </a:rPr>
                          </m:ctrlPr>
                        </m:mPr>
                        <m:mr>
                          <m:e>
                            <m:r>
                              <m:t xml:space="preserve"> </m:t>
                            </m:r>
                          </m:e>
                          <m:e>
                            <m:r>
                              <m:rPr>
                                <m:sty m:val="p"/>
                              </m:rPr>
                              <a:rPr lang="en-US" sz="1200" dirty="0">
                                <a:solidFill>
                                  <a:srgbClr val="000000"/>
                                </a:solidFill>
                                <a:effectLst/>
                              </a:rPr>
                              <m:t>D</m:t>
                            </m:r>
                            <m:r>
                              <m:rPr>
                                <m:sty m:val="p"/>
                              </m:rPr>
                              <a:rPr lang="en-US" sz="1200" dirty="0">
                                <a:solidFill>
                                  <a:srgbClr val="000000"/>
                                </a:solidFill>
                                <a:effectLst/>
                              </a:rPr>
                              <m:t>+</m:t>
                            </m:r>
                            <m:r>
                              <m:rPr>
                                <m:sty m:val="p"/>
                              </m:rPr>
                              <a:rPr lang="en-US" sz="1200" dirty="0">
                                <a:solidFill>
                                  <a:srgbClr val="000000"/>
                                </a:solidFill>
                                <a:effectLst/>
                              </a:rPr>
                              <m:t>A</m:t>
                            </m:r>
                            <m:limUpp>
                              <m:limUppPr>
                                <m:ctrlPr>
                                  <a:rPr sz="1200">
                                    <a:latin typeface="Cambria Math" panose="02040503050406030204" pitchFamily="18" charset="0"/>
                                  </a:rPr>
                                </m:ctrlPr>
                              </m:limUppPr>
                              <m:e>
                                <m:r>
                                  <m:rPr>
                                    <m:sty m:val="p"/>
                                  </m:rPr>
                                  <a:rPr lang="en-US" sz="1200" dirty="0">
                                    <a:solidFill>
                                      <a:srgbClr val="000000"/>
                                    </a:solidFill>
                                    <a:effectLst/>
                                  </a:rPr>
                                  <m:t>→</m:t>
                                </m:r>
                              </m:e>
                              <m:lim>
                                <m:phant>
                                  <m:phantPr>
                                    <m:ctrlPr>
                                      <a:rPr sz="1200">
                                        <a:latin typeface="Cambria Math" panose="02040503050406030204" pitchFamily="18" charset="0"/>
                                      </a:rPr>
                                    </m:ctrlPr>
                                  </m:phantPr>
                                  <m:e>
                                    <m:r>
                                      <m:rPr>
                                        <m:sty m:val="i"/>
                                      </m:rPr>
                                      <a:rPr lang="en-US" sz="1200" dirty="0">
                                        <a:solidFill>
                                          <a:srgbClr val="000000"/>
                                        </a:solidFill>
                                        <a:effectLst/>
                                      </a:rPr>
                                      <m:t>h</m:t>
                                    </m:r>
                                    <m:r>
                                      <m:rPr>
                                        <m:sty m:val="i"/>
                                      </m:rPr>
                                      <a:rPr lang="en-US" sz="1200" dirty="0">
                                        <a:solidFill>
                                          <a:srgbClr val="000000"/>
                                        </a:solidFill>
                                        <a:effectLst/>
                                      </a:rPr>
                                      <m:t>v</m:t>
                                    </m:r>
                                    <m:r>
                                      <m:rPr>
                                        <m:sty m:val="p"/>
                                      </m:rPr>
                                      <a:rPr lang="en-US" sz="1200" dirty="0">
                                        <a:solidFill>
                                          <a:srgbClr val="000000"/>
                                        </a:solidFill>
                                        <a:effectLst/>
                                      </a:rPr>
                                      <m:t xml:space="preserve"> </m:t>
                                    </m:r>
                                  </m:e>
                                </m:phant>
                              </m:lim>
                            </m:limUpp>
                            <m:limLow>
                              <m:limLowPr>
                                <m:ctrlPr>
                                  <a:rPr sz="1200">
                                    <a:latin typeface="Cambria Math" panose="02040503050406030204" pitchFamily="18" charset="0"/>
                                  </a:rPr>
                                </m:ctrlPr>
                              </m:limLowPr>
                              <m:e>
                                <m:r>
                                  <m:t xml:space="preserve"> </m:t>
                                </m:r>
                              </m:e>
                              <m:lim>
                                <m:m>
                                  <m:mPr>
                                    <m:plcHide m:val="1"/>
                                    <m:cGpRule m:val="4"/>
                                    <m:mcs>
                                      <m:mc>
                                        <m:mcPr>
                                          <m:count m:val="1"/>
                                          <m:mcJc m:val="center"/>
                                        </m:mcPr>
                                      </m:mc>
                                    </m:mcs>
                                    <m:ctrlPr>
                                      <a:rPr sz="1200" i="1">
                                        <a:latin typeface="Cambria Math" panose="02040503050406030204" pitchFamily="18" charset="0"/>
                                      </a:rPr>
                                    </m:ctrlPr>
                                  </m:mPr>
                                  <m:mr>
                                    <m:e>
                                      <m:r>
                                        <m:rPr>
                                          <m:sty m:val="i"/>
                                        </m:rPr>
                                        <a:rPr lang="en-US" sz="1200" dirty="0">
                                          <a:solidFill>
                                            <a:srgbClr val="000000"/>
                                          </a:solidFill>
                                          <a:effectLst/>
                                        </a:rPr>
                                        <m:t>h</m:t>
                                      </m:r>
                                      <m:r>
                                        <m:rPr>
                                          <m:sty m:val="i"/>
                                        </m:rPr>
                                        <a:rPr lang="en-US" sz="1200" dirty="0">
                                          <a:solidFill>
                                            <a:srgbClr val="000000"/>
                                          </a:solidFill>
                                          <a:effectLst/>
                                        </a:rPr>
                                        <m:t>v</m:t>
                                      </m:r>
                                    </m:e>
                                  </m:mr>
                                </m:m>
                              </m:lim>
                            </m:limLow>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D</m:t>
                            </m:r>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A</m:t>
                            </m:r>
                            <m:r>
                              <m:rPr>
                                <m:sty m:val="p"/>
                              </m:rPr>
                              <a:rPr lang="en-US" sz="1200" dirty="0">
                                <a:solidFill>
                                  <a:srgbClr val="000000"/>
                                </a:solidFill>
                                <a:effectLst/>
                              </a:rPr>
                              <m:t>]</m:t>
                            </m:r>
                          </m:e>
                          <m:e>
                            <m:r>
                              <m:t xml:space="preserve"> </m:t>
                            </m:r>
                          </m:e>
                        </m:mr>
                        <m:mr>
                          <m:e>
                            <m:r>
                              <m:t xml:space="preserve"> </m:t>
                            </m:r>
                          </m:e>
                          <m:e>
                            <m:r>
                              <m:rPr>
                                <m:sty m:val="p"/>
                              </m:rPr>
                              <a:rPr lang="en-US" sz="1200" dirty="0">
                                <a:solidFill>
                                  <a:srgbClr val="000000"/>
                                </a:solidFill>
                                <a:effectLst/>
                              </a:rPr>
                              <m:t>D</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D</m:t>
                                </m:r>
                              </m:e>
                              <m:sup>
                                <m:r>
                                  <m:rPr>
                                    <m:sty m:val="p"/>
                                  </m:rPr>
                                  <a:rPr lang="en-US" sz="1200" dirty="0">
                                    <a:solidFill>
                                      <a:srgbClr val="000000"/>
                                    </a:solidFill>
                                    <a:effectLst/>
                                  </a:rPr>
                                  <m:t>∗</m:t>
                                </m:r>
                              </m:sup>
                            </m:sSup>
                            <m:r>
                              <m:rPr>
                                <m:sty m:val="p"/>
                              </m:rPr>
                              <a:rPr lang="en-US" sz="1200" dirty="0">
                                <a:solidFill>
                                  <a:srgbClr val="000000"/>
                                </a:solidFill>
                                <a:effectLst/>
                              </a:rPr>
                              <m:t>+</m:t>
                            </m:r>
                            <m:r>
                              <m:rPr>
                                <m:sty m:val="p"/>
                              </m:rPr>
                              <a:rPr lang="en-US" sz="1200" dirty="0">
                                <a:solidFill>
                                  <a:srgbClr val="000000"/>
                                </a:solidFill>
                                <a:effectLst/>
                              </a:rPr>
                              <m:t>A</m:t>
                            </m:r>
                            <m:limLow>
                              <m:limLowPr>
                                <m:ctrlPr>
                                  <a:rPr sz="1200">
                                    <a:latin typeface="Cambria Math" panose="02040503050406030204" pitchFamily="18" charset="0"/>
                                  </a:rPr>
                                </m:ctrlPr>
                              </m:limLowPr>
                              <m:e>
                                <m:r>
                                  <m:t xml:space="preserve"> </m:t>
                                </m:r>
                              </m:e>
                              <m:lim>
                                <m:m>
                                  <m:mPr>
                                    <m:plcHide m:val="1"/>
                                    <m:cGpRule m:val="4"/>
                                    <m:mcs>
                                      <m:mc>
                                        <m:mcPr>
                                          <m:count m:val="1"/>
                                          <m:mcJc m:val="center"/>
                                        </m:mcPr>
                                      </m:mc>
                                    </m:mcs>
                                    <m:ctrlPr>
                                      <a:rPr sz="1200" i="1">
                                        <a:latin typeface="Cambria Math" panose="02040503050406030204" pitchFamily="18" charset="0"/>
                                      </a:rPr>
                                    </m:ctrlPr>
                                  </m:mPr>
                                  <m:mr>
                                    <m:e>
                                      <m:r>
                                        <m:rPr>
                                          <m:sty m:val="i"/>
                                        </m:rPr>
                                        <a:rPr lang="en-US" sz="1200" dirty="0">
                                          <a:solidFill>
                                            <a:srgbClr val="000000"/>
                                          </a:solidFill>
                                          <a:effectLst/>
                                        </a:rPr>
                                        <m:t>h</m:t>
                                      </m:r>
                                      <m:r>
                                        <m:rPr>
                                          <m:sty m:val="i"/>
                                        </m:rPr>
                                        <a:rPr lang="en-US" sz="1200" dirty="0">
                                          <a:solidFill>
                                            <a:srgbClr val="000000"/>
                                          </a:solidFill>
                                          <a:effectLst/>
                                        </a:rPr>
                                        <m:t>v</m:t>
                                      </m:r>
                                    </m:e>
                                  </m:mr>
                                  <m:mr>
                                    <m:e>
                                      <m:r>
                                        <m:rPr>
                                          <m:sty m:val="i"/>
                                        </m:rPr>
                                        <a:rPr lang="en-US" sz="1200" dirty="0">
                                          <a:solidFill>
                                            <a:srgbClr val="000000"/>
                                          </a:solidFill>
                                          <a:effectLst/>
                                        </a:rPr>
                                        <m:t>h</m:t>
                                      </m:r>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d</m:t>
                                      </m:r>
                                    </m:e>
                                  </m:mr>
                                </m:m>
                              </m:lim>
                            </m:limLow>
                            <m:r>
                              <m:rPr>
                                <m:sty m:val="p"/>
                              </m:rPr>
                              <a:rPr lang="en-US" sz="1200" dirty="0">
                                <a:solidFill>
                                  <a:srgbClr val="000000"/>
                                </a:solidFill>
                                <a:effectLst/>
                              </a:rPr>
                              <m:t>[</m:t>
                            </m:r>
                            <m:r>
                              <m:rPr>
                                <m:sty m:val="p"/>
                              </m:rPr>
                              <a:rPr lang="en-US" sz="1200" dirty="0">
                                <a:solidFill>
                                  <a:srgbClr val="000000"/>
                                </a:solidFill>
                                <a:effectLst/>
                              </a:rPr>
                              <m:t>D</m:t>
                            </m:r>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A</m:t>
                            </m:r>
                            <m:sSup>
                              <m:sSupPr>
                                <m:ctrlPr>
                                  <a:rPr sz="1200">
                                    <a:latin typeface="Cambria Math" panose="02040503050406030204" pitchFamily="18" charset="0"/>
                                  </a:rPr>
                                </m:ctrlPr>
                              </m:sSupPr>
                              <m:e>
                                <m:r>
                                  <m:rPr>
                                    <m:sty m:val="p"/>
                                  </m:rPr>
                                  <a:rPr lang="en-US" sz="1200" dirty="0">
                                    <a:solidFill>
                                      <a:srgbClr val="000000"/>
                                    </a:solidFill>
                                    <a:effectLst/>
                                  </a:rPr>
                                  <m:t>]</m:t>
                                </m:r>
                              </m:e>
                              <m:sup>
                                <m:r>
                                  <m:rPr>
                                    <m:sty m:val="p"/>
                                  </m:rPr>
                                  <a:rPr lang="en-US" sz="1200" dirty="0">
                                    <a:solidFill>
                                      <a:srgbClr val="000000"/>
                                    </a:solidFill>
                                    <a:effectLst/>
                                  </a:rPr>
                                  <m:t>∗</m:t>
                                </m:r>
                              </m:sup>
                            </m:sSup>
                          </m:e>
                          <m:e>
                            <m:r>
                              <m:rPr>
                                <m:sty m:val="p"/>
                              </m:rPr>
                              <a:rPr lang="en-US" sz="1200" dirty="0">
                                <a:solidFill>
                                  <a:srgbClr val="000000"/>
                                </a:solidFill>
                                <a:effectLst/>
                              </a:rPr>
                              <m:t>(6)</m:t>
                            </m:r>
                          </m:e>
                        </m:mr>
                        <m:mr>
                          <m:e>
                            <m:r>
                              <m:t xml:space="preserve"> </m:t>
                            </m:r>
                          </m:e>
                          <m:e>
                            <m:r>
                              <m:rPr>
                                <m:sty m:val="p"/>
                              </m:rPr>
                              <a:rPr lang="en-US" sz="1200" dirty="0">
                                <a:solidFill>
                                  <a:srgbClr val="000000"/>
                                </a:solidFill>
                                <a:effectLst/>
                              </a:rPr>
                              <m:t xml:space="preserve"> </m:t>
                            </m:r>
                            <m:r>
                              <m:rPr>
                                <m:sty m:val="p"/>
                              </m:rPr>
                              <a:rPr lang="en-US" sz="1200" dirty="0">
                                <a:solidFill>
                                  <a:srgbClr val="000000"/>
                                </a:solidFill>
                                <a:effectLst/>
                              </a:rPr>
                              <m:t>A</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A</m:t>
                                </m:r>
                              </m:e>
                              <m:sup>
                                <m:r>
                                  <m:rPr>
                                    <m:sty m:val="p"/>
                                  </m:rPr>
                                  <a:rPr lang="en-US" sz="1200" dirty="0">
                                    <a:solidFill>
                                      <a:srgbClr val="000000"/>
                                    </a:solidFill>
                                    <a:effectLst/>
                                  </a:rPr>
                                  <m:t>∗</m:t>
                                </m:r>
                              </m:sup>
                            </m:sSup>
                            <m:r>
                              <m:rPr>
                                <m:sty m:val="p"/>
                              </m:rPr>
                              <a:rPr lang="en-US" sz="1200" dirty="0">
                                <a:solidFill>
                                  <a:srgbClr val="000000"/>
                                </a:solidFill>
                                <a:effectLst/>
                              </a:rPr>
                              <m:t>+</m:t>
                            </m:r>
                            <m:r>
                              <m:rPr>
                                <m:sty m:val="p"/>
                              </m:rPr>
                              <a:rPr lang="en-US" sz="1200" dirty="0">
                                <a:solidFill>
                                  <a:srgbClr val="000000"/>
                                </a:solidFill>
                                <a:effectLst/>
                              </a:rPr>
                              <m:t>D</m:t>
                            </m:r>
                            <m:limUpp>
                              <m:limUppPr>
                                <m:ctrlPr>
                                  <a:rPr sz="1200">
                                    <a:latin typeface="Cambria Math" panose="02040503050406030204" pitchFamily="18" charset="0"/>
                                  </a:rPr>
                                </m:ctrlPr>
                              </m:limUppPr>
                              <m:e>
                                <m:r>
                                  <m:rPr>
                                    <m:sty m:val="p"/>
                                  </m:rPr>
                                  <a:rPr lang="en-US" sz="1200" dirty="0">
                                    <a:solidFill>
                                      <a:srgbClr val="000000"/>
                                    </a:solidFill>
                                    <a:effectLst/>
                                  </a:rPr>
                                  <m:t>→</m:t>
                                </m:r>
                              </m:e>
                              <m:lim>
                                <m:phant>
                                  <m:phantPr>
                                    <m:ctrlPr>
                                      <a:rPr sz="1200">
                                        <a:latin typeface="Cambria Math" panose="02040503050406030204" pitchFamily="18" charset="0"/>
                                      </a:rPr>
                                    </m:ctrlPr>
                                  </m:phantPr>
                                  <m:e>
                                    <m:r>
                                      <m:rPr>
                                        <m:sty m:val="p"/>
                                      </m:rPr>
                                      <a:rPr lang="en-US" sz="1200" dirty="0">
                                        <a:solidFill>
                                          <a:srgbClr val="000000"/>
                                        </a:solidFill>
                                        <a:effectLst/>
                                      </a:rPr>
                                      <m:t>→</m:t>
                                    </m:r>
                                    <m:r>
                                      <m:rPr>
                                        <m:sty m:val="p"/>
                                      </m:rPr>
                                      <a:rPr lang="en-US" sz="1200" dirty="0">
                                        <a:solidFill>
                                          <a:srgbClr val="000000"/>
                                        </a:solidFill>
                                        <a:effectLst/>
                                      </a:rPr>
                                      <m:t xml:space="preserve"> </m:t>
                                    </m:r>
                                  </m:e>
                                </m:phant>
                              </m:lim>
                            </m:limUpp>
                            <m:r>
                              <m:rPr>
                                <m:sty m:val="p"/>
                              </m:rPr>
                              <a:rPr lang="en-US" sz="1200" dirty="0">
                                <a:solidFill>
                                  <a:srgbClr val="000000"/>
                                </a:solidFill>
                                <a:effectLst/>
                              </a:rPr>
                              <m:t>[</m:t>
                            </m:r>
                            <m:r>
                              <m:rPr>
                                <m:sty m:val="p"/>
                              </m:rPr>
                              <a:rPr lang="en-US" sz="1200" dirty="0">
                                <a:solidFill>
                                  <a:srgbClr val="000000"/>
                                </a:solidFill>
                                <a:effectLst/>
                              </a:rPr>
                              <m:t>D</m:t>
                            </m:r>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A</m:t>
                            </m:r>
                            <m:sSup>
                              <m:sSupPr>
                                <m:ctrlPr>
                                  <a:rPr sz="1200">
                                    <a:latin typeface="Cambria Math" panose="02040503050406030204" pitchFamily="18" charset="0"/>
                                  </a:rPr>
                                </m:ctrlPr>
                              </m:sSupPr>
                              <m:e>
                                <m:r>
                                  <m:rPr>
                                    <m:sty m:val="p"/>
                                  </m:rPr>
                                  <a:rPr lang="en-US" sz="1200" dirty="0">
                                    <a:solidFill>
                                      <a:srgbClr val="000000"/>
                                    </a:solidFill>
                                    <a:effectLst/>
                                  </a:rPr>
                                  <m:t>]</m:t>
                                </m:r>
                              </m:e>
                              <m:sup>
                                <m:r>
                                  <m:rPr>
                                    <m:sty m:val="p"/>
                                  </m:rPr>
                                  <a:rPr lang="en-US" sz="1200" dirty="0">
                                    <a:solidFill>
                                      <a:srgbClr val="000000"/>
                                    </a:solidFill>
                                    <a:effectLst/>
                                  </a:rPr>
                                  <m:t>∗</m:t>
                                </m:r>
                              </m:sup>
                            </m:sSup>
                          </m:e>
                          <m:r>
                            <m:t xml:space="preserve"> </m:t>
                          </m:r>
                        </m:mr>
                        <m:mr>
                          <m:e>
                            <m:r>
                              <m:t xml:space="preserve"> </m:t>
                            </m:r>
                          </m:e>
                          <m:e>
                            <m:r>
                              <m:rPr>
                                <m:sty m:val="p"/>
                              </m:rPr>
                              <a:rPr lang="en-US" sz="1200" dirty="0">
                                <a:solidFill>
                                  <a:srgbClr val="000000"/>
                                </a:solidFill>
                                <a:effectLst/>
                              </a:rPr>
                              <m:t>[</m:t>
                            </m:r>
                            <m:r>
                              <m:rPr>
                                <m:sty m:val="p"/>
                              </m:rPr>
                              <a:rPr lang="en-US" sz="1200" dirty="0">
                                <a:solidFill>
                                  <a:srgbClr val="000000"/>
                                </a:solidFill>
                                <a:effectLst/>
                              </a:rPr>
                              <m:t>D</m:t>
                            </m:r>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A</m:t>
                            </m:r>
                            <m:sSup>
                              <m:sSupPr>
                                <m:ctrlPr>
                                  <a:rPr sz="1200">
                                    <a:latin typeface="Cambria Math" panose="02040503050406030204" pitchFamily="18" charset="0"/>
                                  </a:rPr>
                                </m:ctrlPr>
                              </m:sSupPr>
                              <m:e>
                                <m:r>
                                  <m:rPr>
                                    <m:sty m:val="p"/>
                                  </m:rPr>
                                  <a:rPr lang="en-US" sz="1200" dirty="0">
                                    <a:solidFill>
                                      <a:srgbClr val="000000"/>
                                    </a:solidFill>
                                    <a:effectLst/>
                                  </a:rPr>
                                  <m:t>]</m:t>
                                </m:r>
                              </m:e>
                              <m:sup>
                                <m:r>
                                  <m:rPr>
                                    <m:sty m:val="p"/>
                                  </m:rPr>
                                  <a:rPr lang="en-US" sz="1200" dirty="0">
                                    <a:solidFill>
                                      <a:srgbClr val="000000"/>
                                    </a:solidFill>
                                    <a:effectLst/>
                                  </a:rPr>
                                  <m:t>∗</m:t>
                                </m:r>
                              </m:sup>
                            </m:sSup>
                            <m:r>
                              <m:rPr>
                                <m:sty m:val="p"/>
                              </m:rPr>
                              <a:rPr lang="en-US" sz="1200" dirty="0">
                                <a:solidFill>
                                  <a:srgbClr val="000000"/>
                                </a:solidFill>
                                <a:effectLst/>
                              </a:rPr>
                              <m:t>→</m:t>
                            </m:r>
                            <m:d>
                              <m:dPr>
                                <m:begChr m:val="["/>
                                <m:endChr m:val="]"/>
                                <m:ctrlPr>
                                  <a:rPr sz="1200">
                                    <a:latin typeface="Cambria Math" panose="02040503050406030204" pitchFamily="18" charset="0"/>
                                  </a:rPr>
                                </m:ctrlPr>
                              </m:dPr>
                              <m:e>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sSup>
                                  <m:sSupPr>
                                    <m:ctrlPr>
                                      <a:rPr sz="1200">
                                        <a:latin typeface="Cambria Math" panose="02040503050406030204" pitchFamily="18" charset="0"/>
                                      </a:rPr>
                                    </m:ctrlPr>
                                  </m:sSupPr>
                                  <m:e>
                                    <m:r>
                                      <m:rPr>
                                        <m:sty m:val="p"/>
                                      </m:rPr>
                                      <a:rPr lang="en-US" sz="1200" dirty="0">
                                        <a:solidFill>
                                          <a:srgbClr val="000000"/>
                                        </a:solidFill>
                                        <a:effectLst/>
                                      </a:rPr>
                                      <m:t>D</m:t>
                                    </m:r>
                                  </m:e>
                                  <m:sup>
                                    <m:r>
                                      <m:rPr>
                                        <m:sty m:val="p"/>
                                      </m:rPr>
                                      <a:rPr lang="en-US" sz="1200" dirty="0">
                                        <a:solidFill>
                                          <a:srgbClr val="000000"/>
                                        </a:solidFill>
                                        <a:effectLst/>
                                      </a:rPr>
                                      <m:t>+</m:t>
                                    </m:r>
                                  </m:sup>
                                </m:sSup>
                                <m:r>
                                  <m:rPr>
                                    <m:sty m:val="p"/>
                                  </m:rPr>
                                  <a:rPr lang="en-US" sz="1200" dirty="0">
                                    <a:solidFill>
                                      <a:srgbClr val="000000"/>
                                    </a:solidFill>
                                    <a:effectLst/>
                                  </a:rPr>
                                  <m:t>…</m:t>
                                </m:r>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sSup>
                                  <m:sSupPr>
                                    <m:ctrlPr>
                                      <a:rPr sz="1200">
                                        <a:latin typeface="Cambria Math" panose="02040503050406030204" pitchFamily="18" charset="0"/>
                                      </a:rPr>
                                    </m:ctrlPr>
                                  </m:sSupPr>
                                  <m:e>
                                    <m:r>
                                      <m:rPr>
                                        <m:sty m:val="p"/>
                                      </m:rPr>
                                      <a:rPr lang="en-US" sz="1200" dirty="0">
                                        <a:solidFill>
                                          <a:srgbClr val="000000"/>
                                        </a:solidFill>
                                        <a:effectLst/>
                                      </a:rPr>
                                      <m:t>A</m:t>
                                    </m:r>
                                  </m:e>
                                  <m:sup>
                                    <m:r>
                                      <m:rPr>
                                        <m:sty m:val="p"/>
                                      </m:rPr>
                                      <a:rPr lang="en-US" sz="1200" dirty="0">
                                        <a:solidFill>
                                          <a:srgbClr val="000000"/>
                                        </a:solidFill>
                                        <a:effectLst/>
                                      </a:rPr>
                                      <m:t>∗</m:t>
                                    </m:r>
                                  </m:sup>
                                </m:sSup>
                              </m:e>
                            </m:d>
                          </m:e>
                          <m:e>
                            <m:r>
                              <m:rPr>
                                <m:sty m:val="p"/>
                              </m:rPr>
                              <a:rPr lang="en-US" sz="1200" dirty="0">
                                <a:solidFill>
                                  <a:srgbClr val="000000"/>
                                </a:solidFill>
                                <a:effectLst/>
                              </a:rPr>
                              <m:t>(7)</m:t>
                            </m:r>
                          </m:e>
                        </m:mr>
                      </m:m>
                    </m:oMath>
                  </m:oMathPara>
                </a14:m>
              </a:p>
            </p:txBody>
          </p:sp>
        </mc:Choice>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3657600"/>
              </a:xfrm>
              <a:prstGeom prst="rect">
                <a:avLst/>
              </a:prstGeom>
            </p:spPr>
            <p:txBody>
              <a:bodyPr anchor="t" lIns="0" tIns="0" rIns="0" bIns="0">
                <a:noAutofit/>
              </a:bodyPr>
              <a:lstStyle/>
              <a:p>
                <a:pPr>
                  <a:lnSpc>
                    <a:spcPct val="120000"/>
                  </a:lnSpc>
                </a:pPr>
                <a:r>
                  <a:rPr lang="en-US" sz="1200" dirty="0">
                    <a:effectLst/>
                  </a:rPr>
                  <a:t>Authors proved that [D...A]* is not stable; especially when irradiated by UV radiation, it can transform into </a:t>
                </a:r>
                <a:r>
                  <a:rPr lang="en-US" sz="1200" dirty="0">
                    <a:effectLst/>
                  </a:rPr>
                  <a:t>​</a:t>
                </a:r>
                <a14:m>
                  <m:oMath>
                    <m:d>
                      <m:dPr>
                        <m:begChr m:val="["/>
                        <m:endChr m:val="]"/>
                        <m:ctrlPr>
                          <a:rPr sz="1200">
                            <a:latin typeface="Cambria Math" panose="02040503050406030204" pitchFamily="18" charset="0"/>
                          </a:rPr>
                        </m:ctrlPr>
                      </m:dPr>
                      <m:e>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sSup>
                          <m:sSupPr>
                            <m:ctrlPr>
                              <a:rPr sz="1200">
                                <a:latin typeface="Cambria Math" panose="02040503050406030204" pitchFamily="18" charset="0"/>
                              </a:rPr>
                            </m:ctrlPr>
                          </m:sSupPr>
                          <m:e>
                            <m:r>
                              <m:rPr>
                                <m:sty m:val="p"/>
                              </m:rPr>
                              <a:rPr lang="en-US" sz="1200" dirty="0">
                                <a:solidFill>
                                  <a:srgbClr val="000000"/>
                                </a:solidFill>
                                <a:effectLst/>
                              </a:rPr>
                              <m:t>D</m:t>
                            </m:r>
                          </m:e>
                          <m:sup>
                            <m:r>
                              <m:rPr>
                                <m:sty m:val="p"/>
                              </m:rPr>
                              <a:rPr lang="en-US" sz="1200" dirty="0">
                                <a:solidFill>
                                  <a:srgbClr val="000000"/>
                                </a:solidFill>
                                <a:effectLst/>
                              </a:rPr>
                              <m:t>+</m:t>
                            </m:r>
                          </m:sup>
                        </m:sSup>
                        <m:r>
                          <m:rPr>
                            <m:sty m:val="p"/>
                          </m:rPr>
                          <a:rPr lang="en-US" sz="1200" dirty="0">
                            <a:solidFill>
                              <a:srgbClr val="000000"/>
                            </a:solidFill>
                            <a:effectLst/>
                          </a:rPr>
                          <m:t>…</m:t>
                        </m:r>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sSup>
                          <m:sSupPr>
                            <m:ctrlPr>
                              <a:rPr sz="1200">
                                <a:latin typeface="Cambria Math" panose="02040503050406030204" pitchFamily="18" charset="0"/>
                              </a:rPr>
                            </m:ctrlPr>
                          </m:sSupPr>
                          <m:e>
                            <m:r>
                              <m:rPr>
                                <m:sty m:val="p"/>
                              </m:rPr>
                              <a:rPr lang="en-US" sz="1200" dirty="0">
                                <a:solidFill>
                                  <a:srgbClr val="000000"/>
                                </a:solidFill>
                                <a:effectLst/>
                              </a:rPr>
                              <m:t>A</m:t>
                            </m:r>
                          </m:e>
                          <m:sup>
                            <m:r>
                              <m:rPr>
                                <m:sty m:val="p"/>
                              </m:rPr>
                              <a:rPr lang="en-US" sz="1200" dirty="0">
                                <a:solidFill>
                                  <a:srgbClr val="000000"/>
                                </a:solidFill>
                                <a:effectLst/>
                              </a:rPr>
                              <m:t>⋅</m:t>
                            </m:r>
                          </m:sup>
                        </m:sSup>
                      </m:e>
                    </m:d>
                  </m:oMath>
                </a14:m>
                <a:r>
                  <a:rPr lang="en-US" sz="1200" dirty="0">
                    <a:effectLst/>
                  </a:rPr>
                  <a:t>, which contains two ions and two free radicals simultaneously. Deng and Yang [261] assumed that [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sSup>
                      <m:sSupPr>
                        <m:ctrlPr>
                          <a:rPr sz="1200">
                            <a:latin typeface="Cambria Math" panose="02040503050406030204" pitchFamily="18" charset="0"/>
                          </a:rPr>
                        </m:ctrlPr>
                      </m:sSupPr>
                      <m:e>
                        <m:r>
                          <m:rPr>
                            <m:sty m:val="p"/>
                          </m:rPr>
                          <a:rPr lang="en-US" sz="1200" dirty="0">
                            <a:solidFill>
                              <a:srgbClr val="000000"/>
                            </a:solidFill>
                            <a:effectLst/>
                          </a:rPr>
                          <m:t>D</m:t>
                        </m:r>
                      </m:e>
                      <m:sup>
                        <m:r>
                          <m:rPr>
                            <m:sty m:val="p"/>
                          </m:rPr>
                          <a:rPr lang="en-US" sz="1200" dirty="0">
                            <a:solidFill>
                              <a:srgbClr val="000000"/>
                            </a:solidFill>
                            <a:effectLst/>
                          </a:rPr>
                          <m:t>+</m:t>
                        </m:r>
                      </m:sup>
                    </m:sSup>
                    <m:r>
                      <m:rPr>
                        <m:sty m:val="p"/>
                      </m:rPr>
                      <a:rPr lang="en-US" sz="1200" dirty="0">
                        <a:solidFill>
                          <a:srgbClr val="000000"/>
                        </a:solidFill>
                        <a:effectLst/>
                      </a:rPr>
                      <m:t>…</m:t>
                    </m:r>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sSup>
                      <m:sSupPr>
                        <m:ctrlPr>
                          <a:rPr sz="1200">
                            <a:latin typeface="Cambria Math" panose="02040503050406030204" pitchFamily="18" charset="0"/>
                          </a:rPr>
                        </m:ctrlPr>
                      </m:sSupPr>
                      <m:e>
                        <m:r>
                          <m:rPr>
                            <m:sty m:val="p"/>
                          </m:rPr>
                          <a:rPr lang="en-US" sz="1200" dirty="0">
                            <a:solidFill>
                              <a:srgbClr val="000000"/>
                            </a:solidFill>
                            <a:effectLst/>
                          </a:rPr>
                          <m:t>A</m:t>
                        </m:r>
                      </m:e>
                      <m:sup>
                        <m:r>
                          <m:rPr>
                            <m:sty m:val="p"/>
                          </m:rPr>
                          <a:rPr lang="en-US" sz="1200" dirty="0">
                            <a:solidFill>
                              <a:srgbClr val="000000"/>
                            </a:solidFill>
                            <a:effectLst/>
                          </a:rPr>
                          <m:t>∘</m:t>
                        </m:r>
                      </m:sup>
                    </m:sSup>
                  </m:oMath>
                </a14:m>
                <a:r>
                  <a:rPr lang="en-US" sz="1200" dirty="0">
                    <a:effectLst/>
                  </a:rPr>
                  <a:t> ] can undergo hydrogen abstraction in the presence of active hydrogens in the system. According to authors, a chain-transfer reaction may make some contribution to the grafting copolymerization also. The photografting of such acceptor-donor monomer systems is a pathway different from that of general methods and will provide better insight into the mechanism of alternating copolymerization. Authors [268] studied the photografting copolymerization of MA with VA from the perspective of dynamics. The resulting authors showed that in comparison with the photografting polymerization of the two single monomers, polymerization rate (PR) and RG noticeably increased for the MA-VA binary system. When the total monomer concentration was kept at </a:t>
                </a:r>
                <a:r>
                  <a:rPr lang="en-US" sz="1200" dirty="0">
                    <a:effectLst/>
                  </a:rPr>
                  <a:t>​</a:t>
                </a:r>
                <a14:m>
                  <m:oMath>
                    <m:r>
                      <m:rPr>
                        <m:sty m:val="p"/>
                      </m:rPr>
                      <a:rPr lang="en-US" sz="1200" dirty="0">
                        <a:solidFill>
                          <a:srgbClr val="000000"/>
                        </a:solidFill>
                        <a:effectLst/>
                      </a:rPr>
                      <m:t>4</m:t>
                    </m:r>
                    <m:r>
                      <m:rPr>
                        <m:sty m:val="i"/>
                      </m:rPr>
                      <a:rPr lang="en-US" sz="1200" dirty="0">
                        <a:solidFill>
                          <a:srgbClr val="000000"/>
                        </a:solidFill>
                        <a:effectLst/>
                      </a:rPr>
                      <m:t>M</m:t>
                    </m:r>
                  </m:oMath>
                </a14:m>
                <a:r>
                  <a:rPr lang="en-US" sz="1200" dirty="0">
                    <a:effectLst/>
                  </a:rPr>
                  <a:t>, the apparent activation energy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p"/>
                              </m:rPr>
                              <a:rPr lang="en-US" sz="1200" dirty="0">
                                <a:solidFill>
                                  <a:srgbClr val="000000"/>
                                </a:solidFill>
                                <a:effectLst/>
                              </a:rPr>
                              <m:t>a</m:t>
                            </m:r>
                          </m:sub>
                        </m:sSub>
                      </m:e>
                    </m:d>
                  </m:oMath>
                </a14:m>
                <a:r>
                  <a:rPr lang="en-US" sz="1200" dirty="0">
                    <a:effectLst/>
                  </a:rPr>
                  <a:t> of the three photografting polymerization systems were as follows: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p"/>
                          </m:rPr>
                          <a:rPr lang="en-US" sz="1200" dirty="0">
                            <a:solidFill>
                              <a:srgbClr val="000000"/>
                            </a:solidFill>
                            <a:effectLst/>
                          </a:rPr>
                          <m:t>a</m:t>
                        </m:r>
                      </m:sub>
                    </m:sSub>
                    <m:r>
                      <m:rPr>
                        <m:sty m:val="p"/>
                      </m:rPr>
                      <a:rPr lang="en-US" sz="1200" dirty="0">
                        <a:solidFill>
                          <a:srgbClr val="000000"/>
                        </a:solidFill>
                        <a:effectLst/>
                      </a:rPr>
                      <m:t>=</m:t>
                    </m:r>
                    <m:r>
                      <m:rPr>
                        <m:sty m:val="p"/>
                      </m:rPr>
                      <a:rPr lang="en-US" sz="1200" dirty="0">
                        <a:solidFill>
                          <a:srgbClr val="000000"/>
                        </a:solidFill>
                        <a:effectLst/>
                      </a:rPr>
                      <m:t>41</m:t>
                    </m:r>
                    <m:r>
                      <m:rPr>
                        <m:sty m:val="p"/>
                      </m:rPr>
                      <a:rPr lang="en-US" sz="1200" dirty="0">
                        <a:solidFill>
                          <a:srgbClr val="000000"/>
                        </a:solidFill>
                        <a:effectLst/>
                      </a:rPr>
                      <m:t>,</m:t>
                    </m:r>
                    <m:r>
                      <m:rPr>
                        <m:sty m:val="p"/>
                      </m:rPr>
                      <a:rPr lang="en-US" sz="1200" dirty="0">
                        <a:solidFill>
                          <a:srgbClr val="000000"/>
                        </a:solidFill>
                        <a:effectLst/>
                      </a:rPr>
                      <m:t>0</m:t>
                    </m:r>
                  </m:oMath>
                </a14:m>
                <a:r>
                  <a:rPr lang="en-US" sz="1200" dirty="0">
                    <a:effectLst/>
                  </a:rPr>
                  <a:t> and </a:t>
                </a:r>
                <a:r>
                  <a:rPr lang="en-US" sz="1200" dirty="0">
                    <a:effectLst/>
                  </a:rPr>
                  <a:t>​</a:t>
                </a:r>
                <a14:m>
                  <m:oMath>
                    <m:r>
                      <m:rPr>
                        <m:sty m:val="p"/>
                      </m:rPr>
                      <a:rPr lang="en-US" sz="1200" dirty="0">
                        <a:solidFill>
                          <a:srgbClr val="000000"/>
                        </a:solidFill>
                        <a:effectLst/>
                      </a:rPr>
                      <m:t>43.9</m:t>
                    </m:r>
                    <m:r>
                      <m:rPr>
                        <m:sty m:val="p"/>
                      </m:rPr>
                      <a:rPr lang="en-US" sz="1200" dirty="0">
                        <a:solidFill>
                          <a:srgbClr val="000000"/>
                        </a:solidFill>
                        <a:effectLst/>
                      </a:rPr>
                      <m:t xml:space="preserve"> </m:t>
                    </m:r>
                    <m:r>
                      <m:rPr>
                        <m:sty m:val="p"/>
                      </m:rPr>
                      <a:rPr lang="en-US" sz="1200" dirty="0">
                        <a:solidFill>
                          <a:srgbClr val="000000"/>
                        </a:solidFill>
                        <a:effectLst/>
                      </a:rPr>
                      <m:t>kJ</m:t>
                    </m:r>
                    <m:r>
                      <m:rPr>
                        <m:sty m:val="p"/>
                      </m:rPr>
                      <a:rPr lang="en-US" sz="1200" dirty="0">
                        <a:solidFill>
                          <a:srgbClr val="000000"/>
                        </a:solidFill>
                        <a:effectLst/>
                      </a:rPr>
                      <m:t>/</m:t>
                    </m:r>
                    <m:r>
                      <m:rPr>
                        <m:sty m:val="p"/>
                      </m:rPr>
                      <a:rPr lang="en-US" sz="1200" dirty="0">
                        <a:solidFill>
                          <a:srgbClr val="000000"/>
                        </a:solidFill>
                        <a:effectLst/>
                      </a:rPr>
                      <m:t>mol</m:t>
                    </m:r>
                  </m:oMath>
                </a14:m>
                <a:r>
                  <a:rPr lang="en-US" sz="1200" dirty="0">
                    <a:effectLst/>
                  </a:rPr>
                  <a:t> (for the total polymerization and grafting polymerization of VA, respectively) and 39.65 and 43.23 </a:t>
                </a:r>
                <a:r>
                  <a:rPr lang="en-US" sz="1200" dirty="0">
                    <a:effectLst/>
                  </a:rPr>
                  <a:t>​</a:t>
                </a:r>
                <a14:m>
                  <m:oMath>
                    <m:r>
                      <m:rPr>
                        <m:sty m:val="p"/>
                      </m:rPr>
                      <a:rPr lang="en-US" sz="1200" dirty="0">
                        <a:solidFill>
                          <a:srgbClr val="000000"/>
                        </a:solidFill>
                        <a:effectLst/>
                      </a:rPr>
                      <m:t>kJ</m:t>
                    </m:r>
                    <m:r>
                      <m:rPr>
                        <m:sty m:val="p"/>
                      </m:rPr>
                      <a:rPr lang="en-US" sz="1200" dirty="0">
                        <a:solidFill>
                          <a:srgbClr val="000000"/>
                        </a:solidFill>
                        <a:effectLst/>
                      </a:rPr>
                      <m:t>/</m:t>
                    </m:r>
                    <m:r>
                      <m:rPr>
                        <m:sty m:val="p"/>
                      </m:rPr>
                      <a:rPr lang="en-US" sz="1200" dirty="0">
                        <a:solidFill>
                          <a:srgbClr val="000000"/>
                        </a:solidFill>
                        <a:effectLst/>
                      </a:rPr>
                      <m:t>mol</m:t>
                    </m:r>
                  </m:oMath>
                </a14:m>
                <a:r>
                  <a:rPr lang="en-US" sz="1200" dirty="0">
                    <a:effectLst/>
                  </a:rPr>
                  <a:t> (for MA, respectively), and 34.35 and 40.32 for the MA-VA binary monomer system, respectively. These results suggested that the polymerization of the binary system occured more readily than the other two. Authors inferred that in the binary monomer system, both the free monomers and CTC took part in the polymerization, which is very similar to the general principles of complex-radical alternating copolymerization [27]; to the termination of the propagating chains, two possible pathways, unimolecular termination and bimolecular termination, coexisted in this binary monomer system. According to the authors, the photografting copolymerization of MA and VA on the LDPE film surface and its mechanism can be presented as follows [268]:</a:t>
                </a:r>
              </a:p>
            </p:txBody>
          </p:sp>
        </mc:Choice>
        <mc:Fallback/>
      </mc:AlternateContent>
      <p:sp>
        <p:nvSpPr>
          <p:cNvPr id="2" name="Text"/>
          <p:cNvSpPr/>
          <p:nvPr/>
        </p:nvSpPr>
        <p:spPr>
          <a:xfrm>
            <a:off x="1524000" y="4267200"/>
            <a:ext cx="9144000" cy="228600"/>
          </a:xfrm>
          <a:prstGeom prst="rect">
            <a:avLst/>
          </a:prstGeom>
        </p:spPr>
        <p:txBody>
          <a:bodyPr anchor="t" lIns="0" tIns="0" rIns="0" bIns="0">
            <a:noAutofit/>
          </a:bodyPr>
          <a:lstStyle/>
          <a:p>
            <a:pPr>
              <a:lnSpc>
                <a:spcPct val="120000"/>
              </a:lnSpc>
            </a:pPr>
            <a:r>
              <a:rPr lang="en-US" sz="1200" dirty="0">
                <a:effectLst/>
              </a:rPr>
              <a:t>CT-complex formation</a:t>
            </a:r>
          </a:p>
        </p:txBody>
      </p:sp>
      <mc:AlternateContent xmlns:mc="http://schemas.openxmlformats.org/markup-compatibility/2006">
        <mc:Choice xmlns:a14="http://schemas.microsoft.com/office/drawing/2010/main" Requires="a14">
          <p:sp>
            <p:nvSpPr>
              <p:cNvPr id="2" name="Text"/>
              <p:cNvSpPr/>
              <p:nvPr/>
            </p:nvSpPr>
            <p:spPr>
              <a:xfrm>
                <a:off x="1524000" y="4648200"/>
                <a:ext cx="9144000" cy="419100"/>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c</m:t>
                                </m:r>
                              </m:sub>
                            </m:sSub>
                          </m:e>
                          <m:e>
                            <m:r>
                              <m:t xml:space="preserve"> </m:t>
                            </m:r>
                          </m:e>
                        </m:mr>
                        <m:mr>
                          <m:e>
                            <m:r>
                              <m:rPr>
                                <m:sty m:val="p"/>
                              </m:rPr>
                              <a:rPr lang="en-US" sz="1200" dirty="0">
                                <a:solidFill>
                                  <a:srgbClr val="000000"/>
                                </a:solidFill>
                                <a:effectLst/>
                              </a:rPr>
                              <m:t>VA</m:t>
                            </m:r>
                            <m:r>
                              <m:rPr>
                                <m:sty m:val="p"/>
                              </m:rPr>
                              <a:rPr lang="en-US" sz="1200" dirty="0">
                                <a:solidFill>
                                  <a:srgbClr val="000000"/>
                                </a:solidFill>
                                <a:effectLst/>
                              </a:rPr>
                              <m:t>+</m:t>
                            </m:r>
                            <m:r>
                              <m:rPr>
                                <m:sty m:val="p"/>
                              </m:rPr>
                              <a:rPr lang="en-US" sz="1200" dirty="0">
                                <a:solidFill>
                                  <a:srgbClr val="000000"/>
                                </a:solidFill>
                                <a:effectLst/>
                              </a:rPr>
                              <m:t>MA</m:t>
                            </m:r>
                            <m:r>
                              <m:rPr>
                                <m:sty m:val="p"/>
                              </m:rPr>
                              <a:rPr lang="en-US" sz="1200" dirty="0">
                                <a:solidFill>
                                  <a:srgbClr val="000000"/>
                                </a:solidFill>
                                <a:effectLst/>
                              </a:rPr>
                              <m:t>↔</m:t>
                            </m:r>
                            <m:r>
                              <m:rPr>
                                <m:sty m:val="p"/>
                              </m:rPr>
                              <a:rPr lang="en-US" sz="1200" dirty="0">
                                <a:solidFill>
                                  <a:srgbClr val="000000"/>
                                </a:solidFill>
                                <a:effectLst/>
                              </a:rPr>
                              <m:t>CTC</m:t>
                            </m:r>
                          </m:e>
                          <m:e>
                            <m:r>
                              <m:rPr>
                                <m:sty m:val="p"/>
                              </m:rPr>
                              <a:rPr lang="en-US" sz="1200" dirty="0">
                                <a:solidFill>
                                  <a:srgbClr val="000000"/>
                                </a:solidFill>
                                <a:effectLst/>
                              </a:rPr>
                              <m:t>(10)</m:t>
                            </m:r>
                          </m:e>
                        </m:mr>
                      </m:m>
                    </m:oMath>
                  </m:oMathPara>
                </a14:m>
              </a:p>
            </p:txBody>
          </p:sp>
        </mc:Choice>
        <mc:Fallback/>
      </mc:AlternateContent>
      <p:sp>
        <p:nvSpPr>
          <p:cNvPr id="2" name="Text"/>
          <p:cNvSpPr/>
          <p:nvPr/>
        </p:nvSpPr>
        <p:spPr>
          <a:xfrm>
            <a:off x="1524000" y="5219700"/>
            <a:ext cx="9144000" cy="228600"/>
          </a:xfrm>
          <a:prstGeom prst="rect">
            <a:avLst/>
          </a:prstGeom>
        </p:spPr>
        <p:txBody>
          <a:bodyPr anchor="t" lIns="0" tIns="0" rIns="0" bIns="0">
            <a:noAutofit/>
          </a:bodyPr>
          <a:lstStyle/>
          <a:p>
            <a:pPr>
              <a:lnSpc>
                <a:spcPct val="120000"/>
              </a:lnSpc>
            </a:pPr>
            <a:r>
              <a:rPr lang="en-US" sz="1200" dirty="0">
                <a:effectLst/>
              </a:rPr>
              <a:t>Photodestruction of LDPE in the presence of BP</a:t>
            </a:r>
          </a:p>
        </p:txBody>
      </p:sp>
      <mc:AlternateContent xmlns:mc="http://schemas.openxmlformats.org/markup-compatibility/2006">
        <mc:Choice xmlns:a14="http://schemas.microsoft.com/office/drawing/2010/main" Requires="a14">
          <p:sp>
            <p:nvSpPr>
              <p:cNvPr id="2" name="Text"/>
              <p:cNvSpPr/>
              <p:nvPr/>
            </p:nvSpPr>
            <p:spPr>
              <a:xfrm>
                <a:off x="1524000" y="5600700"/>
                <a:ext cx="9144000" cy="285750"/>
              </a:xfrm>
              <a:prstGeom prst="rect">
                <a:avLst/>
              </a:prstGeom>
            </p:spPr>
            <p:txBody>
              <a:bodyPr anchor="ctr" lIns="0" tIns="0" rIns="0" bIns="0">
                <a:noAutofit/>
              </a:bodyPr>
              <a:lstStyle/>
              <a:p>
                <a:pPr algn="ctr"/>
                <a14:m>
                  <m:oMathPara>
                    <m:oMath>
                      <m:r>
                        <m:rPr>
                          <m:sty m:val="p"/>
                        </m:rPr>
                        <a:rPr lang="en-US" sz="1200" dirty="0">
                          <a:solidFill>
                            <a:srgbClr val="000000"/>
                          </a:solidFill>
                          <a:effectLst/>
                        </a:rPr>
                        <m:t>BP</m:t>
                      </m:r>
                      <m:r>
                        <m:rPr>
                          <m:sty m:val="p"/>
                        </m:rPr>
                        <a:rPr lang="en-US" sz="1200" dirty="0">
                          <a:solidFill>
                            <a:srgbClr val="000000"/>
                          </a:solidFill>
                          <a:effectLst/>
                        </a:rPr>
                        <m:t>+</m:t>
                      </m:r>
                      <m:r>
                        <m:rPr>
                          <m:sty m:val="p"/>
                        </m:rPr>
                        <a:rPr lang="en-US" sz="1200" dirty="0">
                          <a:solidFill>
                            <a:srgbClr val="000000"/>
                          </a:solidFill>
                          <a:effectLst/>
                        </a:rPr>
                        <m:t>PH</m:t>
                      </m:r>
                      <m:limUpp>
                        <m:limUppPr>
                          <m:ctrlPr>
                            <a:rPr sz="1200">
                              <a:latin typeface="Cambria Math" panose="02040503050406030204" pitchFamily="18" charset="0"/>
                            </a:rPr>
                          </m:ctrlPr>
                        </m:limUppPr>
                        <m:e>
                          <m:r>
                            <m:rPr>
                              <m:sty m:val="p"/>
                            </m:rPr>
                            <a:rPr lang="en-US" sz="1200" dirty="0">
                              <a:solidFill>
                                <a:srgbClr val="000000"/>
                              </a:solidFill>
                              <a:effectLst/>
                            </a:rPr>
                            <m:t>→</m:t>
                          </m:r>
                        </m:e>
                        <m:lim>
                          <m:phant>
                            <m:phantPr>
                              <m:ctrlPr>
                                <a:rPr sz="1200">
                                  <a:latin typeface="Cambria Math" panose="02040503050406030204" pitchFamily="18" charset="0"/>
                                </a:rPr>
                              </m:ctrlPr>
                            </m:phantPr>
                            <m:e>
                              <m:r>
                                <m:rPr>
                                  <m:sty m:val="i"/>
                                </m:rPr>
                                <a:rPr lang="en-US" sz="1200" dirty="0">
                                  <a:solidFill>
                                    <a:srgbClr val="000000"/>
                                  </a:solidFill>
                                  <a:effectLst/>
                                </a:rPr>
                                <m:t>h</m:t>
                              </m:r>
                              <m:r>
                                <m:rPr>
                                  <m:sty m:val="i"/>
                                </m:rPr>
                                <a:rPr lang="en-US" sz="1200" dirty="0">
                                  <a:solidFill>
                                    <a:srgbClr val="000000"/>
                                  </a:solidFill>
                                  <a:effectLst/>
                                </a:rPr>
                                <m:t>v</m:t>
                              </m:r>
                              <m:r>
                                <m:rPr>
                                  <m:sty m:val="p"/>
                                </m:rPr>
                                <a:rPr lang="en-US" sz="1200" dirty="0">
                                  <a:solidFill>
                                    <a:srgbClr val="000000"/>
                                  </a:solidFill>
                                  <a:effectLst/>
                                </a:rPr>
                                <m:t xml:space="preserve"> </m:t>
                              </m:r>
                            </m:e>
                          </m:phant>
                        </m:lim>
                      </m:limUpp>
                      <m:limUpp>
                        <m:limUppPr>
                          <m:ctrlPr>
                            <a:rPr sz="1200">
                              <a:latin typeface="Cambria Math" panose="02040503050406030204" pitchFamily="18" charset="0"/>
                            </a:rPr>
                          </m:ctrlPr>
                        </m:limUppPr>
                        <m:e>
                          <m:r>
                            <m:rPr>
                              <m:sty m:val="p"/>
                            </m:rPr>
                            <a:rPr lang="en-US" sz="1200" dirty="0">
                              <a:solidFill>
                                <a:srgbClr val="000000"/>
                              </a:solidFill>
                              <a:effectLst/>
                            </a:rPr>
                            <m:t>→</m:t>
                          </m:r>
                        </m:e>
                        <m:lim>
                          <m:phant>
                            <m:phantPr>
                              <m:ctrlPr>
                                <a:rPr sz="1200">
                                  <a:latin typeface="Cambria Math" panose="02040503050406030204" pitchFamily="18" charset="0"/>
                                </a:rPr>
                              </m:ctrlPr>
                            </m:phantPr>
                            <m:e>
                              <m:sSup>
                                <m:sSupPr>
                                  <m:ctrlPr>
                                    <a:rPr sz="1200">
                                      <a:latin typeface="Cambria Math" panose="02040503050406030204" pitchFamily="18" charset="0"/>
                                    </a:rPr>
                                  </m:ctrlPr>
                                </m:sSupPr>
                                <m:e>
                                  <m:r>
                                    <m:rPr>
                                      <m:sty m:val="p"/>
                                    </m:rPr>
                                    <a:rPr lang="en-US" sz="1200" dirty="0">
                                      <a:solidFill>
                                        <a:srgbClr val="000000"/>
                                      </a:solidFill>
                                      <a:effectLst/>
                                    </a:rPr>
                                    <m:t>P</m:t>
                                  </m:r>
                                </m:e>
                                <m:sup>
                                  <m:r>
                                    <m:rPr>
                                      <m:sty m:val="p"/>
                                    </m:rPr>
                                    <a:rPr lang="en-US" sz="1200" dirty="0">
                                      <a:solidFill>
                                        <a:srgbClr val="000000"/>
                                      </a:solidFill>
                                      <a:effectLst/>
                                    </a:rPr>
                                    <m:t>⋅</m:t>
                                  </m:r>
                                </m:sup>
                              </m:sSup>
                              <m:r>
                                <m:rPr>
                                  <m:sty m:val="p"/>
                                </m:rPr>
                                <a:rPr lang="en-US" sz="1200" dirty="0">
                                  <a:solidFill>
                                    <a:srgbClr val="000000"/>
                                  </a:solidFill>
                                  <a:effectLst/>
                                </a:rPr>
                                <m:t xml:space="preserve"> </m:t>
                              </m:r>
                            </m:e>
                          </m:phant>
                        </m:lim>
                      </m:limUpp>
                      <m:r>
                        <m:rPr>
                          <m:sty m:val="p"/>
                        </m:rPr>
                        <a:rPr lang="en-US" sz="1200" dirty="0">
                          <a:solidFill>
                            <a:srgbClr val="000000"/>
                          </a:solidFill>
                          <a:effectLst/>
                        </a:rPr>
                        <m:t>+</m:t>
                      </m:r>
                      <m:r>
                        <m:rPr>
                          <m:sty m:val="p"/>
                        </m:rPr>
                        <a:rPr lang="en-US" sz="1200" dirty="0">
                          <a:solidFill>
                            <a:srgbClr val="000000"/>
                          </a:solidFill>
                          <a:effectLst/>
                        </a:rPr>
                        <m:t> semibenzopinacol free radical </m:t>
                      </m:r>
                    </m:oMath>
                  </m:oMathPara>
                </a14:m>
              </a:p>
            </p:txBody>
          </p:sp>
        </mc:Choice>
        <mc:Fallback/>
      </mc:AlternateContent>
      <p:sp>
        <p:nvSpPr>
          <p:cNvPr id="2" name="Text"/>
          <p:cNvSpPr/>
          <p:nvPr/>
        </p:nvSpPr>
        <p:spPr>
          <a:xfrm>
            <a:off x="1524000" y="6038850"/>
            <a:ext cx="9144000" cy="228600"/>
          </a:xfrm>
          <a:prstGeom prst="rect">
            <a:avLst/>
          </a:prstGeom>
        </p:spPr>
        <p:txBody>
          <a:bodyPr anchor="t" lIns="0" tIns="0" rIns="0" bIns="0">
            <a:noAutofit/>
          </a:bodyPr>
          <a:lstStyle/>
          <a:p>
            <a:pPr>
              <a:lnSpc>
                <a:spcPct val="120000"/>
              </a:lnSpc>
            </a:pPr>
            <a:r>
              <a:rPr lang="en-US" sz="1200" dirty="0">
                <a:effectLst/>
              </a:rPr>
              <a:t>MA acts as a photoinitiator</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66700"/>
              </a:xfrm>
              <a:prstGeom prst="rect">
                <a:avLst/>
              </a:prstGeom>
            </p:spPr>
            <p:txBody>
              <a:bodyPr anchor="ctr" lIns="0" tIns="0" rIns="0" bIns="0">
                <a:noAutofit/>
              </a:bodyPr>
              <a:lstStyle/>
              <a:p>
                <a:pPr algn="ctr"/>
                <a14:m>
                  <m:oMathPara>
                    <m:oMath>
                      <m:r>
                        <m:rPr>
                          <m:sty m:val="p"/>
                        </m:rPr>
                        <a:rPr lang="en-US" sz="1200" dirty="0">
                          <a:solidFill>
                            <a:srgbClr val="000000"/>
                          </a:solidFill>
                          <a:effectLst/>
                        </a:rPr>
                        <m:t>MA</m:t>
                      </m:r>
                      <m:r>
                        <m:rPr>
                          <m:sty m:val="p"/>
                        </m:rPr>
                        <a:rPr lang="en-US" sz="1200" dirty="0">
                          <a:solidFill>
                            <a:srgbClr val="000000"/>
                          </a:solidFill>
                          <a:effectLst/>
                        </a:rPr>
                        <m:t>+</m:t>
                      </m:r>
                      <m:r>
                        <m:rPr>
                          <m:sty m:val="p"/>
                        </m:rPr>
                        <a:rPr lang="en-US" sz="1200" dirty="0">
                          <a:solidFill>
                            <a:srgbClr val="000000"/>
                          </a:solidFill>
                          <a:effectLst/>
                        </a:rPr>
                        <m:t>PH</m:t>
                      </m:r>
                      <m:limUpp>
                        <m:limUppPr>
                          <m:ctrlPr>
                            <a:rPr sz="1200">
                              <a:latin typeface="Cambria Math" panose="02040503050406030204" pitchFamily="18" charset="0"/>
                            </a:rPr>
                          </m:ctrlPr>
                        </m:limUppPr>
                        <m:e>
                          <m:r>
                            <m:rPr>
                              <m:sty m:val="p"/>
                            </m:rPr>
                            <a:rPr lang="en-US" sz="1200" dirty="0">
                              <a:solidFill>
                                <a:srgbClr val="000000"/>
                              </a:solidFill>
                              <a:effectLst/>
                            </a:rPr>
                            <m:t>→</m:t>
                          </m:r>
                        </m:e>
                        <m:lim>
                          <m:phant>
                            <m:phantPr>
                              <m:ctrlPr>
                                <a:rPr sz="1200">
                                  <a:latin typeface="Cambria Math" panose="02040503050406030204" pitchFamily="18" charset="0"/>
                                </a:rPr>
                              </m:ctrlPr>
                            </m:phantPr>
                            <m:e>
                              <m:r>
                                <m:rPr>
                                  <m:sty m:val="i"/>
                                </m:rPr>
                                <a:rPr lang="en-US" sz="1200" dirty="0">
                                  <a:solidFill>
                                    <a:srgbClr val="000000"/>
                                  </a:solidFill>
                                  <a:effectLst/>
                                </a:rPr>
                                <m:t>h</m:t>
                              </m:r>
                              <m:r>
                                <m:rPr>
                                  <m:sty m:val="i"/>
                                </m:rPr>
                                <a:rPr lang="en-US" sz="1200" dirty="0">
                                  <a:solidFill>
                                    <a:srgbClr val="000000"/>
                                  </a:solidFill>
                                  <a:effectLst/>
                                </a:rPr>
                                <m:t>v</m:t>
                              </m:r>
                              <m:r>
                                <m:rPr>
                                  <m:sty m:val="p"/>
                                </m:rPr>
                                <a:rPr lang="en-US" sz="1200" dirty="0">
                                  <a:solidFill>
                                    <a:srgbClr val="000000"/>
                                  </a:solidFill>
                                  <a:effectLst/>
                                </a:rPr>
                                <m:t xml:space="preserve"> </m:t>
                              </m:r>
                            </m:e>
                          </m:phant>
                        </m:lim>
                      </m:limUpp>
                      <m:limUpp>
                        <m:limUppPr>
                          <m:ctrlPr>
                            <a:rPr sz="1200">
                              <a:latin typeface="Cambria Math" panose="02040503050406030204" pitchFamily="18" charset="0"/>
                            </a:rPr>
                          </m:ctrlPr>
                        </m:limUppPr>
                        <m:e>
                          <m:r>
                            <m:rPr>
                              <m:sty m:val="p"/>
                            </m:rPr>
                            <a:rPr lang="en-US" sz="1200" dirty="0">
                              <a:solidFill>
                                <a:srgbClr val="000000"/>
                              </a:solidFill>
                              <a:effectLst/>
                            </a:rPr>
                            <m:t>→</m:t>
                          </m:r>
                        </m:e>
                        <m:lim>
                          <m:phant>
                            <m:phantPr>
                              <m:ctrlPr>
                                <a:rPr sz="1200">
                                  <a:latin typeface="Cambria Math" panose="02040503050406030204" pitchFamily="18" charset="0"/>
                                </a:rPr>
                              </m:ctrlPr>
                            </m:phantPr>
                            <m:e>
                              <m:sSup>
                                <m:sSupPr>
                                  <m:ctrlPr>
                                    <a:rPr sz="1200">
                                      <a:latin typeface="Cambria Math" panose="02040503050406030204" pitchFamily="18" charset="0"/>
                                    </a:rPr>
                                  </m:ctrlPr>
                                </m:sSupPr>
                                <m:e>
                                  <m:r>
                                    <m:rPr>
                                      <m:sty m:val="p"/>
                                    </m:rPr>
                                    <a:rPr lang="en-US" sz="1200" dirty="0">
                                      <a:solidFill>
                                        <a:srgbClr val="000000"/>
                                      </a:solidFill>
                                      <a:effectLst/>
                                    </a:rPr>
                                    <m:t>P</m:t>
                                  </m:r>
                                </m:e>
                                <m:sup>
                                  <m:r>
                                    <m:rPr>
                                      <m:sty m:val="p"/>
                                    </m:rPr>
                                    <a:rPr lang="en-US" sz="1200" dirty="0">
                                      <a:solidFill>
                                        <a:srgbClr val="000000"/>
                                      </a:solidFill>
                                      <a:effectLst/>
                                    </a:rPr>
                                    <m:t>∗</m:t>
                                  </m:r>
                                </m:sup>
                              </m:sSup>
                              <m:r>
                                <m:rPr>
                                  <m:sty m:val="p"/>
                                </m:rPr>
                                <a:rPr lang="en-US" sz="1200" dirty="0">
                                  <a:solidFill>
                                    <a:srgbClr val="000000"/>
                                  </a:solidFill>
                                  <a:effectLst/>
                                </a:rPr>
                                <m:t xml:space="preserve"> </m:t>
                              </m:r>
                            </m:e>
                          </m:phant>
                        </m:lim>
                      </m:limUpp>
                      <m:r>
                        <m:rPr>
                          <m:sty m:val="p"/>
                        </m:rPr>
                        <a:rPr lang="en-US" sz="1200" dirty="0">
                          <a:solidFill>
                            <a:srgbClr val="000000"/>
                          </a:solidFill>
                          <a:effectLst/>
                        </a:rPr>
                        <m:t>+</m:t>
                      </m:r>
                      <m:r>
                        <m:rPr>
                          <m:sty m:val="p"/>
                        </m:rPr>
                        <a:rPr lang="en-US" sz="1200" dirty="0">
                          <a:solidFill>
                            <a:srgbClr val="000000"/>
                          </a:solidFill>
                          <a:effectLst/>
                        </a:rPr>
                        <m:t>H</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MA</m:t>
                          </m:r>
                        </m:e>
                        <m:sup>
                          <m:r>
                            <m:rPr>
                              <m:sty m:val="p"/>
                            </m:rPr>
                            <a:rPr lang="en-US" sz="1200" dirty="0">
                              <a:solidFill>
                                <a:srgbClr val="000000"/>
                              </a:solidFill>
                              <a:effectLst/>
                            </a:rPr>
                            <m:t>∗</m:t>
                          </m:r>
                        </m:sup>
                      </m:sSup>
                    </m:oMath>
                  </m:oMathPara>
                </a14:m>
              </a:p>
            </p:txBody>
          </p:sp>
        </mc:Choice>
        <mc:Fallback/>
      </mc:AlternateContent>
      <p:sp>
        <p:nvSpPr>
          <p:cNvPr id="2" name="Text"/>
          <p:cNvSpPr/>
          <p:nvPr/>
        </p:nvSpPr>
        <p:spPr>
          <a:xfrm>
            <a:off x="1524000" y="876300"/>
            <a:ext cx="9144000" cy="228600"/>
          </a:xfrm>
          <a:prstGeom prst="rect">
            <a:avLst/>
          </a:prstGeom>
        </p:spPr>
        <p:txBody>
          <a:bodyPr anchor="t" lIns="0" tIns="0" rIns="0" bIns="0">
            <a:noAutofit/>
          </a:bodyPr>
          <a:lstStyle/>
          <a:p>
            <a:pPr>
              <a:lnSpc>
                <a:spcPct val="120000"/>
              </a:lnSpc>
            </a:pPr>
            <a:r>
              <a:rPr lang="en-US" sz="1200" dirty="0">
                <a:effectLst/>
              </a:rPr>
              <a:t>Initiation of the grafting copolymerization by polymer radical</a:t>
            </a:r>
          </a:p>
        </p:txBody>
      </p:sp>
      <mc:AlternateContent xmlns:mc="http://schemas.openxmlformats.org/markup-compatibility/2006">
        <mc:Choice xmlns:a14="http://schemas.microsoft.com/office/drawing/2010/main" Requires="a14">
          <p:sp>
            <p:nvSpPr>
              <p:cNvPr id="2" name="Text"/>
              <p:cNvSpPr/>
              <p:nvPr/>
            </p:nvSpPr>
            <p:spPr>
              <a:xfrm>
                <a:off x="1524000" y="1257300"/>
                <a:ext cx="9144000" cy="666750"/>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m>
                              <m:mPr>
                                <m:plcHide m:val="1"/>
                                <m:cGpRule m:val="0"/>
                                <m:mcs>
                                  <m:mc>
                                    <m:mcPr>
                                      <m:count m:val="1"/>
                                      <m:mcJc m:val="left"/>
                                    </m:mcPr>
                                  </m:mc>
                                  <m:mc>
                                    <m:mcPr>
                                      <m:count m:val="1"/>
                                      <m:mcJc m:val="left"/>
                                    </m:mcPr>
                                  </m:mc>
                                </m:mcs>
                                <m:ctrlPr>
                                  <a:rPr sz="1200" i="1">
                                    <a:latin typeface="Cambria Math" panose="02040503050406030204" pitchFamily="18" charset="0"/>
                                  </a:rPr>
                                </m:ctrlPr>
                              </m:mPr>
                              <m:mr>
                                <m:e>
                                  <m:sSup>
                                    <m:sSupPr>
                                      <m:ctrlPr>
                                        <a:rPr sz="1200">
                                          <a:latin typeface="Cambria Math" panose="02040503050406030204" pitchFamily="18" charset="0"/>
                                        </a:rPr>
                                      </m:ctrlPr>
                                    </m:sSupPr>
                                    <m:e>
                                      <m:r>
                                        <m:rPr>
                                          <m:sty m:val="p"/>
                                        </m:rPr>
                                        <a:rPr lang="en-US" sz="1200" dirty="0">
                                          <a:solidFill>
                                            <a:srgbClr val="000000"/>
                                          </a:solidFill>
                                          <a:effectLst/>
                                        </a:rPr>
                                        <m:t>P</m:t>
                                      </m:r>
                                    </m:e>
                                    <m:sup>
                                      <m:r>
                                        <m:rPr>
                                          <m:sty m:val="p"/>
                                        </m:rPr>
                                        <a:rPr lang="en-US" sz="1200" dirty="0">
                                          <a:solidFill>
                                            <a:srgbClr val="000000"/>
                                          </a:solidFill>
                                          <a:effectLst/>
                                        </a:rPr>
                                        <m:t>⋅</m:t>
                                      </m:r>
                                    </m:sup>
                                  </m:sSup>
                                  <m:r>
                                    <m:rPr>
                                      <m:sty m:val="p"/>
                                    </m:rPr>
                                    <a:rPr lang="en-US" sz="1200" dirty="0">
                                      <a:solidFill>
                                        <a:srgbClr val="000000"/>
                                      </a:solidFill>
                                      <a:effectLst/>
                                    </a:rPr>
                                    <m:t>+</m:t>
                                  </m:r>
                                  <m:r>
                                    <m:rPr>
                                      <m:sty m:val="p"/>
                                    </m:rPr>
                                    <a:rPr lang="en-US" sz="1200" dirty="0">
                                      <a:solidFill>
                                        <a:srgbClr val="000000"/>
                                      </a:solidFill>
                                      <a:effectLst/>
                                    </a:rPr>
                                    <m:t>VA</m:t>
                                  </m:r>
                                </m:e>
                                <m:e>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P</m:t>
                                      </m:r>
                                    </m:e>
                                    <m:sup>
                                      <m:r>
                                        <m:rPr>
                                          <m:sty m:val="p"/>
                                        </m:rPr>
                                        <a:rPr lang="en-US" sz="1200" dirty="0">
                                          <a:solidFill>
                                            <a:srgbClr val="000000"/>
                                          </a:solidFill>
                                          <a:effectLst/>
                                        </a:rPr>
                                        <m:t>⋅</m:t>
                                      </m:r>
                                    </m:sup>
                                  </m:sSup>
                                </m:e>
                              </m:mr>
                              <m:mr>
                                <m:e>
                                  <m:sSup>
                                    <m:sSupPr>
                                      <m:ctrlPr>
                                        <a:rPr sz="1200">
                                          <a:latin typeface="Cambria Math" panose="02040503050406030204" pitchFamily="18" charset="0"/>
                                        </a:rPr>
                                      </m:ctrlPr>
                                    </m:sSupPr>
                                    <m:e>
                                      <m:r>
                                        <m:rPr>
                                          <m:sty m:val="p"/>
                                        </m:rPr>
                                        <a:rPr lang="en-US" sz="1200" dirty="0">
                                          <a:solidFill>
                                            <a:srgbClr val="000000"/>
                                          </a:solidFill>
                                          <a:effectLst/>
                                        </a:rPr>
                                        <m:t>P</m:t>
                                      </m:r>
                                    </m:e>
                                    <m:sup>
                                      <m:r>
                                        <m:rPr>
                                          <m:sty m:val="p"/>
                                        </m:rPr>
                                        <a:rPr lang="en-US" sz="1200" dirty="0">
                                          <a:solidFill>
                                            <a:srgbClr val="000000"/>
                                          </a:solidFill>
                                          <a:effectLst/>
                                        </a:rPr>
                                        <m:t>⋅</m:t>
                                      </m:r>
                                    </m:sup>
                                  </m:sSup>
                                  <m:r>
                                    <m:rPr>
                                      <m:sty m:val="p"/>
                                    </m:rPr>
                                    <a:rPr lang="en-US" sz="1200" dirty="0">
                                      <a:solidFill>
                                        <a:srgbClr val="000000"/>
                                      </a:solidFill>
                                      <a:effectLst/>
                                    </a:rPr>
                                    <m:t>+</m:t>
                                  </m:r>
                                  <m:r>
                                    <m:rPr>
                                      <m:sty m:val="p"/>
                                    </m:rPr>
                                    <a:rPr lang="en-US" sz="1200" dirty="0">
                                      <a:solidFill>
                                        <a:srgbClr val="000000"/>
                                      </a:solidFill>
                                      <a:effectLst/>
                                    </a:rPr>
                                    <m:t>MA</m:t>
                                  </m:r>
                                </m:e>
                                <m:e>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P</m:t>
                                      </m:r>
                                    </m:e>
                                    <m:sup>
                                      <m:r>
                                        <m:rPr>
                                          <m:sty m:val="p"/>
                                        </m:rPr>
                                        <a:rPr lang="en-US" sz="1200" dirty="0">
                                          <a:solidFill>
                                            <a:srgbClr val="000000"/>
                                          </a:solidFill>
                                          <a:effectLst/>
                                        </a:rPr>
                                        <m:t>⋅</m:t>
                                      </m:r>
                                    </m:sup>
                                  </m:sSup>
                                </m:e>
                              </m:mr>
                              <m:mr>
                                <m:e>
                                  <m:sSup>
                                    <m:sSupPr>
                                      <m:ctrlPr>
                                        <a:rPr sz="1200">
                                          <a:latin typeface="Cambria Math" panose="02040503050406030204" pitchFamily="18" charset="0"/>
                                        </a:rPr>
                                      </m:ctrlPr>
                                    </m:sSupPr>
                                    <m:e>
                                      <m:r>
                                        <m:rPr>
                                          <m:sty m:val="p"/>
                                        </m:rPr>
                                        <a:rPr lang="en-US" sz="1200" dirty="0">
                                          <a:solidFill>
                                            <a:srgbClr val="000000"/>
                                          </a:solidFill>
                                          <a:effectLst/>
                                        </a:rPr>
                                        <m:t>P</m:t>
                                      </m:r>
                                    </m:e>
                                    <m:sup>
                                      <m:r>
                                        <m:rPr>
                                          <m:sty m:val="p"/>
                                        </m:rPr>
                                        <a:rPr lang="en-US" sz="1200" dirty="0">
                                          <a:solidFill>
                                            <a:srgbClr val="000000"/>
                                          </a:solidFill>
                                          <a:effectLst/>
                                        </a:rPr>
                                        <m:t>⋅</m:t>
                                      </m:r>
                                    </m:sup>
                                  </m:sSup>
                                  <m:r>
                                    <m:rPr>
                                      <m:sty m:val="p"/>
                                    </m:rPr>
                                    <a:rPr lang="en-US" sz="1200" dirty="0">
                                      <a:solidFill>
                                        <a:srgbClr val="000000"/>
                                      </a:solidFill>
                                      <a:effectLst/>
                                    </a:rPr>
                                    <m:t>+</m:t>
                                  </m:r>
                                  <m:r>
                                    <m:rPr>
                                      <m:sty m:val="p"/>
                                    </m:rPr>
                                    <a:rPr lang="en-US" sz="1200" dirty="0">
                                      <a:solidFill>
                                        <a:srgbClr val="000000"/>
                                      </a:solidFill>
                                      <a:effectLst/>
                                    </a:rPr>
                                    <m:t>CTC</m:t>
                                  </m:r>
                                </m:e>
                                <m:e>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P</m:t>
                                      </m:r>
                                    </m:e>
                                    <m:sup>
                                      <m:r>
                                        <m:rPr>
                                          <m:sty m:val="p"/>
                                        </m:rPr>
                                        <a:rPr lang="en-US" sz="1200" dirty="0">
                                          <a:solidFill>
                                            <a:srgbClr val="000000"/>
                                          </a:solidFill>
                                          <a:effectLst/>
                                        </a:rPr>
                                        <m:t>⋅</m:t>
                                      </m:r>
                                    </m:sup>
                                  </m:sSup>
                                </m:e>
                              </m:mr>
                            </m:m>
                          </m:e>
                          <m:e>
                            <m:r>
                              <m:rPr>
                                <m:sty m:val="p"/>
                              </m:rPr>
                              <a:rPr lang="en-US" sz="1200" dirty="0">
                                <a:solidFill>
                                  <a:srgbClr val="000000"/>
                                </a:solidFill>
                                <a:effectLst/>
                              </a:rPr>
                              <m:t>(15)</m:t>
                            </m:r>
                          </m:e>
                        </m:mr>
                      </m:m>
                    </m:oMath>
                  </m:oMathPara>
                </a14:m>
              </a:p>
            </p:txBody>
          </p:sp>
        </mc:Choice>
        <mc:Fallback/>
      </mc:AlternateContent>
      <p:sp>
        <p:nvSpPr>
          <p:cNvPr id="2" name="Text"/>
          <p:cNvSpPr/>
          <p:nvPr/>
        </p:nvSpPr>
        <p:spPr>
          <a:xfrm>
            <a:off x="1524000" y="2076450"/>
            <a:ext cx="9144000" cy="228600"/>
          </a:xfrm>
          <a:prstGeom prst="rect">
            <a:avLst/>
          </a:prstGeom>
        </p:spPr>
        <p:txBody>
          <a:bodyPr anchor="t" lIns="0" tIns="0" rIns="0" bIns="0">
            <a:noAutofit/>
          </a:bodyPr>
          <a:lstStyle/>
          <a:p>
            <a:pPr>
              <a:lnSpc>
                <a:spcPct val="120000"/>
              </a:lnSpc>
            </a:pPr>
            <a:r>
              <a:rPr lang="en-US" sz="1200" dirty="0">
                <a:effectLst/>
              </a:rPr>
              <a:t>Bimolecular termination</a:t>
            </a:r>
          </a:p>
        </p:txBody>
      </p:sp>
      <mc:AlternateContent xmlns:mc="http://schemas.openxmlformats.org/markup-compatibility/2006">
        <mc:Choice xmlns:a14="http://schemas.microsoft.com/office/drawing/2010/main" Requires="a14">
          <p:sp>
            <p:nvSpPr>
              <p:cNvPr id="2" name="Text"/>
              <p:cNvSpPr/>
              <p:nvPr/>
            </p:nvSpPr>
            <p:spPr>
              <a:xfrm>
                <a:off x="1524000" y="2457450"/>
                <a:ext cx="9144000" cy="200025"/>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r>
                              <m:rPr>
                                <m:sty m:val="p"/>
                              </m:rPr>
                              <a:rPr lang="en-US" sz="1200" dirty="0">
                                <a:solidFill>
                                  <a:srgbClr val="000000"/>
                                </a:solidFill>
                                <a:effectLst/>
                              </a:rPr>
                              <m:t>2</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P</m:t>
                                </m:r>
                              </m:e>
                              <m:sup>
                                <m:r>
                                  <m:rPr>
                                    <m:sty m:val="p"/>
                                  </m:rPr>
                                  <a:rPr lang="en-US" sz="1200" dirty="0">
                                    <a:solidFill>
                                      <a:srgbClr val="000000"/>
                                    </a:solidFill>
                                    <a:effectLst/>
                                  </a:rPr>
                                  <m:t>⋅</m:t>
                                </m:r>
                              </m:sup>
                            </m:sSup>
                            <m:r>
                              <m:rPr>
                                <m:sty m:val="p"/>
                              </m:rPr>
                              <a:rPr lang="en-US" sz="1200" dirty="0">
                                <a:solidFill>
                                  <a:srgbClr val="000000"/>
                                </a:solidFill>
                                <a:effectLst/>
                              </a:rPr>
                              <m:t>→</m:t>
                            </m:r>
                            <m:r>
                              <m:rPr>
                                <m:sty m:val="p"/>
                              </m:rPr>
                              <a:rPr lang="en-US" sz="1200" dirty="0">
                                <a:solidFill>
                                  <a:srgbClr val="000000"/>
                                </a:solidFill>
                                <a:effectLst/>
                              </a:rPr>
                              <m:t> Grafting polymer </m:t>
                            </m:r>
                          </m:e>
                          <m:e>
                            <m:r>
                              <m:rPr>
                                <m:sty m:val="p"/>
                              </m:rPr>
                              <a:rPr lang="en-US" sz="1200" dirty="0">
                                <a:solidFill>
                                  <a:srgbClr val="000000"/>
                                </a:solidFill>
                                <a:effectLst/>
                              </a:rPr>
                              <m:t>(16)</m:t>
                            </m:r>
                          </m:e>
                        </m:mr>
                      </m:m>
                    </m:oMath>
                  </m:oMathPara>
                </a14:m>
              </a:p>
            </p:txBody>
          </p:sp>
        </mc:Choice>
        <mc:Fallback/>
      </mc:AlternateContent>
      <p:sp>
        <p:nvSpPr>
          <p:cNvPr id="2" name="Text"/>
          <p:cNvSpPr/>
          <p:nvPr/>
        </p:nvSpPr>
        <p:spPr>
          <a:xfrm>
            <a:off x="1524000" y="2809875"/>
            <a:ext cx="9144000" cy="228600"/>
          </a:xfrm>
          <a:prstGeom prst="rect">
            <a:avLst/>
          </a:prstGeom>
        </p:spPr>
        <p:txBody>
          <a:bodyPr anchor="t" lIns="0" tIns="0" rIns="0" bIns="0">
            <a:noAutofit/>
          </a:bodyPr>
          <a:lstStyle/>
          <a:p>
            <a:pPr>
              <a:lnSpc>
                <a:spcPct val="120000"/>
              </a:lnSpc>
            </a:pPr>
            <a:r>
              <a:rPr lang="en-US" sz="1200" dirty="0">
                <a:effectLst/>
              </a:rPr>
              <a:t>Unimolecular termination</a:t>
            </a:r>
          </a:p>
        </p:txBody>
      </p:sp>
      <mc:AlternateContent xmlns:mc="http://schemas.openxmlformats.org/markup-compatibility/2006">
        <mc:Choice xmlns:a14="http://schemas.microsoft.com/office/drawing/2010/main" Requires="a14">
          <p:sp>
            <p:nvSpPr>
              <p:cNvPr id="2" name="Text"/>
              <p:cNvSpPr/>
              <p:nvPr/>
            </p:nvSpPr>
            <p:spPr>
              <a:xfrm>
                <a:off x="1524000" y="3190875"/>
                <a:ext cx="9144000" cy="200025"/>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P</m:t>
                                </m:r>
                              </m:e>
                              <m:sup>
                                <m:r>
                                  <m:rPr>
                                    <m:sty m:val="p"/>
                                  </m:rPr>
                                  <a:rPr lang="en-US" sz="1200" dirty="0">
                                    <a:solidFill>
                                      <a:srgbClr val="000000"/>
                                    </a:solidFill>
                                    <a:effectLst/>
                                  </a:rPr>
                                  <m:t>⋅</m:t>
                                </m:r>
                              </m:sup>
                            </m:sSup>
                            <m:r>
                              <m:rPr>
                                <m:sty m:val="p"/>
                              </m:rPr>
                              <a:rPr lang="en-US" sz="1200" dirty="0">
                                <a:solidFill>
                                  <a:srgbClr val="000000"/>
                                </a:solidFill>
                                <a:effectLst/>
                              </a:rPr>
                              <m:t>+</m:t>
                            </m:r>
                            <m:r>
                              <m:rPr>
                                <m:sty m:val="p"/>
                              </m:rPr>
                              <a:rPr lang="en-US" sz="1200" dirty="0">
                                <a:solidFill>
                                  <a:srgbClr val="000000"/>
                                </a:solidFill>
                                <a:effectLst/>
                              </a:rPr>
                              <m:t>RH</m:t>
                            </m:r>
                            <m:r>
                              <m:rPr>
                                <m:sty m:val="p"/>
                              </m:rPr>
                              <a:rPr lang="en-US" sz="1200" dirty="0">
                                <a:solidFill>
                                  <a:srgbClr val="000000"/>
                                </a:solidFill>
                                <a:effectLst/>
                              </a:rPr>
                              <m:t xml:space="preserve"> </m:t>
                            </m:r>
                            <m:r>
                              <m:rPr>
                                <m:sty m:val="p"/>
                              </m:rPr>
                              <a:rPr lang="en-US" sz="1200" dirty="0">
                                <a:solidFill>
                                  <a:srgbClr val="000000"/>
                                </a:solidFill>
                                <a:effectLst/>
                              </a:rPr>
                              <m:t>→</m:t>
                            </m:r>
                            <m:r>
                              <m:rPr>
                                <m:sty m:val="p"/>
                              </m:rPr>
                              <a:rPr lang="en-US" sz="1200" dirty="0">
                                <a:solidFill>
                                  <a:srgbClr val="000000"/>
                                </a:solidFill>
                                <a:effectLst/>
                              </a:rPr>
                              <m:t> Grafting polymer </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R</m:t>
                                </m:r>
                              </m:e>
                              <m:sup>
                                <m:r>
                                  <m:rPr>
                                    <m:sty m:val="p"/>
                                  </m:rPr>
                                  <a:rPr lang="en-US" sz="1200" dirty="0">
                                    <a:solidFill>
                                      <a:srgbClr val="000000"/>
                                    </a:solidFill>
                                    <a:effectLst/>
                                  </a:rPr>
                                  <m:t>⋅</m:t>
                                </m:r>
                              </m:sup>
                            </m:sSup>
                          </m:e>
                          <m:e>
                            <m:r>
                              <m:rPr>
                                <m:sty m:val="p"/>
                              </m:rPr>
                              <a:rPr lang="en-US" sz="1200" dirty="0">
                                <a:solidFill>
                                  <a:srgbClr val="000000"/>
                                </a:solidFill>
                                <a:effectLst/>
                              </a:rPr>
                              <m:t>(17)</m:t>
                            </m:r>
                          </m:e>
                        </m:mr>
                      </m:m>
                    </m:oMath>
                  </m:oMathPara>
                </a14:m>
              </a:p>
            </p:txBody>
          </p:sp>
        </mc:Choice>
        <mc:Fallback/>
      </mc:AlternateContent>
      <p:sp>
        <p:nvSpPr>
          <p:cNvPr id="2" name="Text"/>
          <p:cNvSpPr/>
          <p:nvPr/>
        </p:nvSpPr>
        <p:spPr>
          <a:xfrm>
            <a:off x="1524000" y="3543300"/>
            <a:ext cx="9144000" cy="685800"/>
          </a:xfrm>
          <a:prstGeom prst="rect">
            <a:avLst/>
          </a:prstGeom>
        </p:spPr>
        <p:txBody>
          <a:bodyPr anchor="t" lIns="0" tIns="0" rIns="0" bIns="0">
            <a:noAutofit/>
          </a:bodyPr>
          <a:lstStyle/>
          <a:p>
            <a:pPr>
              <a:lnSpc>
                <a:spcPct val="120000"/>
              </a:lnSpc>
            </a:pPr>
            <a:r>
              <a:rPr lang="en-US" sz="1200" dirty="0">
                <a:effectLst/>
              </a:rPr>
              <a:t>The reaction orders of the copolymerization to the total monomer concentaration and concentration of BP were 1.34 and 0.81, respectively, reflecting that in the binary monomer system, both the free and complexed monomers participated in the polymerization [268].</a:t>
            </a:r>
          </a:p>
        </p:txBody>
      </p:sp>
      <p:sp>
        <p:nvSpPr>
          <p:cNvPr id="2" name="Text"/>
          <p:cNvSpPr/>
          <p:nvPr/>
        </p:nvSpPr>
        <p:spPr>
          <a:xfrm>
            <a:off x="1524000" y="4381500"/>
            <a:ext cx="9144000" cy="266700"/>
          </a:xfrm>
          <a:prstGeom prst="rect">
            <a:avLst/>
          </a:prstGeom>
        </p:spPr>
        <p:txBody>
          <a:bodyPr anchor="t" lIns="0" tIns="0" rIns="0" bIns="0">
            <a:noAutofit/>
          </a:bodyPr>
          <a:lstStyle/>
          <a:p>
            <a:pPr>
              <a:lnSpc>
                <a:spcPct val="125800"/>
              </a:lnSpc>
            </a:pPr>
            <a:r>
              <a:rPr lang="en-US" sz="1400" dirty="0" b="1">
                <a:effectLst/>
              </a:rPr>
              <a:t>2.5 Plasma-induced surface grafting</a:t>
            </a:r>
          </a:p>
        </p:txBody>
      </p:sp>
      <p:sp>
        <p:nvSpPr>
          <p:cNvPr id="2" name="Text"/>
          <p:cNvSpPr/>
          <p:nvPr/>
        </p:nvSpPr>
        <p:spPr>
          <a:xfrm>
            <a:off x="1524000" y="4826508"/>
            <a:ext cx="9144000" cy="1371600"/>
          </a:xfrm>
          <a:prstGeom prst="rect">
            <a:avLst/>
          </a:prstGeom>
        </p:spPr>
        <p:txBody>
          <a:bodyPr anchor="t" lIns="0" tIns="0" rIns="0" bIns="0">
            <a:noAutofit/>
          </a:bodyPr>
          <a:lstStyle/>
          <a:p>
            <a:pPr>
              <a:lnSpc>
                <a:spcPct val="120000"/>
              </a:lnSpc>
            </a:pPr>
            <a:r>
              <a:rPr lang="en-US" sz="1200" dirty="0">
                <a:effectLst/>
              </a:rPr>
              <a:t>Various vinyl monomers successfully grafted onto PE and PP surfaces through plasma induced reaction [268-276]. The alkyl groups and tertiary radicals are shown to be created on the PE and PP surface after plasma exposure, respectively, which were proved to react with vinyl monomers such as styrene, 2-methoxyacrylate, methacrylic acid, acrylamide, allyl alcohol, glycidyl methacrylate, etc. The amount of monomer grafted depends on the plasma operating parameters. Hong and Ho [277] reported grafting of thermoplastic olefin elastomer such as E-P-norbornene rubber (EPDM) with MA under nitrogen plasma. The adhesion properties of EPDM rubber surface grafted with MA and different initiators such as benzoyl peroxide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1371600"/>
          </a:xfrm>
          <a:prstGeom prst="rect">
            <a:avLst/>
          </a:prstGeom>
        </p:spPr>
        <p:txBody>
          <a:bodyPr anchor="t" lIns="0" tIns="0" rIns="0" bIns="0">
            <a:noAutofit/>
          </a:bodyPr>
          <a:lstStyle/>
          <a:p>
            <a:pPr>
              <a:lnSpc>
                <a:spcPct val="120000"/>
              </a:lnSpc>
            </a:pPr>
            <a:r>
              <a:rPr lang="en-US" sz="1200" dirty="0">
                <a:effectLst/>
              </a:rPr>
              <a:t> (BPO), azobisisobutyronitrile (AIBN) and benzophenone (BP) under nitrogen plasma condition were analyzed. The results of FTIR-ATR surface analyses indicated the the amounts of MA grafted depended on the plasma treating time and the type of initiator used. The total and the polar component of surface energies treated with EPDM rubber increased after plasma exposure, and followed the order of BP &gt; BPO &gt; AIBN after a 0.5-min plasma treatment. According to authors, the lap shear strength of all specimens singificantly decreased after prolonged exposure because of the possible deterioration of the grafted surface. The nature of the reacted surface layer in affecting the adhesion strength of the EPDM rubber was also confirmed.</a:t>
            </a:r>
          </a:p>
        </p:txBody>
      </p:sp>
      <p:sp>
        <p:nvSpPr>
          <p:cNvPr id="2" name="Text"/>
          <p:cNvSpPr/>
          <p:nvPr/>
        </p:nvSpPr>
        <p:spPr>
          <a:xfrm>
            <a:off x="1524000" y="1981200"/>
            <a:ext cx="9144000" cy="3200400"/>
          </a:xfrm>
          <a:prstGeom prst="rect">
            <a:avLst/>
          </a:prstGeom>
        </p:spPr>
        <p:txBody>
          <a:bodyPr anchor="t" lIns="0" tIns="0" rIns="0" bIns="0">
            <a:noAutofit/>
          </a:bodyPr>
          <a:lstStyle/>
          <a:p>
            <a:pPr>
              <a:lnSpc>
                <a:spcPct val="120000"/>
              </a:lnSpc>
            </a:pPr>
            <a:r>
              <a:rPr lang="en-US" sz="1200" dirty="0">
                <a:effectLst/>
              </a:rPr>
              <a:t>Poly(MA) films can be formed in such a way that anhydride group functionality is retained, which can then be used for further chemical modification and bioconjugation [278-280]. Anhydride-containing surface films prepared by plasma polymerization method, and their functionality tuned by pulsing the input power [279]. Ryan et al. [278] reported the results of first detailed investigation of the radio frequency (RF 13.56 MHz) cold plasma-induced polymerization of MA. Authors demonstrated that variations in applied power and the duty cycle could be used to vary the chemical functionality of plasma polymer films of MA. By using XPS and FTIR spectroscopy, the retention of anhydride ring in the film was established , depending on both the equivalent power and the duty cycle. Schiller et al. [280] studied plasmaassisted polymerization of MA under different experimental conditions. They obtained the chemical structure of plasma deposited poly(MA) film using X-ray photoelectron and FTIR spectroscopy (FT-IR). Authors also carried out the surface reactions of anhydride groups with nucleophilic moieties such as decylamine and benzylamine. It was demonstrated a change the surface free energy of the plasma polymer films after surface derivatization reactions. Authors suggested that ontained results are of particular interest for future applications in the attachment of biological molecules and cells. They also developed a method of silicon substrate pretreatment to ensure reliable binding between the substrate and the plasma polymer film in aqueous solution. The hydrated films showed some resemblance to polyelectrolyte films and a clear correlation could be observed between the density of anhydride groups and the behavior of the films in solution.</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057400"/>
              </a:xfrm>
              <a:prstGeom prst="rect">
                <a:avLst/>
              </a:prstGeom>
            </p:spPr>
            <p:txBody>
              <a:bodyPr anchor="t" lIns="0" tIns="0" rIns="0" bIns="0">
                <a:noAutofit/>
              </a:bodyPr>
              <a:lstStyle/>
              <a:p>
                <a:pPr>
                  <a:lnSpc>
                    <a:spcPct val="120000"/>
                  </a:lnSpc>
                </a:pPr>
                <a:r>
                  <a:rPr lang="en-US" sz="1200" dirty="0">
                    <a:effectLst/>
                  </a:rPr>
                  <a:t>Gaboury and Urban [281,282] developed a novel microwave plasma method and utilized chemically bonded solid monomers such as MA and acrylamide (AAm) to the surface of crosslinked poly(dimethyl- siloxane) (PDMS). By use of FTIR-ATR spectroscopy, they found that these monomers can be chemically bonded to the PDMS surface through the C=C bond opening. The advantage of this plasma energy source comes from its localized nature and short reaction times. For microwave reaction times of less than 15 s, a majority of the original anhydride or amide functionalities of the plasma deposited monomers was maintained. The microwave reaction time exceeding 15 s result in a cleavage of the surface anhydride or amide species and conversion of the monomer supply to maleic acid or polyacrylamide. The hydrolysis of the plasma reacted surfaces produces new acid salt groups which were also quantitatively evaluated. FTIR-ATR analysis reveals a 48 % conversion for MA. The amount of MA reacted onto the surface is of the order of 1 to </a:t>
                </a:r>
                <a:r>
                  <a:rPr lang="en-US" sz="1200" dirty="0">
                    <a:effectLst/>
                  </a:rPr>
                  <a:t>​</a:t>
                </a:r>
                <a14:m>
                  <m:oMath>
                    <m:r>
                      <m:rPr>
                        <m:sty m:val="p"/>
                      </m:rPr>
                      <a:rPr lang="en-US" sz="1200" dirty="0">
                        <a:solidFill>
                          <a:srgbClr val="000000"/>
                        </a:solidFill>
                        <a:effectLst/>
                      </a:rPr>
                      <m:t>5</m:t>
                    </m:r>
                    <m:r>
                      <m:rPr>
                        <m:sty m:val="p"/>
                      </m:rPr>
                      <a:rPr lang="en-US" sz="1200" dirty="0">
                        <a:solidFill>
                          <a:srgbClr val="000000"/>
                        </a:solidFill>
                        <a:effectLst/>
                      </a:rPr>
                      <m:t>pmol</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cm</m:t>
                        </m:r>
                      </m:e>
                      <m:sup>
                        <m:r>
                          <m:rPr>
                            <m:sty m:val="p"/>
                          </m:rPr>
                          <a:rPr lang="en-US" sz="1200" dirty="0">
                            <a:solidFill>
                              <a:srgbClr val="000000"/>
                            </a:solidFill>
                            <a:effectLst/>
                          </a:rPr>
                          <m:t>2</m:t>
                        </m:r>
                      </m:sup>
                    </m:sSup>
                  </m:oMath>
                </a14:m>
                <a:r>
                  <a:rPr lang="en-US" sz="1200" dirty="0">
                    <a:effectLst/>
                  </a:rPr>
                  <a:t> [282].</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667000"/>
                <a:ext cx="9144000" cy="914400"/>
              </a:xfrm>
              <a:prstGeom prst="rect">
                <a:avLst/>
              </a:prstGeom>
            </p:spPr>
            <p:txBody>
              <a:bodyPr anchor="t" lIns="0" tIns="0" rIns="0" bIns="0">
                <a:noAutofit/>
              </a:bodyPr>
              <a:lstStyle/>
              <a:p>
                <a:pPr>
                  <a:lnSpc>
                    <a:spcPct val="120000"/>
                  </a:lnSpc>
                </a:pPr>
                <a:r>
                  <a:rPr lang="en-US" sz="1200" dirty="0">
                    <a:effectLst/>
                  </a:rPr>
                  <a:t>Jenkins et al. [283] used a plasma polymerization method to deposit thin polymer films from MA monomer. Then anhydride functionalized surface on the silicone substrates was hydrolyzed and carboxylic acid functionalized film was used to support a negatively charged dimyristoyl phosphatidyl glycerol (DMPG) lipid bilayer using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Ca</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as a chelating agent. This process was schematically represented in Figure 10.</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733800"/>
                <a:ext cx="9144000" cy="457200"/>
              </a:xfrm>
              <a:prstGeom prst="rect">
                <a:avLst/>
              </a:prstGeom>
            </p:spPr>
            <p:txBody>
              <a:bodyPr anchor="t" lIns="0" tIns="0" rIns="0" bIns="0">
                <a:noAutofit/>
              </a:bodyPr>
              <a:lstStyle/>
              <a:p>
                <a:pPr>
                  <a:lnSpc>
                    <a:spcPct val="120000"/>
                  </a:lnSpc>
                </a:pPr>
                <a:r>
                  <a:rPr lang="en-US" sz="1200" dirty="0">
                    <a:effectLst/>
                  </a:rPr>
                  <a:t>The capacitance and resistance of adsorbed DMPG on three films prepared at different plasma duty cycles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on </m:t>
                            </m:r>
                          </m:sub>
                        </m:sSub>
                        <m:r>
                          <m:rPr>
                            <m:sty m:val="p"/>
                          </m:rPr>
                          <a:rPr lang="en-US" sz="1200" dirty="0">
                            <a:solidFill>
                              <a:srgbClr val="000000"/>
                            </a:solidFill>
                            <a:effectLst/>
                          </a:rPr>
                          <m:t>/</m:t>
                        </m:r>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on </m:t>
                                </m:r>
                              </m:sub>
                            </m:sSub>
                          </m:e>
                        </m:d>
                      </m:e>
                    </m:d>
                  </m:oMath>
                </a14:m>
                <a:r>
                  <a:rPr lang="en-US" sz="1200" dirty="0">
                    <a:effectLst/>
                  </a:rPr>
                  <a:t> </a:t>
                </a:r>
                <a:r>
                  <a:rPr lang="en-US" sz="1200" dirty="0">
                    <a:effectLst/>
                  </a:rPr>
                  <a:t>​</a:t>
                </a:r>
                <a14:m>
                  <m:oMath>
                    <m:d>
                      <m:dPr>
                        <m:begChr m:val=""/>
                        <m:endChr m:val="]"/>
                        <m:ctrlPr>
                          <a:rPr sz="1200">
                            <a:latin typeface="Cambria Math" panose="02040503050406030204" pitchFamily="18" charset="0"/>
                          </a:rPr>
                        </m:ctrlPr>
                      </m:dPr>
                      <m:e>
                        <m:d>
                          <m:dPr>
                            <m:begChr m:val=""/>
                            <m:endChr m:val=")"/>
                            <m:ctrlPr>
                              <a:rPr sz="1200">
                                <a:latin typeface="Cambria Math" panose="02040503050406030204" pitchFamily="18" charset="0"/>
                              </a:rPr>
                            </m:ctrlPr>
                          </m:dPr>
                          <m:e>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off </m:t>
                                </m:r>
                              </m:sub>
                            </m:sSub>
                          </m:e>
                        </m:d>
                      </m:e>
                    </m:d>
                  </m:oMath>
                </a14:m>
                <a:r>
                  <a:rPr lang="en-US" sz="1200" dirty="0">
                    <a:effectLst/>
                  </a:rPr>
                  <a:t>, employed during the plasma treatment, could be correlated with the relative amount of anhydride groups present in the plasma polymer films.</a:t>
                </a:r>
              </a:p>
            </p:txBody>
          </p:sp>
        </mc:Choice>
        <mc:Fallback/>
      </mc:AlternateContent>
      <p:sp>
        <p:nvSpPr>
          <p:cNvPr id="2" name="Text"/>
          <p:cNvSpPr/>
          <p:nvPr/>
        </p:nvSpPr>
        <p:spPr>
          <a:xfrm>
            <a:off x="1524000" y="4343400"/>
            <a:ext cx="9144000" cy="685800"/>
          </a:xfrm>
          <a:prstGeom prst="rect">
            <a:avLst/>
          </a:prstGeom>
        </p:spPr>
        <p:txBody>
          <a:bodyPr anchor="t" lIns="0" tIns="0" rIns="0" bIns="0">
            <a:noAutofit/>
          </a:bodyPr>
          <a:lstStyle/>
          <a:p>
            <a:pPr>
              <a:lnSpc>
                <a:spcPct val="120000"/>
              </a:lnSpc>
            </a:pPr>
            <a:r>
              <a:rPr lang="en-US" sz="1200" dirty="0">
                <a:effectLst/>
              </a:rPr>
              <a:t>Everson et al. [284] used pulsed plasma polymerization method for the deposition of well-defined MA functionalized films. Surface layeres of these films readily undergo reaction with amine-terminated nucleophiles to produce surface amide linkages that convert into cyclic imide groups upon heating.</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557aee0ef0be50ca7cce48bbefd00030820989d0.jpg"/>
          <p:cNvPicPr/>
          <p:nvPr/>
        </p:nvPicPr>
        <p:blipFill>
          <a:blip r:embed="rId2" cstate="print"/>
          <a:srcRect/>
          <a:stretch>
            <a:fillRect/>
          </a:stretch>
        </p:blipFill>
        <p:spPr>
          <a:xfrm>
            <a:off x="1524000" y="457200"/>
            <a:ext cx="5048250" cy="594360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10. Plasma surface modification of the silicone substrate through plasma polymerization of MA, hydrolysis of MA units and chelating with biomolecules. Adapted from [283].</a:t>
            </a:r>
          </a:p>
        </p:txBody>
      </p:sp>
      <p:sp>
        <p:nvSpPr>
          <p:cNvPr id="2" name="Text"/>
          <p:cNvSpPr/>
          <p:nvPr/>
        </p:nvSpPr>
        <p:spPr>
          <a:xfrm>
            <a:off x="1524000" y="914400"/>
            <a:ext cx="9144000" cy="2743200"/>
          </a:xfrm>
          <a:prstGeom prst="rect">
            <a:avLst/>
          </a:prstGeom>
        </p:spPr>
        <p:txBody>
          <a:bodyPr anchor="t" lIns="0" tIns="0" rIns="0" bIns="0">
            <a:noAutofit/>
          </a:bodyPr>
          <a:lstStyle/>
          <a:p>
            <a:pPr>
              <a:lnSpc>
                <a:spcPct val="120000"/>
              </a:lnSpc>
            </a:pPr>
            <a:r>
              <a:rPr lang="en-US" sz="1200" dirty="0">
                <a:effectLst/>
              </a:rPr>
              <a:t>According to the authors, (1) amine-terminated nucleophiles can be chemically fixed onto any shaped solid</a:t>
            </a:r>
            <a:br>
              <a:rPr lang="en-US" sz="1200" dirty="0"/>
            </a:br>
            <a:r>
              <a:rPr lang="en-US" sz="1200" dirty="0">
                <a:effectLst/>
              </a:rPr>
              <a:t> substrate via reaction with a well-adhered MA pulsed plasma polymer layer; (2) the intermolecular spacing and concentration of amine-containing moieties attached to the surface can be finely tuned by controlling the level of anhydride group incorporation during pulsed plasma deposition; (3) tailoring solid surfaces using the combination of pulsed plasma deposition of anhydride groups and the subsequent aminolysis reaction can be attractived for a variety of applications such as the control of hydrophilicity and biocompatability (e.g., attachment of heparin), modification of polymer adsorption characteristics, microcontact printing, ion conducting membranes, patterned polymer multilayers, thin film electrodes, catalysis, and adhesion. In the case of propylamine- and allylamine-derivatized MA pulsed plasma polymer layers, XPS, FTIR, diphenylpicrylhydrazyl assay, water contact angle and reflectometry all indicate a marked change in the film. Such film expansion during aminolysis enables greater access to subsurface trapped radicals. Imidization of these amide films by heating in vacuum at 120°C for 1 h [283,285,286] leads to the disappearance of acid-base interactions and a rise in hydrophobicity. This increase in hydrophobicity should enable apolar solvents to penetrate into the film more effectively, thus assisting access to the subsurface free radicals.</a:t>
            </a:r>
          </a:p>
        </p:txBody>
      </p:sp>
      <p:sp>
        <p:nvSpPr>
          <p:cNvPr id="2" name="Text"/>
          <p:cNvSpPr/>
          <p:nvPr/>
        </p:nvSpPr>
        <p:spPr>
          <a:xfrm>
            <a:off x="1524000" y="3810000"/>
            <a:ext cx="9144000" cy="1828800"/>
          </a:xfrm>
          <a:prstGeom prst="rect">
            <a:avLst/>
          </a:prstGeom>
        </p:spPr>
        <p:txBody>
          <a:bodyPr anchor="t" lIns="0" tIns="0" rIns="0" bIns="0">
            <a:noAutofit/>
          </a:bodyPr>
          <a:lstStyle/>
          <a:p>
            <a:pPr>
              <a:lnSpc>
                <a:spcPct val="120000"/>
              </a:lnSpc>
            </a:pPr>
            <a:r>
              <a:rPr lang="en-US" sz="1200" dirty="0">
                <a:effectLst/>
              </a:rPr>
              <a:t>According to Teare et al. [286] pulsed plasma polymerization is reorganized as being a practical, substrateindependent route for functioalizing solid surface with specific chemical groups, especially with functional monomers. Other advantages include the fact that this approach is quick (single step), solvent free, energy efficient, and can be applied to a whole host of complex geometries (e.g. microspheres, fibers, tubes, etc.). Authors described a subsrate-independent method for the synthesis of polymer brushes on solid surface. This entails pulsed plasma deposition of MA to generate a free radical initiator containing thin film followed by styrene polymerization. In the case of the graft polymerization of styrene onto MA plasma polymer surfaces, authors found significantly greater extent of polymerization for pulsed compared to continuous wave deposition conditions. According to the authors, presence of "trapped radicals" in MA molecule, pulsed plasma polymer will be enhanced by resonance stabilization (Scheme 11).</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3000421a116daa784ce533b82c21bb1975ee99f1.jpg"/>
          <p:cNvPicPr/>
          <p:nvPr/>
        </p:nvPicPr>
        <p:blipFill>
          <a:blip r:embed="rId2" cstate="print"/>
          <a:srcRect/>
          <a:stretch>
            <a:fillRect/>
          </a:stretch>
        </p:blipFill>
        <p:spPr>
          <a:xfrm>
            <a:off x="1524000" y="457200"/>
            <a:ext cx="6115050" cy="1333500"/>
          </a:xfrm>
          <a:prstGeom prst="rect">
            <a:avLst/>
          </a:prstGeom>
        </p:spPr>
      </p:pic>
      <p:sp>
        <p:nvSpPr>
          <p:cNvPr id="3" name="Text"/>
          <p:cNvSpPr/>
          <p:nvPr/>
        </p:nvSpPr>
        <p:spPr>
          <a:xfrm>
            <a:off x="1524000" y="1790700"/>
            <a:ext cx="9144000" cy="457200"/>
          </a:xfrm>
          <a:prstGeom prst="rect">
            <a:avLst/>
          </a:prstGeom>
        </p:spPr>
        <p:txBody>
          <a:bodyPr anchor="t" lIns="0" tIns="0" rIns="0" bIns="0">
            <a:noAutofit/>
          </a:bodyPr>
          <a:lstStyle/>
          <a:p>
            <a:pPr>
              <a:lnSpc>
                <a:spcPct val="120000"/>
              </a:lnSpc>
            </a:pPr>
            <a:r>
              <a:rPr lang="en-US" sz="1200" dirty="0">
                <a:effectLst/>
              </a:rPr>
              <a:t>Figure 11. Resonance stabilization of "trapped radicals" in the pulsed plasma graft polymeriztion of styrene onto MA plasma polymer surface. Adapted from [286].</a:t>
            </a:r>
          </a:p>
        </p:txBody>
      </p:sp>
      <p:sp>
        <p:nvSpPr>
          <p:cNvPr id="2" name="Text"/>
          <p:cNvSpPr/>
          <p:nvPr/>
        </p:nvSpPr>
        <p:spPr>
          <a:xfrm>
            <a:off x="1524000" y="2247900"/>
            <a:ext cx="9144000" cy="1371600"/>
          </a:xfrm>
          <a:prstGeom prst="rect">
            <a:avLst/>
          </a:prstGeom>
        </p:spPr>
        <p:txBody>
          <a:bodyPr anchor="t" lIns="0" tIns="0" rIns="0" bIns="0">
            <a:noAutofit/>
          </a:bodyPr>
          <a:lstStyle/>
          <a:p>
            <a:pPr>
              <a:lnSpc>
                <a:spcPct val="120000"/>
              </a:lnSpc>
            </a:pPr>
            <a:r>
              <a:rPr lang="en-US" sz="1200" dirty="0">
                <a:effectLst/>
              </a:rPr>
              <a:t>They demonstrated that a pulsed plasma-chemical deposition of MA polymer is a substrate-independent method for functionalizing solid surfaces with initiator sites for nitroxy-mediated controlled radical graft polymerization, and swelling of the initiator film via aminolysis can lead to grafted polymer brushes that are first order magnitude thicker than those obtained by existing methods on solid surfaces [286]. According to Yasuda [287], the graft polymerization of styrene is most likely to be concentrated at radical sites located at or near the surface, where resonance and polar effects will help to stabilize the intermediate radical. Authors schematically represented resonance stabilization of reaction intermediate between MA and styrene as follows (Figure 12) [286]:</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ae36a01c41c3347e7aecc8c3509b9064d0c339f1.jpg"/>
          <p:cNvPicPr/>
          <p:nvPr/>
        </p:nvPicPr>
        <p:blipFill>
          <a:blip r:embed="rId2" cstate="print"/>
          <a:srcRect/>
          <a:stretch>
            <a:fillRect/>
          </a:stretch>
        </p:blipFill>
        <p:spPr>
          <a:xfrm>
            <a:off x="1524000" y="457200"/>
            <a:ext cx="7743825" cy="3390900"/>
          </a:xfrm>
          <a:prstGeom prst="rect">
            <a:avLst/>
          </a:prstGeom>
        </p:spPr>
      </p:pic>
      <p:sp>
        <p:nvSpPr>
          <p:cNvPr id="3" name="Text"/>
          <p:cNvSpPr/>
          <p:nvPr/>
        </p:nvSpPr>
        <p:spPr>
          <a:xfrm>
            <a:off x="1524000" y="3848100"/>
            <a:ext cx="9144000" cy="457200"/>
          </a:xfrm>
          <a:prstGeom prst="rect">
            <a:avLst/>
          </a:prstGeom>
        </p:spPr>
        <p:txBody>
          <a:bodyPr anchor="t" lIns="0" tIns="0" rIns="0" bIns="0">
            <a:noAutofit/>
          </a:bodyPr>
          <a:lstStyle/>
          <a:p>
            <a:pPr>
              <a:lnSpc>
                <a:spcPct val="120000"/>
              </a:lnSpc>
            </a:pPr>
            <a:r>
              <a:rPr lang="en-US" sz="1200" dirty="0">
                <a:effectLst/>
              </a:rPr>
              <a:t>Figure 12. Plasma graft polymerization via resonance stabilization of intermediate reaction between MA unit and styrene. Adapted from [286].</a:t>
            </a:r>
          </a:p>
        </p:txBody>
      </p:sp>
      <p:sp>
        <p:nvSpPr>
          <p:cNvPr id="2" name="Text"/>
          <p:cNvSpPr/>
          <p:nvPr/>
        </p:nvSpPr>
        <p:spPr>
          <a:xfrm>
            <a:off x="1524000" y="4305300"/>
            <a:ext cx="9144000" cy="685800"/>
          </a:xfrm>
          <a:prstGeom prst="rect">
            <a:avLst/>
          </a:prstGeom>
        </p:spPr>
        <p:txBody>
          <a:bodyPr anchor="t" lIns="0" tIns="0" rIns="0" bIns="0">
            <a:noAutofit/>
          </a:bodyPr>
          <a:lstStyle/>
          <a:p>
            <a:pPr>
              <a:lnSpc>
                <a:spcPct val="120000"/>
              </a:lnSpc>
            </a:pPr>
            <a:r>
              <a:rPr lang="en-US" sz="1200" dirty="0">
                <a:effectLst/>
              </a:rPr>
              <a:t>Tarducci et al. [288] used furfuryl methacrylate as the precursor for pulsed plasma polymerization in order to provide furan ring functionalized surfaces, which are capable of participating in [4+2] cycloaddition reaction with MA as a dienophil component. Reaction of the furfuryl methacrylate pulsed plasma polymer layers with MA was represented as follows (Figure 13):</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f3687693ddc7dddc5240547c7eb3ae69383a1d3e.jpg"/>
          <p:cNvPicPr/>
          <p:nvPr/>
        </p:nvPicPr>
        <p:blipFill>
          <a:blip r:embed="rId2" cstate="print"/>
          <a:srcRect/>
          <a:stretch>
            <a:fillRect/>
          </a:stretch>
        </p:blipFill>
        <p:spPr>
          <a:xfrm>
            <a:off x="1524000" y="457200"/>
            <a:ext cx="6191250" cy="3619500"/>
          </a:xfrm>
          <a:prstGeom prst="rect">
            <a:avLst/>
          </a:prstGeom>
        </p:spPr>
      </p:pic>
      <p:sp>
        <p:nvSpPr>
          <p:cNvPr id="3" name="Text"/>
          <p:cNvSpPr/>
          <p:nvPr/>
        </p:nvSpPr>
        <p:spPr>
          <a:xfrm>
            <a:off x="1524000" y="4076700"/>
            <a:ext cx="9144000" cy="228600"/>
          </a:xfrm>
          <a:prstGeom prst="rect">
            <a:avLst/>
          </a:prstGeom>
        </p:spPr>
        <p:txBody>
          <a:bodyPr anchor="t" lIns="0" tIns="0" rIns="0" bIns="0">
            <a:noAutofit/>
          </a:bodyPr>
          <a:lstStyle/>
          <a:p>
            <a:pPr>
              <a:lnSpc>
                <a:spcPct val="120000"/>
              </a:lnSpc>
            </a:pPr>
            <a:r>
              <a:rPr lang="en-US" sz="1200" dirty="0">
                <a:effectLst/>
              </a:rPr>
              <a:t>Figure 13. Reaction of the furfuryl methacrylate pulsed plasma polymer layers with MA monomer. Adapted from [288].</a:t>
            </a:r>
          </a:p>
        </p:txBody>
      </p:sp>
      <mc:AlternateContent xmlns:mc="http://schemas.openxmlformats.org/markup-compatibility/2006">
        <mc:Choice xmlns:a14="http://schemas.microsoft.com/office/drawing/2010/main" Requires="a14">
          <p:sp>
            <p:nvSpPr>
              <p:cNvPr id="2" name="Text"/>
              <p:cNvSpPr/>
              <p:nvPr/>
            </p:nvSpPr>
            <p:spPr>
              <a:xfrm>
                <a:off x="1524000" y="4305300"/>
                <a:ext cx="9144000" cy="685800"/>
              </a:xfrm>
              <a:prstGeom prst="rect">
                <a:avLst/>
              </a:prstGeom>
            </p:spPr>
            <p:txBody>
              <a:bodyPr anchor="t" lIns="0" tIns="0" rIns="0" bIns="0">
                <a:noAutofit/>
              </a:bodyPr>
              <a:lstStyle/>
              <a:p>
                <a:pPr>
                  <a:lnSpc>
                    <a:spcPct val="120000"/>
                  </a:lnSpc>
                </a:pPr>
                <a:r>
                  <a:rPr lang="en-US" sz="1200" dirty="0">
                    <a:effectLst/>
                  </a:rPr>
                  <a:t>Grazing angle IR spectroscopy of the Diels-Alder derivatized pulsed plasma polymer film indicated the presence of new peaks attributable to: anhydride </a:t>
                </a:r>
                <a:r>
                  <a:rPr lang="en-US" sz="1200" dirty="0">
                    <a:effectLst/>
                  </a:rPr>
                  <a:t>​</a:t>
                </a:r>
                <a14:m>
                  <m:oMath>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O</m:t>
                    </m:r>
                  </m:oMath>
                </a14:m>
                <a:r>
                  <a:rPr lang="en-US" sz="1200" dirty="0">
                    <a:effectLst/>
                  </a:rPr>
                  <a:t> stretching </a:t>
                </a:r>
                <a:r>
                  <a:rPr lang="en-US" sz="1200" dirty="0">
                    <a:effectLst/>
                  </a:rPr>
                  <a:t>​</a:t>
                </a:r>
                <a14:m>
                  <m:oMath>
                    <m:d>
                      <m:dPr>
                        <m:begChr m:val="("/>
                        <m:endChr m:val=")"/>
                        <m:ctrlPr>
                          <a:rPr sz="1200">
                            <a:latin typeface="Cambria Math" panose="02040503050406030204" pitchFamily="18" charset="0"/>
                          </a:rPr>
                        </m:ctrlPr>
                      </m:dPr>
                      <m:e>
                        <m:r>
                          <m:rPr>
                            <m:sty m:val="p"/>
                          </m:rPr>
                          <a:rPr lang="en-US" sz="1200" dirty="0">
                            <a:solidFill>
                              <a:srgbClr val="000000"/>
                            </a:solidFill>
                            <a:effectLst/>
                          </a:rPr>
                          <m:t>1860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e>
                    </m:d>
                    <m:r>
                      <m:rPr>
                        <m:sty m:val="p"/>
                      </m:rPr>
                      <a:rPr lang="en-US" sz="1200" dirty="0">
                        <a:solidFill>
                          <a:srgbClr val="000000"/>
                        </a:solidFill>
                        <a:effectLst/>
                      </a:rPr>
                      <m:t>,</m:t>
                    </m:r>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C</m:t>
                    </m:r>
                  </m:oMath>
                </a14:m>
                <a:r>
                  <a:rPr lang="en-US" sz="1200" dirty="0">
                    <a:effectLst/>
                  </a:rPr>
                  <a:t> stretching </a:t>
                </a:r>
                <a:r>
                  <a:rPr lang="en-US" sz="1200" dirty="0">
                    <a:effectLst/>
                  </a:rPr>
                  <a:t>​</a:t>
                </a:r>
                <a14:m>
                  <m:oMath>
                    <m:d>
                      <m:dPr>
                        <m:begChr m:val="("/>
                        <m:endChr m:val=")"/>
                        <m:ctrlPr>
                          <a:rPr sz="1200">
                            <a:latin typeface="Cambria Math" panose="02040503050406030204" pitchFamily="18" charset="0"/>
                          </a:rPr>
                        </m:ctrlPr>
                      </m:dPr>
                      <m:e>
                        <m:r>
                          <m:rPr>
                            <m:sty m:val="p"/>
                          </m:rPr>
                          <a:rPr lang="en-US" sz="1200" dirty="0">
                            <a:solidFill>
                              <a:srgbClr val="000000"/>
                            </a:solidFill>
                            <a:effectLst/>
                          </a:rPr>
                          <m:t>1636</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e>
                    </m:d>
                  </m:oMath>
                </a14:m>
                <a:r>
                  <a:rPr lang="en-US" sz="1200" dirty="0">
                    <a:effectLst/>
                  </a:rPr>
                  <a:t>, and an intense broad peak due to C-O-C stretching ( </a:t>
                </a:r>
                <a:r>
                  <a:rPr lang="en-US" sz="1200" dirty="0">
                    <a:effectLst/>
                  </a:rPr>
                  <a:t>​</a:t>
                </a:r>
                <a14:m>
                  <m:oMath>
                    <m:r>
                      <m:rPr>
                        <m:sty m:val="p"/>
                      </m:rPr>
                      <a:rPr lang="en-US" sz="1200" dirty="0">
                        <a:solidFill>
                          <a:srgbClr val="000000"/>
                        </a:solidFill>
                        <a:effectLst/>
                      </a:rPr>
                      <m:t>1070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a:t>
                </a:r>
              </a:p>
            </p:txBody>
          </p:sp>
        </mc:Choice>
        <mc:Fallback/>
      </mc:AlternateContent>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94592397252c2e41b3792cfb524081289631c5a5.jpg"/>
          <p:cNvPicPr/>
          <p:nvPr/>
        </p:nvPicPr>
        <p:blipFill>
          <a:blip r:embed="rId2" cstate="print"/>
          <a:srcRect/>
          <a:stretch>
            <a:fillRect/>
          </a:stretch>
        </p:blipFill>
        <p:spPr>
          <a:xfrm>
            <a:off x="1524000" y="457200"/>
            <a:ext cx="4829175" cy="594360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14. Nitroxide (TEMPO)-mediated controlled freeradical graft polymerization of styrene onto pulsed plasma deposited poly(MA) layers. Adapted from [290].</a:t>
            </a:r>
          </a:p>
        </p:txBody>
      </p:sp>
      <p:sp>
        <p:nvSpPr>
          <p:cNvPr id="2" name="Text"/>
          <p:cNvSpPr/>
          <p:nvPr/>
        </p:nvSpPr>
        <p:spPr>
          <a:xfrm>
            <a:off x="1524000" y="914400"/>
            <a:ext cx="9144000" cy="2286000"/>
          </a:xfrm>
          <a:prstGeom prst="rect">
            <a:avLst/>
          </a:prstGeom>
        </p:spPr>
        <p:txBody>
          <a:bodyPr anchor="t" lIns="0" tIns="0" rIns="0" bIns="0">
            <a:noAutofit/>
          </a:bodyPr>
          <a:lstStyle/>
          <a:p>
            <a:pPr>
              <a:lnSpc>
                <a:spcPct val="120000"/>
              </a:lnSpc>
            </a:pPr>
            <a:r>
              <a:rPr lang="en-US" sz="1200" dirty="0">
                <a:effectLst/>
              </a:rPr>
              <a:t>Authors conclude that the methacrylate C=C double bond in furfuryl methacrylate (together with the substrate) is activated during the short pulsed plasma duty cycle ontime followed by conventional polymerization proceeding within each associated extinction period. This yields furan funtionalized surface which readily undergoes the cycloaddition reaction with MA [288]. Authors found that heating the MA pulsed plasma polymer surface in the presence of diphenylpicrylhydrazyl (a free radical scavenger) gave rise to the capping of trapped radical sites at the surface, thereby inhibiting styrene graft polymerization. UV irradiation through photomask of such capped surfaces leads to localized reactivation of the initiator sites, which in turn provides a method for the microfabrication of patterned polystyrene brush surfaces [289]. In their other publication, authors [290] also described a substrate-independent approach entailing the use of trapped-free-radical containing MA pulsed plasma polymer films as surface-bound initiators for the nitroxide (TEMPO)-mediated controlled free-radical graft polymerization of styrene. This controlled radical graft polymerization on pulsed plasma deposited poly(MA) layers was schematically represented in Figure 14.</a:t>
            </a:r>
          </a:p>
        </p:txBody>
      </p:sp>
      <p:sp>
        <p:nvSpPr>
          <p:cNvPr id="2" name="Text"/>
          <p:cNvSpPr/>
          <p:nvPr/>
        </p:nvSpPr>
        <p:spPr>
          <a:xfrm>
            <a:off x="1524000" y="3352800"/>
            <a:ext cx="9144000" cy="914400"/>
          </a:xfrm>
          <a:prstGeom prst="rect">
            <a:avLst/>
          </a:prstGeom>
        </p:spPr>
        <p:txBody>
          <a:bodyPr anchor="t" lIns="0" tIns="0" rIns="0" bIns="0">
            <a:noAutofit/>
          </a:bodyPr>
          <a:lstStyle/>
          <a:p>
            <a:pPr>
              <a:lnSpc>
                <a:spcPct val="120000"/>
              </a:lnSpc>
            </a:pPr>
            <a:r>
              <a:rPr lang="en-US" sz="1200" dirty="0">
                <a:effectLst/>
              </a:rPr>
              <a:t>The benefits of swelling the MA plasma polymer initiator films via aminolysis or imidization (through reaction of surface MA unit with propylamine or allylamine) prior to nitroxide-mediated controlled radical graft polymerization is highlighted [290]. Of particular importance is the fact that derivatization of the plasma polymer with a spacer molecule yields grafted polymer brush film at 1 order of magnitude thicker than previously reported for TEMPO-mediated surface-controlled freeradical graft polymerization [291].</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743200"/>
          </a:xfrm>
          <a:prstGeom prst="rect">
            <a:avLst/>
          </a:prstGeom>
        </p:spPr>
        <p:txBody>
          <a:bodyPr anchor="t" lIns="0" tIns="0" rIns="0" bIns="0">
            <a:noAutofit/>
          </a:bodyPr>
          <a:lstStyle/>
          <a:p>
            <a:pPr>
              <a:lnSpc>
                <a:spcPct val="120000"/>
              </a:lnSpc>
            </a:pPr>
            <a:r>
              <a:rPr lang="en-US" sz="1200" dirty="0">
                <a:effectLst/>
              </a:rPr>
              <a:t>It is known that the Diels-Alder reaction is a wellestablished solution-phase method for marking complex ring molecules in a single step [292]. Recently, it was demonstrated that this type of cycloaddition reaction can also take place at a solid surface, thereby marking in of potential interest for a number of technological applications. The examples of surface Diels-Alder chemistry include self-assembled monolayers, the immobilization of dyes [293], and direct reaction with polymer substrates containing polymer repeat units which participate in the Diels-Alder reaction [294-296]. Roucoules et al. [297] reported a simple, multisubstrate approach based on pulsed plasma deposited MA thin films. Pulsed plasmachemical surface functionalization comprises two distinct reaction regimes corresponding to monomer activation and the generation of surface sites during the duty cycle on-period (via UV irradiation, ion or electron bombardment) followed by conventional polymerization during the subsequent off-time (in the absence of any irradiation-induced damage). The overall approach in the study of authors entails allylamine undergoing aminolysis with MA pulsed plasma polymer films to yield alkene functionalized surfaces [277,278, 280]. The generated covalent amide linkages are subsequently converted into cyclic imide groups upon heating [298]. These surfaces are then shown to be suitable dienophiles for the Diels-Adler cycloaddition reaction with 1,3-cyclohexadiene to give mixtures of endo- and exo-bicyclo[2.2.2]octene-2 groups (Figure 15).</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445b798e3d3ae8037fa7770fddb96bfb2c79766f.jpg"/>
          <p:cNvPicPr/>
          <p:nvPr/>
        </p:nvPicPr>
        <p:blipFill>
          <a:blip r:embed="rId2" cstate="print"/>
          <a:srcRect/>
          <a:stretch>
            <a:fillRect/>
          </a:stretch>
        </p:blipFill>
        <p:spPr>
          <a:xfrm>
            <a:off x="1524000" y="457200"/>
            <a:ext cx="7172325" cy="4486275"/>
          </a:xfrm>
          <a:prstGeom prst="rect">
            <a:avLst/>
          </a:prstGeom>
        </p:spPr>
      </p:pic>
      <p:sp>
        <p:nvSpPr>
          <p:cNvPr id="3" name="Text"/>
          <p:cNvSpPr/>
          <p:nvPr/>
        </p:nvSpPr>
        <p:spPr>
          <a:xfrm>
            <a:off x="1524000" y="4943475"/>
            <a:ext cx="9144000" cy="457200"/>
          </a:xfrm>
          <a:prstGeom prst="rect">
            <a:avLst/>
          </a:prstGeom>
        </p:spPr>
        <p:txBody>
          <a:bodyPr anchor="t" lIns="0" tIns="0" rIns="0" bIns="0">
            <a:noAutofit/>
          </a:bodyPr>
          <a:lstStyle/>
          <a:p>
            <a:pPr>
              <a:lnSpc>
                <a:spcPct val="120000"/>
              </a:lnSpc>
            </a:pPr>
            <a:r>
              <a:rPr lang="en-US" sz="1200" dirty="0">
                <a:effectLst/>
              </a:rPr>
              <a:t>Figure 15. Pulsed plasmachemical surface functionalizezation of poly(MA) plasma polymer films via amidization and Diels-Adler cycloaddition reactions. Adapted from [298].</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143000"/>
              </a:xfrm>
              <a:prstGeom prst="rect">
                <a:avLst/>
              </a:prstGeom>
            </p:spPr>
            <p:txBody>
              <a:bodyPr anchor="t" lIns="0" tIns="0" rIns="0" bIns="0">
                <a:noAutofit/>
              </a:bodyPr>
              <a:lstStyle/>
              <a:p>
                <a:pPr>
                  <a:lnSpc>
                    <a:spcPct val="120000"/>
                  </a:lnSpc>
                </a:pPr>
                <a:r>
                  <a:rPr lang="en-US" sz="1200" dirty="0">
                    <a:effectLst/>
                  </a:rPr>
                  <a:t>Reflection-absorption IR analysis of MA pulsed plasma polymer films (95 nm thickness) confirmed a high degree of anhydride group incorporation [298]. The following characteristic infrared absorption features of cyclic anhydride groups were identified: asym. and sym. C=O stretching ( 1860 and </a:t>
                </a:r>
                <a:r>
                  <a:rPr lang="en-US" sz="1200" dirty="0">
                    <a:effectLst/>
                  </a:rPr>
                  <a:t>​</a:t>
                </a:r>
                <a14:m>
                  <m:oMath>
                    <m:r>
                      <m:rPr>
                        <m:sty m:val="p"/>
                      </m:rPr>
                      <a:rPr lang="en-US" sz="1200" dirty="0">
                        <a:solidFill>
                          <a:srgbClr val="000000"/>
                        </a:solidFill>
                        <a:effectLst/>
                      </a:rPr>
                      <m:t>1796</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 cyclic conjugated anhydride group stretching ( 1241 and </a:t>
                </a:r>
                <a:r>
                  <a:rPr lang="en-US" sz="1200" dirty="0">
                    <a:effectLst/>
                  </a:rPr>
                  <a:t>​</a:t>
                </a:r>
                <a14:m>
                  <m:oMath>
                    <m:r>
                      <m:rPr>
                        <m:sty m:val="p"/>
                      </m:rPr>
                      <a:rPr lang="en-US" sz="1200" dirty="0">
                        <a:solidFill>
                          <a:srgbClr val="000000"/>
                        </a:solidFill>
                        <a:effectLst/>
                      </a:rPr>
                      <m:t>1196</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 C-O-C stretching vibration (1097 and </a:t>
                </a:r>
                <a:r>
                  <a:rPr lang="en-US" sz="1200" dirty="0">
                    <a:effectLst/>
                  </a:rPr>
                  <a:t>​</a:t>
                </a:r>
                <a14:m>
                  <m:oMath>
                    <m:r>
                      <m:rPr>
                        <m:sty m:val="p"/>
                      </m:rPr>
                      <a:rPr lang="en-US" sz="1200" dirty="0">
                        <a:solidFill>
                          <a:srgbClr val="000000"/>
                        </a:solidFill>
                        <a:effectLst/>
                      </a:rPr>
                      <m:t>1062</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 and cyclic unconjugated anhydride group stretching (964, 938, and </a:t>
                </a:r>
                <a:r>
                  <a:rPr lang="en-US" sz="1200" dirty="0">
                    <a:effectLst/>
                  </a:rPr>
                  <a:t>​</a:t>
                </a:r>
                <a14:m>
                  <m:oMath>
                    <m:r>
                      <m:rPr>
                        <m:sty m:val="p"/>
                      </m:rPr>
                      <a:rPr lang="en-US" sz="1200" dirty="0">
                        <a:solidFill>
                          <a:srgbClr val="000000"/>
                        </a:solidFill>
                        <a:effectLst/>
                      </a:rPr>
                      <m:t>906</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 [187]. According to the authors, reaction of</a:t>
                </a:r>
              </a:p>
            </p:txBody>
          </p:sp>
        </mc:Choice>
        <mc:Fallback/>
      </mc:AlternateContent>
      <p:sp>
        <p:nvSpPr>
          <p:cNvPr id="2" name="Text"/>
          <p:cNvSpPr/>
          <p:nvPr/>
        </p:nvSpPr>
        <p:spPr>
          <a:xfrm>
            <a:off x="1524000" y="1752600"/>
            <a:ext cx="9144000" cy="685800"/>
          </a:xfrm>
          <a:prstGeom prst="rect">
            <a:avLst/>
          </a:prstGeom>
        </p:spPr>
        <p:txBody>
          <a:bodyPr anchor="t" lIns="0" tIns="0" rIns="0" bIns="0">
            <a:noAutofit/>
          </a:bodyPr>
          <a:lstStyle/>
          <a:p>
            <a:pPr>
              <a:lnSpc>
                <a:spcPct val="120000"/>
              </a:lnSpc>
            </a:pPr>
            <a:r>
              <a:rPr lang="en-US" sz="1800" dirty="0" b="1">
                <a:effectLst/>
              </a:rPr>
              <a:t>International Review of Chemical Engineering, volume 3, No 2, March, 2011 Int. Rev.Chem. Eng., 3(2011) 153-215</a:t>
            </a:r>
          </a:p>
        </p:txBody>
      </p:sp>
      <mc:AlternateContent xmlns:mc="http://schemas.openxmlformats.org/markup-compatibility/2006">
        <mc:Choice xmlns:a14="http://schemas.microsoft.com/office/drawing/2010/main" Requires="a14">
          <p:sp>
            <p:nvSpPr>
              <p:cNvPr id="2" name="Text"/>
              <p:cNvSpPr/>
              <p:nvPr/>
            </p:nvSpPr>
            <p:spPr>
              <a:xfrm>
                <a:off x="1524000" y="2628139"/>
                <a:ext cx="9144000" cy="2057400"/>
              </a:xfrm>
              <a:prstGeom prst="rect">
                <a:avLst/>
              </a:prstGeom>
            </p:spPr>
            <p:txBody>
              <a:bodyPr anchor="t" lIns="0" tIns="0" rIns="0" bIns="0">
                <a:noAutofit/>
              </a:bodyPr>
              <a:lstStyle/>
              <a:p>
                <a:pPr>
                  <a:lnSpc>
                    <a:spcPct val="120000"/>
                  </a:lnSpc>
                </a:pPr>
                <a:r>
                  <a:rPr lang="en-US" sz="1200" dirty="0">
                    <a:effectLst/>
                  </a:rPr>
                  <a:t>allylamine vapor with the deposited MA pulsed plasma polymer layer resulted in ring opening of the cyclic anhydride centers to yield amide (amide I at </a:t>
                </a:r>
                <a:r>
                  <a:rPr lang="en-US" sz="1200" dirty="0">
                    <a:effectLst/>
                  </a:rPr>
                  <a:t>​</a:t>
                </a:r>
                <a14:m>
                  <m:oMath>
                    <m:r>
                      <m:rPr>
                        <m:sty m:val="p"/>
                      </m:rPr>
                      <a:rPr lang="en-US" sz="1200" dirty="0">
                        <a:solidFill>
                          <a:srgbClr val="000000"/>
                        </a:solidFill>
                        <a:effectLst/>
                      </a:rPr>
                      <m:t>1658</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and amide II at </a:t>
                </a:r>
                <a:r>
                  <a:rPr lang="en-US" sz="1200" dirty="0">
                    <a:effectLst/>
                  </a:rPr>
                  <a:t>​</a:t>
                </a:r>
                <a14:m>
                  <m:oMath>
                    <m:r>
                      <m:rPr>
                        <m:sty m:val="p"/>
                      </m:rPr>
                      <a:rPr lang="en-US" sz="1200" dirty="0">
                        <a:solidFill>
                          <a:srgbClr val="000000"/>
                        </a:solidFill>
                        <a:effectLst/>
                      </a:rPr>
                      <m:t>1550</m:t>
                    </m:r>
                    <m:r>
                      <m:rPr>
                        <m:sty m:val="p"/>
                      </m:rPr>
                      <a:rPr lang="en-US" sz="1200" dirty="0">
                        <a:solidFill>
                          <a:srgbClr val="000000"/>
                        </a:solidFill>
                        <a:effectLst/>
                      </a:rPr>
                      <m:t>−</m:t>
                    </m:r>
                    <m:r>
                      <m:rPr>
                        <m:sty m:val="p"/>
                      </m:rPr>
                      <a:rPr lang="en-US" sz="1200" dirty="0">
                        <a:solidFill>
                          <a:srgbClr val="000000"/>
                        </a:solidFill>
                        <a:effectLst/>
                      </a:rPr>
                      <m:t>1510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 carboxylic acid stretching ( </a:t>
                </a:r>
                <a:r>
                  <a:rPr lang="en-US" sz="1200" dirty="0">
                    <a:effectLst/>
                  </a:rPr>
                  <a:t>​</a:t>
                </a:r>
                <a14:m>
                  <m:oMath>
                    <m:r>
                      <m:rPr>
                        <m:sty m:val="p"/>
                      </m:rPr>
                      <a:rPr lang="en-US" sz="1200" dirty="0">
                        <a:solidFill>
                          <a:srgbClr val="000000"/>
                        </a:solidFill>
                        <a:effectLst/>
                      </a:rPr>
                      <m:t>1716</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 and NH wagging ( </a:t>
                </a:r>
                <a:r>
                  <a:rPr lang="en-US" sz="1200" dirty="0">
                    <a:effectLst/>
                  </a:rPr>
                  <a:t>​</a:t>
                </a:r>
                <a14:m>
                  <m:oMath>
                    <m:r>
                      <m:rPr>
                        <m:sty m:val="p"/>
                      </m:rPr>
                      <a:rPr lang="en-US" sz="1200" dirty="0">
                        <a:solidFill>
                          <a:srgbClr val="000000"/>
                        </a:solidFill>
                        <a:effectLst/>
                      </a:rPr>
                      <m:t>820</m:t>
                    </m:r>
                    <m:r>
                      <m:rPr>
                        <m:sty m:val="p"/>
                      </m:rPr>
                      <a:rPr lang="en-US" sz="1200" dirty="0">
                        <a:solidFill>
                          <a:srgbClr val="000000"/>
                        </a:solidFill>
                        <a:effectLst/>
                      </a:rPr>
                      <m:t>−</m:t>
                    </m:r>
                    <m:r>
                      <m:rPr>
                        <m:sty m:val="p"/>
                      </m:rPr>
                      <a:rPr lang="en-US" sz="1200" dirty="0">
                        <a:solidFill>
                          <a:srgbClr val="000000"/>
                        </a:solidFill>
                        <a:effectLst/>
                      </a:rPr>
                      <m:t>750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 bands. Heating of these surfaces to 120 °C gave rise to ring closure and the formation of cyclic imides, as seen by the drop in the intensity of strong amide, NH wagging, and C=O acid bands, while two imide stretching vibration bands appear at 1775 and </a:t>
                </a:r>
                <a:r>
                  <a:rPr lang="en-US" sz="1200" dirty="0">
                    <a:effectLst/>
                  </a:rPr>
                  <a:t>​</a:t>
                </a:r>
                <a14:m>
                  <m:oMath>
                    <m:r>
                      <m:rPr>
                        <m:sty m:val="p"/>
                      </m:rPr>
                      <a:rPr lang="en-US" sz="1200" dirty="0">
                        <a:solidFill>
                          <a:srgbClr val="000000"/>
                        </a:solidFill>
                        <a:effectLst/>
                      </a:rPr>
                      <m:t>1710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Then, authors functionalized the aforementioned plasma polymer surface with cyclic imide groups was exposed to 1,3-cyclohexadiene solution in toluene at 90 °C for 15 h. This gave rise to a loss in intensity of the C=C stretching band ( </a:t>
                </a:r>
                <a:r>
                  <a:rPr lang="en-US" sz="1200" dirty="0">
                    <a:effectLst/>
                  </a:rPr>
                  <a:t>​</a:t>
                </a:r>
                <a14:m>
                  <m:oMath>
                    <m:r>
                      <m:rPr>
                        <m:sty m:val="p"/>
                      </m:rPr>
                      <a:rPr lang="en-US" sz="1200" dirty="0">
                        <a:solidFill>
                          <a:srgbClr val="000000"/>
                        </a:solidFill>
                        <a:effectLst/>
                      </a:rPr>
                      <m:t>1638</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 belonging to the surface alkene in conjunction with the appearance of a new band at </a:t>
                </a:r>
                <a:r>
                  <a:rPr lang="en-US" sz="1200" dirty="0">
                    <a:effectLst/>
                  </a:rPr>
                  <a:t>​</a:t>
                </a:r>
                <a14:m>
                  <m:oMath>
                    <m:r>
                      <m:rPr>
                        <m:sty m:val="p"/>
                      </m:rPr>
                      <a:rPr lang="en-US" sz="1200" dirty="0">
                        <a:solidFill>
                          <a:srgbClr val="000000"/>
                        </a:solidFill>
                        <a:effectLst/>
                      </a:rPr>
                      <m:t>1618</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These reactions were then repeated on MA pulsed plasma polymer films deposited onto steel plates, PE films, PS microspheres, and paper in order to demonstrate the general applicability of this approach.</a:t>
                </a:r>
              </a:p>
            </p:txBody>
          </p:sp>
        </mc:Choice>
        <mc:Fallback/>
      </mc:AlternateContent>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286000"/>
          </a:xfrm>
          <a:prstGeom prst="rect">
            <a:avLst/>
          </a:prstGeom>
        </p:spPr>
        <p:txBody>
          <a:bodyPr anchor="t" lIns="0" tIns="0" rIns="0" bIns="0">
            <a:noAutofit/>
          </a:bodyPr>
          <a:lstStyle/>
          <a:p>
            <a:pPr>
              <a:lnSpc>
                <a:spcPct val="120000"/>
              </a:lnSpc>
            </a:pPr>
            <a:r>
              <a:rPr lang="en-US" sz="1200" dirty="0">
                <a:effectLst/>
              </a:rPr>
              <a:t>Adhesion of thermoplastic olefin elastomer (TPO), consisting dispersions of poly(E-co-P-co-diene) rubber particles (EPDM) in a PP matrix, is low compared to other materials because of its low surface energy due to hydrocarbon constituents. To facilitate adhesion, the apolar aliphatic polymer surface can be modified into a high-energy polar surface by a number of methods such as bulk grafting, compounding, and variuos surface grafting methods [299-305]. As a surface modification technique, ozone has also been used successfully in treating polymers such as PP, PE, PET and PU to improve adhesion [298-308]. Polar carbonyl, carboxylic and hydroxyl groups formed on the ozone treated polymer surfaces were identified [308,309]. It was also recognized that hydroxyperoxides formed on the ozonied surface can induce radical polymerization of monomers containing C=C bonds, resulting in surface grafting of functional monomers onto the base polymer surface including PE and PP film surfaces [301,305,308]. It is well known that MA has been used extensively in producing compatibilizers for polymer alloying and in functionalizing polyolefins because of its activite vinylidene double bonds and anhydride functional groups.</a:t>
            </a:r>
          </a:p>
        </p:txBody>
      </p:sp>
      <mc:AlternateContent xmlns:mc="http://schemas.openxmlformats.org/markup-compatibility/2006">
        <mc:Choice xmlns:a14="http://schemas.microsoft.com/office/drawing/2010/main" Requires="a14">
          <p:sp>
            <p:nvSpPr>
              <p:cNvPr id="2" name="Text"/>
              <p:cNvSpPr/>
              <p:nvPr/>
            </p:nvSpPr>
            <p:spPr>
              <a:xfrm>
                <a:off x="1524000" y="2895600"/>
                <a:ext cx="9144000" cy="3429000"/>
              </a:xfrm>
              <a:prstGeom prst="rect">
                <a:avLst/>
              </a:prstGeom>
            </p:spPr>
            <p:txBody>
              <a:bodyPr anchor="t" lIns="0" tIns="0" rIns="0" bIns="0">
                <a:noAutofit/>
              </a:bodyPr>
              <a:lstStyle/>
              <a:p>
                <a:pPr>
                  <a:lnSpc>
                    <a:spcPct val="120000"/>
                  </a:lnSpc>
                </a:pPr>
                <a:r>
                  <a:rPr lang="en-US" sz="1200" dirty="0">
                    <a:effectLst/>
                  </a:rPr>
                  <a:t>Hong et al. [196,309] reported surface grafting of TPO with MA under ozone exposure using one of the initiators benzophenone (BP), benzoyl peroxide (BPO) or 2,2'-azobisisobutyronitrile (AIBN). The modified TPO surfaces were characterized by ATR-FTIR spectroscopy, contact angle measurement, and lap shear strength mesurement (LSS). They showed that TPO oxidizes to form -COOH </a:t>
                </a:r>
                <a:r>
                  <a:rPr lang="en-US" sz="1200" dirty="0">
                    <a:effectLst/>
                  </a:rPr>
                  <a:t>​</a:t>
                </a:r>
                <a14:m>
                  <m:oMath>
                    <m:d>
                      <m:dPr>
                        <m:begChr m:val="("/>
                        <m:endChr m:val=")"/>
                        <m:ctrlPr>
                          <a:rPr sz="1200">
                            <a:latin typeface="Cambria Math" panose="02040503050406030204" pitchFamily="18" charset="0"/>
                          </a:rPr>
                        </m:ctrlPr>
                      </m:dPr>
                      <m:e>
                        <m:r>
                          <m:rPr>
                            <m:sty m:val="p"/>
                          </m:rPr>
                          <a:rPr lang="en-US" sz="1200" dirty="0">
                            <a:solidFill>
                              <a:srgbClr val="000000"/>
                            </a:solidFill>
                            <a:effectLst/>
                          </a:rPr>
                          <m:t>1746</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e>
                    </m:d>
                  </m:oMath>
                </a14:m>
                <a:r>
                  <a:rPr lang="en-US" sz="1200" dirty="0">
                    <a:effectLst/>
                  </a:rPr>
                  <a:t> and </a:t>
                </a:r>
                <a:r>
                  <a:rPr lang="en-US" sz="1200" dirty="0">
                    <a:effectLst/>
                  </a:rPr>
                  <a:t>​</a:t>
                </a:r>
                <a14:m>
                  <m:oMath>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O</m:t>
                    </m:r>
                    <m:d>
                      <m:dPr>
                        <m:begChr m:val="("/>
                        <m:endChr m:val=")"/>
                        <m:ctrlPr>
                          <a:rPr sz="1200">
                            <a:latin typeface="Cambria Math" panose="02040503050406030204" pitchFamily="18" charset="0"/>
                          </a:rPr>
                        </m:ctrlPr>
                      </m:dPr>
                      <m:e>
                        <m:r>
                          <m:rPr>
                            <m:sty m:val="p"/>
                          </m:rPr>
                          <a:rPr lang="en-US" sz="1200" dirty="0">
                            <a:solidFill>
                              <a:srgbClr val="000000"/>
                            </a:solidFill>
                            <a:effectLst/>
                          </a:rPr>
                          <m:t>1714</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e>
                    </m:d>
                  </m:oMath>
                </a14:m>
                <a:r>
                  <a:rPr lang="en-US" sz="1200" dirty="0">
                    <a:effectLst/>
                  </a:rPr>
                  <a:t> groups under ozone exposure [309]. Two forms of MA, grafted MA (MA reacted with TPO) and homo- polymerized MA, can be formed during ozone treatment [290]. The radicals generated from BP then react with TPO to form MA grafted TPO or with each other to produce poly(MA). It is believed that MA is formed either from grafted MA or tightly entangled MA homopolymer. The grafted MA greatly improved the LSS of the TPO in TPO/epoxy adhesive/steel laminates. The LSS also depends on the used initiator type. The total and the polar component of the surface energy of the MA-grafted TPO increased after ozone exposure, following the order AIBN &lt; BPO &lt; BP, while the LSS increased in the order of BP &lt; AIBN &lt; BPO after long time ozone treatment. According to authors, this method of surface modification through grafting reaction is considered to be a good alternative to the conventional ozone treatment [196]. Surface plasmon resonance was used to follow the binding of the antibody, anti-bovine serum albumin (BSA), to protein-modified plasma polymerized MA films [310]. Authors found that BSA could be irreversibly bound to plasma polymer of MA (PPMA) under pulse plasma conditions. Moreover, the degree of antibody binding, which is directly related to the quantity of BSA on the PPMA, correlated with the plasma duty cycle. Authors speculated that BSA is being covalently bound to the PPMA via the reaction of amine groups on lysine residues in BSA with the retained anhydride group functionality in the polymer.</a:t>
                </a:r>
              </a:p>
            </p:txBody>
          </p:sp>
        </mc:Choice>
        <mc:Fallback/>
      </mc:AlternateContent>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342900"/>
          </a:xfrm>
          <a:prstGeom prst="rect">
            <a:avLst/>
          </a:prstGeom>
        </p:spPr>
        <p:txBody>
          <a:bodyPr anchor="t" lIns="0" tIns="0" rIns="0" bIns="0">
            <a:noAutofit/>
          </a:bodyPr>
          <a:lstStyle/>
          <a:p>
            <a:pPr>
              <a:lnSpc>
                <a:spcPct val="120000"/>
              </a:lnSpc>
            </a:pPr>
            <a:r>
              <a:rPr lang="en-US" sz="1800" dirty="0" b="1">
                <a:effectLst/>
              </a:rPr>
              <a:t>3. Grafting of Styrene (Co)polymers</a:t>
            </a:r>
          </a:p>
        </p:txBody>
      </p:sp>
      <mc:AlternateContent xmlns:mc="http://schemas.openxmlformats.org/markup-compatibility/2006">
        <mc:Choice xmlns:a14="http://schemas.microsoft.com/office/drawing/2010/main" Requires="a14">
          <p:sp>
            <p:nvSpPr>
              <p:cNvPr id="2" name="Text"/>
              <p:cNvSpPr/>
              <p:nvPr/>
            </p:nvSpPr>
            <p:spPr>
              <a:xfrm>
                <a:off x="1524000" y="989839"/>
                <a:ext cx="9144000" cy="2057400"/>
              </a:xfrm>
              <a:prstGeom prst="rect">
                <a:avLst/>
              </a:prstGeom>
            </p:spPr>
            <p:txBody>
              <a:bodyPr anchor="t" lIns="0" tIns="0" rIns="0" bIns="0">
                <a:noAutofit/>
              </a:bodyPr>
              <a:lstStyle/>
              <a:p>
                <a:pPr>
                  <a:lnSpc>
                    <a:spcPct val="120000"/>
                  </a:lnSpc>
                </a:pPr>
                <a:r>
                  <a:rPr lang="en-US" sz="1200" dirty="0">
                    <a:effectLst/>
                  </a:rPr>
                  <a:t>Jo and Park [311] reported the fuctionalization of atactic polystyrene ( </a:t>
                </a:r>
                <a:r>
                  <a:rPr lang="en-US" sz="1200" dirty="0">
                    <a:effectLst/>
                  </a:rPr>
                  <a:t>​</a:t>
                </a:r>
                <a14:m>
                  <m:oMath>
                    <m:r>
                      <m:rPr>
                        <m:sty m:val="i"/>
                      </m:rPr>
                      <a:rPr lang="en-US" sz="1200" dirty="0">
                        <a:solidFill>
                          <a:srgbClr val="000000"/>
                        </a:solidFill>
                        <a:effectLst/>
                      </a:rPr>
                      <m:t>a</m:t>
                    </m:r>
                  </m:oMath>
                </a14:m>
                <a:r>
                  <a:rPr lang="en-US" sz="1200" dirty="0">
                    <a:effectLst/>
                  </a:rPr>
                  <a:t>-PS) with MA in melt by reactive extrusion method. Passaglia et al. [322] studied the functionalization of PS block in styrene- </a:t>
                </a:r>
                <a:r>
                  <a:rPr lang="en-US" sz="1200" dirty="0">
                    <a:effectLst/>
                  </a:rPr>
                  <a:t>​</a:t>
                </a:r>
                <a14:m>
                  <m:oMath>
                    <m:r>
                      <m:rPr>
                        <m:sty m:val="i"/>
                      </m:rPr>
                      <a:rPr lang="en-US" sz="1200" dirty="0">
                        <a:solidFill>
                          <a:srgbClr val="000000"/>
                        </a:solidFill>
                        <a:effectLst/>
                      </a:rPr>
                      <m:t>b</m:t>
                    </m:r>
                  </m:oMath>
                </a14:m>
                <a:r>
                  <a:rPr lang="en-US" sz="1200" dirty="0">
                    <a:effectLst/>
                  </a:rPr>
                  <a:t>-(ethylene-co-1-butene)- </a:t>
                </a:r>
                <a:r>
                  <a:rPr lang="en-US" sz="1200" dirty="0">
                    <a:effectLst/>
                  </a:rPr>
                  <a:t>​</a:t>
                </a:r>
                <a14:m>
                  <m:oMath>
                    <m:r>
                      <m:rPr>
                        <m:sty m:val="i"/>
                      </m:rPr>
                      <a:rPr lang="en-US" sz="1200" dirty="0">
                        <a:solidFill>
                          <a:srgbClr val="000000"/>
                        </a:solidFill>
                        <a:effectLst/>
                      </a:rPr>
                      <m:t>b</m:t>
                    </m:r>
                  </m:oMath>
                </a14:m>
                <a:r>
                  <a:rPr lang="en-US" sz="1200" dirty="0">
                    <a:effectLst/>
                  </a:rPr>
                  <a:t>-styrene (SEBS) triblock copolymer with MA and diethyl maleate DEM). According to the authors, grafting of MA onto </a:t>
                </a:r>
                <a:r>
                  <a:rPr lang="en-US" sz="1200" dirty="0">
                    <a:effectLst/>
                  </a:rPr>
                  <a:t>​</a:t>
                </a:r>
                <a14:m>
                  <m:oMath>
                    <m:r>
                      <m:rPr>
                        <m:sty m:val="i"/>
                      </m:rPr>
                      <a:rPr lang="en-US" sz="1200" dirty="0">
                        <a:solidFill>
                          <a:srgbClr val="000000"/>
                        </a:solidFill>
                        <a:effectLst/>
                      </a:rPr>
                      <m:t>a</m:t>
                    </m:r>
                  </m:oMath>
                </a14:m>
                <a:r>
                  <a:rPr lang="en-US" sz="1200" dirty="0">
                    <a:effectLst/>
                  </a:rPr>
                  <a:t> -PS can be accomplished through a radical process, although the reaction mechanism is not clarity. The bulk functionalization of SEBS triblock copolymer with DEM or MA and dicumyl peroxide as initiator was carried out in a Brabender mixer. The functionalization degree (FD) of SEBS was determined by NMR analysis, the results of which indicated that the FD values depend on the feed composition and in particular on the DEM/initiator ratio. All obtained products were fractionated by solvent extraction and characterized by IR, NMR and GPC. They established that the functionalization takes place with a very large preference at the aliphatic carbons of the polyolefin block. Moreover occurrence of degradation and chain extension reactions gives a functionalized product with a molecular weight distribution larger than 1.</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199639"/>
                <a:ext cx="9144000" cy="2743200"/>
              </a:xfrm>
              <a:prstGeom prst="rect">
                <a:avLst/>
              </a:prstGeom>
            </p:spPr>
            <p:txBody>
              <a:bodyPr anchor="t" lIns="0" tIns="0" rIns="0" bIns="0">
                <a:noAutofit/>
              </a:bodyPr>
              <a:lstStyle/>
              <a:p>
                <a:pPr>
                  <a:lnSpc>
                    <a:spcPct val="120000"/>
                  </a:lnSpc>
                </a:pPr>
                <a:r>
                  <a:rPr lang="en-US" sz="1200" dirty="0">
                    <a:effectLst/>
                  </a:rPr>
                  <a:t>Preparation and characterization of MA-functionalized syndiotactic PS ( </a:t>
                </a:r>
                <a:r>
                  <a:rPr lang="en-US" sz="1200" dirty="0">
                    <a:effectLst/>
                  </a:rPr>
                  <a:t>​</a:t>
                </a:r>
                <a14:m>
                  <m:oMath>
                    <m:r>
                      <m:rPr>
                        <m:sty m:val="i"/>
                      </m:rPr>
                      <a:rPr lang="en-US" sz="1200" dirty="0">
                        <a:solidFill>
                          <a:srgbClr val="000000"/>
                        </a:solidFill>
                        <a:effectLst/>
                      </a:rPr>
                      <m:t>s</m:t>
                    </m:r>
                  </m:oMath>
                </a14:m>
                <a:r>
                  <a:rPr lang="en-US" sz="1200" dirty="0">
                    <a:effectLst/>
                  </a:rPr>
                  <a:t>-PS) reported by Li et al. [313]. They accomplished the free radical-induced grafting of MA onto </a:t>
                </a:r>
                <a:r>
                  <a:rPr lang="en-US" sz="1200" dirty="0">
                    <a:effectLst/>
                  </a:rPr>
                  <a:t>​</a:t>
                </a:r>
                <a14:m>
                  <m:oMath>
                    <m:r>
                      <m:rPr>
                        <m:sty m:val="i"/>
                      </m:rPr>
                      <a:rPr lang="en-US" sz="1200" dirty="0">
                        <a:solidFill>
                          <a:srgbClr val="000000"/>
                        </a:solidFill>
                        <a:effectLst/>
                      </a:rPr>
                      <m:t>s</m:t>
                    </m:r>
                  </m:oMath>
                </a14:m>
                <a:r>
                  <a:rPr lang="en-US" sz="1200" dirty="0">
                    <a:effectLst/>
                  </a:rPr>
                  <a:t>-PS in the solution process at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110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by using 1,1,2-trichloroethane as solvent and dicumyl peroxide as free radical initiator. According to the authors, functionalization reaction in a melt state was proved to be very difficult, since </a:t>
                </a:r>
                <a:r>
                  <a:rPr lang="en-US" sz="1200" dirty="0">
                    <a:effectLst/>
                  </a:rPr>
                  <a:t>​</a:t>
                </a:r>
                <a14:m>
                  <m:oMath>
                    <m:r>
                      <m:rPr>
                        <m:sty m:val="i"/>
                      </m:rPr>
                      <a:rPr lang="en-US" sz="1200" dirty="0">
                        <a:solidFill>
                          <a:srgbClr val="000000"/>
                        </a:solidFill>
                        <a:effectLst/>
                      </a:rPr>
                      <m:t>s</m:t>
                    </m:r>
                  </m:oMath>
                </a14:m>
                <a:r>
                  <a:rPr lang="en-US" sz="1200" dirty="0">
                    <a:effectLst/>
                  </a:rPr>
                  <a:t>-PS is a semicrystalline polymer and with a high melting poit of about 270 °C. FTIR and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r>
                      <m:rPr>
                        <m:sty m:val="p"/>
                      </m:rPr>
                      <a:rPr lang="en-US" sz="1200" dirty="0">
                        <a:solidFill>
                          <a:srgbClr val="000000"/>
                        </a:solidFill>
                        <a:effectLst/>
                      </a:rPr>
                      <m:t>H</m:t>
                    </m:r>
                  </m:oMath>
                </a14:m>
                <a:r>
                  <a:rPr lang="en-US" sz="1200" dirty="0">
                    <a:effectLst/>
                  </a:rPr>
                  <a:t> NMR spectra used by authors to confirm that maleated s-PS in the form of single succinic anhydride rings as well as short oligomers. The results obtained by GPC analysis indicate that the degradation and chain extension reaction</a:t>
                </a:r>
                <a:br>
                  <a:rPr lang="en-US" sz="1200" dirty="0"/>
                </a:br>
                <a:r>
                  <a:rPr lang="en-US" sz="1200" dirty="0">
                    <a:effectLst/>
                  </a:rPr>
                  <a:t> do not occur under the reaction conditions. In addition, it was found that the crystallization behavior of the poly(PS-</a:t>
                </a:r>
                <a:r>
                  <a:rPr lang="en-US" sz="1200" dirty="0">
                    <a:effectLst/>
                  </a:rPr>
                  <a:t>​</a:t>
                </a:r>
                <a14:m>
                  <m:oMath>
                    <m:r>
                      <m:rPr>
                        <m:sty m:val="i"/>
                      </m:rPr>
                      <a:rPr lang="en-US" sz="1200" dirty="0">
                        <a:solidFill>
                          <a:srgbClr val="000000"/>
                        </a:solidFill>
                        <a:effectLst/>
                      </a:rPr>
                      <m:t>g</m:t>
                    </m:r>
                  </m:oMath>
                </a14:m>
                <a:r>
                  <a:rPr lang="en-US" sz="1200" dirty="0">
                    <a:effectLst/>
                  </a:rPr>
                  <a:t>-MA) exhibited somewhat differences in comparison to the neat </a:t>
                </a:r>
                <a:r>
                  <a:rPr lang="en-US" sz="1200" dirty="0">
                    <a:effectLst/>
                  </a:rPr>
                  <a:t>​</a:t>
                </a:r>
                <a14:m>
                  <m:oMath>
                    <m:r>
                      <m:rPr>
                        <m:sty m:val="i"/>
                      </m:rPr>
                      <a:rPr lang="en-US" sz="1200" dirty="0">
                        <a:solidFill>
                          <a:srgbClr val="000000"/>
                        </a:solidFill>
                        <a:effectLst/>
                      </a:rPr>
                      <m:t>s</m:t>
                    </m:r>
                  </m:oMath>
                </a14:m>
                <a:r>
                  <a:rPr lang="en-US" sz="1200" dirty="0">
                    <a:effectLst/>
                  </a:rPr>
                  <a:t>-PS. The MA grafted PS crystallizes at higher rate than the unmodified polymer, while the values of the degree of crystallinity were lowered by the presence of the MA grafts. It was observed that the melting polint of the maleated </a:t>
                </a:r>
                <a:r>
                  <a:rPr lang="en-US" sz="1200" dirty="0">
                    <a:effectLst/>
                  </a:rPr>
                  <a:t>​</a:t>
                </a:r>
                <a14:m>
                  <m:oMath>
                    <m:r>
                      <m:rPr>
                        <m:sty m:val="i"/>
                      </m:rPr>
                      <a:rPr lang="en-US" sz="1200" dirty="0">
                        <a:solidFill>
                          <a:srgbClr val="000000"/>
                        </a:solidFill>
                        <a:effectLst/>
                      </a:rPr>
                      <m:t>s</m:t>
                    </m:r>
                  </m:oMath>
                </a14:m>
                <a:r>
                  <a:rPr lang="en-US" sz="1200" dirty="0">
                    <a:effectLst/>
                  </a:rPr>
                  <a:t>-PS samples changed little or did not change. Obtained glass transiton temperature (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g</m:t>
                        </m:r>
                      </m:sub>
                    </m:sSub>
                  </m:oMath>
                </a14:m>
                <a:r>
                  <a:rPr lang="en-US" sz="1200" dirty="0">
                    <a:effectLst/>
                  </a:rPr>
                  <a:t> ) data helps in undestanding the effects of MA grafts on the movement of copolymer chains. The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g</m:t>
                        </m:r>
                      </m:sub>
                    </m:sSub>
                  </m:oMath>
                </a14:m>
                <a:r>
                  <a:rPr lang="en-US" sz="1200" dirty="0">
                    <a:effectLst/>
                  </a:rPr>
                  <a:t> values of the modified polymer alter slightly in comparison to the neat PS.</a:t>
                </a:r>
              </a:p>
            </p:txBody>
          </p:sp>
        </mc:Choice>
        <mc:Fallback/>
      </mc:AlternateContent>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286000"/>
              </a:xfrm>
              <a:prstGeom prst="rect">
                <a:avLst/>
              </a:prstGeom>
            </p:spPr>
            <p:txBody>
              <a:bodyPr anchor="t" lIns="0" tIns="0" rIns="0" bIns="0">
                <a:noAutofit/>
              </a:bodyPr>
              <a:lstStyle/>
              <a:p>
                <a:pPr>
                  <a:lnSpc>
                    <a:spcPct val="120000"/>
                  </a:lnSpc>
                </a:pPr>
                <a:r>
                  <a:rPr lang="en-US" sz="1200" dirty="0">
                    <a:effectLst/>
                  </a:rPr>
                  <a:t>Chemical modification of the phenyl ring in the PS macromolecule is also possible and has been frequently employed. For example, introduction of carboxyl groups in phenyl rings of PS [314-316] can be easily carried out by (1) cleavage of benzoylated or chlorobenzoylated PS [316] and (2) oxidation of commercial formyl resin, chloromethylated PS [315] and acylation of PS with acetic anhydride in the presence of Lewis acids [317]. It was shown that new coating system with improved heat resistance, anticorrosive, and impact properties can be obtained by using these modified PSs (317,318]. According to the authors, functionalization of PS by grafting reaction can be carried out either via the polymer backbone in the case of radical initiators or through the side phenyl rings using cationic catalysts. They chemically modified PSs (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n</m:t>
                        </m:r>
                      </m:sub>
                    </m:sSub>
                  </m:oMath>
                </a14:m>
                <a:r>
                  <a:rPr lang="en-US" sz="1200" dirty="0">
                    <a:effectLst/>
                  </a:rPr>
                  <a:t> around 5000-100000) with MA by use of certain cationic catalysts of Lewis acid type (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BF</m:t>
                        </m:r>
                      </m:e>
                      <m:sub>
                        <m:r>
                          <m:rPr>
                            <m:sty m:val="p"/>
                          </m:rPr>
                          <a:rPr lang="en-US" sz="1200" dirty="0">
                            <a:solidFill>
                              <a:srgbClr val="000000"/>
                            </a:solidFill>
                            <a:effectLst/>
                          </a:rPr>
                          <m:t>3</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OEt</m:t>
                        </m:r>
                      </m:e>
                      <m:sub>
                        <m:r>
                          <m:rPr>
                            <m:sty m:val="p"/>
                          </m:rPr>
                          <a:rPr lang="en-US" sz="1200" dirty="0">
                            <a:solidFill>
                              <a:srgbClr val="000000"/>
                            </a:solidFill>
                            <a:effectLst/>
                          </a:rPr>
                          <m:t>2</m:t>
                        </m:r>
                      </m:sub>
                    </m:sSub>
                  </m:oMath>
                </a14:m>
                <a:r>
                  <a:rPr lang="en-US" sz="1200" dirty="0">
                    <a:effectLst/>
                  </a:rPr>
                  <a:t>,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AlCl</m:t>
                        </m:r>
                      </m:e>
                      <m:sub>
                        <m:r>
                          <m:rPr>
                            <m:sty m:val="p"/>
                          </m:rPr>
                          <a:rPr lang="en-US" sz="1200" dirty="0">
                            <a:solidFill>
                              <a:srgbClr val="000000"/>
                            </a:solidFill>
                            <a:effectLst/>
                          </a:rPr>
                          <m:t>3</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TiCl</m:t>
                        </m:r>
                      </m:e>
                      <m:sub>
                        <m:r>
                          <m:rPr>
                            <m:sty m:val="p"/>
                          </m:rPr>
                          <a:rPr lang="en-US" sz="1200" dirty="0">
                            <a:solidFill>
                              <a:srgbClr val="000000"/>
                            </a:solidFill>
                            <a:effectLst/>
                          </a:rPr>
                          <m:t>4</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ZnCl</m:t>
                        </m:r>
                      </m:e>
                      <m:sub>
                        <m:r>
                          <m:rPr>
                            <m:sty m:val="p"/>
                          </m:rPr>
                          <a:rPr lang="en-US" sz="1200" dirty="0">
                            <a:solidFill>
                              <a:srgbClr val="000000"/>
                            </a:solidFill>
                            <a:effectLst/>
                          </a:rPr>
                          <m:t>2</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FeCl</m:t>
                        </m:r>
                      </m:e>
                      <m:sub>
                        <m:r>
                          <m:rPr>
                            <m:sty m:val="p"/>
                          </m:rPr>
                          <a:rPr lang="en-US" sz="1200" dirty="0">
                            <a:solidFill>
                              <a:srgbClr val="000000"/>
                            </a:solidFill>
                            <a:effectLst/>
                          </a:rPr>
                          <m:t>3</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SnCl</m:t>
                        </m:r>
                      </m:e>
                      <m:sub>
                        <m:r>
                          <m:rPr>
                            <m:sty m:val="p"/>
                          </m:rPr>
                          <a:rPr lang="en-US" sz="1200" dirty="0">
                            <a:solidFill>
                              <a:srgbClr val="000000"/>
                            </a:solidFill>
                            <a:effectLst/>
                          </a:rPr>
                          <m:t>4</m:t>
                        </m:r>
                      </m:sub>
                    </m:sSub>
                  </m:oMath>
                </a14:m>
                <a:r>
                  <a:rPr lang="en-US" sz="1200" dirty="0">
                    <a:effectLst/>
                  </a:rPr>
                  <a:t> ) in chloroform at 0-</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30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The results obtained and the known fact that benzene is easily acylated with MA in the presence of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AlCl</m:t>
                        </m:r>
                      </m:e>
                      <m:sub>
                        <m:r>
                          <m:rPr>
                            <m:sty m:val="p"/>
                          </m:rPr>
                          <a:rPr lang="en-US" sz="1200" dirty="0">
                            <a:solidFill>
                              <a:srgbClr val="000000"/>
                            </a:solidFill>
                            <a:effectLst/>
                          </a:rPr>
                          <m:t>3</m:t>
                        </m:r>
                      </m:sub>
                    </m:sSub>
                  </m:oMath>
                </a14:m>
                <a:r>
                  <a:rPr lang="en-US" sz="1200" dirty="0">
                    <a:effectLst/>
                  </a:rPr>
                  <a:t> allow one to present the general scheme for the side chain modification of PS in the presence of Lewis acid in the following way (Figure 16) [318]:</a:t>
                </a:r>
              </a:p>
            </p:txBody>
          </p:sp>
        </mc:Choice>
        <mc:Fallback/>
      </mc:AlternateContent>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954a266832b7bd5e7038dca58c1dad326e1df9a2.jpg"/>
          <p:cNvPicPr/>
          <p:nvPr/>
        </p:nvPicPr>
        <p:blipFill>
          <a:blip r:embed="rId2" cstate="print"/>
          <a:srcRect/>
          <a:stretch>
            <a:fillRect/>
          </a:stretch>
        </p:blipFill>
        <p:spPr>
          <a:xfrm>
            <a:off x="1524000" y="457200"/>
            <a:ext cx="7839075" cy="4305300"/>
          </a:xfrm>
          <a:prstGeom prst="rect">
            <a:avLst/>
          </a:prstGeom>
        </p:spPr>
      </p:pic>
      <p:sp>
        <p:nvSpPr>
          <p:cNvPr id="3" name="Text"/>
          <p:cNvSpPr/>
          <p:nvPr/>
        </p:nvSpPr>
        <p:spPr>
          <a:xfrm>
            <a:off x="1524000" y="4762500"/>
            <a:ext cx="9144000" cy="228600"/>
          </a:xfrm>
          <a:prstGeom prst="rect">
            <a:avLst/>
          </a:prstGeom>
        </p:spPr>
        <p:txBody>
          <a:bodyPr anchor="t" lIns="0" tIns="0" rIns="0" bIns="0">
            <a:noAutofit/>
          </a:bodyPr>
          <a:lstStyle/>
          <a:p>
            <a:pPr>
              <a:lnSpc>
                <a:spcPct val="120000"/>
              </a:lnSpc>
            </a:pPr>
            <a:r>
              <a:rPr lang="en-US" sz="1200" dirty="0">
                <a:effectLst/>
              </a:rPr>
              <a:t>Figure 16. Side-chain acylation of PS with MA in the presence of Lewis acid.</a:t>
            </a:r>
          </a:p>
        </p:txBody>
      </p:sp>
      <mc:AlternateContent xmlns:mc="http://schemas.openxmlformats.org/markup-compatibility/2006">
        <mc:Choice xmlns:a14="http://schemas.microsoft.com/office/drawing/2010/main" Requires="a14">
          <p:sp>
            <p:nvSpPr>
              <p:cNvPr id="2" name="Text"/>
              <p:cNvSpPr/>
              <p:nvPr/>
            </p:nvSpPr>
            <p:spPr>
              <a:xfrm>
                <a:off x="1524000" y="4991100"/>
                <a:ext cx="9144000" cy="1143000"/>
              </a:xfrm>
              <a:prstGeom prst="rect">
                <a:avLst/>
              </a:prstGeom>
            </p:spPr>
            <p:txBody>
              <a:bodyPr anchor="t" lIns="0" tIns="0" rIns="0" bIns="0">
                <a:noAutofit/>
              </a:bodyPr>
              <a:lstStyle/>
              <a:p>
                <a:pPr>
                  <a:lnSpc>
                    <a:spcPct val="120000"/>
                  </a:lnSpc>
                </a:pPr>
                <a:r>
                  <a:rPr lang="en-US" sz="1200" dirty="0">
                    <a:effectLst/>
                  </a:rPr>
                  <a:t>As one can see, the scheme consists of several stages: (1) complex formation of Lewis acid with MA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p"/>
                              </m:rPr>
                              <a:rPr lang="en-US" sz="1200" dirty="0">
                                <a:solidFill>
                                  <a:srgbClr val="000000"/>
                                </a:solidFill>
                                <a:effectLst/>
                              </a:rPr>
                              <m:t>MX</m:t>
                            </m:r>
                          </m:e>
                          <m:sub>
                            <m:r>
                              <m:rPr>
                                <m:sty m:val="p"/>
                              </m:rPr>
                              <a:rPr lang="en-US" sz="1200" dirty="0">
                                <a:solidFill>
                                  <a:srgbClr val="000000"/>
                                </a:solidFill>
                                <a:effectLst/>
                              </a:rPr>
                              <m:t>n</m:t>
                            </m:r>
                          </m:sub>
                        </m:sSub>
                      </m:e>
                    </m:d>
                  </m:oMath>
                </a14:m>
                <a:r>
                  <a:rPr lang="en-US" sz="1200" dirty="0">
                    <a:effectLst/>
                  </a:rPr>
                  <a:t>, (2) addition of MA...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MX</m:t>
                        </m:r>
                      </m:e>
                      <m:sub>
                        <m:r>
                          <m:rPr>
                            <m:sty m:val="p"/>
                          </m:rPr>
                          <a:rPr lang="en-US" sz="1200" dirty="0">
                            <a:solidFill>
                              <a:srgbClr val="000000"/>
                            </a:solidFill>
                            <a:effectLst/>
                          </a:rPr>
                          <m:t>n</m:t>
                        </m:r>
                      </m:sub>
                    </m:sSub>
                  </m:oMath>
                </a14:m>
                <a:r>
                  <a:rPr lang="en-US" sz="1200" dirty="0">
                    <a:effectLst/>
                  </a:rPr>
                  <a:t> complex to the phenyl ring of PS, and (3) break of the hydrogen atom from the </a:t>
                </a:r>
                <a:r>
                  <a:rPr lang="en-US" sz="1200" dirty="0">
                    <a:effectLst/>
                  </a:rPr>
                  <a:t>​</a:t>
                </a:r>
                <a14:m>
                  <m:oMath>
                    <m:r>
                      <m:rPr>
                        <m:sty m:val="i"/>
                      </m:rPr>
                      <a:rPr lang="en-US" sz="1200" dirty="0">
                        <a:solidFill>
                          <a:srgbClr val="000000"/>
                        </a:solidFill>
                        <a:effectLst/>
                      </a:rPr>
                      <m:t>p</m:t>
                    </m:r>
                  </m:oMath>
                </a14:m>
                <a:r>
                  <a:rPr lang="en-US" sz="1200" dirty="0">
                    <a:effectLst/>
                  </a:rPr>
                  <a:t> - or </a:t>
                </a:r>
                <a:r>
                  <a:rPr lang="en-US" sz="1200" dirty="0">
                    <a:effectLst/>
                  </a:rPr>
                  <a:t>​</a:t>
                </a:r>
                <a14:m>
                  <m:oMath>
                    <m:r>
                      <m:rPr>
                        <m:sty m:val="i"/>
                      </m:rPr>
                      <a:rPr lang="en-US" sz="1200" dirty="0">
                        <a:solidFill>
                          <a:srgbClr val="000000"/>
                        </a:solidFill>
                        <a:effectLst/>
                      </a:rPr>
                      <m:t>o</m:t>
                    </m:r>
                  </m:oMath>
                </a14:m>
                <a:r>
                  <a:rPr lang="en-US" sz="1200" dirty="0">
                    <a:effectLst/>
                  </a:rPr>
                  <a:t> position of phenyl ring and its addition to maleate fragment. In this scheme, complex formation plays a very significant role in the acylation reaction. On the other hand, it can also by suggested that in the acylation reaction the CTC between MA and phenyl ring of PS or between complexed MA and PS also can take place, which helps facilitate the acylation reaction [208].</a:t>
                </a:r>
              </a:p>
            </p:txBody>
          </p:sp>
        </mc:Choice>
        <mc:Fallback/>
      </mc:AlternateContent>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143000"/>
              </a:xfrm>
              <a:prstGeom prst="rect">
                <a:avLst/>
              </a:prstGeom>
            </p:spPr>
            <p:txBody>
              <a:bodyPr anchor="t" lIns="0" tIns="0" rIns="0" bIns="0">
                <a:noAutofit/>
              </a:bodyPr>
              <a:lstStyle/>
              <a:p>
                <a:pPr>
                  <a:lnSpc>
                    <a:spcPct val="120000"/>
                  </a:lnSpc>
                </a:pPr>
                <a:r>
                  <a:rPr lang="en-US" sz="1200" dirty="0">
                    <a:effectLst/>
                  </a:rPr>
                  <a:t>Complex formation between MA and aromatic compounds such as benzene and toluene was noticed in earlier study [264]. It was established that modification of PS by MA occurred in all cationic catalyst media usedhowever, at different levels. The highest carboxyl group concentration (17.8 and 14.3 %) is found to occur with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BF</m:t>
                        </m:r>
                      </m:e>
                      <m:sub>
                        <m:r>
                          <m:rPr>
                            <m:sty m:val="p"/>
                          </m:rPr>
                          <a:rPr lang="en-US" sz="1200" dirty="0">
                            <a:solidFill>
                              <a:srgbClr val="000000"/>
                            </a:solidFill>
                            <a:effectLst/>
                          </a:rPr>
                          <m:t>3</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OEt</m:t>
                        </m:r>
                      </m:e>
                      <m:sub>
                        <m:r>
                          <m:rPr>
                            <m:sty m:val="p"/>
                          </m:rPr>
                          <a:rPr lang="en-US" sz="1200" dirty="0">
                            <a:solidFill>
                              <a:srgbClr val="000000"/>
                            </a:solidFill>
                            <a:effectLst/>
                          </a:rPr>
                          <m:t>2</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TiCl</m:t>
                        </m:r>
                      </m:e>
                      <m:sub>
                        <m:r>
                          <m:rPr>
                            <m:sty m:val="p"/>
                          </m:rPr>
                          <a:rPr lang="en-US" sz="1200" dirty="0">
                            <a:solidFill>
                              <a:srgbClr val="000000"/>
                            </a:solidFill>
                            <a:effectLst/>
                          </a:rPr>
                          <m:t>4</m:t>
                        </m:r>
                      </m:sub>
                    </m:sSub>
                  </m:oMath>
                </a14:m>
                <a:r>
                  <a:rPr lang="en-US" sz="1200" dirty="0">
                    <a:effectLst/>
                  </a:rPr>
                  <a:t>. But in the case of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TiCl</m:t>
                        </m:r>
                      </m:e>
                      <m:sub>
                        <m:r>
                          <m:rPr>
                            <m:sty m:val="p"/>
                          </m:rPr>
                          <a:rPr lang="en-US" sz="1200" dirty="0">
                            <a:solidFill>
                              <a:srgbClr val="000000"/>
                            </a:solidFill>
                            <a:effectLst/>
                          </a:rPr>
                          <m:t>4</m:t>
                        </m:r>
                      </m:sub>
                    </m:sSub>
                  </m:oMath>
                </a14:m>
                <a:r>
                  <a:rPr lang="en-US" sz="1200" dirty="0">
                    <a:effectLst/>
                  </a:rPr>
                  <a:t>, acetylated PS has a relatively low value of viscosity, which indicates that acylation is accompanied by degradation of the main chain. The highest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n</m:t>
                        </m:r>
                      </m:sub>
                    </m:sSub>
                  </m:oMath>
                </a14:m>
                <a:r>
                  <a:rPr lang="en-US" sz="1200" dirty="0">
                    <a:effectLst/>
                  </a:rPr>
                  <a:t> value was obtained when the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BF</m:t>
                        </m:r>
                      </m:e>
                      <m:sub>
                        <m:r>
                          <m:rPr>
                            <m:sty m:val="p"/>
                          </m:rPr>
                          <a:rPr lang="en-US" sz="1200" dirty="0">
                            <a:solidFill>
                              <a:srgbClr val="000000"/>
                            </a:solidFill>
                            <a:effectLst/>
                          </a:rPr>
                          <m:t>3</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OEt</m:t>
                        </m:r>
                      </m:e>
                      <m:sub>
                        <m:r>
                          <m:rPr>
                            <m:sty m:val="p"/>
                          </m:rPr>
                          <a:rPr lang="en-US" sz="1200" dirty="0">
                            <a:solidFill>
                              <a:srgbClr val="000000"/>
                            </a:solidFill>
                            <a:effectLst/>
                          </a:rPr>
                          <m:t>2</m:t>
                        </m:r>
                      </m:sub>
                    </m:sSub>
                  </m:oMath>
                </a14:m>
                <a:r>
                  <a:rPr lang="en-US" sz="1200" dirty="0">
                    <a:effectLst/>
                  </a:rPr>
                  <a:t> catalyst was used.</a:t>
                </a:r>
              </a:p>
            </p:txBody>
          </p:sp>
        </mc:Choice>
        <mc:Fallback/>
      </mc:AlternateContent>
      <p:pic>
        <p:nvPicPr>
          <p:cNvPr id="2" name="image-15e2277fe72d3ab5e2765565188e3d0b9bf46f10.jpg"/>
          <p:cNvPicPr/>
          <p:nvPr/>
        </p:nvPicPr>
        <p:blipFill>
          <a:blip r:embed="rId2" cstate="print"/>
          <a:srcRect/>
          <a:stretch>
            <a:fillRect/>
          </a:stretch>
        </p:blipFill>
        <p:spPr>
          <a:xfrm>
            <a:off x="1524000" y="1752600"/>
            <a:ext cx="7972425" cy="3600450"/>
          </a:xfrm>
          <a:prstGeom prst="rect">
            <a:avLst/>
          </a:prstGeom>
        </p:spPr>
      </p:pic>
      <mc:AlternateContent xmlns:mc="http://schemas.openxmlformats.org/markup-compatibility/2006">
        <mc:Choice xmlns:a14="http://schemas.microsoft.com/office/drawing/2010/main" Requires="a14">
          <p:sp>
            <p:nvSpPr>
              <p:cNvPr id="3" name="Text"/>
              <p:cNvSpPr/>
              <p:nvPr/>
            </p:nvSpPr>
            <p:spPr>
              <a:xfrm>
                <a:off x="1524000" y="5353050"/>
                <a:ext cx="9144000" cy="228600"/>
              </a:xfrm>
              <a:prstGeom prst="rect">
                <a:avLst/>
              </a:prstGeom>
            </p:spPr>
            <p:txBody>
              <a:bodyPr anchor="t" lIns="0" tIns="0" rIns="0" bIns="0">
                <a:noAutofit/>
              </a:bodyPr>
              <a:lstStyle/>
              <a:p>
                <a:pPr>
                  <a:lnSpc>
                    <a:spcPct val="120000"/>
                  </a:lnSpc>
                </a:pPr>
                <a:r>
                  <a:rPr lang="en-US" sz="1200" dirty="0">
                    <a:effectLst/>
                  </a:rPr>
                  <a:t>Figure 17. Mechanism of side-chain acylation of PS with MA in the presence of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BF</m:t>
                        </m:r>
                      </m:e>
                      <m:sub>
                        <m:r>
                          <m:rPr>
                            <m:sty m:val="p"/>
                          </m:rPr>
                          <a:rPr lang="en-US" sz="1200" dirty="0">
                            <a:solidFill>
                              <a:srgbClr val="000000"/>
                            </a:solidFill>
                            <a:effectLst/>
                          </a:rPr>
                          <m:t>3</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OEt</m:t>
                        </m:r>
                      </m:e>
                      <m:sub>
                        <m:r>
                          <m:rPr>
                            <m:sty m:val="p"/>
                          </m:rPr>
                          <a:rPr lang="en-US" sz="1200" dirty="0">
                            <a:solidFill>
                              <a:srgbClr val="000000"/>
                            </a:solidFill>
                            <a:effectLst/>
                          </a:rPr>
                          <m:t>2</m:t>
                        </m:r>
                      </m:sub>
                    </m:sSub>
                  </m:oMath>
                </a14:m>
                <a:r>
                  <a:rPr lang="en-US" sz="1200" dirty="0">
                    <a:effectLst/>
                  </a:rPr>
                  <a:t> catalyst.</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5581650"/>
                <a:ext cx="9144000" cy="228600"/>
              </a:xfrm>
              <a:prstGeom prst="rect">
                <a:avLst/>
              </a:prstGeom>
            </p:spPr>
            <p:txBody>
              <a:bodyPr anchor="t" lIns="0" tIns="0" rIns="0" bIns="0">
                <a:noAutofit/>
              </a:bodyPr>
              <a:lstStyle/>
              <a:p>
                <a:pPr>
                  <a:lnSpc>
                    <a:spcPct val="120000"/>
                  </a:lnSpc>
                </a:pPr>
                <a:r>
                  <a:rPr lang="en-US" sz="1200" dirty="0">
                    <a:effectLst/>
                  </a:rPr>
                  <a:t>In the case of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BF</m:t>
                        </m:r>
                      </m:e>
                      <m:sub>
                        <m:r>
                          <m:rPr>
                            <m:sty m:val="p"/>
                          </m:rPr>
                          <a:rPr lang="en-US" sz="1200" dirty="0">
                            <a:solidFill>
                              <a:srgbClr val="000000"/>
                            </a:solidFill>
                            <a:effectLst/>
                          </a:rPr>
                          <m:t>3</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OEt</m:t>
                        </m:r>
                      </m:e>
                      <m:sub>
                        <m:r>
                          <m:rPr>
                            <m:sty m:val="p"/>
                          </m:rPr>
                          <a:rPr lang="en-US" sz="1200" dirty="0">
                            <a:solidFill>
                              <a:srgbClr val="000000"/>
                            </a:solidFill>
                            <a:effectLst/>
                          </a:rPr>
                          <m:t>2</m:t>
                        </m:r>
                      </m:sub>
                    </m:sSub>
                  </m:oMath>
                </a14:m>
                <a:r>
                  <a:rPr lang="en-US" sz="1200" dirty="0">
                    <a:effectLst/>
                  </a:rPr>
                  <a:t> as the catalyst, the reaction scheme can be suggested as follows (Figure 17) [318].</a:t>
                </a:r>
              </a:p>
            </p:txBody>
          </p:sp>
        </mc:Choice>
        <mc:Fallback/>
      </mc:AlternateContent>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371600"/>
              </a:xfrm>
              <a:prstGeom prst="rect">
                <a:avLst/>
              </a:prstGeom>
            </p:spPr>
            <p:txBody>
              <a:bodyPr anchor="t" lIns="0" tIns="0" rIns="0" bIns="0">
                <a:noAutofit/>
              </a:bodyPr>
              <a:lstStyle/>
              <a:p>
                <a:pPr>
                  <a:lnSpc>
                    <a:spcPct val="120000"/>
                  </a:lnSpc>
                </a:pPr>
                <a:r>
                  <a:rPr lang="en-US" sz="1200" dirty="0">
                    <a:effectLst/>
                  </a:rPr>
                  <a:t>The activities of Lewis acids in the reaction studied are as follow: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BF</m:t>
                        </m:r>
                      </m:e>
                      <m:sub>
                        <m:r>
                          <m:rPr>
                            <m:sty m:val="p"/>
                          </m:rPr>
                          <a:rPr lang="en-US" sz="1200" dirty="0">
                            <a:solidFill>
                              <a:srgbClr val="000000"/>
                            </a:solidFill>
                            <a:effectLst/>
                          </a:rPr>
                          <m:t>3</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OEt</m:t>
                        </m:r>
                      </m:e>
                      <m:sub>
                        <m:r>
                          <m:rPr>
                            <m:sty m:val="p"/>
                          </m:rPr>
                          <a:rPr lang="en-US" sz="1200" dirty="0">
                            <a:solidFill>
                              <a:srgbClr val="000000"/>
                            </a:solidFill>
                            <a:effectLst/>
                          </a:rPr>
                          <m:t>2</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TiCl</m:t>
                        </m:r>
                      </m:e>
                      <m:sub>
                        <m:r>
                          <m:rPr>
                            <m:sty m:val="p"/>
                          </m:rPr>
                          <a:rPr lang="en-US" sz="1200" dirty="0">
                            <a:solidFill>
                              <a:srgbClr val="000000"/>
                            </a:solidFill>
                            <a:effectLst/>
                          </a:rPr>
                          <m:t>4</m:t>
                        </m:r>
                      </m:sub>
                    </m:sSub>
                    <m:r>
                      <m:rPr>
                        <m:sty m:val="p"/>
                      </m:rPr>
                      <a:rPr lang="en-US" sz="1200" dirty="0">
                        <a:solidFill>
                          <a:srgbClr val="000000"/>
                        </a:solidFill>
                        <a:effectLst/>
                      </a:rPr>
                      <m:t>&gt;</m:t>
                    </m:r>
                    <m:sSub>
                      <m:sSubPr>
                        <m:ctrlPr>
                          <a:rPr sz="1200">
                            <a:latin typeface="Cambria Math" panose="02040503050406030204" pitchFamily="18" charset="0"/>
                          </a:rPr>
                        </m:ctrlPr>
                      </m:sSubPr>
                      <m:e>
                        <m:r>
                          <m:rPr>
                            <m:sty m:val="p"/>
                          </m:rPr>
                          <a:rPr lang="en-US" sz="1200" dirty="0">
                            <a:solidFill>
                              <a:srgbClr val="000000"/>
                            </a:solidFill>
                            <a:effectLst/>
                          </a:rPr>
                          <m:t>AlCl</m:t>
                        </m:r>
                      </m:e>
                      <m:sub>
                        <m:r>
                          <m:rPr>
                            <m:sty m:val="p"/>
                          </m:rPr>
                          <a:rPr lang="en-US" sz="1200" dirty="0">
                            <a:solidFill>
                              <a:srgbClr val="000000"/>
                            </a:solidFill>
                            <a:effectLst/>
                          </a:rPr>
                          <m:t>3</m:t>
                        </m:r>
                      </m:sub>
                    </m:sSub>
                    <m:r>
                      <m:rPr>
                        <m:sty m:val="p"/>
                      </m:rPr>
                      <a:rPr lang="en-US" sz="1200" dirty="0">
                        <a:solidFill>
                          <a:srgbClr val="000000"/>
                        </a:solidFill>
                        <a:effectLst/>
                      </a:rPr>
                      <m:t>&gt;</m:t>
                    </m:r>
                    <m:sSub>
                      <m:sSubPr>
                        <m:ctrlPr>
                          <a:rPr sz="1200">
                            <a:latin typeface="Cambria Math" panose="02040503050406030204" pitchFamily="18" charset="0"/>
                          </a:rPr>
                        </m:ctrlPr>
                      </m:sSubPr>
                      <m:e>
                        <m:r>
                          <m:rPr>
                            <m:sty m:val="p"/>
                          </m:rPr>
                          <a:rPr lang="en-US" sz="1200" dirty="0">
                            <a:solidFill>
                              <a:srgbClr val="000000"/>
                            </a:solidFill>
                            <a:effectLst/>
                          </a:rPr>
                          <m:t>SnCl</m:t>
                        </m:r>
                      </m:e>
                      <m:sub>
                        <m:r>
                          <m:rPr>
                            <m:sty m:val="p"/>
                          </m:rPr>
                          <a:rPr lang="en-US" sz="1200" dirty="0">
                            <a:solidFill>
                              <a:srgbClr val="000000"/>
                            </a:solidFill>
                            <a:effectLst/>
                          </a:rPr>
                          <m:t>4</m:t>
                        </m:r>
                      </m:sub>
                    </m:sSub>
                    <m:r>
                      <m:rPr>
                        <m:sty m:val="p"/>
                      </m:rPr>
                      <a:rPr lang="en-US" sz="1200" dirty="0">
                        <a:solidFill>
                          <a:srgbClr val="000000"/>
                        </a:solidFill>
                        <a:effectLst/>
                      </a:rPr>
                      <m:t>&gt;</m:t>
                    </m:r>
                    <m:sSub>
                      <m:sSubPr>
                        <m:ctrlPr>
                          <a:rPr sz="1200">
                            <a:latin typeface="Cambria Math" panose="02040503050406030204" pitchFamily="18" charset="0"/>
                          </a:rPr>
                        </m:ctrlPr>
                      </m:sSubPr>
                      <m:e>
                        <m:r>
                          <m:rPr>
                            <m:sty m:val="p"/>
                          </m:rPr>
                          <a:rPr lang="en-US" sz="1200" dirty="0">
                            <a:solidFill>
                              <a:srgbClr val="000000"/>
                            </a:solidFill>
                            <a:effectLst/>
                          </a:rPr>
                          <m:t>ZnCl</m:t>
                        </m:r>
                      </m:e>
                      <m:sub>
                        <m:r>
                          <m:rPr>
                            <m:sty m:val="p"/>
                          </m:rPr>
                          <a:rPr lang="en-US" sz="1200" dirty="0">
                            <a:solidFill>
                              <a:srgbClr val="000000"/>
                            </a:solidFill>
                            <a:effectLst/>
                          </a:rPr>
                          <m:t>2</m:t>
                        </m:r>
                      </m:sub>
                    </m:sSub>
                    <m:r>
                      <m:rPr>
                        <m:sty m:val="p"/>
                      </m:rPr>
                      <a:rPr lang="en-US" sz="1200" dirty="0">
                        <a:solidFill>
                          <a:srgbClr val="000000"/>
                        </a:solidFill>
                        <a:effectLst/>
                      </a:rPr>
                      <m:t>&gt;</m:t>
                    </m:r>
                  </m:oMath>
                </a14:m>
                <a:r>
                  <a:rPr lang="en-US" sz="1200" dirty="0">
                    <a:effectLst/>
                  </a:rPr>
                  <a:t>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FeCl</m:t>
                        </m:r>
                      </m:e>
                      <m:sub>
                        <m:r>
                          <m:rPr>
                            <m:sty m:val="p"/>
                          </m:rPr>
                          <a:rPr lang="en-US" sz="1200" dirty="0">
                            <a:solidFill>
                              <a:srgbClr val="000000"/>
                            </a:solidFill>
                            <a:effectLst/>
                          </a:rPr>
                          <m:t>3</m:t>
                        </m:r>
                      </m:sub>
                    </m:sSub>
                  </m:oMath>
                </a14:m>
                <a:r>
                  <a:rPr lang="en-US" sz="1200" dirty="0">
                    <a:effectLst/>
                  </a:rPr>
                  <a:t>. Functionalized PSs containing -CO-CH=CH-COOH fragments in side chains are characterized by their high thermostability, adhesion, and photosensitivity. Thermal analysis (DTA and TGA) of functionalized PS, especially the observed weight loss and exo-peaks on the curves TGA and DTA, rspectively, allow proposed that the decarboxylation reaction of unsaturated acyl groups with the formation of vinyl ketone fragments in the side chain proceeds in the used isothermal conditions. Then these vinyl ketone groups took place easily in the crosslinking reaction as shown in Figure 18 [318]:</a:t>
                </a:r>
              </a:p>
            </p:txBody>
          </p:sp>
        </mc:Choice>
        <mc:Fallback/>
      </mc:AlternateContent>
      <p:pic>
        <p:nvPicPr>
          <p:cNvPr id="2" name="image-0d40e9346b4f6da98cef7b03dc9f613ad626941a.jpg"/>
          <p:cNvPicPr/>
          <p:nvPr/>
        </p:nvPicPr>
        <p:blipFill>
          <a:blip r:embed="rId2" cstate="print"/>
          <a:srcRect/>
          <a:stretch>
            <a:fillRect/>
          </a:stretch>
        </p:blipFill>
        <p:spPr>
          <a:xfrm>
            <a:off x="1524000" y="1981200"/>
            <a:ext cx="7972425" cy="2105025"/>
          </a:xfrm>
          <a:prstGeom prst="rect">
            <a:avLst/>
          </a:prstGeom>
        </p:spPr>
      </p:pic>
      <p:sp>
        <p:nvSpPr>
          <p:cNvPr id="3" name="Text"/>
          <p:cNvSpPr/>
          <p:nvPr/>
        </p:nvSpPr>
        <p:spPr>
          <a:xfrm>
            <a:off x="1524000" y="4086225"/>
            <a:ext cx="9144000" cy="457200"/>
          </a:xfrm>
          <a:prstGeom prst="rect">
            <a:avLst/>
          </a:prstGeom>
        </p:spPr>
        <p:txBody>
          <a:bodyPr anchor="t" lIns="0" tIns="0" rIns="0" bIns="0">
            <a:noAutofit/>
          </a:bodyPr>
          <a:lstStyle/>
          <a:p>
            <a:pPr>
              <a:lnSpc>
                <a:spcPct val="120000"/>
              </a:lnSpc>
            </a:pPr>
            <a:r>
              <a:rPr lang="en-US" sz="1200" dirty="0">
                <a:effectLst/>
              </a:rPr>
              <a:t>Figure 18. Proposed mechanism of the side-chain fragmentation through decarboxylation and the formation of crosslinkable vinyl ketone group in the isothermal conditions.</a:t>
            </a:r>
          </a:p>
        </p:txBody>
      </p:sp>
      <mc:AlternateContent xmlns:mc="http://schemas.openxmlformats.org/markup-compatibility/2006">
        <mc:Choice xmlns:a14="http://schemas.microsoft.com/office/drawing/2010/main" Requires="a14">
          <p:sp>
            <p:nvSpPr>
              <p:cNvPr id="2" name="Text"/>
              <p:cNvSpPr/>
              <p:nvPr/>
            </p:nvSpPr>
            <p:spPr>
              <a:xfrm>
                <a:off x="1524000" y="4543425"/>
                <a:ext cx="9144000" cy="1371600"/>
              </a:xfrm>
              <a:prstGeom prst="rect">
                <a:avLst/>
              </a:prstGeom>
            </p:spPr>
            <p:txBody>
              <a:bodyPr anchor="t" lIns="0" tIns="0" rIns="0" bIns="0">
                <a:noAutofit/>
              </a:bodyPr>
              <a:lstStyle/>
              <a:p>
                <a:pPr>
                  <a:lnSpc>
                    <a:spcPct val="120000"/>
                  </a:lnSpc>
                </a:pPr>
                <a:r>
                  <a:rPr lang="en-US" sz="1200" dirty="0">
                    <a:effectLst/>
                  </a:rPr>
                  <a:t>Similar acylation reaction of benzene ring in bisphenol A was observed Can et al. [319]. They were studied reaction of MA with the bisfenol A(BPA)/soybean oil monoglyceride in the presence of triphenyl antimony as a catalyst at 125 °C during 9 h. From the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r>
                      <m:rPr>
                        <m:sty m:val="p"/>
                      </m:rPr>
                      <a:rPr lang="en-US" sz="1200" dirty="0">
                        <a:solidFill>
                          <a:srgbClr val="000000"/>
                        </a:solidFill>
                        <a:effectLst/>
                      </a:rPr>
                      <m:t>H</m:t>
                    </m:r>
                    <m:r>
                      <m:rPr>
                        <m:sty m:val="p"/>
                      </m:rPr>
                      <a:rPr lang="en-US" sz="1200" dirty="0">
                        <a:solidFill>
                          <a:srgbClr val="000000"/>
                        </a:solidFill>
                        <a:effectLst/>
                      </a:rPr>
                      <m:t>NMR</m:t>
                    </m:r>
                  </m:oMath>
                </a14:m>
                <a:r>
                  <a:rPr lang="en-US" sz="1200" dirty="0">
                    <a:effectLst/>
                  </a:rPr>
                  <a:t> analysis</a:t>
                </a:r>
                <a:br>
                  <a:rPr lang="en-US" sz="1200" dirty="0"/>
                </a:br>
                <a:r>
                  <a:rPr lang="en-US" sz="1200" dirty="0">
                    <a:effectLst/>
                  </a:rPr>
                  <a:t> data, which were indicated that the integral areas of BPA's </a:t>
                </a:r>
                <a:r>
                  <a:rPr lang="en-US" sz="1200" dirty="0">
                    <a:effectLst/>
                  </a:rPr>
                  <a:t>​</a:t>
                </a:r>
                <a14:m>
                  <m:oMath>
                    <m:r>
                      <m:rPr>
                        <m:sty m:val="i"/>
                      </m:rPr>
                      <a:rPr lang="en-US" sz="1200" dirty="0">
                        <a:solidFill>
                          <a:srgbClr val="000000"/>
                        </a:solidFill>
                        <a:effectLst/>
                      </a:rPr>
                      <m:t>o</m:t>
                    </m:r>
                  </m:oMath>
                </a14:m>
                <a:r>
                  <a:rPr lang="en-US" sz="1200" dirty="0">
                    <a:effectLst/>
                  </a:rPr>
                  <a:t> - and </a:t>
                </a:r>
                <a:r>
                  <a:rPr lang="en-US" sz="1200" dirty="0">
                    <a:effectLst/>
                  </a:rPr>
                  <a:t>​</a:t>
                </a:r>
                <a14:m>
                  <m:oMath>
                    <m:r>
                      <m:rPr>
                        <m:sty m:val="i"/>
                      </m:rPr>
                      <a:rPr lang="en-US" sz="1200" dirty="0">
                        <a:solidFill>
                          <a:srgbClr val="000000"/>
                        </a:solidFill>
                        <a:effectLst/>
                      </a:rPr>
                      <m:t>m</m:t>
                    </m:r>
                  </m:oMath>
                </a14:m>
                <a:r>
                  <a:rPr lang="en-US" sz="1200" dirty="0">
                    <a:effectLst/>
                  </a:rPr>
                  <a:t>-position protons signals at 7.0 and 6.7 pmm, respectively, were not equal, authors proposed that Friedel-Grafts acylation may be taken place as a side reaction with the maleate half ester formation, i.e., esterification of phenolic hydroxyl groups with MA (Figure 19):</a:t>
                </a:r>
              </a:p>
            </p:txBody>
          </p:sp>
        </mc:Choice>
        <mc:Fallback/>
      </mc:AlternateContent>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e6e1820018f48818e17e4b1a4fd9695572815511.jpg"/>
          <p:cNvPicPr/>
          <p:nvPr/>
        </p:nvPicPr>
        <p:blipFill>
          <a:blip r:embed="rId2" cstate="print"/>
          <a:srcRect/>
          <a:stretch>
            <a:fillRect/>
          </a:stretch>
        </p:blipFill>
        <p:spPr>
          <a:xfrm>
            <a:off x="1524000" y="457200"/>
            <a:ext cx="8010525" cy="3152775"/>
          </a:xfrm>
          <a:prstGeom prst="rect">
            <a:avLst/>
          </a:prstGeom>
        </p:spPr>
      </p:pic>
      <p:sp>
        <p:nvSpPr>
          <p:cNvPr id="3" name="Text"/>
          <p:cNvSpPr/>
          <p:nvPr/>
        </p:nvSpPr>
        <p:spPr>
          <a:xfrm>
            <a:off x="1524000" y="3609975"/>
            <a:ext cx="9144000" cy="228600"/>
          </a:xfrm>
          <a:prstGeom prst="rect">
            <a:avLst/>
          </a:prstGeom>
        </p:spPr>
        <p:txBody>
          <a:bodyPr anchor="t" lIns="0" tIns="0" rIns="0" bIns="0">
            <a:noAutofit/>
          </a:bodyPr>
          <a:lstStyle/>
          <a:p>
            <a:pPr>
              <a:lnSpc>
                <a:spcPct val="120000"/>
              </a:lnSpc>
            </a:pPr>
            <a:r>
              <a:rPr lang="en-US" sz="1200" dirty="0">
                <a:effectLst/>
              </a:rPr>
              <a:t>Figure 19. Friedel-Grafts acylation of bisphenol A with</a:t>
            </a:r>
          </a:p>
        </p:txBody>
      </p:sp>
      <p:sp>
        <p:nvSpPr>
          <p:cNvPr id="2" name="Text"/>
          <p:cNvSpPr/>
          <p:nvPr/>
        </p:nvSpPr>
        <p:spPr>
          <a:xfrm>
            <a:off x="1524000" y="3838575"/>
            <a:ext cx="9144000" cy="228600"/>
          </a:xfrm>
          <a:prstGeom prst="rect">
            <a:avLst/>
          </a:prstGeom>
        </p:spPr>
        <p:txBody>
          <a:bodyPr anchor="t" lIns="0" tIns="0" rIns="0" bIns="0">
            <a:noAutofit/>
          </a:bodyPr>
          <a:lstStyle/>
          <a:p>
            <a:pPr>
              <a:lnSpc>
                <a:spcPct val="120000"/>
              </a:lnSpc>
            </a:pPr>
            <a:r>
              <a:rPr lang="en-US" sz="1200" dirty="0">
                <a:effectLst/>
              </a:rPr>
              <a:t>MA via esterification of phenolic hydroxyl groups. Adapted from [319].</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514600"/>
              </a:xfrm>
              <a:prstGeom prst="rect">
                <a:avLst/>
              </a:prstGeom>
            </p:spPr>
            <p:txBody>
              <a:bodyPr anchor="t" lIns="0" tIns="0" rIns="0" bIns="0">
                <a:noAutofit/>
              </a:bodyPr>
              <a:lstStyle/>
              <a:p>
                <a:pPr>
                  <a:lnSpc>
                    <a:spcPct val="120000"/>
                  </a:lnSpc>
                </a:pPr>
                <a:r>
                  <a:rPr lang="en-US" sz="1200" dirty="0">
                    <a:effectLst/>
                  </a:rPr>
                  <a:t>First the studies on the preparation of functionalized high impact PS (HIPS) via melt grafting of MA onto NIPS and its effects on the compatibility of NIPS and PA-1010 reported by Chen et al. [320]. They attempt to graft MA on HIPS through reactive processing and effect of in situ compatibilizer of poly(HIPS- </a:t>
                </a:r>
                <a:r>
                  <a:rPr lang="en-US" sz="1200" dirty="0">
                    <a:effectLst/>
                  </a:rPr>
                  <a:t>​</a:t>
                </a:r>
                <a14:m>
                  <m:oMath>
                    <m:r>
                      <m:rPr>
                        <m:sty m:val="i"/>
                      </m:rPr>
                      <a:rPr lang="en-US" sz="1200" dirty="0">
                        <a:solidFill>
                          <a:srgbClr val="000000"/>
                        </a:solidFill>
                        <a:effectLst/>
                      </a:rPr>
                      <m:t>g</m:t>
                    </m:r>
                  </m:oMath>
                </a14:m>
                <a:r>
                  <a:rPr lang="en-US" sz="1200" dirty="0">
                    <a:effectLst/>
                  </a:rPr>
                  <a:t>-MA) on the final morphology and mechanical property of the immiscible polymer blends of HIPS and PA-1010. Authors noted that commercial high-impact polystyrene (HIPS) with MFI 3.1 g/10 min and polyamide 1010 (PA-1010) with MFI 10 </a:t>
                </a:r>
                <a:r>
                  <a:rPr lang="en-US" sz="1200" dirty="0">
                    <a:effectLst/>
                  </a:rPr>
                  <a:t>​</a:t>
                </a:r>
                <a14:m>
                  <m:oMath>
                    <m:r>
                      <m:rPr>
                        <m:sty m:val="p"/>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10</m:t>
                    </m:r>
                    <m:r>
                      <m:rPr>
                        <m:sty m:val="p"/>
                      </m:rPr>
                      <a:rPr lang="en-US" sz="1200" dirty="0">
                        <a:solidFill>
                          <a:srgbClr val="000000"/>
                        </a:solidFill>
                        <a:effectLst/>
                      </a:rPr>
                      <m:t xml:space="preserve"> </m:t>
                    </m:r>
                    <m:r>
                      <m:rPr>
                        <m:sty m:val="p"/>
                      </m:rPr>
                      <a:rPr lang="en-US" sz="1200" dirty="0">
                        <a:solidFill>
                          <a:srgbClr val="000000"/>
                        </a:solidFill>
                        <a:effectLst/>
                      </a:rPr>
                      <m:t>min</m:t>
                    </m:r>
                  </m:oMath>
                </a14:m>
                <a:r>
                  <a:rPr lang="en-US" sz="1200" dirty="0">
                    <a:effectLst/>
                  </a:rPr>
                  <a:t> are commondity polymers that possess unique properties individually; HIPS is a low price, but tough thermoplastic with relatively pooer solvent resistance; in practice, however, it is difficult to obtain good performance because HIPS and PA-1010 are immiscible. Many studies on the compatibility of immiscible PS/PA-6 blends also reported [128,321-323]. The HIPS grafted with MA (NIPS- </a:t>
                </a:r>
                <a:r>
                  <a:rPr lang="en-US" sz="1200" dirty="0">
                    <a:effectLst/>
                  </a:rPr>
                  <a:t>​</a:t>
                </a:r>
                <a14:m>
                  <m:oMath>
                    <m:r>
                      <m:rPr>
                        <m:sty m:val="i"/>
                      </m:rPr>
                      <a:rPr lang="en-US" sz="1200" dirty="0">
                        <a:solidFill>
                          <a:srgbClr val="000000"/>
                        </a:solidFill>
                        <a:effectLst/>
                      </a:rPr>
                      <m:t>g</m:t>
                    </m:r>
                  </m:oMath>
                </a14:m>
                <a:r>
                  <a:rPr lang="en-US" sz="1200" dirty="0">
                    <a:effectLst/>
                  </a:rPr>
                  <a:t>-MA) was prepared with melt mixing in the presence of dicumyl peroxide as a free-radical initiator [320]. The grafting reaction was confirmed by IR analysis by the new absorption bands at 1218 (C-O), 1780 and </a:t>
                </a:r>
                <a:r>
                  <a:rPr lang="en-US" sz="1200" dirty="0">
                    <a:effectLst/>
                  </a:rPr>
                  <a:t>​</a:t>
                </a:r>
                <a14:m>
                  <m:oMath>
                    <m:d>
                      <m:dPr>
                        <m:begChr m:val=""/>
                        <m:endChr m:val="]"/>
                        <m:ctrlPr>
                          <a:rPr sz="1200">
                            <a:latin typeface="Cambria Math" panose="02040503050406030204" pitchFamily="18" charset="0"/>
                          </a:rPr>
                        </m:ctrlPr>
                      </m:dPr>
                      <m:e>
                        <m:r>
                          <m:rPr>
                            <m:sty m:val="p"/>
                          </m:rPr>
                          <a:rPr lang="en-US" sz="1200" dirty="0">
                            <a:solidFill>
                              <a:srgbClr val="000000"/>
                            </a:solidFill>
                            <a:effectLst/>
                          </a:rPr>
                          <m:t>1857</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r>
                          <m:rPr>
                            <m:sty m:val="p"/>
                          </m:rPr>
                          <a:rPr lang="en-US" sz="1200" dirty="0">
                            <a:solidFill>
                              <a:srgbClr val="000000"/>
                            </a:solidFill>
                            <a:effectLst/>
                          </a:rPr>
                          <m:t>(</m:t>
                        </m:r>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O</m:t>
                        </m:r>
                        <m:r>
                          <m:rPr>
                            <m:sty m:val="p"/>
                          </m:rPr>
                          <a:rPr lang="en-US" sz="1200" dirty="0">
                            <a:solidFill>
                              <a:srgbClr val="000000"/>
                            </a:solidFill>
                            <a:effectLst/>
                          </a:rPr>
                          <m:t>)</m:t>
                        </m:r>
                      </m:e>
                    </m:d>
                  </m:oMath>
                </a14:m>
                <a:r>
                  <a:rPr lang="en-US" sz="1200" dirty="0">
                    <a:effectLst/>
                  </a:rPr>
                  <a:t>. The amount of the MA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1</m:t>
                    </m:r>
                    <m:r>
                      <m:rPr>
                        <m:sty m:val="p"/>
                      </m:rPr>
                      <a:rPr lang="en-US" sz="1200" dirty="0">
                        <a:solidFill>
                          <a:srgbClr val="000000"/>
                        </a:solidFill>
                        <a:effectLst/>
                      </a:rPr>
                      <m:t>−</m:t>
                    </m:r>
                    <m:r>
                      <m:rPr>
                        <m:sty m:val="p"/>
                      </m:rPr>
                      <a:rPr lang="en-US" sz="1200" dirty="0">
                        <a:solidFill>
                          <a:srgbClr val="000000"/>
                        </a:solidFill>
                        <a:effectLst/>
                      </a:rPr>
                      <m:t>5</m:t>
                    </m:r>
                    <m:r>
                      <m:rPr>
                        <m:sty m:val="p"/>
                      </m:rPr>
                      <a:rPr lang="en-US" sz="1200" dirty="0">
                        <a:solidFill>
                          <a:srgbClr val="000000"/>
                        </a:solidFill>
                        <a:effectLst/>
                      </a:rPr>
                      <m:t>%</m:t>
                    </m:r>
                    <m:r>
                      <m:rPr>
                        <m:sty m:val="p"/>
                      </m:rPr>
                      <a:rPr lang="en-US" sz="1200" dirty="0">
                        <a:solidFill>
                          <a:srgbClr val="000000"/>
                        </a:solidFill>
                        <a:effectLst/>
                      </a:rPr>
                      <m:t>)</m:t>
                    </m:r>
                  </m:oMath>
                </a14:m>
                <a:r>
                  <a:rPr lang="en-US" sz="1200" dirty="0">
                    <a:effectLst/>
                  </a:rPr>
                  <a:t> grafted on HIPS was evaluated by a titration method. According to authors, the anhydride group in grafted copolymer reacts easily with the amine group at the chain in PA-1010 (I) (Figure 20),</a:t>
                </a:r>
              </a:p>
            </p:txBody>
          </p:sp>
        </mc:Choice>
        <mc:Fallback/>
      </mc:AlternateContent>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9afdee42c905a30db8c7af7810dbd70ff9b42c28.jpg"/>
          <p:cNvPicPr/>
          <p:nvPr/>
        </p:nvPicPr>
        <p:blipFill>
          <a:blip r:embed="rId2" cstate="print"/>
          <a:srcRect/>
          <a:stretch>
            <a:fillRect/>
          </a:stretch>
        </p:blipFill>
        <p:spPr>
          <a:xfrm>
            <a:off x="1524000" y="457200"/>
            <a:ext cx="7267575" cy="3695700"/>
          </a:xfrm>
          <a:prstGeom prst="rect">
            <a:avLst/>
          </a:prstGeom>
        </p:spPr>
      </p:pic>
      <p:sp>
        <p:nvSpPr>
          <p:cNvPr id="3" name="Text"/>
          <p:cNvSpPr/>
          <p:nvPr/>
        </p:nvSpPr>
        <p:spPr>
          <a:xfrm>
            <a:off x="1524000" y="4152900"/>
            <a:ext cx="9144000" cy="457200"/>
          </a:xfrm>
          <a:prstGeom prst="rect">
            <a:avLst/>
          </a:prstGeom>
        </p:spPr>
        <p:txBody>
          <a:bodyPr anchor="t" lIns="0" tIns="0" rIns="0" bIns="0">
            <a:noAutofit/>
          </a:bodyPr>
          <a:lstStyle/>
          <a:p>
            <a:pPr>
              <a:lnSpc>
                <a:spcPct val="120000"/>
              </a:lnSpc>
            </a:pPr>
            <a:r>
              <a:rPr lang="en-US" sz="1200" dirty="0">
                <a:effectLst/>
              </a:rPr>
              <a:t>Figure 20. Interaction of (NIPS-g-MA) with PA via anhydride-amine complex formation (Effect of compatibilization). Adapted from [320].</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286000"/>
          </a:xfrm>
          <a:prstGeom prst="rect">
            <a:avLst/>
          </a:prstGeom>
        </p:spPr>
        <p:txBody>
          <a:bodyPr anchor="t" lIns="0" tIns="0" rIns="0" bIns="0">
            <a:noAutofit/>
          </a:bodyPr>
          <a:lstStyle/>
          <a:p>
            <a:pPr>
              <a:lnSpc>
                <a:spcPct val="120000"/>
              </a:lnSpc>
            </a:pPr>
            <a:r>
              <a:rPr lang="en-US" sz="1200" dirty="0">
                <a:effectLst/>
              </a:rPr>
              <a:t>Evidence of reactions in the blends of poly(NIPS-g-MA)/HIPS/PA-1010 confirmed by authors in the morphology and mechanical behavior of the blends. The improved adhesion in a NIPS-g-MA(10%)/HIPS(15%)/ polyamide(75%) blend was also detected [320]. Park et al. [322] synthesized several oligostyrenes with terminal anhydride groups using two different methods of functionalization. These maleated oligostryrenes and high molecular weight poly(styrene-rand-MA)s were examined as the reactive compatibilizers for the immicible Nylon-6/PS blends. The effect of molecular weight on particle size reduction depended on the basis of comparison, mass of MA functionalized additive, or moles of MA units. It was shown that a high molecular weight random copolymer is most effective when compared on a mass basis. The increase in adhesion between the Nylon-6 and the styrenic phases caused by the in situ resction was evaluated by a lap shear technique. The free PS, Nylon-6, and MA functionalized oligostyrene or poly(styrene-rand-MA) formed were separated by solvent extraction technique using formic acid and toluene. It was founded that the extent of coupling reaction between the functionalized PSs and Nylon-6 ranged from 25 to 43 %.</a:t>
            </a:r>
          </a:p>
        </p:txBody>
      </p:sp>
      <mc:AlternateContent xmlns:mc="http://schemas.openxmlformats.org/markup-compatibility/2006">
        <mc:Choice xmlns:a14="http://schemas.microsoft.com/office/drawing/2010/main" Requires="a14">
          <p:sp>
            <p:nvSpPr>
              <p:cNvPr id="2" name="Text"/>
              <p:cNvSpPr/>
              <p:nvPr/>
            </p:nvSpPr>
            <p:spPr>
              <a:xfrm>
                <a:off x="1524000" y="2895600"/>
                <a:ext cx="9144000" cy="2514600"/>
              </a:xfrm>
              <a:prstGeom prst="rect">
                <a:avLst/>
              </a:prstGeom>
            </p:spPr>
            <p:txBody>
              <a:bodyPr anchor="t" lIns="0" tIns="0" rIns="0" bIns="0">
                <a:noAutofit/>
              </a:bodyPr>
              <a:lstStyle/>
              <a:p>
                <a:pPr>
                  <a:lnSpc>
                    <a:spcPct val="120000"/>
                  </a:lnSpc>
                </a:pPr>
                <a:r>
                  <a:rPr lang="en-US" sz="1200" dirty="0">
                    <a:effectLst/>
                  </a:rPr>
                  <a:t>Bartus et al. [324] studied the copolymerization of maleimide type monomers such as </a:t>
                </a:r>
                <a:r>
                  <a:rPr lang="en-US" sz="1200" dirty="0">
                    <a:effectLst/>
                  </a:rPr>
                  <a:t>​</a:t>
                </a:r>
                <a14:m>
                  <m:oMath>
                    <m:r>
                      <m:rPr>
                        <m:sty m:val="i"/>
                      </m:rPr>
                      <a:rPr lang="en-US" sz="1200" dirty="0">
                        <a:solidFill>
                          <a:srgbClr val="000000"/>
                        </a:solidFill>
                        <a:effectLst/>
                      </a:rPr>
                      <m:t>N</m:t>
                    </m:r>
                  </m:oMath>
                </a14:m>
                <a:r>
                  <a:rPr lang="en-US" sz="1200" dirty="0">
                    <a:effectLst/>
                  </a:rPr>
                  <a:t>-phenylmaleimide, </a:t>
                </a:r>
                <a:r>
                  <a:rPr lang="en-US" sz="1200" dirty="0">
                    <a:effectLst/>
                  </a:rPr>
                  <a:t>​</a:t>
                </a:r>
                <a14:m>
                  <m:oMath>
                    <m:r>
                      <m:rPr>
                        <m:sty m:val="i"/>
                      </m:rPr>
                      <a:rPr lang="en-US" sz="1200" dirty="0">
                        <a:solidFill>
                          <a:srgbClr val="000000"/>
                        </a:solidFill>
                        <a:effectLst/>
                      </a:rPr>
                      <m:t>N</m:t>
                    </m:r>
                  </m:oMath>
                </a14:m>
                <a:r>
                  <a:rPr lang="en-US" sz="1200" dirty="0">
                    <a:effectLst/>
                  </a:rPr>
                  <a:t> -(2,6-dimethylphenyl)maleimide and [2-(2-hydroxy-3-methylenemaleimido-5-methylphenyl)- </a:t>
                </a:r>
                <a:r>
                  <a:rPr lang="en-US" sz="1200" dirty="0">
                    <a:effectLst/>
                  </a:rPr>
                  <a:t>​</a:t>
                </a:r>
                <a14:m>
                  <m:oMath>
                    <m:r>
                      <m:rPr>
                        <m:sty m:val="p"/>
                      </m:rPr>
                      <a:rPr lang="en-US" sz="1200" dirty="0">
                        <a:solidFill>
                          <a:srgbClr val="000000"/>
                        </a:solidFill>
                        <a:effectLst/>
                      </a:rPr>
                      <m:t>2</m:t>
                    </m:r>
                    <m:r>
                      <m:rPr>
                        <m:sty m:val="i"/>
                      </m:rPr>
                      <a:rPr lang="en-US" sz="1200" dirty="0">
                        <a:solidFill>
                          <a:srgbClr val="000000"/>
                        </a:solidFill>
                        <a:effectLst/>
                      </a:rPr>
                      <m:t>H</m:t>
                    </m:r>
                  </m:oMath>
                </a14:m>
                <a:r>
                  <a:rPr lang="en-US" sz="1200" dirty="0">
                    <a:effectLst/>
                  </a:rPr>
                  <a:t>-benzotriazole] with acrylonitrile and styrene in the presence of acrylonitrile- butadiene or styrene-butadiene latexes. A new type of polymerizable 2-(2-hydroxyphenyl)- </a:t>
                </a:r>
                <a:r>
                  <a:rPr lang="en-US" sz="1200" dirty="0">
                    <a:effectLst/>
                  </a:rPr>
                  <a:t>​</a:t>
                </a:r>
                <a14:m>
                  <m:oMath>
                    <m:r>
                      <m:rPr>
                        <m:sty m:val="p"/>
                      </m:rPr>
                      <a:rPr lang="en-US" sz="1200" dirty="0">
                        <a:solidFill>
                          <a:srgbClr val="000000"/>
                        </a:solidFill>
                        <a:effectLst/>
                      </a:rPr>
                      <m:t>2</m:t>
                    </m:r>
                    <m:r>
                      <m:rPr>
                        <m:sty m:val="i"/>
                      </m:rPr>
                      <a:rPr lang="en-US" sz="1200" dirty="0">
                        <a:solidFill>
                          <a:srgbClr val="000000"/>
                        </a:solidFill>
                        <a:effectLst/>
                      </a:rPr>
                      <m:t>H</m:t>
                    </m:r>
                  </m:oMath>
                </a14:m>
                <a:r>
                  <a:rPr lang="en-US" sz="1200" dirty="0">
                    <a:effectLst/>
                  </a:rPr>
                  <a:t> -benzotriazole UV stabilizer with a reactive maleimide group prepared and utilized for modification of acrylonitrile-butadiene-styrene (ABS) resins to improve the thermomechanical properties and increased resistance to UV radiation. Authors showed that the use of these maleimides as patial substitute for styrene in the ABS composition increases the glass transition temperature of ABS resin. Styrene/acrylonitrile graft-polymer in the presence of the SBR latex containing 51 % of butadiene, 46 % of styrene and 3 % of acrylic monomer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g</m:t>
                            </m:r>
                          </m:sub>
                        </m:sSub>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110</m:t>
                            </m:r>
                          </m:e>
                          <m:sup>
                            <m:r>
                              <m:rPr>
                                <m:sty m:val="p"/>
                              </m:rPr>
                              <a:rPr lang="en-US" sz="1200" dirty="0">
                                <a:solidFill>
                                  <a:srgbClr val="000000"/>
                                </a:solidFill>
                                <a:effectLst/>
                              </a:rPr>
                              <m:t>∘</m:t>
                            </m:r>
                          </m:sup>
                        </m:sSup>
                        <m:r>
                          <m:rPr>
                            <m:sty m:val="p"/>
                          </m:rPr>
                          <a:rPr lang="en-US" sz="1200" dirty="0">
                            <a:solidFill>
                              <a:srgbClr val="000000"/>
                            </a:solidFill>
                            <a:effectLst/>
                          </a:rPr>
                          <m:t>C</m:t>
                        </m:r>
                      </m:e>
                    </m:d>
                  </m:oMath>
                </a14:m>
                <a:r>
                  <a:rPr lang="en-US" sz="1200" dirty="0">
                    <a:effectLst/>
                  </a:rPr>
                  <a:t> as well as styrene/acrylonitrile graft-polymers with the replecement of </a:t>
                </a:r>
                <a:r>
                  <a:rPr lang="en-US" sz="1200" dirty="0">
                    <a:effectLst/>
                  </a:rPr>
                  <a:t>​</a:t>
                </a:r>
                <a14:m>
                  <m:oMath>
                    <m:r>
                      <m:rPr>
                        <m:sty m:val="p"/>
                      </m:rPr>
                      <a:rPr lang="en-US" sz="1200" dirty="0">
                        <a:solidFill>
                          <a:srgbClr val="000000"/>
                        </a:solidFill>
                        <a:effectLst/>
                      </a:rPr>
                      <m:t>5</m:t>
                    </m:r>
                    <m:r>
                      <m:rPr>
                        <m:sty m:val="p"/>
                      </m:rPr>
                      <a:rPr lang="en-US" sz="1200" dirty="0">
                        <a:solidFill>
                          <a:srgbClr val="000000"/>
                        </a:solidFill>
                        <a:effectLst/>
                      </a:rPr>
                      <m:t xml:space="preserve"> </m:t>
                    </m:r>
                    <m:r>
                      <m:rPr>
                        <m:sty m:val="p"/>
                      </m:rPr>
                      <a:rPr lang="en-US" sz="1200" dirty="0">
                        <a:solidFill>
                          <a:srgbClr val="000000"/>
                        </a:solidFill>
                        <a:effectLst/>
                      </a:rPr>
                      <m:t>mol</m:t>
                    </m:r>
                    <m:r>
                      <m:rPr>
                        <m:sty m:val="p"/>
                      </m:rPr>
                      <a:rPr lang="en-US" sz="1200" dirty="0">
                        <a:solidFill>
                          <a:srgbClr val="000000"/>
                        </a:solidFill>
                        <a:effectLst/>
                      </a:rPr>
                      <m:t>.</m:t>
                    </m:r>
                    <m:r>
                      <m:rPr>
                        <m:sty m:val="p"/>
                      </m:rPr>
                      <a:rPr lang="en-US" sz="1200" dirty="0">
                        <a:solidFill>
                          <a:srgbClr val="000000"/>
                        </a:solidFill>
                        <a:effectLst/>
                      </a:rPr>
                      <m:t>%</m:t>
                    </m:r>
                  </m:oMath>
                </a14:m>
                <a:r>
                  <a:rPr lang="en-US" sz="1200" dirty="0">
                    <a:effectLst/>
                  </a:rPr>
                  <a:t> of </a:t>
                </a:r>
                <a:r>
                  <a:rPr lang="en-US" sz="1200" dirty="0">
                    <a:effectLst/>
                  </a:rPr>
                  <a:t>​</a:t>
                </a:r>
                <a14:m>
                  <m:oMath>
                    <m:r>
                      <m:rPr>
                        <m:sty m:val="i"/>
                      </m:rPr>
                      <a:rPr lang="en-US" sz="1200" dirty="0">
                        <a:solidFill>
                          <a:srgbClr val="000000"/>
                        </a:solidFill>
                        <a:effectLst/>
                      </a:rPr>
                      <m:t>N</m:t>
                    </m:r>
                  </m:oMath>
                </a14:m>
                <a:r>
                  <a:rPr lang="en-US" sz="1200" dirty="0">
                    <a:effectLst/>
                  </a:rPr>
                  <a:t>-phenylmaleimide (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g</m:t>
                        </m:r>
                      </m:sub>
                    </m:sSub>
                    <m:r>
                      <m:rPr>
                        <m:sty m:val="p"/>
                      </m:rPr>
                      <a:rPr lang="en-US" sz="1200" dirty="0">
                        <a:solidFill>
                          <a:srgbClr val="000000"/>
                        </a:solidFill>
                        <a:effectLst/>
                      </a:rPr>
                      <m:t>=</m:t>
                    </m:r>
                    <m:r>
                      <m:rPr>
                        <m:sty m:val="p"/>
                      </m:rPr>
                      <a:rPr lang="en-US" sz="1200" dirty="0">
                        <a:solidFill>
                          <a:srgbClr val="000000"/>
                        </a:solidFill>
                        <a:effectLst/>
                      </a:rPr>
                      <m:t>115</m:t>
                    </m:r>
                  </m:oMath>
                </a14:m>
                <a:r>
                  <a:rPr lang="en-US" sz="1200" dirty="0">
                    <a:effectLst/>
                  </a:rPr>
                  <a:t> </a:t>
                </a:r>
                <a:r>
                  <a:rPr lang="en-US" sz="1200" dirty="0">
                    <a:effectLst/>
                  </a:rPr>
                  <a:t>​</a:t>
                </a:r>
                <a14:m>
                  <m:oMath>
                    <m:d>
                      <m:dPr>
                        <m:begChr m:val=""/>
                        <m:endChr m:val=")"/>
                        <m:ctrlPr>
                          <a:rPr sz="1200">
                            <a:latin typeface="Cambria Math" panose="02040503050406030204" pitchFamily="18" charset="0"/>
                          </a:rPr>
                        </m:ctrlPr>
                      </m:dPr>
                      <m:e>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r>
                          <m:rPr>
                            <m:sty m:val="p"/>
                          </m:rPr>
                          <a:rPr lang="en-US" sz="1200" dirty="0">
                            <a:solidFill>
                              <a:srgbClr val="000000"/>
                            </a:solidFill>
                            <a:effectLst/>
                          </a:rPr>
                          <m:t>C</m:t>
                        </m:r>
                      </m:e>
                    </m:d>
                    <m:r>
                      <m:rPr>
                        <m:sty m:val="p"/>
                      </m:rPr>
                      <a:rPr lang="en-US" sz="1200" dirty="0">
                        <a:solidFill>
                          <a:srgbClr val="000000"/>
                        </a:solidFill>
                        <a:effectLst/>
                      </a:rPr>
                      <m:t>,</m:t>
                    </m:r>
                    <m:r>
                      <m:rPr>
                        <m:sty m:val="p"/>
                      </m:rPr>
                      <a:rPr lang="en-US" sz="1200" dirty="0">
                        <a:solidFill>
                          <a:srgbClr val="000000"/>
                        </a:solidFill>
                        <a:effectLst/>
                      </a:rPr>
                      <m:t>10</m:t>
                    </m:r>
                    <m:r>
                      <m:rPr>
                        <m:sty m:val="p"/>
                      </m:rPr>
                      <a:rPr lang="en-US" sz="1200" dirty="0">
                        <a:solidFill>
                          <a:srgbClr val="000000"/>
                        </a:solidFill>
                        <a:effectLst/>
                      </a:rPr>
                      <m:t xml:space="preserve"> </m:t>
                    </m:r>
                    <m:r>
                      <m:rPr>
                        <m:sty m:val="p"/>
                      </m:rPr>
                      <a:rPr lang="en-US" sz="1200" dirty="0">
                        <a:solidFill>
                          <a:srgbClr val="000000"/>
                        </a:solidFill>
                        <a:effectLst/>
                      </a:rPr>
                      <m:t>mol</m:t>
                    </m:r>
                    <m:r>
                      <m:rPr>
                        <m:sty m:val="p"/>
                      </m:rPr>
                      <a:rPr lang="en-US" sz="1200" dirty="0">
                        <a:solidFill>
                          <a:srgbClr val="000000"/>
                        </a:solidFill>
                        <a:effectLst/>
                      </a:rPr>
                      <m:t>.</m:t>
                    </m:r>
                    <m:r>
                      <m:rPr>
                        <m:sty m:val="p"/>
                      </m:rPr>
                      <a:rPr lang="en-US" sz="1200" dirty="0">
                        <a:solidFill>
                          <a:srgbClr val="000000"/>
                        </a:solidFill>
                        <a:effectLst/>
                      </a:rPr>
                      <m:t>%</m:t>
                    </m:r>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g</m:t>
                            </m:r>
                          </m:sub>
                        </m:sSub>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120</m:t>
                            </m:r>
                          </m:e>
                          <m:sup>
                            <m:r>
                              <m:rPr>
                                <m:sty m:val="p"/>
                              </m:rPr>
                              <a:rPr lang="en-US" sz="1200" dirty="0">
                                <a:solidFill>
                                  <a:srgbClr val="000000"/>
                                </a:solidFill>
                                <a:effectLst/>
                              </a:rPr>
                              <m:t>∘</m:t>
                            </m:r>
                          </m:sup>
                        </m:sSup>
                        <m:r>
                          <m:rPr>
                            <m:sty m:val="p"/>
                          </m:rPr>
                          <a:rPr lang="en-US" sz="1200" dirty="0">
                            <a:solidFill>
                              <a:srgbClr val="000000"/>
                            </a:solidFill>
                            <a:effectLst/>
                          </a:rPr>
                          <m:t>C</m:t>
                        </m:r>
                      </m:e>
                    </m:d>
                  </m:oMath>
                </a14:m>
                <a:r>
                  <a:rPr lang="en-US" sz="1200" dirty="0">
                    <a:effectLst/>
                  </a:rPr>
                  <a:t> and </a:t>
                </a:r>
                <a:r>
                  <a:rPr lang="en-US" sz="1200" dirty="0">
                    <a:effectLst/>
                  </a:rPr>
                  <a:t>​</a:t>
                </a:r>
                <a14:m>
                  <m:oMath>
                    <m:r>
                      <m:rPr>
                        <m:sty m:val="p"/>
                      </m:rPr>
                      <a:rPr lang="en-US" sz="1200" dirty="0">
                        <a:solidFill>
                          <a:srgbClr val="000000"/>
                        </a:solidFill>
                        <a:effectLst/>
                      </a:rPr>
                      <m:t>20</m:t>
                    </m:r>
                    <m:r>
                      <m:rPr>
                        <m:sty m:val="p"/>
                      </m:rPr>
                      <a:rPr lang="en-US" sz="1200" dirty="0">
                        <a:solidFill>
                          <a:srgbClr val="000000"/>
                        </a:solidFill>
                        <a:effectLst/>
                      </a:rPr>
                      <m:t xml:space="preserve"> </m:t>
                    </m:r>
                    <m:r>
                      <m:rPr>
                        <m:sty m:val="p"/>
                      </m:rPr>
                      <a:rPr lang="en-US" sz="1200" dirty="0">
                        <a:solidFill>
                          <a:srgbClr val="000000"/>
                        </a:solidFill>
                        <a:effectLst/>
                      </a:rPr>
                      <m:t>mol</m:t>
                    </m:r>
                    <m:r>
                      <m:rPr>
                        <m:sty m:val="p"/>
                      </m:rPr>
                      <a:rPr lang="en-US" sz="1200" dirty="0">
                        <a:solidFill>
                          <a:srgbClr val="000000"/>
                        </a:solidFill>
                        <a:effectLst/>
                      </a:rPr>
                      <m:t>.</m:t>
                    </m:r>
                    <m:r>
                      <m:rPr>
                        <m:sty m:val="p"/>
                      </m:rPr>
                      <a:rPr lang="en-US" sz="1200" dirty="0">
                        <a:solidFill>
                          <a:srgbClr val="000000"/>
                        </a:solidFill>
                        <a:effectLst/>
                      </a:rPr>
                      <m:t>%</m:t>
                    </m:r>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g</m:t>
                            </m:r>
                          </m:sub>
                        </m:sSub>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130</m:t>
                            </m:r>
                          </m:e>
                          <m:sup>
                            <m:r>
                              <m:rPr>
                                <m:sty m:val="p"/>
                              </m:rPr>
                              <a:rPr lang="en-US" sz="1200" dirty="0">
                                <a:solidFill>
                                  <a:srgbClr val="000000"/>
                                </a:solidFill>
                                <a:effectLst/>
                              </a:rPr>
                              <m:t>∘</m:t>
                            </m:r>
                          </m:sup>
                        </m:sSup>
                        <m:r>
                          <m:rPr>
                            <m:sty m:val="p"/>
                          </m:rPr>
                          <a:rPr lang="en-US" sz="1200" dirty="0">
                            <a:solidFill>
                              <a:srgbClr val="000000"/>
                            </a:solidFill>
                            <a:effectLst/>
                          </a:rPr>
                          <m:t>C</m:t>
                        </m:r>
                      </m:e>
                    </m:d>
                  </m:oMath>
                </a14:m>
                <a:r>
                  <a:rPr lang="en-US" sz="1200" dirty="0">
                    <a:effectLst/>
                  </a:rPr>
                  <a:t> in the presence of the SBR latex gave high yields of final polymer. Similar results also obtained in graft polymerizations of </a:t>
                </a:r>
                <a:r>
                  <a:rPr lang="en-US" sz="1200" dirty="0">
                    <a:effectLst/>
                  </a:rPr>
                  <a:t>​</a:t>
                </a:r>
                <a14:m>
                  <m:oMath>
                    <m:r>
                      <m:rPr>
                        <m:sty m:val="i"/>
                      </m:rPr>
                      <a:rPr lang="en-US" sz="1200" dirty="0">
                        <a:solidFill>
                          <a:srgbClr val="000000"/>
                        </a:solidFill>
                        <a:effectLst/>
                      </a:rPr>
                      <m:t>N</m:t>
                    </m:r>
                  </m:oMath>
                </a14:m>
                <a:r>
                  <a:rPr lang="en-US" sz="1200" dirty="0">
                    <a:effectLst/>
                  </a:rPr>
                  <a:t>-(2,6-dimethylphenyl) maleimide of 5 </a:t>
                </a:r>
                <a:r>
                  <a:rPr lang="en-US" sz="1200" dirty="0">
                    <a:effectLst/>
                  </a:rPr>
                  <a:t>​</a:t>
                </a:r>
                <a14:m>
                  <m:oMath>
                    <m:r>
                      <m:rPr>
                        <m:sty m:val="p"/>
                      </m:rPr>
                      <a:rPr lang="en-US" sz="1200" dirty="0">
                        <a:solidFill>
                          <a:srgbClr val="000000"/>
                        </a:solidFill>
                        <a:effectLst/>
                      </a:rPr>
                      <m:t>mol</m:t>
                    </m:r>
                    <m:r>
                      <m:rPr>
                        <m:sty m:val="p"/>
                      </m:rPr>
                      <a:rPr lang="en-US" sz="1200" dirty="0">
                        <a:solidFill>
                          <a:srgbClr val="000000"/>
                        </a:solidFill>
                        <a:effectLst/>
                      </a:rPr>
                      <m:t>.</m:t>
                    </m:r>
                    <m:r>
                      <m:rPr>
                        <m:sty m:val="p"/>
                      </m:rPr>
                      <a:rPr lang="en-US" sz="1200" dirty="0">
                        <a:solidFill>
                          <a:srgbClr val="000000"/>
                        </a:solidFill>
                        <a:effectLst/>
                      </a:rPr>
                      <m:t>%</m:t>
                    </m:r>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g</m:t>
                            </m:r>
                          </m:sub>
                        </m:sSub>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140</m:t>
                            </m:r>
                          </m:e>
                          <m:sup>
                            <m:r>
                              <m:rPr>
                                <m:sty m:val="p"/>
                              </m:rPr>
                              <a:rPr lang="en-US" sz="1200" dirty="0">
                                <a:solidFill>
                                  <a:srgbClr val="000000"/>
                                </a:solidFill>
                                <a:effectLst/>
                              </a:rPr>
                              <m:t>∘</m:t>
                            </m:r>
                          </m:sup>
                        </m:sSup>
                        <m:r>
                          <m:rPr>
                            <m:sty m:val="p"/>
                          </m:rPr>
                          <a:rPr lang="en-US" sz="1200" dirty="0">
                            <a:solidFill>
                              <a:srgbClr val="000000"/>
                            </a:solidFill>
                            <a:effectLst/>
                          </a:rPr>
                          <m:t>C</m:t>
                        </m:r>
                      </m:e>
                    </m:d>
                    <m:r>
                      <m:rPr>
                        <m:sty m:val="p"/>
                      </m:rPr>
                      <a:rPr lang="en-US" sz="1200" dirty="0">
                        <a:solidFill>
                          <a:srgbClr val="000000"/>
                        </a:solidFill>
                        <a:effectLst/>
                      </a:rPr>
                      <m:t>,</m:t>
                    </m:r>
                    <m:r>
                      <m:rPr>
                        <m:sty m:val="p"/>
                      </m:rPr>
                      <a:rPr lang="en-US" sz="1200" dirty="0">
                        <a:solidFill>
                          <a:srgbClr val="000000"/>
                        </a:solidFill>
                        <a:effectLst/>
                      </a:rPr>
                      <m:t>10</m:t>
                    </m:r>
                    <m:r>
                      <m:rPr>
                        <m:sty m:val="p"/>
                      </m:rPr>
                      <a:rPr lang="en-US" sz="1200" dirty="0">
                        <a:solidFill>
                          <a:srgbClr val="000000"/>
                        </a:solidFill>
                        <a:effectLst/>
                      </a:rPr>
                      <m:t xml:space="preserve"> </m:t>
                    </m:r>
                    <m:r>
                      <m:rPr>
                        <m:sty m:val="p"/>
                      </m:rPr>
                      <a:rPr lang="en-US" sz="1200" dirty="0">
                        <a:solidFill>
                          <a:srgbClr val="000000"/>
                        </a:solidFill>
                        <a:effectLst/>
                      </a:rPr>
                      <m:t>mol</m:t>
                    </m:r>
                    <m:r>
                      <m:rPr>
                        <m:sty m:val="p"/>
                      </m:rPr>
                      <a:rPr lang="en-US" sz="1200" dirty="0">
                        <a:solidFill>
                          <a:srgbClr val="000000"/>
                        </a:solidFill>
                        <a:effectLst/>
                      </a:rPr>
                      <m:t>.</m:t>
                    </m:r>
                    <m:r>
                      <m:rPr>
                        <m:sty m:val="p"/>
                      </m:rPr>
                      <a:rPr lang="en-US" sz="1200" dirty="0">
                        <a:solidFill>
                          <a:srgbClr val="000000"/>
                        </a:solidFill>
                        <a:effectLst/>
                      </a:rPr>
                      <m:t>%</m:t>
                    </m:r>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g</m:t>
                            </m:r>
                          </m:sub>
                        </m:sSub>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165</m:t>
                            </m:r>
                          </m:e>
                          <m:sup>
                            <m:r>
                              <m:rPr>
                                <m:sty m:val="p"/>
                              </m:rPr>
                              <a:rPr lang="en-US" sz="1200" dirty="0">
                                <a:solidFill>
                                  <a:srgbClr val="000000"/>
                                </a:solidFill>
                                <a:effectLst/>
                              </a:rPr>
                              <m:t>∘</m:t>
                            </m:r>
                          </m:sup>
                        </m:sSup>
                        <m:r>
                          <m:rPr>
                            <m:sty m:val="p"/>
                          </m:rPr>
                          <a:rPr lang="en-US" sz="1200" dirty="0">
                            <a:solidFill>
                              <a:srgbClr val="000000"/>
                            </a:solidFill>
                            <a:effectLst/>
                          </a:rPr>
                          <m:t>C</m:t>
                        </m:r>
                      </m:e>
                    </m:d>
                  </m:oMath>
                </a14:m>
                <a:r>
                  <a:rPr lang="en-US" sz="1200" dirty="0">
                    <a:effectLst/>
                  </a:rPr>
                  <a:t> and 20 mol . </a:t>
                </a:r>
                <a:r>
                  <a:rPr lang="en-US" sz="1200" dirty="0">
                    <a:effectLst/>
                  </a:rPr>
                  <a:t>​</a:t>
                </a:r>
                <a14:m>
                  <m:oMath>
                    <m:r>
                      <m:rPr>
                        <m:sty m:val="p"/>
                      </m:rPr>
                      <a:rPr lang="en-US" sz="1200" dirty="0">
                        <a:solidFill>
                          <a:srgbClr val="000000"/>
                        </a:solidFill>
                        <a:effectLst/>
                      </a:rPr>
                      <m:t>%</m:t>
                    </m:r>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g</m:t>
                            </m:r>
                          </m:sub>
                        </m:sSub>
                        <m:r>
                          <m:rPr>
                            <m:sty m:val="p"/>
                          </m:rPr>
                          <a:rPr lang="en-US" sz="1200" dirty="0">
                            <a:solidFill>
                              <a:srgbClr val="000000"/>
                            </a:solidFill>
                            <a:effectLst/>
                          </a:rPr>
                          <m:t>=</m:t>
                        </m:r>
                        <m:r>
                          <m:rPr>
                            <m:sty m:val="p"/>
                          </m:rPr>
                          <a:rPr lang="en-US" sz="1200" dirty="0">
                            <a:solidFill>
                              <a:srgbClr val="000000"/>
                            </a:solidFill>
                            <a:effectLst/>
                          </a:rPr>
                          <m:t>225</m:t>
                        </m:r>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r>
                          <m:rPr>
                            <m:sty m:val="p"/>
                          </m:rPr>
                          <a:rPr lang="en-US" sz="1200" dirty="0">
                            <a:solidFill>
                              <a:srgbClr val="000000"/>
                            </a:solidFill>
                            <a:effectLst/>
                          </a:rPr>
                          <m:t>C</m:t>
                        </m:r>
                      </m:e>
                    </m:d>
                  </m:oMath>
                </a14:m>
                <a:r>
                  <a:rPr lang="en-US" sz="1200" dirty="0">
                    <a:effectLst/>
                  </a:rPr>
                  <a:t>.</a:t>
                </a:r>
              </a:p>
            </p:txBody>
          </p:sp>
        </mc:Choice>
        <mc:Fallback/>
      </mc:AlternateContent>
      <p:sp>
        <p:nvSpPr>
          <p:cNvPr id="2" name="Text"/>
          <p:cNvSpPr/>
          <p:nvPr/>
        </p:nvSpPr>
        <p:spPr>
          <a:xfrm>
            <a:off x="1524000" y="5562600"/>
            <a:ext cx="9144000" cy="228600"/>
          </a:xfrm>
          <a:prstGeom prst="rect">
            <a:avLst/>
          </a:prstGeom>
        </p:spPr>
        <p:txBody>
          <a:bodyPr anchor="t" lIns="0" tIns="0" rIns="0" bIns="0">
            <a:noAutofit/>
          </a:bodyPr>
          <a:lstStyle/>
          <a:p>
            <a:pPr>
              <a:lnSpc>
                <a:spcPct val="120000"/>
              </a:lnSpc>
            </a:pPr>
            <a:r>
              <a:rPr lang="en-US" sz="1200" dirty="0">
                <a:effectLst/>
              </a:rPr>
              <a:t>Nguyen et al. [325] investigated the possibility of using styrene, a weak donor forming donor/acceptor pairs with</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685800"/>
          </a:xfrm>
          <a:prstGeom prst="rect">
            <a:avLst/>
          </a:prstGeom>
        </p:spPr>
        <p:txBody>
          <a:bodyPr anchor="t" lIns="0" tIns="0" rIns="0" bIns="0">
            <a:noAutofit/>
          </a:bodyPr>
          <a:lstStyle/>
          <a:p>
            <a:pPr>
              <a:lnSpc>
                <a:spcPct val="120000"/>
              </a:lnSpc>
            </a:pPr>
            <a:r>
              <a:rPr lang="en-US" sz="1800" dirty="0" b="1">
                <a:effectLst/>
              </a:rPr>
              <a:t>International Review of Chemical Engineering, volume 3, No 2, March, 2011 Int. Rev.Chem. Eng., 3(2011) 153-215</a:t>
            </a:r>
          </a:p>
        </p:txBody>
      </p:sp>
      <p:sp>
        <p:nvSpPr>
          <p:cNvPr id="2" name="Text"/>
          <p:cNvSpPr/>
          <p:nvPr/>
        </p:nvSpPr>
        <p:spPr>
          <a:xfrm>
            <a:off x="1524000" y="1332739"/>
            <a:ext cx="9144000" cy="2286000"/>
          </a:xfrm>
          <a:prstGeom prst="rect">
            <a:avLst/>
          </a:prstGeom>
        </p:spPr>
        <p:txBody>
          <a:bodyPr anchor="t" lIns="0" tIns="0" rIns="0" bIns="0">
            <a:noAutofit/>
          </a:bodyPr>
          <a:lstStyle/>
          <a:p>
            <a:pPr>
              <a:lnSpc>
                <a:spcPct val="120000"/>
              </a:lnSpc>
            </a:pPr>
            <a:r>
              <a:rPr lang="en-US" sz="1200" dirty="0">
                <a:effectLst/>
              </a:rPr>
              <a:t>electron-poor (EP) vinyl monomers, such as MA, methyl methacrylate (MMA), methyl acrylate (MAC), dimethyl maleate (DMMA), acrylonitrile (AN) and acrylic acid (AA) for initiating spontaneous photopolymerization and photografting of the copolymers onto polypropylene. The possibilities of CT complex formation between styrene, a weak donor, and the EP vinyl monomers MA, MMA, MAC, DMMA, AN and AA were also explored. Among these EP vinyl monomers, MA was found to have initiated spontaneous polymerization with styrene under UV irradiation. Authors used grafting yields together with FTIR analyses to confirm the presence of grafting. Styrene/MMA and styrene/AN systems achieved significant grafting, but such levels of grafting were not observed in the styrene/MAC and styrene/DMMA systems. No grafting was observed for styrene/AA or styrene/MA systems, but the latter system underwent photopolymerization. They evaluated the effect of solvents on grafting in the styrene/MMA and styrene/AN systems, and found that dimethylformamide inhibites the grafting of both donor/acceptor systems. In contrast, chloroform and methanol enhanced grafting of the styrene/AN system although these two solvents had no significant effect on the grafting of the styrene/MMA system.</a:t>
            </a:r>
          </a:p>
        </p:txBody>
      </p:sp>
      <p:sp>
        <p:nvSpPr>
          <p:cNvPr id="2" name="Text"/>
          <p:cNvSpPr/>
          <p:nvPr/>
        </p:nvSpPr>
        <p:spPr>
          <a:xfrm>
            <a:off x="1524000" y="3771139"/>
            <a:ext cx="9144000" cy="342900"/>
          </a:xfrm>
          <a:prstGeom prst="rect">
            <a:avLst/>
          </a:prstGeom>
        </p:spPr>
        <p:txBody>
          <a:bodyPr anchor="t" lIns="0" tIns="0" rIns="0" bIns="0">
            <a:noAutofit/>
          </a:bodyPr>
          <a:lstStyle/>
          <a:p>
            <a:pPr>
              <a:lnSpc>
                <a:spcPct val="120000"/>
              </a:lnSpc>
            </a:pPr>
            <a:r>
              <a:rPr lang="en-US" sz="1800" dirty="0" b="1">
                <a:effectLst/>
              </a:rPr>
              <a:t>4. Grafting of Synthetic and Natural Rubbers</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971800"/>
          </a:xfrm>
          <a:prstGeom prst="rect">
            <a:avLst/>
          </a:prstGeom>
        </p:spPr>
        <p:txBody>
          <a:bodyPr anchor="t" lIns="0" tIns="0" rIns="0" bIns="0">
            <a:noAutofit/>
          </a:bodyPr>
          <a:lstStyle/>
          <a:p>
            <a:pPr>
              <a:lnSpc>
                <a:spcPct val="120000"/>
              </a:lnSpc>
            </a:pPr>
            <a:r>
              <a:rPr lang="en-US" sz="1200" dirty="0">
                <a:effectLst/>
              </a:rPr>
              <a:t>MA is one of the most widely used functional monomers for the graft modification of PE, PP, PS, ethylenepropylene elastomer and ethylene-propylene-diene monomer (EPDM) rubbers [151,162,164, 313,326-329]. Introduction of MA on the non-polar backbone of polymers has overcome the disadvantage of low surface energy of these polymers. Th,s not only improves the hydrophilicity of the surface of the polymers for the benefit of printing and coating applications but also the adhesion of these polyolefins and rubbers with polar polymers such as polyamide, metal, and glass fibers. These maleated polymers are also used as impact modifiers and compatibilizer in polymer blends [330,331]. Natural rubber (NR) is widely used in various applications particularly for tires because of its excellent elastic properties over other synthetic counterparts. However, its non-polar character limits its application due to poor oil resistance and high air permeability [332]. Grafting of MA or other polar monomers onto NR backbone improves the compatibility between NR and other polar elastomers and some engineering plastics such as polyamide. According to several authors [333-336], the grafting process of MA onto polydienes, such as NR, styrene-isoprene, and styrenebutadiene-styrene block copolymer, involver two different mechanisms, i.e., radical-induced grafting and thermal grafting via an ene mechanism. For the ene mechanism, high temperature (160-240 °C) is required for the fixation of MA to polydiene backbone. In the case of radical mechanism, the reaction usually occurs quickly and at a lower temperature than the ene reaction [336].</a:t>
            </a:r>
          </a:p>
        </p:txBody>
      </p:sp>
      <p:sp>
        <p:nvSpPr>
          <p:cNvPr id="2" name="Text"/>
          <p:cNvSpPr/>
          <p:nvPr/>
        </p:nvSpPr>
        <p:spPr>
          <a:xfrm>
            <a:off x="1524000" y="3581400"/>
            <a:ext cx="9144000" cy="1371600"/>
          </a:xfrm>
          <a:prstGeom prst="rect">
            <a:avLst/>
          </a:prstGeom>
        </p:spPr>
        <p:txBody>
          <a:bodyPr anchor="t" lIns="0" tIns="0" rIns="0" bIns="0">
            <a:noAutofit/>
          </a:bodyPr>
          <a:lstStyle/>
          <a:p>
            <a:pPr>
              <a:lnSpc>
                <a:spcPct val="120000"/>
              </a:lnSpc>
            </a:pPr>
            <a:r>
              <a:rPr lang="en-US" sz="1200" dirty="0">
                <a:effectLst/>
              </a:rPr>
              <a:t>Currently, grafting of MA on NR has mostly been carried out in a solid phase by mixing the NR with MA in a kneader, a roll mill, or an internal mixer [332,337]. In these cases, a small percentage of MA grafting achieved and the crosslinking reaction was predominated. Nakason et al. [338] used the MA grafted NR as a compatibilizer in polyamide/NR blends [339] and maleated NR/cassava starch blends. They estimated in these two cases that the improvement of compatibility and mechanical properties of the blends are due to the intermolecular interaction between the anhydride polar groups grafted on NR and the amine end-group of polyamide (amidization reaction) or hydroxyl group of cassava srarch macromolecules (esterification reaction), respectively.</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286000"/>
          </a:xfrm>
          <a:prstGeom prst="rect">
            <a:avLst/>
          </a:prstGeom>
        </p:spPr>
        <p:txBody>
          <a:bodyPr anchor="t" lIns="0" tIns="0" rIns="0" bIns="0">
            <a:noAutofit/>
          </a:bodyPr>
          <a:lstStyle/>
          <a:p>
            <a:pPr>
              <a:lnSpc>
                <a:spcPct val="120000"/>
              </a:lnSpc>
            </a:pPr>
            <a:r>
              <a:rPr lang="en-US" sz="1200" dirty="0">
                <a:effectLst/>
              </a:rPr>
              <a:t>For the characterization of MA-modified polymers, FTIR spectroscopy [263,326-329,337,338,340] and titration [133,215,262,313,339,341] techniques were used to determine the amount of MA grafted on the polymer backbone. According to the authors, it would be possible to widen the area of application of NR by chemical modification of NR with MA, as it is a way to introduce not only the polar moiety on the backbone of NR bur also to introduce another type modification if a required amount of the MA can be prepared and quantitatively determined [338]. Grafting of MA onto NR and influence of styrene on the grafting efficiency investigated by Saelao and Phinyocheep [332] using a radical initiated grafting process. Grafting was carried out with 5-25 mol % of MA in toluene solution in the presence of benzoyl peroxide (0.5-1.5 mol %) at 60-80°C under nitrogen atmosphere. It was found that the grafting degree is higher at relatively high temperature (80°C). Compared to the reaction without styrene, the addition of 0.1 mol % of styrene monomer, in the grafting process increased % MA grafting up to two times. Authors postulated that the styrene may act as a charge transfer complex for the reaction of NR with MA.</a:t>
            </a:r>
          </a:p>
        </p:txBody>
      </p:sp>
      <p:sp>
        <p:nvSpPr>
          <p:cNvPr id="2" name="Text"/>
          <p:cNvSpPr/>
          <p:nvPr/>
        </p:nvSpPr>
        <p:spPr>
          <a:xfrm>
            <a:off x="1524000" y="2895600"/>
            <a:ext cx="9144000" cy="2743200"/>
          </a:xfrm>
          <a:prstGeom prst="rect">
            <a:avLst/>
          </a:prstGeom>
        </p:spPr>
        <p:txBody>
          <a:bodyPr anchor="t" lIns="0" tIns="0" rIns="0" bIns="0">
            <a:noAutofit/>
          </a:bodyPr>
          <a:lstStyle/>
          <a:p>
            <a:pPr>
              <a:lnSpc>
                <a:spcPct val="120000"/>
              </a:lnSpc>
            </a:pPr>
            <a:r>
              <a:rPr lang="en-US" sz="1200" dirty="0">
                <a:effectLst/>
              </a:rPr>
              <a:t>It is known that styrene as a electron-donor monomer was used to activate the MA monomer for grafting onto PE and PP [164,329]. The styrene comonomer may serve as a medium to bridge the gap between the NR macroradical and the MA. In the case of styrene-assisted MA grafting on to PP, increasing the amount of styrene resulted in increasing the amount of MA as well as styrene grafted on the polymer backbone [164]. It was found that a very small amount of styrene (0.01 mol %) also affected an increase of MA grafting onto NR at an early stage of reaction time (up to 2 h) but at longer reaction times there is not much difference in content of MA with or without the styrene. Authors assumed that at early stage of rection time, when styrene is added, styrene and MA can interact with each other one-to-one to form a charge transfer complex, which increases the electron density of MA double bond, resulting in enhancing the MA's reactivity, hence increasing the grafting degree [332]. Authors used NR with highly cis-1,4-polyisoprenic structure. It possesses labile allylic protons in every repeating unit. These protons are prone to hydrogen abstraction by radical active species generated from radical initiators similar to the grafting process of MA on styrene-isoprene and styrene-</a:t>
            </a:r>
            <a:br>
              <a:rPr lang="en-US" sz="1200" dirty="0"/>
            </a:br>
            <a:r>
              <a:rPr lang="en-US" sz="1200" dirty="0">
                <a:effectLst/>
              </a:rPr>
              <a:t> butadiene-styrene (SBS) block copolymer [333,334]. Anhydride functionalized NR easily hydrolyzed with formation free carboxylic groups in side-chain macromolecules (Figure 21).</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816f1ae81d8f0a2c4cb58b51bed87e023ff8d6e3.jpg"/>
          <p:cNvPicPr/>
          <p:nvPr/>
        </p:nvPicPr>
        <p:blipFill>
          <a:blip r:embed="rId2" cstate="print"/>
          <a:srcRect/>
          <a:stretch>
            <a:fillRect/>
          </a:stretch>
        </p:blipFill>
        <p:spPr>
          <a:xfrm>
            <a:off x="1524000" y="457200"/>
            <a:ext cx="8029575" cy="2219325"/>
          </a:xfrm>
          <a:prstGeom prst="rect">
            <a:avLst/>
          </a:prstGeom>
        </p:spPr>
      </p:pic>
      <p:sp>
        <p:nvSpPr>
          <p:cNvPr id="3" name="Text"/>
          <p:cNvSpPr/>
          <p:nvPr/>
        </p:nvSpPr>
        <p:spPr>
          <a:xfrm>
            <a:off x="1524000" y="2676525"/>
            <a:ext cx="9144000" cy="228600"/>
          </a:xfrm>
          <a:prstGeom prst="rect">
            <a:avLst/>
          </a:prstGeom>
        </p:spPr>
        <p:txBody>
          <a:bodyPr anchor="t" lIns="0" tIns="0" rIns="0" bIns="0">
            <a:noAutofit/>
          </a:bodyPr>
          <a:lstStyle/>
          <a:p>
            <a:pPr>
              <a:lnSpc>
                <a:spcPct val="120000"/>
              </a:lnSpc>
            </a:pPr>
            <a:r>
              <a:rPr lang="en-US" sz="1200" dirty="0">
                <a:effectLst/>
              </a:rPr>
              <a:t>Figure 21. Hydrolysis of MA functionalized NR. Adapted from [333].</a:t>
            </a:r>
          </a:p>
        </p:txBody>
      </p:sp>
      <mc:AlternateContent xmlns:mc="http://schemas.openxmlformats.org/markup-compatibility/2006">
        <mc:Choice xmlns:a14="http://schemas.microsoft.com/office/drawing/2010/main" Requires="a14">
          <p:sp>
            <p:nvSpPr>
              <p:cNvPr id="2" name="Text"/>
              <p:cNvSpPr/>
              <p:nvPr/>
            </p:nvSpPr>
            <p:spPr>
              <a:xfrm>
                <a:off x="1524000" y="2905125"/>
                <a:ext cx="9144000" cy="685800"/>
              </a:xfrm>
              <a:prstGeom prst="rect">
                <a:avLst/>
              </a:prstGeom>
            </p:spPr>
            <p:txBody>
              <a:bodyPr anchor="t" lIns="0" tIns="0" rIns="0" bIns="0">
                <a:noAutofit/>
              </a:bodyPr>
              <a:lstStyle/>
              <a:p>
                <a:pPr>
                  <a:lnSpc>
                    <a:spcPct val="120000"/>
                  </a:lnSpc>
                </a:pPr>
                <a:r>
                  <a:rPr lang="en-US" sz="1200" dirty="0">
                    <a:effectLst/>
                  </a:rPr>
                  <a:t>Authors detected the gel formation in same conditions of MA grafting onto NR. According to the authors, this was not surprising as the grafting reaction that occurred through the radical mechanism ( </a:t>
                </a:r>
                <a:r>
                  <a:rPr lang="en-US" sz="1200" dirty="0">
                    <a:effectLst/>
                  </a:rPr>
                  <a:t>​</a:t>
                </a:r>
                <a14:m>
                  <m:oMath>
                    <m:r>
                      <m:rPr>
                        <m:sty m:val="i"/>
                      </m:rPr>
                      <a:rPr lang="en-US" sz="1200" dirty="0">
                        <a:solidFill>
                          <a:srgbClr val="000000"/>
                        </a:solidFill>
                        <a:effectLst/>
                      </a:rPr>
                      <m:t>a</m:t>
                    </m:r>
                  </m:oMath>
                </a14:m>
                <a:r>
                  <a:rPr lang="en-US" sz="1200" dirty="0">
                    <a:effectLst/>
                  </a:rPr>
                  <a:t> and </a:t>
                </a:r>
                <a:r>
                  <a:rPr lang="en-US" sz="1200" dirty="0">
                    <a:effectLst/>
                  </a:rPr>
                  <a:t>​</a:t>
                </a:r>
                <a14:m>
                  <m:oMath>
                    <m:r>
                      <m:rPr>
                        <m:sty m:val="i"/>
                      </m:rPr>
                      <a:rPr lang="en-US" sz="1200" dirty="0">
                        <a:solidFill>
                          <a:srgbClr val="000000"/>
                        </a:solidFill>
                        <a:effectLst/>
                      </a:rPr>
                      <m:t>b</m:t>
                    </m:r>
                  </m:oMath>
                </a14:m>
                <a:r>
                  <a:rPr lang="en-US" sz="1200" dirty="0">
                    <a:effectLst/>
                  </a:rPr>
                  <a:t> ), as well as via acidanhydride interaction </a:t>
                </a:r>
                <a:r>
                  <a:rPr lang="en-US" sz="1200" dirty="0">
                    <a:effectLst/>
                  </a:rPr>
                  <a:t>​</a:t>
                </a:r>
                <a14:m>
                  <m:oMath>
                    <m:r>
                      <m:rPr>
                        <m:sty m:val="p"/>
                      </m:rPr>
                      <a:rPr lang="en-US" sz="1200" dirty="0">
                        <a:solidFill>
                          <a:srgbClr val="000000"/>
                        </a:solidFill>
                        <a:effectLst/>
                      </a:rPr>
                      <m:t>(</m:t>
                    </m:r>
                    <m:r>
                      <m:rPr>
                        <m:sty m:val="i"/>
                      </m:rPr>
                      <a:rPr lang="en-US" sz="1200" dirty="0">
                        <a:solidFill>
                          <a:srgbClr val="000000"/>
                        </a:solidFill>
                        <a:effectLst/>
                      </a:rPr>
                      <m:t>c</m:t>
                    </m:r>
                    <m:r>
                      <m:rPr>
                        <m:sty m:val="p"/>
                      </m:rPr>
                      <a:rPr lang="en-US" sz="1200" dirty="0">
                        <a:solidFill>
                          <a:srgbClr val="000000"/>
                        </a:solidFill>
                        <a:effectLst/>
                      </a:rPr>
                      <m:t>)</m:t>
                    </m:r>
                  </m:oMath>
                </a14:m>
                <a:r>
                  <a:rPr lang="en-US" sz="1200" dirty="0">
                    <a:effectLst/>
                  </a:rPr>
                  <a:t> as shown in the following scheme (Figure 22) [332]:</a:t>
                </a:r>
              </a:p>
            </p:txBody>
          </p:sp>
        </mc:Choice>
        <mc:Fallback/>
      </mc:AlternateContent>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ab55c7eacdd3832ec76b0f46a71b69a4c0d8c48a.jpg"/>
          <p:cNvPicPr/>
          <p:nvPr/>
        </p:nvPicPr>
        <p:blipFill>
          <a:blip r:embed="rId2" cstate="print"/>
          <a:srcRect/>
          <a:stretch>
            <a:fillRect/>
          </a:stretch>
        </p:blipFill>
        <p:spPr>
          <a:xfrm>
            <a:off x="1524000" y="457200"/>
            <a:ext cx="4048125" cy="5943600"/>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22. Radical grafting of MA onto NR via acidanhydride interaction. Adapted from [332].</a:t>
            </a:r>
          </a:p>
        </p:txBody>
      </p:sp>
      <mc:AlternateContent xmlns:mc="http://schemas.openxmlformats.org/markup-compatibility/2006">
        <mc:Choice xmlns:a14="http://schemas.microsoft.com/office/drawing/2010/main" Requires="a14">
          <p:sp>
            <p:nvSpPr>
              <p:cNvPr id="2" name="Text"/>
              <p:cNvSpPr/>
              <p:nvPr/>
            </p:nvSpPr>
            <p:spPr>
              <a:xfrm>
                <a:off x="1524000" y="685800"/>
                <a:ext cx="9144000" cy="1371600"/>
              </a:xfrm>
              <a:prstGeom prst="rect">
                <a:avLst/>
              </a:prstGeom>
            </p:spPr>
            <p:txBody>
              <a:bodyPr anchor="t" lIns="0" tIns="0" rIns="0" bIns="0">
                <a:noAutofit/>
              </a:bodyPr>
              <a:lstStyle/>
              <a:p>
                <a:pPr>
                  <a:lnSpc>
                    <a:spcPct val="120000"/>
                  </a:lnSpc>
                </a:pPr>
                <a:r>
                  <a:rPr lang="en-US" sz="1200" dirty="0">
                    <a:effectLst/>
                  </a:rPr>
                  <a:t>The MA modification of different kinds of rubbers is a useful way of compatibilizing immiscible polymer blends as well as improving interfacial adhesion in poliymeric composites. Thus, the modification of EPDM rubber with MA in a twin screw extrusion process has been described by Oostenbrink and Gaymans [341], in the presence or absence of bis( </a:t>
                </a:r>
                <a:r>
                  <a:rPr lang="en-US" sz="1200" dirty="0">
                    <a:effectLst/>
                  </a:rPr>
                  <a:t>​</a:t>
                </a:r>
                <a14:m>
                  <m:oMath>
                    <m:r>
                      <m:rPr>
                        <m:sty m:val="i"/>
                      </m:rPr>
                      <a:rPr lang="en-US" sz="1200" dirty="0">
                        <a:solidFill>
                          <a:srgbClr val="000000"/>
                        </a:solidFill>
                        <a:effectLst/>
                      </a:rPr>
                      <m:t>t</m:t>
                    </m:r>
                  </m:oMath>
                </a14:m>
                <a:r>
                  <a:rPr lang="en-US" sz="1200" dirty="0">
                    <a:effectLst/>
                  </a:rPr>
                  <a:t>-butyl peroxyisopropyl)benzene as an initiator. They proposed that the knowledge of MA content in the rubber by covalent linking is important not only to evaluate its application but also to choose the best manner of grafting. For the determination of MA unit in the grafted polymers, different method, such as gravimetry, titration of acid group, IR and NMR spectroscopy, and so on were used.</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209800"/>
                <a:ext cx="9144000" cy="914400"/>
              </a:xfrm>
              <a:prstGeom prst="rect">
                <a:avLst/>
              </a:prstGeom>
            </p:spPr>
            <p:txBody>
              <a:bodyPr anchor="t" lIns="0" tIns="0" rIns="0" bIns="0">
                <a:noAutofit/>
              </a:bodyPr>
              <a:lstStyle/>
              <a:p>
                <a:pPr>
                  <a:lnSpc>
                    <a:spcPct val="120000"/>
                  </a:lnSpc>
                </a:pPr>
                <a:r>
                  <a:rPr lang="en-US" sz="1200" dirty="0">
                    <a:effectLst/>
                  </a:rPr>
                  <a:t>Couitinho et al. [342] used Multiple Reflectance (MR) FTIR spectroscopy in order to simplify the method of quantitative determination of the percentage of grafting in the polymers, especially in the EPDM chain. The EPDM elastomers (1.7 % of norbornene unit) was chemically modified with MA in chlorobenzene solution with benzoyl peroxide as an initiator. The presence of MA grafting on elastomer was made evident by MR-FTIR analysis using 1856 and </a:t>
                </a:r>
                <a:r>
                  <a:rPr lang="en-US" sz="1200" dirty="0">
                    <a:effectLst/>
                  </a:rPr>
                  <a:t>​</a:t>
                </a:r>
                <a14:m>
                  <m:oMath>
                    <m:r>
                      <m:rPr>
                        <m:sty m:val="p"/>
                      </m:rPr>
                      <a:rPr lang="en-US" sz="1200" dirty="0">
                        <a:solidFill>
                          <a:srgbClr val="000000"/>
                        </a:solidFill>
                        <a:effectLst/>
                      </a:rPr>
                      <m:t>1780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bands of anhydride carbonyl groups.</a:t>
                </a:r>
              </a:p>
            </p:txBody>
          </p:sp>
        </mc:Choice>
        <mc:Fallback/>
      </mc:AlternateContent>
      <p:sp>
        <p:nvSpPr>
          <p:cNvPr id="2" name="Text"/>
          <p:cNvSpPr/>
          <p:nvPr/>
        </p:nvSpPr>
        <p:spPr>
          <a:xfrm>
            <a:off x="1524000" y="3276600"/>
            <a:ext cx="9144000" cy="914400"/>
          </a:xfrm>
          <a:prstGeom prst="rect">
            <a:avLst/>
          </a:prstGeom>
        </p:spPr>
        <p:txBody>
          <a:bodyPr anchor="t" lIns="0" tIns="0" rIns="0" bIns="0">
            <a:noAutofit/>
          </a:bodyPr>
          <a:lstStyle/>
          <a:p>
            <a:pPr>
              <a:lnSpc>
                <a:spcPct val="120000"/>
              </a:lnSpc>
            </a:pPr>
            <a:r>
              <a:rPr lang="en-US" sz="1200" dirty="0">
                <a:effectLst/>
              </a:rPr>
              <a:t>MA grafted to PE, PP, polyisobutylene, poly(vinyl chloride) (PVC), and PS using mechanochemical (with and without free-radical) and free-radical, ionic, and radiationinitiation techniques [140,141]. Grafting MA onto PE, PP, PS and polyisoprene (natural and synthetic rubber) provides copolymers with a typical structural residue (I). According to the authors, two structures (II and III) are possible in the case of MA grafted polyisoprene (Figure 23), depending on the initiation mechanism.</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20fc6ef55258265311987ea0067b4795eac6605a.jpg"/>
          <p:cNvPicPr/>
          <p:nvPr/>
        </p:nvPicPr>
        <p:blipFill>
          <a:blip r:embed="rId2" cstate="print"/>
          <a:srcRect/>
          <a:stretch>
            <a:fillRect/>
          </a:stretch>
        </p:blipFill>
        <p:spPr>
          <a:xfrm>
            <a:off x="1524000" y="457200"/>
            <a:ext cx="6943725" cy="3286125"/>
          </a:xfrm>
          <a:prstGeom prst="rect">
            <a:avLst/>
          </a:prstGeom>
        </p:spPr>
      </p:pic>
      <p:sp>
        <p:nvSpPr>
          <p:cNvPr id="3" name="Text"/>
          <p:cNvSpPr/>
          <p:nvPr/>
        </p:nvSpPr>
        <p:spPr>
          <a:xfrm>
            <a:off x="1524000" y="3743325"/>
            <a:ext cx="9144000" cy="457200"/>
          </a:xfrm>
          <a:prstGeom prst="rect">
            <a:avLst/>
          </a:prstGeom>
        </p:spPr>
        <p:txBody>
          <a:bodyPr anchor="t" lIns="0" tIns="0" rIns="0" bIns="0">
            <a:noAutofit/>
          </a:bodyPr>
          <a:lstStyle/>
          <a:p>
            <a:pPr>
              <a:lnSpc>
                <a:spcPct val="120000"/>
              </a:lnSpc>
            </a:pPr>
            <a:r>
              <a:rPr lang="en-US" sz="1200" dirty="0">
                <a:effectLst/>
              </a:rPr>
              <a:t>Figure 23. The different graft copolymer structures as results of MA grafting onto PO and PS (I) and natural rubbers (II and III). Adapted from [141].</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286000"/>
          </a:xfrm>
          <a:prstGeom prst="rect">
            <a:avLst/>
          </a:prstGeom>
        </p:spPr>
        <p:txBody>
          <a:bodyPr anchor="t" lIns="0" tIns="0" rIns="0" bIns="0">
            <a:noAutofit/>
          </a:bodyPr>
          <a:lstStyle/>
          <a:p>
            <a:pPr>
              <a:lnSpc>
                <a:spcPct val="120000"/>
              </a:lnSpc>
            </a:pPr>
            <a:r>
              <a:rPr lang="en-US" sz="1200" dirty="0">
                <a:effectLst/>
              </a:rPr>
              <a:t>Maleinization of liquid polybutadienes with molecular weight around 1000-5000 is industrial process [233]. This process is similar to that unsaturated natural oil and mechanism of "ene reaction" was suggested [343-345]. Maleinated products contain succinic anhydride units randomly distributed along the polymer chain. These graft copolymers, after hydrolysis of half-esterification by alcohols of the anhydride ring followed by neutralization, become water soluble or dispersible and can yield coatings by crosslinking with polyamines, polyols, epoxy resins, etc. [346-348]. Obtained coatings being water-based, are environment-friendly and show good adhesion on various substrates including steel and synthetic fabrics. Moreover, they have good water resistance, electrical insulation properties and low temperature stability. Therefore, typical applications are in the field of electrodeposition paints, electrical potting and encapsulation, sealing and adhesive compounds [349-351]. On the other hand, the residual unsaturations enable its use as water soluble and oxidative binder. They are compatible with rubbers and resins so that the grafting of acrylonitrile-butadiene rubber with MA has been reported to improve the compatibility with natural rubbers [351].</a:t>
            </a:r>
          </a:p>
        </p:txBody>
      </p:sp>
      <mc:AlternateContent xmlns:mc="http://schemas.openxmlformats.org/markup-compatibility/2006">
        <mc:Choice xmlns:a14="http://schemas.microsoft.com/office/drawing/2010/main" Requires="a14">
          <p:sp>
            <p:nvSpPr>
              <p:cNvPr id="2" name="Text"/>
              <p:cNvSpPr/>
              <p:nvPr/>
            </p:nvSpPr>
            <p:spPr>
              <a:xfrm>
                <a:off x="1524000" y="2895600"/>
                <a:ext cx="9144000" cy="2971800"/>
              </a:xfrm>
              <a:prstGeom prst="rect">
                <a:avLst/>
              </a:prstGeom>
            </p:spPr>
            <p:txBody>
              <a:bodyPr anchor="t" lIns="0" tIns="0" rIns="0" bIns="0">
                <a:noAutofit/>
              </a:bodyPr>
              <a:lstStyle/>
              <a:p>
                <a:pPr>
                  <a:lnSpc>
                    <a:spcPct val="120000"/>
                  </a:lnSpc>
                </a:pPr>
                <a:r>
                  <a:rPr lang="en-US" sz="1200" dirty="0">
                    <a:effectLst/>
                  </a:rPr>
                  <a:t>Ferrero et al. [352] studied the kinetics of polybutadiene bulk maleinization in working conditions of an industrial process (temperature in the rangr from 180 to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220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and</a:t>
                </a:r>
                <a:br>
                  <a:rPr lang="en-US" sz="1200" dirty="0"/>
                </a:br>
                <a:r>
                  <a:rPr lang="en-US" sz="1200" dirty="0">
                    <a:effectLst/>
                  </a:rPr>
                  <a:t> time from 2 to 4 h). It was found that the reaction rates are affected by the polybutadiene microstructure, since higher reaction rates were shown by the 1,4-oligomers. Then this bulk reaction was investigated by calorimetric analysis, which has confirmed that crosslinking reactions also take place. They also studied solvent effect in grafting of liquid polybutadienes with MA using </a:t>
                </a:r>
                <a:r>
                  <a:rPr lang="en-US" sz="1200" dirty="0">
                    <a:effectLst/>
                  </a:rPr>
                  <a:t>​</a:t>
                </a:r>
                <a14:m>
                  <m:oMath>
                    <m:r>
                      <m:rPr>
                        <m:sty m:val="i"/>
                      </m:rPr>
                      <a:rPr lang="en-US" sz="1200" dirty="0">
                        <a:solidFill>
                          <a:srgbClr val="000000"/>
                        </a:solidFill>
                        <a:effectLst/>
                      </a:rPr>
                      <m:t>o</m:t>
                    </m:r>
                  </m:oMath>
                </a14:m>
                <a:r>
                  <a:rPr lang="en-US" sz="1200" dirty="0">
                    <a:effectLst/>
                  </a:rPr>
                  <a:t>-xylene and decahydronaphtalene as solvents. It was observed that a final constant yield depends on microstructure and MA concentration. In decahydronaphtalene at 130°C, the reaction was very fast with very high yields. Nevertheless, in the range from 150 to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180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amount of linked MA in the final products did not exceed </a:t>
                </a:r>
                <a:r>
                  <a:rPr lang="en-US" sz="1200" dirty="0">
                    <a:effectLst/>
                  </a:rPr>
                  <a:t>​</a:t>
                </a:r>
                <a14:m>
                  <m:oMath>
                    <m:r>
                      <m:rPr>
                        <m:sty m:val="p"/>
                      </m:rPr>
                      <a:rPr lang="en-US" sz="1200" dirty="0">
                        <a:solidFill>
                          <a:srgbClr val="000000"/>
                        </a:solidFill>
                        <a:effectLst/>
                      </a:rPr>
                      <m:t>11</m:t>
                    </m:r>
                    <m:r>
                      <m:rPr>
                        <m:sty m:val="p"/>
                      </m:rPr>
                      <a:rPr lang="en-US" sz="1200" dirty="0">
                        <a:solidFill>
                          <a:srgbClr val="000000"/>
                        </a:solidFill>
                        <a:effectLst/>
                      </a:rPr>
                      <m:t>%</m:t>
                    </m:r>
                  </m:oMath>
                </a14:m>
                <a:r>
                  <a:rPr lang="en-US" sz="1200" dirty="0">
                    <a:effectLst/>
                  </a:rPr>
                  <a:t>. This fact author explained by probably decarboxylation of the maleated polymers which favoured by decahydronaphtalene solvent. The effective grafting yields were higher below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150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a:t>
                </a:r>
                <a:br>
                  <a:rPr lang="en-US" sz="1200" dirty="0"/>
                </a:br>
                <a:r>
                  <a:rPr lang="en-US" sz="1200" dirty="0">
                    <a:effectLst/>
                  </a:rPr>
                  <a:t> Several researchers [353-356] grafted MA-styrene copolymer onto a variety of conventional polymers using free-radical initiated graft copolymerization in melt state. They reported spontaneous bulk polymerization of MA/styrene mixture in the presence of PE, PP, PS, PVC, poly(ethylene-co-propylene), poly(styrene-co-acrylonitrile), poly(cis-1,4-polybutadiene), poly(acrylonitrile-cobutadiene-co-styrene) (ABS) and poly(butadiene-coacrylonitrile) by using various type mixing apparatus and extruders.</a:t>
                </a:r>
              </a:p>
            </p:txBody>
          </p:sp>
        </mc:Choice>
        <mc:Fallback/>
      </mc:AlternateContent>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685800"/>
              </a:xfrm>
              <a:prstGeom prst="rect">
                <a:avLst/>
              </a:prstGeom>
            </p:spPr>
            <p:txBody>
              <a:bodyPr anchor="t" lIns="0" tIns="0" rIns="0" bIns="0">
                <a:noAutofit/>
              </a:bodyPr>
              <a:lstStyle/>
              <a:p>
                <a:pPr>
                  <a:lnSpc>
                    <a:spcPct val="120000"/>
                  </a:lnSpc>
                </a:pPr>
                <a:r>
                  <a:rPr lang="en-US" sz="1200" dirty="0">
                    <a:effectLst/>
                  </a:rPr>
                  <a:t>Triblock copolymer of styrene- </a:t>
                </a:r>
                <a:r>
                  <a:rPr lang="en-US" sz="1200" dirty="0">
                    <a:effectLst/>
                  </a:rPr>
                  <a:t>​</a:t>
                </a:r>
                <a14:m>
                  <m:oMath>
                    <m:r>
                      <m:rPr>
                        <m:sty m:val="i"/>
                      </m:rPr>
                      <a:rPr lang="en-US" sz="1200" dirty="0">
                        <a:solidFill>
                          <a:srgbClr val="000000"/>
                        </a:solidFill>
                        <a:effectLst/>
                      </a:rPr>
                      <m:t>b</m:t>
                    </m:r>
                  </m:oMath>
                </a14:m>
                <a:r>
                  <a:rPr lang="en-US" sz="1200" dirty="0">
                    <a:effectLst/>
                  </a:rPr>
                  <a:t>-(ethylene-co-butene-1)-</a:t>
                </a:r>
                <a:r>
                  <a:rPr lang="en-US" sz="1200" dirty="0">
                    <a:effectLst/>
                  </a:rPr>
                  <a:t>​</a:t>
                </a:r>
                <a14:m>
                  <m:oMath>
                    <m:r>
                      <m:rPr>
                        <m:sty m:val="i"/>
                      </m:rPr>
                      <a:rPr lang="en-US" sz="1200" dirty="0">
                        <a:solidFill>
                          <a:srgbClr val="000000"/>
                        </a:solidFill>
                        <a:effectLst/>
                      </a:rPr>
                      <m:t>b</m:t>
                    </m:r>
                  </m:oMath>
                </a14:m>
                <a:r>
                  <a:rPr lang="en-US" sz="1200" dirty="0">
                    <a:effectLst/>
                  </a:rPr>
                  <a:t>-styrene (SEBS) was functionalized with MA by several researchers [357-361]. These grafted copolymers were utilized as compatibilizers for the immiscible polymer blends. According to the authors, SEBS- </a:t>
                </a:r>
                <a:r>
                  <a:rPr lang="en-US" sz="1200" dirty="0">
                    <a:effectLst/>
                  </a:rPr>
                  <a:t>​</a:t>
                </a:r>
                <a14:m>
                  <m:oMath>
                    <m:r>
                      <m:rPr>
                        <m:sty m:val="i"/>
                      </m:rPr>
                      <a:rPr lang="en-US" sz="1200" dirty="0">
                        <a:solidFill>
                          <a:srgbClr val="000000"/>
                        </a:solidFill>
                        <a:effectLst/>
                      </a:rPr>
                      <m:t>g</m:t>
                    </m:r>
                  </m:oMath>
                </a14:m>
                <a:r>
                  <a:rPr lang="en-US" sz="1200" dirty="0">
                    <a:effectLst/>
                  </a:rPr>
                  <a:t>-MA copolymer seems to be a better compatibilizer than similarly functionalized polyolefin such as (ethylene-co- propylene)-</a:t>
                </a:r>
                <a:r>
                  <a:rPr lang="en-US" sz="1200" dirty="0">
                    <a:effectLst/>
                  </a:rPr>
                  <a:t>​</a:t>
                </a:r>
                <a14:m>
                  <m:oMath>
                    <m:r>
                      <m:rPr>
                        <m:sty m:val="i"/>
                      </m:rPr>
                      <a:rPr lang="en-US" sz="1200" dirty="0">
                        <a:solidFill>
                          <a:srgbClr val="000000"/>
                        </a:solidFill>
                        <a:effectLst/>
                      </a:rPr>
                      <m:t>g</m:t>
                    </m:r>
                  </m:oMath>
                </a14:m>
                <a:r>
                  <a:rPr lang="en-US" sz="1200" dirty="0">
                    <a:effectLst/>
                  </a:rPr>
                  <a:t>-MA.</a:t>
                </a:r>
              </a:p>
            </p:txBody>
          </p:sp>
        </mc:Choice>
        <mc:Fallback/>
      </mc:AlternateContent>
      <p:sp>
        <p:nvSpPr>
          <p:cNvPr id="2" name="Text"/>
          <p:cNvSpPr/>
          <p:nvPr/>
        </p:nvSpPr>
        <p:spPr>
          <a:xfrm>
            <a:off x="1524000" y="1295400"/>
            <a:ext cx="9144000" cy="342900"/>
          </a:xfrm>
          <a:prstGeom prst="rect">
            <a:avLst/>
          </a:prstGeom>
        </p:spPr>
        <p:txBody>
          <a:bodyPr anchor="t" lIns="0" tIns="0" rIns="0" bIns="0">
            <a:noAutofit/>
          </a:bodyPr>
          <a:lstStyle/>
          <a:p>
            <a:pPr>
              <a:lnSpc>
                <a:spcPct val="120000"/>
              </a:lnSpc>
            </a:pPr>
            <a:r>
              <a:rPr lang="en-US" sz="1800" dirty="0" b="1">
                <a:effectLst/>
              </a:rPr>
              <a:t>5. Grafting onto Biodegradable Polymers</a:t>
            </a:r>
          </a:p>
        </p:txBody>
      </p:sp>
      <p:sp>
        <p:nvSpPr>
          <p:cNvPr id="2" name="Text"/>
          <p:cNvSpPr/>
          <p:nvPr/>
        </p:nvSpPr>
        <p:spPr>
          <a:xfrm>
            <a:off x="1524000" y="1828039"/>
            <a:ext cx="9144000" cy="266700"/>
          </a:xfrm>
          <a:prstGeom prst="rect">
            <a:avLst/>
          </a:prstGeom>
        </p:spPr>
        <p:txBody>
          <a:bodyPr anchor="t" lIns="0" tIns="0" rIns="0" bIns="0">
            <a:noAutofit/>
          </a:bodyPr>
          <a:lstStyle/>
          <a:p>
            <a:pPr>
              <a:lnSpc>
                <a:spcPct val="125800"/>
              </a:lnSpc>
            </a:pPr>
            <a:r>
              <a:rPr lang="en-US" sz="1400" dirty="0" b="1">
                <a:effectLst/>
              </a:rPr>
              <a:t>5.1. Polysaccharides</a:t>
            </a:r>
          </a:p>
        </p:txBody>
      </p:sp>
      <p:sp>
        <p:nvSpPr>
          <p:cNvPr id="2" name="Text"/>
          <p:cNvSpPr/>
          <p:nvPr/>
        </p:nvSpPr>
        <p:spPr>
          <a:xfrm>
            <a:off x="1524000" y="2273047"/>
            <a:ext cx="9144000" cy="2514600"/>
          </a:xfrm>
          <a:prstGeom prst="rect">
            <a:avLst/>
          </a:prstGeom>
        </p:spPr>
        <p:txBody>
          <a:bodyPr anchor="t" lIns="0" tIns="0" rIns="0" bIns="0">
            <a:noAutofit/>
          </a:bodyPr>
          <a:lstStyle/>
          <a:p>
            <a:pPr>
              <a:lnSpc>
                <a:spcPct val="120000"/>
              </a:lnSpc>
            </a:pPr>
            <a:r>
              <a:rPr lang="en-US" sz="1200" dirty="0">
                <a:effectLst/>
              </a:rPr>
              <a:t>In recent years, there has been a great interest in the development of biodegradable plastics from renewable resources. Earlier publications Vaidya et al. [362], Bhattacharya et al. [363-366] and other researchers [367,369] indicates that blends of anhydride functional polymers and starch could lead to products with useful end properties. Wu et al. [370] described the researchs and application areas of modified plant cellulose, preparing by radiation grafting of functional monomers onto celullose macromolecules. Research on blending between polysaccharides (preferably cellulose and starch) and polyolefins has a long history, but their significant dfference in character results in poor compatibility of starch and polyolefins. In order to improve this poor compatibility, many researchers have done much work, such as the chemical modification of both starch [367-370] and polyolefins [371,372] and/or the inroduction of compatibilizer [373-377] into the blends of starch and polyethylene (PE). These compatibilizers contain poly(E- co-acrylic acid), poly(E-co-MA) or poly(E-co-vinyl alcohol) copolymers. Of all the modifying approaches, the compatibilizer intraduced into the blends is considered the most effective method. However, most of the compatiblizers are either expensive or difficult to produce.</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743200"/>
          </a:xfrm>
          <a:prstGeom prst="rect">
            <a:avLst/>
          </a:prstGeom>
        </p:spPr>
        <p:txBody>
          <a:bodyPr anchor="t" lIns="0" tIns="0" rIns="0" bIns="0">
            <a:noAutofit/>
          </a:bodyPr>
          <a:lstStyle/>
          <a:p>
            <a:pPr>
              <a:lnSpc>
                <a:spcPct val="120000"/>
              </a:lnSpc>
            </a:pPr>
            <a:r>
              <a:rPr lang="en-US" sz="1200" dirty="0">
                <a:effectLst/>
              </a:rPr>
              <a:t>Recently, in situ grafting methods were developed for the compatibilization of many immiscible polymer blends. One method is the "two-step" process, in which polymers are functionalized selectively in the first step, and then blended in an extruder in the second step. In this case, in situ grafting reactions should occur between the functional groups of both polymers in melt. The other approach is a "one-step" process, including the addition of low molecular weight compunds into the melted blends to initiate graft/coupling reactions at the interface and form graft/block copolymers during extrision. This method proved to be successful and low-cost. Because of the formation of the graft and block copolymers, authors [378] used as compatibilization during one-step reactive extrusion. Thus, Wang et al. [379] developed an effective method of compatibilization of the thermoplastic starch/PE blends by one-step reactive extrusion, in which the formation of poly(PE-g-MA) played a role of compatibilizer between PE and starch. The blending samples preparing in the presence of dicumyl peroxide, MA, starch and PE in a single-screw extruder were characterized by means of TGA, SEM and FTIR analysis. According to authors, a uniform viewpoint that poly(PE-g-MA) using as compatibilizer is based on two factors: (a) the ester-forming ability of anhydride groups with hysdroxyl groups on starch, and the hydrogen-bondforming ability between carboxyl groups of hydrolyzed MA and hydroxyl groups on strach; (b) the good compatibility between grafted PE chains and the PE phase.</a:t>
            </a:r>
          </a:p>
        </p:txBody>
      </p:sp>
      <mc:AlternateContent xmlns:mc="http://schemas.openxmlformats.org/markup-compatibility/2006">
        <mc:Choice xmlns:a14="http://schemas.microsoft.com/office/drawing/2010/main" Requires="a14">
          <p:sp>
            <p:nvSpPr>
              <p:cNvPr id="2" name="Text"/>
              <p:cNvSpPr/>
              <p:nvPr/>
            </p:nvSpPr>
            <p:spPr>
              <a:xfrm>
                <a:off x="1524000" y="3352800"/>
                <a:ext cx="9144000" cy="2514600"/>
              </a:xfrm>
              <a:prstGeom prst="rect">
                <a:avLst/>
              </a:prstGeom>
            </p:spPr>
            <p:txBody>
              <a:bodyPr anchor="t" lIns="0" tIns="0" rIns="0" bIns="0">
                <a:noAutofit/>
              </a:bodyPr>
              <a:lstStyle/>
              <a:p>
                <a:pPr>
                  <a:lnSpc>
                    <a:spcPct val="120000"/>
                  </a:lnSpc>
                </a:pPr>
                <a:r>
                  <a:rPr lang="en-US" sz="1200" dirty="0">
                    <a:effectLst/>
                  </a:rPr>
                  <a:t>Cellulose is themost abundant natural polymer, with as much as 300 billion tons a year formed on each. Because of its renewability, biodegradability, and non-toxicity, increasing attention has been paid to the use of cellulsic materials for novel composites [380-386]. On the other hand, it is know fact that the inherent incompatibility of hydrophlic cellulose fibers with hydrophilic thermoplastic polyolefins inhibits good adhesion between cellulose and the matrix, making the composites impractical. Many researchers performed to enhance the interfacial adhesion [376,379,387-390]. It was found that MA grafted PP, poly(PP- </a:t>
                </a:r>
                <a:r>
                  <a:rPr lang="en-US" sz="1200" dirty="0">
                    <a:effectLst/>
                  </a:rPr>
                  <a:t>​</a:t>
                </a:r>
                <a14:m>
                  <m:oMath>
                    <m:r>
                      <m:rPr>
                        <m:sty m:val="i"/>
                      </m:rPr>
                      <a:rPr lang="en-US" sz="1200" dirty="0">
                        <a:solidFill>
                          <a:srgbClr val="000000"/>
                        </a:solidFill>
                        <a:effectLst/>
                      </a:rPr>
                      <m:t>g</m:t>
                    </m:r>
                  </m:oMath>
                </a14:m>
                <a:r>
                  <a:rPr lang="en-US" sz="1200" dirty="0">
                    <a:effectLst/>
                  </a:rPr>
                  <a:t>-MA) is very efficient for preparing cellulosic PP composites with improved mechanical properties. The improvement imparted by the use of poly(PP- </a:t>
                </a:r>
                <a:r>
                  <a:rPr lang="en-US" sz="1200" dirty="0">
                    <a:effectLst/>
                  </a:rPr>
                  <a:t>​</a:t>
                </a:r>
                <a14:m>
                  <m:oMath>
                    <m:r>
                      <m:rPr>
                        <m:sty m:val="i"/>
                      </m:rPr>
                      <a:rPr lang="en-US" sz="1200" dirty="0">
                        <a:solidFill>
                          <a:srgbClr val="000000"/>
                        </a:solidFill>
                        <a:effectLst/>
                      </a:rPr>
                      <m:t>g</m:t>
                    </m:r>
                  </m:oMath>
                </a14:m>
                <a:r>
                  <a:rPr lang="en-US" sz="1200" dirty="0">
                    <a:effectLst/>
                  </a:rPr>
                  <a:t>-MA) is considered to be attributed to esterification reaction between anhydride and hydroxyl groups of used polymers in solution in the presence of catalyst. The formation of ester groups was confirmed by the appearance of a new IR band at 1729 and </a:t>
                </a:r>
                <a:r>
                  <a:rPr lang="en-US" sz="1200" dirty="0">
                    <a:effectLst/>
                  </a:rPr>
                  <a:t>​</a:t>
                </a:r>
                <a14:m>
                  <m:oMath>
                    <m:r>
                      <m:rPr>
                        <m:sty m:val="p"/>
                      </m:rPr>
                      <a:rPr lang="en-US" sz="1200" dirty="0">
                        <a:solidFill>
                          <a:srgbClr val="000000"/>
                        </a:solidFill>
                        <a:effectLst/>
                      </a:rPr>
                      <m:t>1750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[391-395]. However, no direct evidence of esterification demonstrated by authors from the melt-mixing of cellulosic materials with poly(PP- </a:t>
                </a:r>
                <a:r>
                  <a:rPr lang="en-US" sz="1200" dirty="0">
                    <a:effectLst/>
                  </a:rPr>
                  <a:t>​</a:t>
                </a:r>
                <a14:m>
                  <m:oMath>
                    <m:r>
                      <m:rPr>
                        <m:sty m:val="i"/>
                      </m:rPr>
                      <a:rPr lang="en-US" sz="1200" dirty="0">
                        <a:solidFill>
                          <a:srgbClr val="000000"/>
                        </a:solidFill>
                        <a:effectLst/>
                      </a:rPr>
                      <m:t>g</m:t>
                    </m:r>
                  </m:oMath>
                </a14:m>
                <a:r>
                  <a:rPr lang="en-US" sz="1200" dirty="0">
                    <a:effectLst/>
                  </a:rPr>
                  <a:t> -MA), although the relevent composites are generally prepared by a melt-mixing method. According to the authors, this implies that highly crystalline cellulose is too</a:t>
                </a:r>
              </a:p>
            </p:txBody>
          </p:sp>
        </mc:Choice>
        <mc:Fallback/>
      </mc:AlternateContent>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685800"/>
          </a:xfrm>
          <a:prstGeom prst="rect">
            <a:avLst/>
          </a:prstGeom>
        </p:spPr>
        <p:txBody>
          <a:bodyPr anchor="t" lIns="0" tIns="0" rIns="0" bIns="0">
            <a:noAutofit/>
          </a:bodyPr>
          <a:lstStyle/>
          <a:p>
            <a:pPr>
              <a:lnSpc>
                <a:spcPct val="120000"/>
              </a:lnSpc>
            </a:pPr>
            <a:r>
              <a:rPr lang="en-US" sz="1800" dirty="0" b="1">
                <a:effectLst/>
              </a:rPr>
              <a:t>International Review of Chemical Engineering, volume 3, No 2, March, 2011 Int. Rev.Chem. Eng., 3(2011) 153-215</a:t>
            </a:r>
          </a:p>
        </p:txBody>
      </p:sp>
      <mc:AlternateContent xmlns:mc="http://schemas.openxmlformats.org/markup-compatibility/2006">
        <mc:Choice xmlns:a14="http://schemas.microsoft.com/office/drawing/2010/main" Requires="a14">
          <p:sp>
            <p:nvSpPr>
              <p:cNvPr id="2" name="Text"/>
              <p:cNvSpPr/>
              <p:nvPr/>
            </p:nvSpPr>
            <p:spPr>
              <a:xfrm>
                <a:off x="1524000" y="1332739"/>
                <a:ext cx="9144000" cy="457200"/>
              </a:xfrm>
              <a:prstGeom prst="rect">
                <a:avLst/>
              </a:prstGeom>
            </p:spPr>
            <p:txBody>
              <a:bodyPr anchor="t" lIns="0" tIns="0" rIns="0" bIns="0">
                <a:noAutofit/>
              </a:bodyPr>
              <a:lstStyle/>
              <a:p>
                <a:pPr>
                  <a:lnSpc>
                    <a:spcPct val="120000"/>
                  </a:lnSpc>
                </a:pPr>
                <a:r>
                  <a:rPr lang="en-US" sz="1200" dirty="0">
                    <a:effectLst/>
                  </a:rPr>
                  <a:t>stable to form a number of ester bonds with poly(PP- </a:t>
                </a:r>
                <a:r>
                  <a:rPr lang="en-US" sz="1200" dirty="0">
                    <a:effectLst/>
                  </a:rPr>
                  <a:t>​</a:t>
                </a:r>
                <a14:m>
                  <m:oMath>
                    <m:r>
                      <m:rPr>
                        <m:sty m:val="i"/>
                      </m:rPr>
                      <a:rPr lang="en-US" sz="1200" dirty="0">
                        <a:solidFill>
                          <a:srgbClr val="000000"/>
                        </a:solidFill>
                        <a:effectLst/>
                      </a:rPr>
                      <m:t>g</m:t>
                    </m:r>
                  </m:oMath>
                </a14:m>
                <a:r>
                  <a:rPr lang="en-US" sz="1200" dirty="0">
                    <a:effectLst/>
                  </a:rPr>
                  <a:t> -MA) in a melted state, because it processess very few free OH groups because of extensive formation of hydrogen bonds [396,397].</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942339"/>
                <a:ext cx="9144000" cy="1371600"/>
              </a:xfrm>
              <a:prstGeom prst="rect">
                <a:avLst/>
              </a:prstGeom>
            </p:spPr>
            <p:txBody>
              <a:bodyPr anchor="t" lIns="0" tIns="0" rIns="0" bIns="0">
                <a:noAutofit/>
              </a:bodyPr>
              <a:lstStyle/>
              <a:p>
                <a:pPr>
                  <a:lnSpc>
                    <a:spcPct val="120000"/>
                  </a:lnSpc>
                </a:pPr>
                <a:r>
                  <a:rPr lang="en-US" sz="1200" dirty="0">
                    <a:effectLst/>
                  </a:rPr>
                  <a:t>For the melt-mixed composites of crystalline cellulose and PP compatibilized with poly(PP- </a:t>
                </a:r>
                <a:r>
                  <a:rPr lang="en-US" sz="1200" dirty="0">
                    <a:effectLst/>
                  </a:rPr>
                  <a:t>​</a:t>
                </a:r>
                <a14:m>
                  <m:oMath>
                    <m:r>
                      <m:rPr>
                        <m:sty m:val="i"/>
                      </m:rPr>
                      <a:rPr lang="en-US" sz="1200" dirty="0">
                        <a:solidFill>
                          <a:srgbClr val="000000"/>
                        </a:solidFill>
                        <a:effectLst/>
                      </a:rPr>
                      <m:t>g</m:t>
                    </m:r>
                  </m:oMath>
                </a14:m>
                <a:r>
                  <a:rPr lang="en-US" sz="1200" dirty="0">
                    <a:effectLst/>
                  </a:rPr>
                  <a:t>-MA), even an amount of grafted MA as small as </a:t>
                </a:r>
                <a:r>
                  <a:rPr lang="en-US" sz="1200" dirty="0">
                    <a:effectLst/>
                  </a:rPr>
                  <a:t>​</a:t>
                </a:r>
                <a14:m>
                  <m:oMath>
                    <m:r>
                      <m:rPr>
                        <m:sty m:val="p"/>
                      </m:rPr>
                      <a:rPr lang="en-US" sz="1200" dirty="0">
                        <a:solidFill>
                          <a:srgbClr val="000000"/>
                        </a:solidFill>
                        <a:effectLst/>
                      </a:rPr>
                      <m:t>0.2</m:t>
                    </m:r>
                    <m:r>
                      <m:rPr>
                        <m:sty m:val="p"/>
                      </m:rPr>
                      <a:rPr lang="en-US" sz="1200" dirty="0">
                        <a:solidFill>
                          <a:srgbClr val="000000"/>
                        </a:solidFill>
                        <a:effectLst/>
                      </a:rPr>
                      <m:t>wt</m:t>
                    </m:r>
                    <m:r>
                      <m:rPr>
                        <m:sty m:val="p"/>
                      </m:rPr>
                      <a:rPr lang="en-US" sz="1200" dirty="0">
                        <a:solidFill>
                          <a:srgbClr val="000000"/>
                        </a:solidFill>
                        <a:effectLst/>
                      </a:rPr>
                      <m:t>.</m:t>
                    </m:r>
                    <m:r>
                      <m:rPr>
                        <m:sty m:val="p"/>
                      </m:rPr>
                      <a:rPr lang="en-US" sz="1200" dirty="0">
                        <a:solidFill>
                          <a:srgbClr val="000000"/>
                        </a:solidFill>
                        <a:effectLst/>
                      </a:rPr>
                      <m:t>%</m:t>
                    </m:r>
                  </m:oMath>
                </a14:m>
                <a:r>
                  <a:rPr lang="en-US" sz="1200" dirty="0">
                    <a:effectLst/>
                  </a:rPr>
                  <a:t> is sufficient to impact maximum mechanical properties to the resulting composites [173,398,399]. This result is in agreement with the limited esterification between crystalline cellulose and poly(PP- </a:t>
                </a:r>
                <a:r>
                  <a:rPr lang="en-US" sz="1200" dirty="0">
                    <a:effectLst/>
                  </a:rPr>
                  <a:t>​</a:t>
                </a:r>
                <a14:m>
                  <m:oMath>
                    <m:r>
                      <m:rPr>
                        <m:sty m:val="i"/>
                      </m:rPr>
                      <a:rPr lang="en-US" sz="1200" dirty="0">
                        <a:solidFill>
                          <a:srgbClr val="000000"/>
                        </a:solidFill>
                        <a:effectLst/>
                      </a:rPr>
                      <m:t>g</m:t>
                    </m:r>
                  </m:oMath>
                </a14:m>
                <a:r>
                  <a:rPr lang="en-US" sz="1200" dirty="0">
                    <a:effectLst/>
                  </a:rPr>
                  <a:t>-MA). However, Hirotsu et al. [398,400] found that ball-milling induces intensive esterification between the OH groups on microparticles of cellulose and the MA units of poly(PE- </a:t>
                </a:r>
                <a:r>
                  <a:rPr lang="en-US" sz="1200" dirty="0">
                    <a:effectLst/>
                  </a:rPr>
                  <a:t>​</a:t>
                </a:r>
                <a14:m>
                  <m:oMath>
                    <m:r>
                      <m:rPr>
                        <m:sty m:val="i"/>
                      </m:rPr>
                      <a:rPr lang="en-US" sz="1200" dirty="0">
                        <a:solidFill>
                          <a:srgbClr val="000000"/>
                        </a:solidFill>
                        <a:effectLst/>
                      </a:rPr>
                      <m:t>g</m:t>
                    </m:r>
                  </m:oMath>
                </a14:m>
                <a:r>
                  <a:rPr lang="en-US" sz="1200" dirty="0">
                    <a:effectLst/>
                  </a:rPr>
                  <a:t>-MA) or poly(PP- </a:t>
                </a:r>
                <a:r>
                  <a:rPr lang="en-US" sz="1200" dirty="0">
                    <a:effectLst/>
                  </a:rPr>
                  <a:t>​</a:t>
                </a:r>
                <a14:m>
                  <m:oMath>
                    <m:r>
                      <m:rPr>
                        <m:sty m:val="i"/>
                      </m:rPr>
                      <a:rPr lang="en-US" sz="1200" dirty="0">
                        <a:solidFill>
                          <a:srgbClr val="000000"/>
                        </a:solidFill>
                        <a:effectLst/>
                      </a:rPr>
                      <m:t>g</m:t>
                    </m:r>
                  </m:oMath>
                </a14:m>
                <a:r>
                  <a:rPr lang="en-US" sz="1200" dirty="0">
                    <a:effectLst/>
                  </a:rPr>
                  <a:t>-MA), in marked contrast to the melt-mixing of the original cellulose and these graft copolymers, in which the number of ester bonds is too few to be observed by FTIR spectroscopy [400].</a:t>
                </a:r>
              </a:p>
            </p:txBody>
          </p:sp>
        </mc:Choice>
        <mc:Fallback/>
      </mc:AlternateContent>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3886200"/>
          </a:xfrm>
          <a:prstGeom prst="rect">
            <a:avLst/>
          </a:prstGeom>
        </p:spPr>
        <p:txBody>
          <a:bodyPr anchor="t" lIns="0" tIns="0" rIns="0" bIns="0">
            <a:noAutofit/>
          </a:bodyPr>
          <a:lstStyle/>
          <a:p>
            <a:pPr>
              <a:lnSpc>
                <a:spcPct val="120000"/>
              </a:lnSpc>
            </a:pPr>
            <a:r>
              <a:rPr lang="en-US" sz="1200" dirty="0">
                <a:effectLst/>
              </a:rPr>
              <a:t> Blends and composites of biopolymers and synthetic polymers also constitute a promising area of material science and engineering. Recently, growing interect has been directed to the development of novel composites of polyolefins/natural polymers, which are promising as new environmental propection plastics. According to Bumbu et al. [401], the properties of pure synthetic polymers and pure biological polymers are often inadequate for producing materials with good chemical, mechanical, thermal, and biological performance charateristics, so researchers have been trying to prepare blends of synthetic polymers with biological macromolecules to obtain new materials with enhanced functional properties and biodegradability at a relatively low cost, so-called bioartificial polymeric materials. They are produced in different forms, including films, sponges, and hydrogels, and have been evaluated as biomaterials for dialysis membranes, wound dressings, drug delivery systems, and so foth. Thus, the compatibility of pullulan and dextran polysaccharides with poly[MA-alt-vinyl acetate (VA)] in the solid state in the form of thin film was studied with TGA, DSC, FTIR and electron microscopy. With respect to observed morphology by authors, blends with a content of pullulan greater than 85 wt % exhibited an even distribution of finely disperced particles. From comparative analysis of the obtained results for both dextran/copolymer and pullulan/copolymer blends, authors remark that the type of glycosidic linkage from the main chain of a polysaccharide with the same structural unit (but different number of primary OH groups) is decisive for the morphology and thermal behabior of their blends with poly(MA-alt-VA). The thermal properties were dependent on the mixing ratio, and the interactions between components were quite pronounced in the pullulan-rich blends. Both pullulan-containing and dextran-containing films can undergo a crosslinking esterification teaction with MA copolymer via heating. New potential biomaterials based on mixtures of PVC and pullulan with different MA copolymers as compatibilizing agents have also been reported [402].</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514600"/>
          </a:xfrm>
          <a:prstGeom prst="rect">
            <a:avLst/>
          </a:prstGeom>
        </p:spPr>
        <p:txBody>
          <a:bodyPr anchor="t" lIns="0" tIns="0" rIns="0" bIns="0">
            <a:noAutofit/>
          </a:bodyPr>
          <a:lstStyle/>
          <a:p>
            <a:pPr>
              <a:lnSpc>
                <a:spcPct val="120000"/>
              </a:lnSpc>
            </a:pPr>
            <a:r>
              <a:rPr lang="en-US" sz="1200" dirty="0">
                <a:effectLst/>
              </a:rPr>
              <a:t>In the last years, increased interest has developed with respect to reactive blends on the base of MA-containing polymers, such as poly(MA-alt-styrene), poly(MA-alt-ethylene) and poly[(E-co-P)-g-MA], and polysaccharides (preferably starch) for the preparation of the compatible and biodegadable polymer materials [374,403-405]. As evidenced from these studies, in the reactive poly(PE-g-MA)/strach blends [375,376,406], MA grafted PE as a compatibilizer plays three important roles: (1) the anhydride units easily esterifies with hydroxyl groups of strach, (2) hyrolysed MA unit forms hydrogen-bonding with free OH groups of strach, and (3) provides the substantial compability between grafted PE macromolecules and pristine PE phase. With the similar purpose, Wang et al. [407] developed a single-screw extrusion method of preparing the in situ modified polymer blend on the base of LLDPE, MA as a chemical active modifier, dicumyl proxide as a initiator, strach, glycerol as a plasticizer. The morphology of these blend with various composition, studiying by authors using SEM, indicated that with the addition of MA {with formation of poly[(LLDPE-g-MA(0.1 or 0.2 wt.%)]}, the blends have good interfacial adhesion and finely dispersed strach and LLDPE phases, which is reflected in the mechanical and thermal behavior of the blends. Authors illustrated the mechanism of interfacial chemical reaction as follows (Figure 24):</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02610075f52fecde84094a6355916c6d20a08b0e.jpg"/>
          <p:cNvPicPr/>
          <p:nvPr/>
        </p:nvPicPr>
        <p:blipFill>
          <a:blip r:embed="rId2" cstate="print"/>
          <a:srcRect/>
          <a:stretch>
            <a:fillRect/>
          </a:stretch>
        </p:blipFill>
        <p:spPr>
          <a:xfrm>
            <a:off x="1524000" y="457200"/>
            <a:ext cx="7305675" cy="3619500"/>
          </a:xfrm>
          <a:prstGeom prst="rect">
            <a:avLst/>
          </a:prstGeom>
        </p:spPr>
      </p:pic>
      <mc:AlternateContent xmlns:mc="http://schemas.openxmlformats.org/markup-compatibility/2006">
        <mc:Choice xmlns:a14="http://schemas.microsoft.com/office/drawing/2010/main" Requires="a14">
          <p:sp>
            <p:nvSpPr>
              <p:cNvPr id="3" name="Text"/>
              <p:cNvSpPr/>
              <p:nvPr/>
            </p:nvSpPr>
            <p:spPr>
              <a:xfrm>
                <a:off x="1524000" y="4076700"/>
                <a:ext cx="9144000" cy="228600"/>
              </a:xfrm>
              <a:prstGeom prst="rect">
                <a:avLst/>
              </a:prstGeom>
            </p:spPr>
            <p:txBody>
              <a:bodyPr anchor="t" lIns="0" tIns="0" rIns="0" bIns="0">
                <a:noAutofit/>
              </a:bodyPr>
              <a:lstStyle/>
              <a:p>
                <a:pPr>
                  <a:lnSpc>
                    <a:spcPct val="120000"/>
                  </a:lnSpc>
                </a:pPr>
                <a:r>
                  <a:rPr lang="en-US" sz="1200" dirty="0">
                    <a:effectLst/>
                  </a:rPr>
                  <a:t>Figure 24. Combatibilizing effect of PLLDPE- </a:t>
                </a:r>
                <a:r>
                  <a:rPr lang="en-US" sz="1200" dirty="0">
                    <a:effectLst/>
                  </a:rPr>
                  <a:t>​</a:t>
                </a:r>
                <a14:m>
                  <m:oMath>
                    <m:r>
                      <m:rPr>
                        <m:sty m:val="i"/>
                      </m:rPr>
                      <a:rPr lang="en-US" sz="1200" dirty="0">
                        <a:solidFill>
                          <a:srgbClr val="000000"/>
                        </a:solidFill>
                        <a:effectLst/>
                      </a:rPr>
                      <m:t>g</m:t>
                    </m:r>
                  </m:oMath>
                </a14:m>
                <a:r>
                  <a:rPr lang="en-US" sz="1200" dirty="0">
                    <a:effectLst/>
                  </a:rPr>
                  <a:t>-MA via interfacial chemical reaction in starch/PE blends. Adapted from [407].</a:t>
                </a:r>
              </a:p>
            </p:txBody>
          </p:sp>
        </mc:Choice>
        <mc:Fallback/>
      </mc:AlternateContent>
      <p:sp>
        <p:nvSpPr>
          <p:cNvPr id="2" name="Text"/>
          <p:cNvSpPr/>
          <p:nvPr/>
        </p:nvSpPr>
        <p:spPr>
          <a:xfrm>
            <a:off x="1524000" y="4305300"/>
            <a:ext cx="9144000" cy="457200"/>
          </a:xfrm>
          <a:prstGeom prst="rect">
            <a:avLst/>
          </a:prstGeom>
        </p:spPr>
        <p:txBody>
          <a:bodyPr anchor="t" lIns="0" tIns="0" rIns="0" bIns="0">
            <a:noAutofit/>
          </a:bodyPr>
          <a:lstStyle/>
          <a:p>
            <a:pPr>
              <a:lnSpc>
                <a:spcPct val="120000"/>
              </a:lnSpc>
            </a:pPr>
            <a:r>
              <a:rPr lang="en-US" sz="1200" dirty="0">
                <a:effectLst/>
              </a:rPr>
              <a:t>These composites containing MA modified linkages showed higher tensile strength, elongation at break, and thermal stability than those of blends without MA. The rheologic properties of the blends demonstrated the existence of processing [407].</a:t>
            </a:r>
          </a:p>
        </p:txBody>
      </p:sp>
      <mc:AlternateContent xmlns:mc="http://schemas.openxmlformats.org/markup-compatibility/2006">
        <mc:Choice xmlns:a14="http://schemas.microsoft.com/office/drawing/2010/main" Requires="a14">
          <p:sp>
            <p:nvSpPr>
              <p:cNvPr id="2" name="Text"/>
              <p:cNvSpPr/>
              <p:nvPr/>
            </p:nvSpPr>
            <p:spPr>
              <a:xfrm>
                <a:off x="1524000" y="4914900"/>
                <a:ext cx="9144000" cy="1371600"/>
              </a:xfrm>
              <a:prstGeom prst="rect">
                <a:avLst/>
              </a:prstGeom>
            </p:spPr>
            <p:txBody>
              <a:bodyPr anchor="t" lIns="0" tIns="0" rIns="0" bIns="0">
                <a:noAutofit/>
              </a:bodyPr>
              <a:lstStyle/>
              <a:p>
                <a:pPr>
                  <a:lnSpc>
                    <a:spcPct val="120000"/>
                  </a:lnSpc>
                </a:pPr>
                <a:r>
                  <a:rPr lang="en-US" sz="1200" dirty="0">
                    <a:effectLst/>
                  </a:rPr>
                  <a:t>To clarify the nature and structure of the interface, Bumbu et al. [408] described the structure and thermal properties of PP- </a:t>
                </a:r>
                <a:r>
                  <a:rPr lang="en-US" sz="1200" dirty="0">
                    <a:effectLst/>
                  </a:rPr>
                  <a:t>​</a:t>
                </a:r>
                <a14:m>
                  <m:oMath>
                    <m:r>
                      <m:rPr>
                        <m:sty m:val="i"/>
                      </m:rPr>
                      <a:rPr lang="en-US" sz="1200" dirty="0">
                        <a:solidFill>
                          <a:srgbClr val="000000"/>
                        </a:solidFill>
                        <a:effectLst/>
                      </a:rPr>
                      <m:t>g</m:t>
                    </m:r>
                  </m:oMath>
                </a14:m>
                <a:r>
                  <a:rPr lang="en-US" sz="1200" dirty="0">
                    <a:effectLst/>
                  </a:rPr>
                  <a:t>-MA chains bound to microparticles of cellulose, which are derived from a composite prepared by ball-milling highly crystalline fibrous cellulose (CF11, 50-</a:t>
                </a:r>
                <a:r>
                  <a:rPr lang="en-US" sz="1200" dirty="0">
                    <a:effectLst/>
                  </a:rPr>
                  <a:t>​</a:t>
                </a:r>
                <a14:m>
                  <m:oMath>
                    <m:r>
                      <m:rPr>
                        <m:sty m:val="p"/>
                      </m:rPr>
                      <a:rPr lang="en-US" sz="1200" dirty="0">
                        <a:solidFill>
                          <a:srgbClr val="000000"/>
                        </a:solidFill>
                        <a:effectLst/>
                      </a:rPr>
                      <m:t>350</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m</m:t>
                    </m:r>
                  </m:oMath>
                </a14:m>
                <a:r>
                  <a:rPr lang="en-US" sz="1200" dirty="0">
                    <a:effectLst/>
                  </a:rPr>
                  <a:t> in length, about </a:t>
                </a:r>
                <a:r>
                  <a:rPr lang="en-US" sz="1200" dirty="0">
                    <a:effectLst/>
                  </a:rPr>
                  <a:t>​</a:t>
                </a:r>
                <a14:m>
                  <m:oMath>
                    <m:r>
                      <m:rPr>
                        <m:sty m:val="p"/>
                      </m:rPr>
                      <a:rPr lang="en-US" sz="1200" dirty="0">
                        <a:solidFill>
                          <a:srgbClr val="000000"/>
                        </a:solidFill>
                        <a:effectLst/>
                      </a:rPr>
                      <m:t>20</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m</m:t>
                    </m:r>
                  </m:oMath>
                </a14:m>
                <a:r>
                  <a:rPr lang="en-US" sz="1200" dirty="0">
                    <a:effectLst/>
                  </a:rPr>
                  <a:t> in diameter, and 93 % in crystallinity) and poly(PP- </a:t>
                </a:r>
                <a:r>
                  <a:rPr lang="en-US" sz="1200" dirty="0">
                    <a:effectLst/>
                  </a:rPr>
                  <a:t>​</a:t>
                </a:r>
                <a14:m>
                  <m:oMath>
                    <m:r>
                      <m:rPr>
                        <m:sty m:val="i"/>
                      </m:rPr>
                      <a:rPr lang="en-US" sz="1200" dirty="0">
                        <a:solidFill>
                          <a:srgbClr val="000000"/>
                        </a:solidFill>
                        <a:effectLst/>
                      </a:rPr>
                      <m:t>g</m:t>
                    </m:r>
                  </m:oMath>
                </a14:m>
                <a:r>
                  <a:rPr lang="en-US" sz="1200" dirty="0">
                    <a:effectLst/>
                  </a:rPr>
                  <a:t>-MA) (MA unit content ~0.6 wt. %, MFI 115 g/10 min at 190 °C, 2.16 kg) (Figure 25), and demonstrated that the nature of the bound PP- </a:t>
                </a:r>
                <a:r>
                  <a:rPr lang="en-US" sz="1200" dirty="0">
                    <a:effectLst/>
                  </a:rPr>
                  <a:t>​</a:t>
                </a:r>
                <a14:m>
                  <m:oMath>
                    <m:r>
                      <m:rPr>
                        <m:sty m:val="i"/>
                      </m:rPr>
                      <a:rPr lang="en-US" sz="1200" dirty="0">
                        <a:solidFill>
                          <a:srgbClr val="000000"/>
                        </a:solidFill>
                        <a:effectLst/>
                      </a:rPr>
                      <m:t>g</m:t>
                    </m:r>
                  </m:oMath>
                </a14:m>
                <a:r>
                  <a:rPr lang="en-US" sz="1200" dirty="0">
                    <a:effectLst/>
                  </a:rPr>
                  <a:t>-MA chains determines the interfacial structure and, accordingly, the tensile properety of the composite. The crystallinity of the PP- </a:t>
                </a:r>
                <a:r>
                  <a:rPr lang="en-US" sz="1200" dirty="0">
                    <a:effectLst/>
                  </a:rPr>
                  <a:t>​</a:t>
                </a:r>
                <a14:m>
                  <m:oMath>
                    <m:r>
                      <m:rPr>
                        <m:sty m:val="i"/>
                      </m:rPr>
                      <a:rPr lang="en-US" sz="1200" dirty="0">
                        <a:solidFill>
                          <a:srgbClr val="000000"/>
                        </a:solidFill>
                        <a:effectLst/>
                      </a:rPr>
                      <m:t>g</m:t>
                    </m:r>
                  </m:oMath>
                </a14:m>
                <a:r>
                  <a:rPr lang="en-US" sz="1200" dirty="0">
                    <a:effectLst/>
                  </a:rPr>
                  <a:t>-MA bound to the cellulose particles in the</a:t>
                </a:r>
              </a:p>
            </p:txBody>
          </p:sp>
        </mc:Choice>
        <mc:Fallback/>
      </mc:AlternateContent>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914400"/>
              </a:xfrm>
              <a:prstGeom prst="rect">
                <a:avLst/>
              </a:prstGeom>
            </p:spPr>
            <p:txBody>
              <a:bodyPr anchor="t" lIns="0" tIns="0" rIns="0" bIns="0">
                <a:noAutofit/>
              </a:bodyPr>
              <a:lstStyle/>
              <a:p>
                <a:pPr>
                  <a:lnSpc>
                    <a:spcPct val="120000"/>
                  </a:lnSpc>
                </a:pPr>
                <a:r>
                  <a:rPr lang="en-US" sz="1200" dirty="0">
                    <a:effectLst/>
                  </a:rPr>
                  <a:t> extraction residues is confirmed directly by wide-angle X-ray diffraction (WAXD). The XRS (X-ray photoelectron spectroscopy) analysis of C/O ratio for the residues reveals that the cellulose particles bind the MA grafts at the end of PP- </a:t>
                </a:r>
                <a:r>
                  <a:rPr lang="en-US" sz="1200" dirty="0">
                    <a:effectLst/>
                  </a:rPr>
                  <a:t>​</a:t>
                </a:r>
                <a14:m>
                  <m:oMath>
                    <m:r>
                      <m:rPr>
                        <m:sty m:val="i"/>
                      </m:rPr>
                      <a:rPr lang="en-US" sz="1200" dirty="0">
                        <a:solidFill>
                          <a:srgbClr val="000000"/>
                        </a:solidFill>
                        <a:effectLst/>
                      </a:rPr>
                      <m:t>g</m:t>
                    </m:r>
                  </m:oMath>
                </a14:m>
                <a:r>
                  <a:rPr lang="en-US" sz="1200" dirty="0">
                    <a:effectLst/>
                  </a:rPr>
                  <a:t>-MA chains, with the hydrophilic hydrocarbon sides stretching out from the core of cellulose. Authors observed interesting fact that the PP- </a:t>
                </a:r>
                <a:r>
                  <a:rPr lang="en-US" sz="1200" dirty="0">
                    <a:effectLst/>
                  </a:rPr>
                  <a:t>​</a:t>
                </a:r>
                <a14:m>
                  <m:oMath>
                    <m:r>
                      <m:rPr>
                        <m:sty m:val="i"/>
                      </m:rPr>
                      <a:rPr lang="en-US" sz="1200" dirty="0">
                        <a:solidFill>
                          <a:srgbClr val="000000"/>
                        </a:solidFill>
                        <a:effectLst/>
                      </a:rPr>
                      <m:t>g</m:t>
                    </m:r>
                  </m:oMath>
                </a14:m>
                <a:r>
                  <a:rPr lang="en-US" sz="1200" dirty="0">
                    <a:effectLst/>
                  </a:rPr>
                  <a:t>-MA chains bound to the cellulose particles crystallize with each other as well as in</a:t>
                </a:r>
              </a:p>
            </p:txBody>
          </p:sp>
        </mc:Choice>
        <mc:Fallback/>
      </mc:AlternateContent>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229fccd133b61b6e54bb65ad4c76ffdbcc08eb8a.jpg"/>
          <p:cNvPicPr/>
          <p:nvPr/>
        </p:nvPicPr>
        <p:blipFill>
          <a:blip r:embed="rId2" cstate="print"/>
          <a:srcRect/>
          <a:stretch>
            <a:fillRect/>
          </a:stretch>
        </p:blipFill>
        <p:spPr>
          <a:xfrm>
            <a:off x="1524000" y="457200"/>
            <a:ext cx="7343775" cy="5943600"/>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25. The nature and structural model of interface linkages in PP- </a:t>
                </a:r>
                <a:r>
                  <a:rPr lang="en-US" sz="1200" dirty="0">
                    <a:effectLst/>
                  </a:rPr>
                  <a:t>​</a:t>
                </a:r>
                <a14:m>
                  <m:oMath>
                    <m:r>
                      <m:rPr>
                        <m:sty m:val="i"/>
                      </m:rPr>
                      <a:rPr lang="en-US" sz="1200" dirty="0">
                        <a:solidFill>
                          <a:srgbClr val="000000"/>
                        </a:solidFill>
                        <a:effectLst/>
                      </a:rPr>
                      <m:t>g</m:t>
                    </m:r>
                  </m:oMath>
                </a14:m>
                <a:r>
                  <a:rPr lang="en-US" sz="1200" dirty="0">
                    <a:effectLst/>
                  </a:rPr>
                  <a:t>-MA chains bound to microparticles of (a) high and (b) less crystalline cellulose. Adapted from [408].</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914400"/>
                <a:ext cx="9144000" cy="457200"/>
              </a:xfrm>
              <a:prstGeom prst="rect">
                <a:avLst/>
              </a:prstGeom>
            </p:spPr>
            <p:txBody>
              <a:bodyPr anchor="t" lIns="0" tIns="0" rIns="0" bIns="0">
                <a:noAutofit/>
              </a:bodyPr>
              <a:lstStyle/>
              <a:p>
                <a:pPr>
                  <a:lnSpc>
                    <a:spcPct val="120000"/>
                  </a:lnSpc>
                </a:pPr>
                <a:r>
                  <a:rPr lang="en-US" sz="1200" dirty="0">
                    <a:effectLst/>
                  </a:rPr>
                  <a:t>theneselves, the extent of crystallinity increasing with the number of bound PP- </a:t>
                </a:r>
                <a:r>
                  <a:rPr lang="en-US" sz="1200" dirty="0">
                    <a:effectLst/>
                  </a:rPr>
                  <a:t>​</a:t>
                </a:r>
                <a14:m>
                  <m:oMath>
                    <m:r>
                      <m:rPr>
                        <m:sty m:val="i"/>
                      </m:rPr>
                      <a:rPr lang="en-US" sz="1200" dirty="0">
                        <a:solidFill>
                          <a:srgbClr val="000000"/>
                        </a:solidFill>
                        <a:effectLst/>
                      </a:rPr>
                      <m:t>g</m:t>
                    </m:r>
                  </m:oMath>
                </a14:m>
                <a:r>
                  <a:rPr lang="en-US" sz="1200" dirty="0">
                    <a:effectLst/>
                  </a:rPr>
                  <a:t>-MA chains, even though the crystallinity is much smaller than that neat PP- </a:t>
                </a:r>
                <a:r>
                  <a:rPr lang="en-US" sz="1200" dirty="0">
                    <a:effectLst/>
                  </a:rPr>
                  <a:t>​</a:t>
                </a:r>
                <a14:m>
                  <m:oMath>
                    <m:r>
                      <m:rPr>
                        <m:sty m:val="i"/>
                      </m:rPr>
                      <a:rPr lang="en-US" sz="1200" dirty="0">
                        <a:solidFill>
                          <a:srgbClr val="000000"/>
                        </a:solidFill>
                        <a:effectLst/>
                      </a:rPr>
                      <m:t>g</m:t>
                    </m:r>
                  </m:oMath>
                </a14:m>
                <a:r>
                  <a:rPr lang="en-US" sz="1200" dirty="0">
                    <a:effectLst/>
                  </a:rPr>
                  <a:t>-MA [408].</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524000"/>
                <a:ext cx="9144000" cy="457200"/>
              </a:xfrm>
              <a:prstGeom prst="rect">
                <a:avLst/>
              </a:prstGeom>
            </p:spPr>
            <p:txBody>
              <a:bodyPr anchor="t" lIns="0" tIns="0" rIns="0" bIns="0">
                <a:noAutofit/>
              </a:bodyPr>
              <a:lstStyle/>
              <a:p>
                <a:pPr>
                  <a:lnSpc>
                    <a:spcPct val="120000"/>
                  </a:lnSpc>
                </a:pPr>
                <a:r>
                  <a:rPr lang="en-US" sz="1200" dirty="0">
                    <a:effectLst/>
                  </a:rPr>
                  <a:t>According to Zhang et al. [173] ball milling of crystalline cellulose with maleated polyethylene (PE- </a:t>
                </a:r>
                <a:r>
                  <a:rPr lang="en-US" sz="1200" dirty="0">
                    <a:effectLst/>
                  </a:rPr>
                  <a:t>​</a:t>
                </a:r>
                <a14:m>
                  <m:oMath>
                    <m:r>
                      <m:rPr>
                        <m:sty m:val="i"/>
                      </m:rPr>
                      <a:rPr lang="en-US" sz="1200" dirty="0">
                        <a:solidFill>
                          <a:srgbClr val="000000"/>
                        </a:solidFill>
                        <a:effectLst/>
                      </a:rPr>
                      <m:t>g</m:t>
                    </m:r>
                  </m:oMath>
                </a14:m>
                <a:r>
                  <a:rPr lang="en-US" sz="1200" dirty="0">
                    <a:effectLst/>
                  </a:rPr>
                  <a:t> -MA) yields a novel composite with ester bonds formed by reaction of the hydroxy groups of the cellulose with the MA groups of graft copolymer (MPE) (Figure 26).</a:t>
                </a:r>
              </a:p>
            </p:txBody>
          </p:sp>
        </mc:Choice>
        <mc:Fallback/>
      </mc:AlternateContent>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c3420a57a5a66637cac7faa3b896d7b7d5174462.jpg"/>
          <p:cNvPicPr/>
          <p:nvPr/>
        </p:nvPicPr>
        <p:blipFill>
          <a:blip r:embed="rId2" cstate="print"/>
          <a:srcRect/>
          <a:stretch>
            <a:fillRect/>
          </a:stretch>
        </p:blipFill>
        <p:spPr>
          <a:xfrm>
            <a:off x="1524000" y="457200"/>
            <a:ext cx="7810500" cy="4695825"/>
          </a:xfrm>
          <a:prstGeom prst="rect">
            <a:avLst/>
          </a:prstGeom>
        </p:spPr>
      </p:pic>
      <mc:AlternateContent xmlns:mc="http://schemas.openxmlformats.org/markup-compatibility/2006">
        <mc:Choice xmlns:a14="http://schemas.microsoft.com/office/drawing/2010/main" Requires="a14">
          <p:sp>
            <p:nvSpPr>
              <p:cNvPr id="3" name="Text"/>
              <p:cNvSpPr/>
              <p:nvPr/>
            </p:nvSpPr>
            <p:spPr>
              <a:xfrm>
                <a:off x="1524000" y="5153025"/>
                <a:ext cx="9144000" cy="457200"/>
              </a:xfrm>
              <a:prstGeom prst="rect">
                <a:avLst/>
              </a:prstGeom>
            </p:spPr>
            <p:txBody>
              <a:bodyPr anchor="t" lIns="0" tIns="0" rIns="0" bIns="0">
                <a:noAutofit/>
              </a:bodyPr>
              <a:lstStyle/>
              <a:p>
                <a:pPr>
                  <a:lnSpc>
                    <a:spcPct val="120000"/>
                  </a:lnSpc>
                </a:pPr>
                <a:r>
                  <a:rPr lang="en-US" sz="1200" dirty="0">
                    <a:effectLst/>
                  </a:rPr>
                  <a:t>Figure 26. Model of reaction between crystalline cellulose and PE- </a:t>
                </a:r>
                <a:r>
                  <a:rPr lang="en-US" sz="1200" dirty="0">
                    <a:effectLst/>
                  </a:rPr>
                  <a:t>​</a:t>
                </a:r>
                <a14:m>
                  <m:oMath>
                    <m:r>
                      <m:rPr>
                        <m:sty m:val="i"/>
                      </m:rPr>
                      <a:rPr lang="en-US" sz="1200" dirty="0">
                        <a:solidFill>
                          <a:srgbClr val="000000"/>
                        </a:solidFill>
                        <a:effectLst/>
                      </a:rPr>
                      <m:t>g</m:t>
                    </m:r>
                  </m:oMath>
                </a14:m>
                <a:r>
                  <a:rPr lang="en-US" sz="1200" dirty="0">
                    <a:effectLst/>
                  </a:rPr>
                  <a:t>-MA via esterification for the preparation of cellulose particles with improved properties. Adapted from [173].</a:t>
                </a:r>
              </a:p>
            </p:txBody>
          </p:sp>
        </mc:Choice>
        <mc:Fallback/>
      </mc:AlternateContent>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914400"/>
          </a:xfrm>
          <a:prstGeom prst="rect">
            <a:avLst/>
          </a:prstGeom>
        </p:spPr>
        <p:txBody>
          <a:bodyPr anchor="t" lIns="0" tIns="0" rIns="0" bIns="0">
            <a:noAutofit/>
          </a:bodyPr>
          <a:lstStyle/>
          <a:p>
            <a:pPr>
              <a:lnSpc>
                <a:spcPct val="120000"/>
              </a:lnSpc>
            </a:pPr>
            <a:r>
              <a:rPr lang="en-US" sz="1200" dirty="0">
                <a:effectLst/>
              </a:rPr>
              <a:t>Authors found that the composite exhibits much improved toughness and ductility compared with the product formed by melt-mixing, probably because of the formation of an interphase of MPE chains bonded on cellulose particles; the mixtures compatibilized with poly(MA-alt-S) and poly(MA-co-MMA) or with a poly(E-co-P-g-MA) exhibited a higher hydrophilicity and biocompatibility that the pullulan/PVC blend.</a:t>
            </a:r>
          </a:p>
        </p:txBody>
      </p:sp>
      <p:sp>
        <p:nvSpPr>
          <p:cNvPr id="2" name="Text"/>
          <p:cNvSpPr/>
          <p:nvPr/>
        </p:nvSpPr>
        <p:spPr>
          <a:xfrm>
            <a:off x="1524000" y="1524000"/>
            <a:ext cx="9144000" cy="1143000"/>
          </a:xfrm>
          <a:prstGeom prst="rect">
            <a:avLst/>
          </a:prstGeom>
        </p:spPr>
        <p:txBody>
          <a:bodyPr anchor="t" lIns="0" tIns="0" rIns="0" bIns="0">
            <a:noAutofit/>
          </a:bodyPr>
          <a:lstStyle/>
          <a:p>
            <a:pPr>
              <a:lnSpc>
                <a:spcPct val="120000"/>
              </a:lnSpc>
            </a:pPr>
            <a:r>
              <a:rPr lang="en-US" sz="1200" dirty="0">
                <a:effectLst/>
              </a:rPr>
              <a:t>Compatibile blend is also formed from mixture of hydroxypropyl cellulose and poly(MA-alt-VA) [408]. Authors established that the physical interactions are prevalent in blends with a high content of polysaccharide, whereas chemical interactions predominate in blends with a medium and low content of this polysaccharide. By increasing the temperature, the thermochemical reactions (esterification/ crosslinking) are favored. Poly[E-co-ethyl acrylate(32%)-co-MA(1.5-2.5%)] terpolymer, containing a reactive anhydride unit, can react with amino and hydroxyl groups of protein.</a:t>
            </a:r>
          </a:p>
        </p:txBody>
      </p:sp>
      <mc:AlternateContent xmlns:mc="http://schemas.openxmlformats.org/markup-compatibility/2006">
        <mc:Choice xmlns:a14="http://schemas.microsoft.com/office/drawing/2010/main" Requires="a14">
          <p:sp>
            <p:nvSpPr>
              <p:cNvPr id="2" name="Text"/>
              <p:cNvSpPr/>
              <p:nvPr/>
            </p:nvSpPr>
            <p:spPr>
              <a:xfrm>
                <a:off x="1524000" y="2819400"/>
                <a:ext cx="9144000" cy="3429000"/>
              </a:xfrm>
              <a:prstGeom prst="rect">
                <a:avLst/>
              </a:prstGeom>
            </p:spPr>
            <p:txBody>
              <a:bodyPr anchor="t" lIns="0" tIns="0" rIns="0" bIns="0">
                <a:noAutofit/>
              </a:bodyPr>
              <a:lstStyle/>
              <a:p>
                <a:pPr>
                  <a:lnSpc>
                    <a:spcPct val="120000"/>
                  </a:lnSpc>
                </a:pPr>
                <a:r>
                  <a:rPr lang="en-US" sz="1200" dirty="0">
                    <a:effectLst/>
                  </a:rPr>
                  <a:t>Some studies already showed that the synthetic polymers with the MA group had improved compatibility with soy protein and starch [409-412]. Liu et al. [412] prepared starch-LDPE blends with the addition poly(PE-g-MA) using a lab-scale twin-screw extruder. The effect of MA grafted PE on the thermal properties, morphology and tensile properties of blends were studied by DSC, SEM methods and mechanical test technique. They showed that the interfacial properties between starch and LDPE improved after poly[PE- </a:t>
                </a:r>
                <a:r>
                  <a:rPr lang="en-US" sz="1200" dirty="0">
                    <a:effectLst/>
                  </a:rPr>
                  <a:t>​</a:t>
                </a:r>
                <a14:m>
                  <m:oMath>
                    <m:r>
                      <m:rPr>
                        <m:sty m:val="i"/>
                      </m:rPr>
                      <a:rPr lang="en-US" sz="1200" dirty="0">
                        <a:solidFill>
                          <a:srgbClr val="000000"/>
                        </a:solidFill>
                        <a:effectLst/>
                      </a:rPr>
                      <m:t>g</m:t>
                    </m:r>
                  </m:oMath>
                </a14:m>
                <a:r>
                  <a:rPr lang="en-US" sz="1200" dirty="0">
                    <a:effectLst/>
                  </a:rPr>
                  <a:t>-MA (3 wt %)] addition, as evidenced by the structure morphology revealed by SEM. According to the authors, the mechanical properties (tensile strength and elongation ar break) of starch-LDPE-poly(PE-</a:t>
                </a:r>
                <a:r>
                  <a:rPr lang="en-US" sz="1200" dirty="0">
                    <a:effectLst/>
                  </a:rPr>
                  <a:t>​</a:t>
                </a:r>
                <a14:m>
                  <m:oMath>
                    <m:r>
                      <m:rPr>
                        <m:sty m:val="i"/>
                      </m:rPr>
                      <a:rPr lang="en-US" sz="1200" dirty="0">
                        <a:solidFill>
                          <a:srgbClr val="000000"/>
                        </a:solidFill>
                        <a:effectLst/>
                      </a:rPr>
                      <m:t>g</m:t>
                    </m:r>
                  </m:oMath>
                </a14:m>
                <a:r>
                  <a:rPr lang="en-US" sz="1200" dirty="0">
                    <a:effectLst/>
                  </a:rPr>
                  <a:t>-MA) blends were greater than those for LDPE-starch blends, and their differences became more pronounced at higher starch content.</a:t>
                </a:r>
                <a:br>
                  <a:rPr lang="en-US" sz="1200" dirty="0"/>
                </a:br>
                <a:r>
                  <a:rPr lang="en-US" sz="1200" dirty="0">
                    <a:effectLst/>
                  </a:rPr>
                  <a:t> The esterification reaction between different wood fibers and poly(PP- </a:t>
                </a:r>
                <a:r>
                  <a:rPr lang="en-US" sz="1200" dirty="0">
                    <a:effectLst/>
                  </a:rPr>
                  <a:t>​</a:t>
                </a:r>
                <a14:m>
                  <m:oMath>
                    <m:r>
                      <m:rPr>
                        <m:sty m:val="i"/>
                      </m:rPr>
                      <a:rPr lang="en-US" sz="1200" dirty="0">
                        <a:solidFill>
                          <a:srgbClr val="000000"/>
                        </a:solidFill>
                        <a:effectLst/>
                      </a:rPr>
                      <m:t>g</m:t>
                    </m:r>
                  </m:oMath>
                </a14:m>
                <a:r>
                  <a:rPr lang="en-US" sz="1200" dirty="0">
                    <a:effectLst/>
                  </a:rPr>
                  <a:t>-MA) has been a subject of investigation of several researchers [391,392,394]. X-ray photoelectron spectroscopy and FTIR spectroscopy are the methods most often used to confirm the this esterification reaction. Paunikallio et al. [413] studied the influence of maleated PP as a coupling agent on the mechanical properties of viscose fiber/PP composites. These composites were characterized by FTIR and mechanical testing. The most notable results was the effect of the poly(PP-co-MA) concentration on the tensile strength of the composites; the tensile strength increased from 40 to 69 Mpa when maleated PP was added in amounts to 6 wt.% of the fiber weight. The interaction between graft copolymer and fiber was confirmed by FTIR analysis. A new band at </a:t>
                </a:r>
                <a:r>
                  <a:rPr lang="en-US" sz="1200" dirty="0">
                    <a:effectLst/>
                  </a:rPr>
                  <a:t>​</a:t>
                </a:r>
                <a14:m>
                  <m:oMath>
                    <m:r>
                      <m:rPr>
                        <m:sty m:val="p"/>
                      </m:rPr>
                      <a:rPr lang="en-US" sz="1200" dirty="0">
                        <a:solidFill>
                          <a:srgbClr val="000000"/>
                        </a:solidFill>
                        <a:effectLst/>
                      </a:rPr>
                      <m:t>1740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was observed in the FTIR spectra of the poly(PP-co-MA) treated fibers with different extrusion times. The anhydride groups react more easily with hydroxyl groups than to the corresponding carboxylic groups.</a:t>
                </a:r>
              </a:p>
            </p:txBody>
          </p:sp>
        </mc:Choice>
        <mc:Fallback/>
      </mc:AlternateContent>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914400"/>
              </a:xfrm>
              <a:prstGeom prst="rect">
                <a:avLst/>
              </a:prstGeom>
            </p:spPr>
            <p:txBody>
              <a:bodyPr anchor="t" lIns="0" tIns="0" rIns="0" bIns="0">
                <a:noAutofit/>
              </a:bodyPr>
              <a:lstStyle/>
              <a:p>
                <a:pPr>
                  <a:lnSpc>
                    <a:spcPct val="120000"/>
                  </a:lnSpc>
                </a:pPr>
                <a:r>
                  <a:rPr lang="en-US" sz="1200" dirty="0">
                    <a:effectLst/>
                  </a:rPr>
                  <a:t>Sugama and Cook [414] showed that poly(itaconic acid) or poly(maleic acid) as a more effective reactant than other polycarboxylic acids containing a single carboxylic groups was used for the chemical modification of industrial chitosan (CS) biopolymer in water at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200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One the other hand, it is known that in an aqueous medium at </a:t>
                </a:r>
                <a:r>
                  <a:rPr lang="en-US" sz="1200" dirty="0">
                    <a:effectLst/>
                  </a:rPr>
                  <a:t>​</a:t>
                </a:r>
                <a14:m>
                  <m:oMath>
                    <m:r>
                      <m:rPr>
                        <m:sty m:val="p"/>
                      </m:rPr>
                      <a:rPr lang="en-US" sz="1200" dirty="0">
                        <a:solidFill>
                          <a:srgbClr val="000000"/>
                        </a:solidFill>
                        <a:effectLst/>
                      </a:rPr>
                      <m:t>pH</m:t>
                    </m:r>
                    <m:r>
                      <m:rPr>
                        <m:sty m:val="p"/>
                      </m:rPr>
                      <a:rPr lang="en-US" sz="1200" dirty="0">
                        <a:solidFill>
                          <a:srgbClr val="000000"/>
                        </a:solidFill>
                        <a:effectLst/>
                      </a:rPr>
                      <m:t>&gt;</m:t>
                    </m:r>
                    <m:r>
                      <m:rPr>
                        <m:sty m:val="p"/>
                      </m:rPr>
                      <a:rPr lang="en-US" sz="1200" dirty="0">
                        <a:solidFill>
                          <a:srgbClr val="000000"/>
                        </a:solidFill>
                        <a:effectLst/>
                      </a:rPr>
                      <m:t>6.5</m:t>
                    </m:r>
                  </m:oMath>
                </a14:m>
                <a:r>
                  <a:rPr lang="en-US" sz="1200" dirty="0">
                    <a:effectLst/>
                  </a:rPr>
                  <a:t>, CS, containing amino group, becomes a linear polybase electrolyte having a highly positive charge density [415].</a:t>
                </a:r>
              </a:p>
            </p:txBody>
          </p:sp>
        </mc:Choice>
        <mc:Fallback/>
      </mc:AlternateContent>
      <p:sp>
        <p:nvSpPr>
          <p:cNvPr id="2" name="Text"/>
          <p:cNvSpPr/>
          <p:nvPr/>
        </p:nvSpPr>
        <p:spPr>
          <a:xfrm>
            <a:off x="1524000" y="1524000"/>
            <a:ext cx="9144000" cy="685800"/>
          </a:xfrm>
          <a:prstGeom prst="rect">
            <a:avLst/>
          </a:prstGeom>
        </p:spPr>
        <p:txBody>
          <a:bodyPr anchor="t" lIns="0" tIns="0" rIns="0" bIns="0">
            <a:noAutofit/>
          </a:bodyPr>
          <a:lstStyle/>
          <a:p>
            <a:pPr>
              <a:lnSpc>
                <a:spcPct val="120000"/>
              </a:lnSpc>
            </a:pPr>
            <a:r>
              <a:rPr lang="en-US" sz="1800" dirty="0" b="1">
                <a:effectLst/>
              </a:rPr>
              <a:t>International Review of Chemical Engineering, volume 3, No 2, March, 2011 Int. Rev.Chem. Eng., 3(2011) 153-215</a:t>
            </a:r>
          </a:p>
        </p:txBody>
      </p:sp>
      <p:sp>
        <p:nvSpPr>
          <p:cNvPr id="2" name="Text"/>
          <p:cNvSpPr/>
          <p:nvPr/>
        </p:nvSpPr>
        <p:spPr>
          <a:xfrm>
            <a:off x="1524000" y="2399539"/>
            <a:ext cx="9144000" cy="1143000"/>
          </a:xfrm>
          <a:prstGeom prst="rect">
            <a:avLst/>
          </a:prstGeom>
        </p:spPr>
        <p:txBody>
          <a:bodyPr anchor="t" lIns="0" tIns="0" rIns="0" bIns="0">
            <a:noAutofit/>
          </a:bodyPr>
          <a:lstStyle/>
          <a:p>
            <a:pPr>
              <a:lnSpc>
                <a:spcPct val="120000"/>
              </a:lnSpc>
            </a:pPr>
            <a:r>
              <a:rPr lang="en-US" sz="1200" dirty="0">
                <a:effectLst/>
              </a:rPr>
              <a:t>Authors found that the grafting and crosslinking reactions proceed between poly(itaconic acid) and CS leading to the formation of amide bonds [414]. These amidizated SCs recommended by authors as effective anticorrosion coatings to prevent the corrosion process of aluminum substrates. The interaction of the free carcoxylic groups in the modified SC with the hydroxylated Al metal surfaces is formed an interfacial covalent oxane-bond structure, such as -COO-Al-linkages; according to the authors, this is one of important factors playing a key role in conferring resistance to Al surface corrosion.</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971800"/>
          </a:xfrm>
          <a:prstGeom prst="rect">
            <a:avLst/>
          </a:prstGeom>
        </p:spPr>
        <p:txBody>
          <a:bodyPr anchor="t" lIns="0" tIns="0" rIns="0" bIns="0">
            <a:noAutofit/>
          </a:bodyPr>
          <a:lstStyle/>
          <a:p>
            <a:pPr>
              <a:lnSpc>
                <a:spcPct val="120000"/>
              </a:lnSpc>
            </a:pPr>
            <a:r>
              <a:rPr lang="en-US" sz="1200" dirty="0">
                <a:effectLst/>
              </a:rPr>
              <a:t>Zhang et al. [416] used MA as a nontoxic reactive compabilizer to improve mechanical properties of poly(lactic acid) (PLA)/starch blends in extrusion. In this case, interfacial adhesion between PLA and starch was significantly improved. Mechanical properties increased markedly compared to the virgin composites of PLA/starch. The PLA/starch composites at a constant ratio of 55/45 compatibilized by 1% MA and initiated by 10% L101 (MA basis) resulted in the highest tensile strength and elongation. A PLA/starch blend (55/45) with 1 % MA and 10 % initiator (MA basis) had a tensile strength of 52.4 Mpa, significantly higher than the 30.0 Mpa of a virgin PLA/starch blend with similar composition. However, it was shown that elongation at break remained almost the same as the virgin PLA/starch blend. Plastizers improved the blend's elongation but also reduced tensile strength. The plastizer in the blend also suppressed compatibilizer efficiency [417]. Zhang and Sun [418] studied mechanical and thermal properties of PLA/starch/dioctyl maleate (DOM as the compatibilizer and plasticizer) blends, as well as the influence of a polymeric DOM, a derivative of MA, on the mechanical properties of these blends. It was observed that DO acted as a compatibilizer at low concentrations (below 5 %), and markedly improved tensile strength of the blend. However, DOM functioned as a plasticizer at concentrations over 5 %, significantly enhanced elongation. Compatibi-lization and plasticization took place simultaneously according to the analysis of mechanical and thermal properties of blends.</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5486400"/>
          </a:xfrm>
          <a:prstGeom prst="rect">
            <a:avLst/>
          </a:prstGeom>
        </p:spPr>
        <p:txBody>
          <a:bodyPr anchor="t" lIns="0" tIns="0" rIns="0" bIns="0">
            <a:noAutofit/>
          </a:bodyPr>
          <a:lstStyle/>
          <a:p>
            <a:pPr>
              <a:lnSpc>
                <a:spcPct val="120000"/>
              </a:lnSpc>
            </a:pPr>
            <a:r>
              <a:rPr lang="en-US" sz="1200" dirty="0">
                <a:effectLst/>
              </a:rPr>
              <a:t>The investigations concerning interpolymer complex formation between a synthetic and a natural or semisynthetic water-soluble polymer have become of great interest. Iwaka et al. [419] studied polymer/polymer complex formation in poly(ethylene oxide)/polyacid series systems including maleic acid (MAc)-styrene copolymer [poly(MAc-co-S)]. Recently, the ability of MAc-vinyl acetate copolymer to form interpolymer complexes with a series of polybases also reported by Vasile et al. [420]. Bumbu et al. [421,422] discussed the capability of hyroxypropyl-cellulose (HPC) to form an interpolymer complex with poly(MAc-co-S) in aqueous dilute solution and evaluated the thermodynamic function of the complexation process. The formation of interpolymer complexes between HPC and poly(MAc-co-VA), poly[MAc-co-acrylic acid (AA)] and poly(MAc-co-S) in aqueous solution also investigated by these authors using turbidimetry, viscometry and fluorescence measurements [422]. The results of viscometry studies of authors indicated a compact structure for the complexes between HPC and maleic acid copolymers. Besides H-bonding, strong hydrophobic forces materialize between HPC and poly(MAc-co-S), strengthening this this interpolymer complex. The strengh of the interpolymer interactions was estimated to increase in the order: HPC/ poly(MAc-co-VA) &lt; HPC/poly(MAc-co-AA) &lt; HPC/poly- (MAc-co-S). The fluorescence measurements demonstrated the contribution of hydrophobic interactions to the stabilization of interpolymer complexes formed between HPC and maleic acid copolymers. The strength of the hydrophobic interaction depended on the hydrophobic/ hydrophilic behavior of the maleic acid comonomer unit. According to the authors, the observed strongest hydrophobic interactions appeared between HPC and poly(MAc-co-S) due to the presence of the hydrophobic styrene unit in the polyacid. The interpolymer complexes of HPC with poly(MAc-co-VA) or poly(MAc-co-AA) were watersoluble at pH values higher than 3, while the HPC:poly(MAc-co-S) complex was soluble at pH values above 4.5 Dicarboxylic acid monomers such as itaconic acid (IAc) and others were used as crosslining agents for cellulose [423].</a:t>
            </a:r>
            <a:br>
              <a:rPr lang="en-US" sz="1200" dirty="0"/>
            </a:br>
            <a:r>
              <a:rPr lang="en-US" sz="1200" dirty="0">
                <a:effectLst/>
              </a:rPr>
              <a:t> Naguib [314] studied grafting reaction of itaconic acid (IAc) onto sisal fiber, chemical compositon of which a multicellular nature containing 62 % of true cellulose, 16 % of pentosan, 10 % of hemicellulose, 8 % of lignin and 2 % of waxes etc. using potassium persulfate as initiator. It was demonstrated that this grafting method is an efficient way to improve the dyeability of sisal fibers. The ctystalline lattice of the fibers is not changed after the graft copolymerization. The thermal stability and tensile strength decrease by increasing the grafting degree. According to the author, this observed effect probably due to the ease of the decarboxylation reaction of the itaconic unit.</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286000"/>
              </a:xfrm>
              <a:prstGeom prst="rect">
                <a:avLst/>
              </a:prstGeom>
            </p:spPr>
            <p:txBody>
              <a:bodyPr anchor="t" lIns="0" tIns="0" rIns="0" bIns="0">
                <a:noAutofit/>
              </a:bodyPr>
              <a:lstStyle/>
              <a:p>
                <a:pPr>
                  <a:lnSpc>
                    <a:spcPct val="120000"/>
                  </a:lnSpc>
                </a:pPr>
                <a:r>
                  <a:rPr lang="en-US" sz="1200" dirty="0">
                    <a:effectLst/>
                  </a:rPr>
                  <a:t>A great deal of attention has been paid to the application of biodegradable polymers, such as starch, liglin, cellulose, gluten, and chitin and its derivatives to replace the conventional thermolastic polymers, predomnantly polyolefins that cause significant environmental problem because of their non- biodegradability [425]. Because PE is one of the most extensively produced nondegradable polymer and various types of PEs are used extensively in many fields, including agricultural and food-packaging films [426], ther has been an increased interect in enhancing the biodegradability of PEs by blending them with a cheap natural biopolymer [427]. Starch that shows a high biodegradation rate is a blend of amylose and amylapectin, both of which are polysaccharides composed of </a:t>
                </a:r>
                <a:r>
                  <a:rPr lang="en-US" sz="1200" dirty="0">
                    <a:effectLst/>
                  </a:rPr>
                  <a:t>​</a:t>
                </a:r>
                <a14:m>
                  <m:oMath>
                    <m:r>
                      <m:rPr>
                        <m:sty m:val="i"/>
                      </m:rPr>
                      <a:rPr lang="en-US" sz="1200" dirty="0">
                        <a:solidFill>
                          <a:srgbClr val="000000"/>
                        </a:solidFill>
                        <a:effectLst/>
                      </a:rPr>
                      <m:t>α</m:t>
                    </m:r>
                  </m:oMath>
                </a14:m>
                <a:r>
                  <a:rPr lang="en-US" sz="1200" dirty="0">
                    <a:effectLst/>
                  </a:rPr>
                  <a:t>-D-glucopyranosyl units,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p"/>
                              </m:rPr>
                              <a:rPr lang="en-US" sz="1200" dirty="0">
                                <a:solidFill>
                                  <a:srgbClr val="000000"/>
                                </a:solidFill>
                                <a:effectLst/>
                              </a:rPr>
                              <m:t>C</m:t>
                            </m:r>
                          </m:e>
                          <m:sub>
                            <m:r>
                              <m:rPr>
                                <m:sty m:val="p"/>
                              </m:rPr>
                              <a:rPr lang="en-US" sz="1200" dirty="0">
                                <a:solidFill>
                                  <a:srgbClr val="000000"/>
                                </a:solidFill>
                                <a:effectLst/>
                              </a:rPr>
                              <m:t>6</m:t>
                            </m:r>
                          </m:sub>
                        </m:sSub>
                        <m:sSub>
                          <m:sSubPr>
                            <m:ctrlPr>
                              <a:rPr sz="1200">
                                <a:latin typeface="Cambria Math" panose="02040503050406030204" pitchFamily="18" charset="0"/>
                              </a:rPr>
                            </m:ctrlPr>
                          </m:sSubPr>
                          <m:e>
                            <m:r>
                              <m:rPr>
                                <m:sty m:val="p"/>
                              </m:rPr>
                              <a:rPr lang="en-US" sz="1200" dirty="0">
                                <a:solidFill>
                                  <a:srgbClr val="000000"/>
                                </a:solidFill>
                                <a:effectLst/>
                              </a:rPr>
                              <m:t>H</m:t>
                            </m:r>
                          </m:e>
                          <m:sub>
                            <m:r>
                              <m:rPr>
                                <m:sty m:val="p"/>
                              </m:rPr>
                              <a:rPr lang="en-US" sz="1200" dirty="0">
                                <a:solidFill>
                                  <a:srgbClr val="000000"/>
                                </a:solidFill>
                                <a:effectLst/>
                              </a:rPr>
                              <m:t>10</m:t>
                            </m:r>
                          </m:sub>
                        </m:sSub>
                        <m:sSub>
                          <m:sSubPr>
                            <m:ctrlPr>
                              <a:rPr sz="1200">
                                <a:latin typeface="Cambria Math" panose="02040503050406030204" pitchFamily="18" charset="0"/>
                              </a:rPr>
                            </m:ctrlPr>
                          </m:sSubPr>
                          <m:e>
                            <m:r>
                              <m:rPr>
                                <m:sty m:val="p"/>
                              </m:rPr>
                              <a:rPr lang="en-US" sz="1200" dirty="0">
                                <a:solidFill>
                                  <a:srgbClr val="000000"/>
                                </a:solidFill>
                                <a:effectLst/>
                              </a:rPr>
                              <m:t>O</m:t>
                            </m:r>
                          </m:e>
                          <m:sub>
                            <m:r>
                              <m:rPr>
                                <m:sty m:val="p"/>
                              </m:rPr>
                              <a:rPr lang="en-US" sz="1200" dirty="0">
                                <a:solidFill>
                                  <a:srgbClr val="000000"/>
                                </a:solidFill>
                                <a:effectLst/>
                              </a:rPr>
                              <m:t>5</m:t>
                            </m:r>
                          </m:sub>
                        </m:sSub>
                      </m:e>
                    </m:d>
                    <m:r>
                      <m:rPr>
                        <m:sty m:val="p"/>
                      </m:rPr>
                      <a:rPr lang="en-US" sz="1200" dirty="0">
                        <a:solidFill>
                          <a:srgbClr val="000000"/>
                        </a:solidFill>
                        <a:effectLst/>
                      </a:rPr>
                      <m:t>×</m:t>
                    </m:r>
                  </m:oMath>
                </a14:m>
                <a:r>
                  <a:rPr lang="en-US" sz="1200" dirty="0">
                    <a:effectLst/>
                  </a:rPr>
                  <a:t> [428]. Even since Griffin [429-431] used granular starch as a filler in PE to enhance the biodegradability of the PE blend system, many studies have been focused on the increase of the mechanical properties and processibility of the starch/polyolefin blend system. According to Bikiaris et al. [432], compatibility between low-density PE and plasticized starch could be increased with a relatively small amount of poly(PE- </a:t>
                </a:r>
                <a:r>
                  <a:rPr lang="en-US" sz="1200" dirty="0">
                    <a:effectLst/>
                  </a:rPr>
                  <a:t>​</a:t>
                </a:r>
                <a14:m>
                  <m:oMath>
                    <m:r>
                      <m:rPr>
                        <m:sty m:val="i"/>
                      </m:rPr>
                      <a:rPr lang="en-US" sz="1200" dirty="0">
                        <a:solidFill>
                          <a:srgbClr val="000000"/>
                        </a:solidFill>
                        <a:effectLst/>
                      </a:rPr>
                      <m:t>g</m:t>
                    </m:r>
                  </m:oMath>
                </a14:m>
                <a:r>
                  <a:rPr lang="en-US" sz="1200" dirty="0">
                    <a:effectLst/>
                  </a:rPr>
                  <a:t> -</a:t>
                </a:r>
              </a:p>
            </p:txBody>
          </p:sp>
        </mc:Choice>
        <mc:Fallback/>
      </mc:AlternateContent>
      <p:sp>
        <p:nvSpPr>
          <p:cNvPr id="2" name="Text"/>
          <p:cNvSpPr/>
          <p:nvPr/>
        </p:nvSpPr>
        <p:spPr>
          <a:xfrm>
            <a:off x="1524000" y="2895600"/>
            <a:ext cx="9144000" cy="685800"/>
          </a:xfrm>
          <a:prstGeom prst="rect">
            <a:avLst/>
          </a:prstGeom>
        </p:spPr>
        <p:txBody>
          <a:bodyPr anchor="t" lIns="0" tIns="0" rIns="0" bIns="0">
            <a:noAutofit/>
          </a:bodyPr>
          <a:lstStyle/>
          <a:p>
            <a:pPr>
              <a:lnSpc>
                <a:spcPct val="120000"/>
              </a:lnSpc>
            </a:pPr>
            <a:r>
              <a:rPr lang="en-US" sz="1800" dirty="0" b="1">
                <a:effectLst/>
              </a:rPr>
              <a:t>International Review of Chemical Engineering, volume 3, No 2, March, 2011 Int. Rev.Chem. Eng., 3(2011) 153-215</a:t>
            </a:r>
          </a:p>
        </p:txBody>
      </p:sp>
      <p:sp>
        <p:nvSpPr>
          <p:cNvPr id="2" name="Text"/>
          <p:cNvSpPr/>
          <p:nvPr/>
        </p:nvSpPr>
        <p:spPr>
          <a:xfrm>
            <a:off x="1524000" y="3771139"/>
            <a:ext cx="9144000" cy="1371600"/>
          </a:xfrm>
          <a:prstGeom prst="rect">
            <a:avLst/>
          </a:prstGeom>
        </p:spPr>
        <p:txBody>
          <a:bodyPr anchor="t" lIns="0" tIns="0" rIns="0" bIns="0">
            <a:noAutofit/>
          </a:bodyPr>
          <a:lstStyle/>
          <a:p>
            <a:pPr>
              <a:lnSpc>
                <a:spcPct val="120000"/>
              </a:lnSpc>
            </a:pPr>
            <a:r>
              <a:rPr lang="en-US" sz="1200" dirty="0">
                <a:effectLst/>
              </a:rPr>
              <a:t>MA), and the resultant blend system still showed good biodegradability. Incorporation of MA and styrene onto cellulose produces a symmetrical amphiphilic graft copolymer. Membranes with hydrophobic and hydrophilic/ ionic moieties are expected to posssess a high degree of permselectivity and permeability combined with longer stability [433]. Such polymer chains also form complexes with low molecular weight surfactants both in water and media of low polarity [434]. MA is an unique monomer which, in its ionized or derivatized form, acts as a "molecular anchor" for aggregating additional molecules on a membrane surface. However, Wu et al. [140] assumed that independent graft yield of MA is both low and dependent on its feed concentration.</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3200400"/>
              </a:xfrm>
              <a:prstGeom prst="rect">
                <a:avLst/>
              </a:prstGeom>
            </p:spPr>
            <p:txBody>
              <a:bodyPr anchor="t" lIns="0" tIns="0" rIns="0" bIns="0">
                <a:noAutofit/>
              </a:bodyPr>
              <a:lstStyle/>
              <a:p>
                <a:pPr>
                  <a:lnSpc>
                    <a:spcPct val="120000"/>
                  </a:lnSpc>
                </a:pPr>
                <a:r>
                  <a:rPr lang="en-US" sz="1200" dirty="0">
                    <a:effectLst/>
                  </a:rPr>
                  <a:t>According to Chauhan et al. [435] copolymerization of MA with styrene, however, not only confers alternation and amphiphilic characteristics, but optimizes graft yield through the formation of charge transfer complexes. To develop amphiphilic alternating graft copolymers for use as cost effective membrane materials in separation and enrichment technologies and as potential biomaterials, authors studied graft copolymerization of MA and styrene onto Pinus roxburghii cellulose initiated by </a:t>
                </a:r>
                <a:r>
                  <a:rPr lang="en-US" sz="1200" dirty="0">
                    <a:effectLst/>
                  </a:rPr>
                  <a:t>​</a:t>
                </a:r>
                <a14:m>
                  <m:oMath>
                    <m:r>
                      <m:rPr>
                        <m:sty m:val="i"/>
                      </m:rPr>
                      <a:rPr lang="en-US" sz="1200" dirty="0">
                        <a:solidFill>
                          <a:srgbClr val="000000"/>
                        </a:solidFill>
                        <a:effectLst/>
                      </a:rPr>
                      <m:t>γ</m:t>
                    </m:r>
                  </m:oMath>
                </a14:m>
                <a:r>
                  <a:rPr lang="en-US" sz="1200" dirty="0">
                    <a:effectLst/>
                  </a:rPr>
                  <a:t>-irradiation. Total conversion, grafting efficiency, grafting degree, and rates of polymerization and grafting were determined as a function of MA concentration. Observed the high degree of kinetic regularity and the linear dependence of the rate of polymerization on the MA concentration, along with the low and nearly constant rate of homopolymerization allow authors to suggest that the monomers first form a complexomer which then polymerizes to form grafted chains with an alternating sequence. Grafting parameters and reaction rates achieve maximum values when the molar ratio of styrene to MA is 1:1. Further evidence for the alternating monomer sequence is obtained from quantitatively evaluating the composition of the grafted chains from the FTIR spectra, in which the ratio of anhydride absorbance (1733 and </a:t>
                </a:r>
                <a:r>
                  <a:rPr lang="en-US" sz="1200" dirty="0">
                    <a:effectLst/>
                  </a:rPr>
                  <a:t>​</a:t>
                </a:r>
                <a14:m>
                  <m:oMath>
                    <m:r>
                      <m:rPr>
                        <m:sty m:val="p"/>
                      </m:rPr>
                      <a:rPr lang="en-US" sz="1200" dirty="0">
                        <a:solidFill>
                          <a:srgbClr val="000000"/>
                        </a:solidFill>
                        <a:effectLst/>
                      </a:rPr>
                      <m:t>1728</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for </a:t>
                </a:r>
                <a:r>
                  <a:rPr lang="en-US" sz="1200" dirty="0">
                    <a:effectLst/>
                  </a:rPr>
                  <a:t>​</a:t>
                </a:r>
                <a14:m>
                  <m:oMath>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O</m:t>
                    </m:r>
                  </m:oMath>
                </a14:m>
                <a:r>
                  <a:rPr lang="en-US" sz="1200" dirty="0">
                    <a:effectLst/>
                  </a:rPr>
                  <a:t> ) to aromatic ( 1646 and </a:t>
                </a:r>
                <a:r>
                  <a:rPr lang="en-US" sz="1200" dirty="0">
                    <a:effectLst/>
                  </a:rPr>
                  <a:t>​</a:t>
                </a:r>
                <a14:m>
                  <m:oMath>
                    <m:r>
                      <m:rPr>
                        <m:sty m:val="p"/>
                      </m:rPr>
                      <a:rPr lang="en-US" sz="1200" dirty="0">
                        <a:solidFill>
                          <a:srgbClr val="000000"/>
                        </a:solidFill>
                        <a:effectLst/>
                      </a:rPr>
                      <m:t>1613</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for C=C) absorbance for the stretching bands assigned to the grafted monomers remained constant and independent of the feed ratio of MA to styrene. Thermal behavior of the graft copolymers revealed that all graft copolymers exhibit single stage decomposition with characteristic transitions at 161-165 °C (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m</m:t>
                        </m:r>
                      </m:sub>
                    </m:sSub>
                  </m:oMath>
                </a14:m>
                <a:r>
                  <a:rPr lang="en-US" sz="1200" dirty="0">
                    <a:effectLst/>
                  </a:rPr>
                  <a:t> for graft chains) and </a:t>
                </a:r>
                <a:r>
                  <a:rPr lang="en-US" sz="1200" dirty="0">
                    <a:effectLst/>
                  </a:rPr>
                  <a:t>​</a:t>
                </a:r>
                <a14:m>
                  <m:oMath>
                    <m:r>
                      <m:rPr>
                        <m:sty m:val="p"/>
                      </m:rPr>
                      <a:rPr lang="en-US" sz="1200" dirty="0">
                        <a:solidFill>
                          <a:srgbClr val="000000"/>
                        </a:solidFill>
                        <a:effectLst/>
                      </a:rPr>
                      <m:t>290</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300</m:t>
                        </m:r>
                      </m:e>
                      <m:sup>
                        <m:r>
                          <m:rPr>
                            <m:sty m:val="p"/>
                          </m:rPr>
                          <a:rPr lang="en-US" sz="1200" dirty="0">
                            <a:solidFill>
                              <a:srgbClr val="000000"/>
                            </a:solidFill>
                            <a:effectLst/>
                          </a:rPr>
                          <m:t>∘</m:t>
                        </m:r>
                      </m:sup>
                    </m:sSup>
                    <m:r>
                      <m:rPr>
                        <m:sty m:val="p"/>
                      </m:rPr>
                      <a:rPr lang="en-US" sz="1200" dirty="0">
                        <a:solidFill>
                          <a:srgbClr val="000000"/>
                        </a:solidFill>
                        <a:effectLst/>
                      </a:rPr>
                      <m:t>C</m:t>
                    </m:r>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d</m:t>
                            </m:r>
                          </m:sub>
                        </m:sSub>
                      </m:e>
                    </m:d>
                  </m:oMath>
                </a14:m>
                <a:r>
                  <a:rPr lang="en-US" sz="1200" dirty="0">
                    <a:effectLst/>
                  </a:rPr>
                  <a:t>.</a:t>
                </a:r>
              </a:p>
            </p:txBody>
          </p:sp>
        </mc:Choice>
        <mc:Fallback/>
      </mc:AlternateContent>
      <p:sp>
        <p:nvSpPr>
          <p:cNvPr id="2" name="Text"/>
          <p:cNvSpPr/>
          <p:nvPr/>
        </p:nvSpPr>
        <p:spPr>
          <a:xfrm>
            <a:off x="1524000" y="3810000"/>
            <a:ext cx="9144000" cy="1371600"/>
          </a:xfrm>
          <a:prstGeom prst="rect">
            <a:avLst/>
          </a:prstGeom>
        </p:spPr>
        <p:txBody>
          <a:bodyPr anchor="t" lIns="0" tIns="0" rIns="0" bIns="0">
            <a:noAutofit/>
          </a:bodyPr>
          <a:lstStyle/>
          <a:p>
            <a:pPr>
              <a:lnSpc>
                <a:spcPct val="120000"/>
              </a:lnSpc>
            </a:pPr>
            <a:r>
              <a:rPr lang="en-US" sz="1200" dirty="0">
                <a:effectLst/>
              </a:rPr>
              <a:t>Raj et al. [436] reported lignocellulose-filled thermoplastic composites with improved mechanical and physical properties. Rozman et al. [437] used MA to chemically modify the lignocellulose fiber before its incorporation into PP. The anhydride group was expected to be sufficiently reactive with the hydroxyl groups of the lignocellulose fiber. MA chemically attached to the lingnocellulose surface, might serve as a bridge between the former and the PP matrix. According to the authors, the better compability between these two components provides high grafting degree, and therefore, subsequently enhance the mechanical and physical properties of the composite; MA treated fiber/PP composites showed lower water absorption and thickness swelling than those with untreated fiber.</a:t>
            </a:r>
          </a:p>
        </p:txBody>
      </p:sp>
      <p:sp>
        <p:nvSpPr>
          <p:cNvPr id="2" name="Text"/>
          <p:cNvSpPr/>
          <p:nvPr/>
        </p:nvSpPr>
        <p:spPr>
          <a:xfrm>
            <a:off x="1524000" y="5334000"/>
            <a:ext cx="9144000" cy="342900"/>
          </a:xfrm>
          <a:prstGeom prst="rect">
            <a:avLst/>
          </a:prstGeom>
        </p:spPr>
        <p:txBody>
          <a:bodyPr anchor="t" lIns="0" tIns="0" rIns="0" bIns="0">
            <a:noAutofit/>
          </a:bodyPr>
          <a:lstStyle/>
          <a:p>
            <a:pPr>
              <a:lnSpc>
                <a:spcPct val="120000"/>
              </a:lnSpc>
            </a:pPr>
            <a:r>
              <a:rPr lang="en-US" sz="1800" dirty="0" b="1">
                <a:effectLst/>
              </a:rPr>
              <a:t>5. 2. Polyesters</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143000"/>
          </a:xfrm>
          <a:prstGeom prst="rect">
            <a:avLst/>
          </a:prstGeom>
        </p:spPr>
        <p:txBody>
          <a:bodyPr anchor="t" lIns="0" tIns="0" rIns="0" bIns="0">
            <a:noAutofit/>
          </a:bodyPr>
          <a:lstStyle/>
          <a:p>
            <a:pPr>
              <a:lnSpc>
                <a:spcPct val="120000"/>
              </a:lnSpc>
            </a:pPr>
            <a:r>
              <a:rPr lang="en-US" sz="1200" dirty="0">
                <a:effectLst/>
              </a:rPr>
              <a:t>Polylactide (PLA) relating to class of natural polyesters is an important biodegradable polymer which has been used in such established applications as medical implants [438], sutures [439], and drug delivery systems [440]. Introducing new functional groups onto the PLA backbone paves the way to prepare composites, laminates, coated items, and blends/allows with improved proerties and cost effectiveness. Functionalizing matrix polymer and the fiber/filler with highly reactive groups is perhaps the most successful strategy, leading to a variety of commercial composites and alloys made by reactive processing [441].</a:t>
            </a:r>
          </a:p>
        </p:txBody>
      </p:sp>
      <p:sp>
        <p:nvSpPr>
          <p:cNvPr id="2" name="Text"/>
          <p:cNvSpPr/>
          <p:nvPr/>
        </p:nvSpPr>
        <p:spPr>
          <a:xfrm>
            <a:off x="1524000" y="1752600"/>
            <a:ext cx="9144000" cy="2286000"/>
          </a:xfrm>
          <a:prstGeom prst="rect">
            <a:avLst/>
          </a:prstGeom>
        </p:spPr>
        <p:txBody>
          <a:bodyPr anchor="t" lIns="0" tIns="0" rIns="0" bIns="0">
            <a:noAutofit/>
          </a:bodyPr>
          <a:lstStyle/>
          <a:p>
            <a:pPr>
              <a:lnSpc>
                <a:spcPct val="120000"/>
              </a:lnSpc>
            </a:pPr>
            <a:r>
              <a:rPr lang="en-US" sz="1200" dirty="0">
                <a:effectLst/>
              </a:rPr>
              <a:t>An effective way to improve the compatibility between polyester matrix and starch is to functionalize the polyester matrix by grafting highly reactive functions. These grafted reactive functions can react with the hydroxyl groups of the starch to form covalent bonds; thus, they provide better control of the size of phase and strong interfacial adhesion. Among the various production methods of graft polymers such as melt grafting, solid state grafting, solution grafting and suspension grafting in aqueous or organic solvents, the reactive extrusion technique is more effective way to produce a variety functional groups onto the surface of natural polymers [442,443]. Functional groups such as isocyanate, amine, anhydride, carboxylic acid, epoxide, and oxazoline are ofen itroduced during reactive extrusion with a short residence time. Combination of amine/anhydride, amine/epoxide, anhydride/epoxide and amine/lactam [444,445] provides practical routes for reactive processing. Such coupling reactions provide interfacial bondings in composites, laminates, and coated items [446], and in immiscible polymer blends, they provide better control of the phase size and strong interfacial adhesion.</a:t>
            </a:r>
          </a:p>
        </p:txBody>
      </p:sp>
      <p:sp>
        <p:nvSpPr>
          <p:cNvPr id="2" name="Text"/>
          <p:cNvSpPr/>
          <p:nvPr/>
        </p:nvSpPr>
        <p:spPr>
          <a:xfrm>
            <a:off x="1524000" y="4191000"/>
            <a:ext cx="9144000" cy="1143000"/>
          </a:xfrm>
          <a:prstGeom prst="rect">
            <a:avLst/>
          </a:prstGeom>
        </p:spPr>
        <p:txBody>
          <a:bodyPr anchor="t" lIns="0" tIns="0" rIns="0" bIns="0">
            <a:noAutofit/>
          </a:bodyPr>
          <a:lstStyle/>
          <a:p>
            <a:pPr>
              <a:lnSpc>
                <a:spcPct val="120000"/>
              </a:lnSpc>
            </a:pPr>
            <a:r>
              <a:rPr lang="en-US" sz="1200" dirty="0">
                <a:effectLst/>
              </a:rPr>
              <a:t>Triple-detector-size-exlusion chromatography, melt flow index and TGA analysis were used to characterize the maleated PLA polymers and their reactive blends with starch. Increasing the intiator concentration resulted in an increase in the grafting of MA, as well as a decrease in he molecular weight of the polymer. The MA functionalization of PLA proved to be very efficient in promoting strong interfacial adhesion with corn native starch in composites as obtained by melt blending. Thus, improved interfacial adhesion could be obtained in PLA/starch blends through chemical modificationm of PLA with low levels of MA monomer [447].</a:t>
            </a:r>
          </a:p>
        </p:txBody>
      </p:sp>
      <mc:AlternateContent xmlns:mc="http://schemas.openxmlformats.org/markup-compatibility/2006">
        <mc:Choice xmlns:a14="http://schemas.microsoft.com/office/drawing/2010/main" Requires="a14">
          <p:sp>
            <p:nvSpPr>
              <p:cNvPr id="2" name="Text"/>
              <p:cNvSpPr/>
              <p:nvPr/>
            </p:nvSpPr>
            <p:spPr>
              <a:xfrm>
                <a:off x="1524000" y="5486400"/>
                <a:ext cx="9144000" cy="914400"/>
              </a:xfrm>
              <a:prstGeom prst="rect">
                <a:avLst/>
              </a:prstGeom>
            </p:spPr>
            <p:txBody>
              <a:bodyPr anchor="t" lIns="0" tIns="0" rIns="0" bIns="0">
                <a:noAutofit/>
              </a:bodyPr>
              <a:lstStyle/>
              <a:p>
                <a:pPr>
                  <a:lnSpc>
                    <a:spcPct val="120000"/>
                  </a:lnSpc>
                </a:pPr>
                <a:r>
                  <a:rPr lang="en-US" sz="1200" dirty="0">
                    <a:effectLst/>
                  </a:rPr>
                  <a:t>MA was first used as a monomer to graft onto biodegradable polymers such as poly(caprolactone), poly(butylene succinate-co-adipate) and poly(lactic acid) [439,447-451]. Carlson et al. [451] performed free-radicalinitiated grafting of MA onto a PLA backbone at 180-</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200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with an 2,5-dimethyl-2,5-di-(tert-butylperoxy) hexane (Lupersol 101) concentration, ranging from 0 to 0.5 wt. % and 2 wt. % of MA concentration, by using twinscrew reactive extruder. Under these conditions, between</a:t>
                </a:r>
              </a:p>
            </p:txBody>
          </p:sp>
        </mc:Choice>
        <mc:Fallback/>
      </mc:AlternateContent>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685800"/>
          </a:xfrm>
          <a:prstGeom prst="rect">
            <a:avLst/>
          </a:prstGeom>
        </p:spPr>
        <p:txBody>
          <a:bodyPr anchor="t" lIns="0" tIns="0" rIns="0" bIns="0">
            <a:noAutofit/>
          </a:bodyPr>
          <a:lstStyle/>
          <a:p>
            <a:pPr>
              <a:lnSpc>
                <a:spcPct val="120000"/>
              </a:lnSpc>
            </a:pPr>
            <a:r>
              <a:rPr lang="en-US" sz="1800" dirty="0" b="1">
                <a:effectLst/>
              </a:rPr>
              <a:t>International Review of Chemical Engineering, volume 3, No 2, March, 2011 Int. Rev.Chem. Eng., 3(2011) 153-215</a:t>
            </a:r>
          </a:p>
        </p:txBody>
      </p:sp>
      <p:sp>
        <p:nvSpPr>
          <p:cNvPr id="2" name="Text"/>
          <p:cNvSpPr/>
          <p:nvPr/>
        </p:nvSpPr>
        <p:spPr>
          <a:xfrm>
            <a:off x="1524000" y="1332739"/>
            <a:ext cx="9144000" cy="685800"/>
          </a:xfrm>
          <a:prstGeom prst="rect">
            <a:avLst/>
          </a:prstGeom>
        </p:spPr>
        <p:txBody>
          <a:bodyPr anchor="t" lIns="0" tIns="0" rIns="0" bIns="0">
            <a:noAutofit/>
          </a:bodyPr>
          <a:lstStyle/>
          <a:p>
            <a:pPr>
              <a:lnSpc>
                <a:spcPct val="120000"/>
              </a:lnSpc>
            </a:pPr>
            <a:r>
              <a:rPr lang="en-US" sz="1200" dirty="0">
                <a:effectLst/>
              </a:rPr>
              <a:t>0.066 and 0.672 wt. % MA was grafted onto the PLA chains. They proposed maleation reaction mechanism as follows: The formation of a radical is the first step in the MA grafting of PLA. Once the radical is formed, hydrogen abstraction can occur, producing a PLA which may react with the MA.</a:t>
            </a:r>
          </a:p>
        </p:txBody>
      </p:sp>
      <mc:AlternateContent xmlns:mc="http://schemas.openxmlformats.org/markup-compatibility/2006">
        <mc:Choice xmlns:a14="http://schemas.microsoft.com/office/drawing/2010/main" Requires="a14">
          <p:sp>
            <p:nvSpPr>
              <p:cNvPr id="2" name="Text"/>
              <p:cNvSpPr/>
              <p:nvPr/>
            </p:nvSpPr>
            <p:spPr>
              <a:xfrm>
                <a:off x="1524000" y="2170939"/>
                <a:ext cx="9144000" cy="685800"/>
              </a:xfrm>
              <a:prstGeom prst="rect">
                <a:avLst/>
              </a:prstGeom>
            </p:spPr>
            <p:txBody>
              <a:bodyPr anchor="t" lIns="0" tIns="0" rIns="0" bIns="0">
                <a:noAutofit/>
              </a:bodyPr>
              <a:lstStyle/>
              <a:p>
                <a:pPr>
                  <a:lnSpc>
                    <a:spcPct val="120000"/>
                  </a:lnSpc>
                </a:pPr>
                <a:r>
                  <a:rPr lang="en-US" sz="1200" dirty="0">
                    <a:effectLst/>
                  </a:rPr>
                  <a:t>Similar hydrogen abstraction on the PLA backbone recently reported by Hvella et al. [452] in the case of radical polymerization of butyl acrylate in the presence of performed PLA. According to the authors [447,452], the resulting polymer radical may then combine with another radical (MA, proxide, or polymer radicals or hydrogen) and further undergo a </a:t>
                </a:r>
                <a:r>
                  <a:rPr lang="en-US" sz="1200" dirty="0">
                    <a:effectLst/>
                  </a:rPr>
                  <a:t>​</a:t>
                </a:r>
                <a14:m>
                  <m:oMath>
                    <m:r>
                      <m:rPr>
                        <m:sty m:val="i"/>
                      </m:rPr>
                      <a:rPr lang="en-US" sz="1200" dirty="0">
                        <a:solidFill>
                          <a:srgbClr val="000000"/>
                        </a:solidFill>
                        <a:effectLst/>
                      </a:rPr>
                      <m:t>β</m:t>
                    </m:r>
                  </m:oMath>
                </a14:m>
                <a:r>
                  <a:rPr lang="en-US" sz="1200" dirty="0">
                    <a:effectLst/>
                  </a:rPr>
                  <a:t>-scission as shown in Figure 27.</a:t>
                </a:r>
              </a:p>
            </p:txBody>
          </p:sp>
        </mc:Choice>
        <mc:Fallback/>
      </mc:AlternateContent>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ece592574eae6a4aab91336aca59b04f39be012b.jpg"/>
          <p:cNvPicPr/>
          <p:nvPr/>
        </p:nvPicPr>
        <p:blipFill>
          <a:blip r:embed="rId2" cstate="print"/>
          <a:srcRect/>
          <a:stretch>
            <a:fillRect/>
          </a:stretch>
        </p:blipFill>
        <p:spPr>
          <a:xfrm>
            <a:off x="1524000" y="457200"/>
            <a:ext cx="8039100" cy="5867400"/>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27. Chain </a:t>
                </a:r>
                <a:r>
                  <a:rPr lang="en-US" sz="1200" dirty="0">
                    <a:effectLst/>
                  </a:rPr>
                  <a:t>​</a:t>
                </a:r>
                <a14:m>
                  <m:oMath>
                    <m:r>
                      <m:rPr>
                        <m:sty m:val="i"/>
                      </m:rPr>
                      <a:rPr lang="en-US" sz="1200" dirty="0">
                        <a:solidFill>
                          <a:srgbClr val="000000"/>
                        </a:solidFill>
                        <a:effectLst/>
                      </a:rPr>
                      <m:t>β</m:t>
                    </m:r>
                  </m:oMath>
                </a14:m>
                <a:r>
                  <a:rPr lang="en-US" sz="1200" dirty="0">
                    <a:effectLst/>
                  </a:rPr>
                  <a:t>-Scission in grafting of MA onto polylactide acid (PLA). Adapted from [452].</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685800"/>
                <a:ext cx="9144000" cy="5257800"/>
              </a:xfrm>
              <a:prstGeom prst="rect">
                <a:avLst/>
              </a:prstGeom>
            </p:spPr>
            <p:txBody>
              <a:bodyPr anchor="t" lIns="0" tIns="0" rIns="0" bIns="0">
                <a:noAutofit/>
              </a:bodyPr>
              <a:lstStyle/>
              <a:p>
                <a:pPr>
                  <a:lnSpc>
                    <a:spcPct val="120000"/>
                  </a:lnSpc>
                </a:pPr>
                <a:r>
                  <a:rPr lang="en-US" sz="1200" dirty="0">
                    <a:effectLst/>
                  </a:rPr>
                  <a:t>Lanzilotta et al. [453] also studied the melt modification of PLA with MA. According to the authors, the property enhancement achieved in injection-molded flax-PLA composites, in which PLA had been modified with MA by reactive extrusion, did not justify the costs of the process. Plackett [454] grafted PLA with MA in the chlorobenzene solution with benzoyl peroxide at 130 °C under argon atmosphere for 4 h. The aim of this work was to synthesize and characterize a maleated PLA and to study whether use of this additive might enhance the properties of PLA biocomposites. Author investigated the effect of poly(PLA- </a:t>
                </a:r>
                <a:r>
                  <a:rPr lang="en-US" sz="1200" dirty="0">
                    <a:effectLst/>
                  </a:rPr>
                  <a:t>​</a:t>
                </a:r>
                <a14:m>
                  <m:oMath>
                    <m:r>
                      <m:rPr>
                        <m:sty m:val="i"/>
                      </m:rPr>
                      <a:rPr lang="en-US" sz="1200" dirty="0">
                        <a:solidFill>
                          <a:srgbClr val="000000"/>
                        </a:solidFill>
                        <a:effectLst/>
                      </a:rPr>
                      <m:t>g</m:t>
                    </m:r>
                  </m:oMath>
                </a14:m>
                <a:r>
                  <a:rPr lang="en-US" sz="1200" dirty="0">
                    <a:effectLst/>
                  </a:rPr>
                  <a:t>-MA) as an additive by three methods: (1) compounding with a commercially available L-PLA and wood fiber in a Brabender mixer, (2) compounding with a commercially available L-PLA and nanoclay in a Haake mini-extruder, and (3) solution treatment of jute fiber mats that were then used to prepare jute-PLA composites by a compression molding process. SEM photomicrographs of the wood-PLA compound indicated some improvement in adhesion might have occurred in the presence of poly(PLA-</a:t>
                </a:r>
                <a:r>
                  <a:rPr lang="en-US" sz="1200" dirty="0">
                    <a:effectLst/>
                  </a:rPr>
                  <a:t>​</a:t>
                </a:r>
                <a14:m>
                  <m:oMath>
                    <m:r>
                      <m:rPr>
                        <m:sty m:val="i"/>
                      </m:rPr>
                      <a:rPr lang="en-US" sz="1200" dirty="0">
                        <a:solidFill>
                          <a:srgbClr val="000000"/>
                        </a:solidFill>
                        <a:effectLst/>
                      </a:rPr>
                      <m:t>g</m:t>
                    </m:r>
                  </m:oMath>
                </a14:m>
                <a:r>
                  <a:rPr lang="en-US" sz="1200" dirty="0">
                    <a:effectLst/>
                  </a:rPr>
                  <a:t>-MA). Tensile testing of jute-PLA composites showed a reduction in composite tensile strength resulting from addition of poly(PLA- </a:t>
                </a:r>
                <a:r>
                  <a:rPr lang="en-US" sz="1200" dirty="0">
                    <a:effectLst/>
                  </a:rPr>
                  <a:t>​</a:t>
                </a:r>
                <a14:m>
                  <m:oMath>
                    <m:r>
                      <m:rPr>
                        <m:sty m:val="i"/>
                      </m:rPr>
                      <a:rPr lang="en-US" sz="1200" dirty="0">
                        <a:solidFill>
                          <a:srgbClr val="000000"/>
                        </a:solidFill>
                        <a:effectLst/>
                      </a:rPr>
                      <m:t>g</m:t>
                    </m:r>
                  </m:oMath>
                </a14:m>
                <a:r>
                  <a:rPr lang="en-US" sz="1200" dirty="0">
                    <a:effectLst/>
                  </a:rPr>
                  <a:t>-MA) to the fibers. Addition of grafted PLA changes in the X-ray diffraction pattern. According to the authors this effect may be related to changes in polymer crystallinity.</a:t>
                </a:r>
                <a:br>
                  <a:rPr lang="en-US" sz="1200" dirty="0"/>
                </a:br>
                <a:r>
                  <a:rPr lang="en-US" sz="1200" dirty="0">
                    <a:effectLst/>
                  </a:rPr>
                  <a:t> Polyhydroxyalkanoates (PHAs) are biodegradable and biocompatible thermoplastic polyesters with properties similar to those of classical polyolefins [456]. According to Mechanical properties of poly(3-hydroxybutyrate) (PHB) are similar to those of isotactic PP. PHAs have attracted much attention as environmentally degradable resins, which are useful for a wide range of applications. However, PHAs are highly hydrophobic and degrade thermally during processing. More particularly, polyhydroxybutyrate (PHB) one of the members of PHA family is a crystalline polymer and its main drawbacks are its brittleness, narrow processing window and thermal instability. However, PHB thermally degraded easily during processing, which is of great disadvantage to its widespread commercial use. Graft copolymerization method used to improve important properties of PHB [454,455]. A process and composition using anhydride grafted polyhydroxyalkanoate (PHA) polymer (grafted polymer) which has been extruded with a PHA polymer (non-grafted) and a dried cellulose fiber which reacts with the maleated PHA is described in a patent publication [454]. The composites formed have improved mechanical properties. The present invention also relates to the process for the fabrication of biocomposites of polyhydroxyalkanoates (PHAs) with fibers with the use of anhydride grafted PHAs (PHAs bearing anhydride groups) as compatibilizers. The fibers react with the grafted PHAs.</a:t>
                </a:r>
              </a:p>
            </p:txBody>
          </p:sp>
        </mc:Choice>
        <mc:Fallback/>
      </mc:AlternateContent>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286000"/>
              </a:xfrm>
              <a:prstGeom prst="rect">
                <a:avLst/>
              </a:prstGeom>
            </p:spPr>
            <p:txBody>
              <a:bodyPr anchor="t" lIns="0" tIns="0" rIns="0" bIns="0">
                <a:noAutofit/>
              </a:bodyPr>
              <a:lstStyle/>
              <a:p>
                <a:pPr>
                  <a:lnSpc>
                    <a:spcPct val="120000"/>
                  </a:lnSpc>
                </a:pPr>
                <a:r>
                  <a:rPr lang="en-US" sz="1200" dirty="0">
                    <a:effectLst/>
                  </a:rPr>
                  <a:t>Bahari et al. [455] reported the radiation grafting of MMA, 2-hydroxyethyl methacrylate, acryilic acid and styrene onto PHB and its copolymers, and were found that the thermal stability or the biodegradability was obviously promoted. Lee et al. [456] studied graft copolymerization of acrylamide onto poly(HB-co-hydroxyvalerate) film to test the application of grafted film on permselectivity. Chen et al. [457] selected MA as the grafting monomer to be grafted onto PHB chains because of its good reactivity and controllability in free-radical polymerization. Authors supposed that introducing a certain monomer onto PHB chains, such as MA, could disturb the regularity of PHB chains, then control the morphological structures and improve its properties. Graft copolymerization of MA onto PHB was carried out in chlorobenzene solution in the presence of benzoyl peroxide as an initiator at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130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It was shown that the monomer and initiator concentrations play an important role in grafting reaction, and graft degree initially increases in monomer and initiator concentrations, and then plateaus above a ceptain level. According to authors, by changing the reaction conditions, graft degree can be controlled in the range from 0.2 to 0.85 %. This grafting reaction was represented as follows (Figure 28):</a:t>
                </a:r>
              </a:p>
            </p:txBody>
          </p:sp>
        </mc:Choice>
        <mc:Fallback/>
      </mc:AlternateContent>
      <p:pic>
        <p:nvPicPr>
          <p:cNvPr id="2" name="image-8101db3a9c09a172dda063e094c0e184e5345aa2.jpg"/>
          <p:cNvPicPr/>
          <p:nvPr/>
        </p:nvPicPr>
        <p:blipFill>
          <a:blip r:embed="rId2" cstate="print"/>
          <a:srcRect/>
          <a:stretch>
            <a:fillRect/>
          </a:stretch>
        </p:blipFill>
        <p:spPr>
          <a:xfrm>
            <a:off x="1524000" y="2895600"/>
            <a:ext cx="7696200" cy="2409825"/>
          </a:xfrm>
          <a:prstGeom prst="rect">
            <a:avLst/>
          </a:prstGeom>
        </p:spPr>
      </p:pic>
      <p:sp>
        <p:nvSpPr>
          <p:cNvPr id="3" name="Text"/>
          <p:cNvSpPr/>
          <p:nvPr/>
        </p:nvSpPr>
        <p:spPr>
          <a:xfrm>
            <a:off x="1524000" y="5305425"/>
            <a:ext cx="9144000" cy="228600"/>
          </a:xfrm>
          <a:prstGeom prst="rect">
            <a:avLst/>
          </a:prstGeom>
        </p:spPr>
        <p:txBody>
          <a:bodyPr anchor="t" lIns="0" tIns="0" rIns="0" bIns="0">
            <a:noAutofit/>
          </a:bodyPr>
          <a:lstStyle/>
          <a:p>
            <a:pPr>
              <a:lnSpc>
                <a:spcPct val="120000"/>
              </a:lnSpc>
            </a:pPr>
            <a:r>
              <a:rPr lang="en-US" sz="1200" dirty="0">
                <a:effectLst/>
              </a:rPr>
              <a:t>Figure 28. Grafting of MA onto biodegradable poly(3-hydroxybutyrate). Adapted from [457].</a:t>
            </a:r>
          </a:p>
        </p:txBody>
      </p:sp>
      <p:sp>
        <p:nvSpPr>
          <p:cNvPr id="2" name="Text"/>
          <p:cNvSpPr/>
          <p:nvPr/>
        </p:nvSpPr>
        <p:spPr>
          <a:xfrm>
            <a:off x="1524000" y="5534025"/>
            <a:ext cx="9144000" cy="228600"/>
          </a:xfrm>
          <a:prstGeom prst="rect">
            <a:avLst/>
          </a:prstGeom>
        </p:spPr>
        <p:txBody>
          <a:bodyPr anchor="t" lIns="0" tIns="0" rIns="0" bIns="0">
            <a:noAutofit/>
          </a:bodyPr>
          <a:lstStyle/>
          <a:p>
            <a:pPr>
              <a:lnSpc>
                <a:spcPct val="120000"/>
              </a:lnSpc>
            </a:pPr>
            <a:r>
              <a:rPr lang="en-US" sz="1200" dirty="0">
                <a:effectLst/>
              </a:rPr>
              <a:t>Authors found that the thermal stability poly(HB-g-MA)</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1143000"/>
          </a:xfrm>
          <a:prstGeom prst="rect">
            <a:avLst/>
          </a:prstGeom>
        </p:spPr>
        <p:txBody>
          <a:bodyPr anchor="t" lIns="0" tIns="0" rIns="0" bIns="0">
            <a:noAutofit/>
          </a:bodyPr>
          <a:lstStyle/>
          <a:p>
            <a:pPr>
              <a:lnSpc>
                <a:spcPct val="120000"/>
              </a:lnSpc>
            </a:pPr>
            <a:r>
              <a:rPr lang="en-US" sz="1200" dirty="0">
                <a:effectLst/>
              </a:rPr>
              <a:t> obviously improved, compared with that of pure PHB; the crystallization behavior of PHB obviously changed after MA grafting; the cold crystallization temperature from the glass state increased, the crystallization temperature from the melted state decreased, and the growth rate of spherulite decreased. PHB is more stable in nitrogen than in air, and a small amount of MA can gratly retard the thermal decomposition of PHB. According to the authors, the biodegradability of PHB improved after grafting MA because of the improvement in the wettability of PHB with the enzyme (Penicillin sp.) solution [457].</a:t>
            </a:r>
          </a:p>
        </p:txBody>
      </p:sp>
      <mc:AlternateContent xmlns:mc="http://schemas.openxmlformats.org/markup-compatibility/2006">
        <mc:Choice xmlns:a14="http://schemas.microsoft.com/office/drawing/2010/main" Requires="a14">
          <p:sp>
            <p:nvSpPr>
              <p:cNvPr id="2" name="Text"/>
              <p:cNvSpPr/>
              <p:nvPr/>
            </p:nvSpPr>
            <p:spPr>
              <a:xfrm>
                <a:off x="1524000" y="1752600"/>
                <a:ext cx="9144000" cy="3200400"/>
              </a:xfrm>
              <a:prstGeom prst="rect">
                <a:avLst/>
              </a:prstGeom>
            </p:spPr>
            <p:txBody>
              <a:bodyPr anchor="t" lIns="0" tIns="0" rIns="0" bIns="0">
                <a:noAutofit/>
              </a:bodyPr>
              <a:lstStyle/>
              <a:p>
                <a:pPr>
                  <a:lnSpc>
                    <a:spcPct val="120000"/>
                  </a:lnSpc>
                </a:pPr>
                <a:r>
                  <a:rPr lang="en-US" sz="1200" dirty="0">
                    <a:effectLst/>
                  </a:rPr>
                  <a:t>The possibility of grafting MA onto polymer with ester functionality, such as poly(E-co-methyl acrylate), reported by Ranganathan et al. [158]. Authors used two low molecular weight esters, a linear ester methyl deconate (MD) and a branched ester methyl 2-ethylhexanoate as model compounds. Grafting reaction was carried out in a round-bottom flask at 180°C in the presence of commericial dialkyl proxide initiators (Lupersol 101 or 130). The grafted products were characterized extensively using several analytical techniques such as FTIR, NMR, MS (mass spectroscopy), and chromatography (SEC). The nature of the grafts was established using </a:t>
                </a:r>
                <a:r>
                  <a:rPr lang="en-US" sz="1200" dirty="0">
                    <a:effectLst/>
                  </a:rPr>
                  <a:t>​</a:t>
                </a:r>
                <a14:m>
                  <m:oMath>
                    <m:r>
                      <m:rPr>
                        <m:sty m:val="p"/>
                      </m:rPr>
                      <a:rPr lang="en-US" sz="1200" dirty="0">
                        <a:solidFill>
                          <a:srgbClr val="000000"/>
                        </a:solidFill>
                        <a:effectLst/>
                      </a:rPr>
                      <m:t>2</m:t>
                    </m:r>
                    <m:r>
                      <m:rPr>
                        <m:sty m:val="p"/>
                      </m:rPr>
                      <a:rPr lang="en-US" sz="1200" dirty="0">
                        <a:solidFill>
                          <a:srgbClr val="000000"/>
                        </a:solidFill>
                        <a:effectLst/>
                      </a:rPr>
                      <m:t>,</m:t>
                    </m:r>
                    <m:r>
                      <m:rPr>
                        <m:sty m:val="p"/>
                      </m:rPr>
                      <a:rPr lang="en-US" sz="1200" dirty="0">
                        <a:solidFill>
                          <a:srgbClr val="000000"/>
                        </a:solidFill>
                        <a:effectLst/>
                      </a:rPr>
                      <m:t>3</m:t>
                    </m:r>
                    <m:r>
                      <m:rPr>
                        <m:sty m:val="p"/>
                      </m:rPr>
                      <a:rPr lang="en-US" sz="1200" dirty="0">
                        <a:solidFill>
                          <a:srgbClr val="000000"/>
                        </a:solidFill>
                        <a:effectLst/>
                      </a:rPr>
                      <m:t>−</m:t>
                    </m:r>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13</m:t>
                        </m:r>
                      </m:sup>
                    </m:sSup>
                    <m:sSub>
                      <m:sSubPr>
                        <m:ctrlPr>
                          <a:rPr sz="1200">
                            <a:latin typeface="Cambria Math" panose="02040503050406030204" pitchFamily="18" charset="0"/>
                          </a:rPr>
                        </m:ctrlPr>
                      </m:sSubPr>
                      <m:e>
                        <m:r>
                          <m:rPr>
                            <m:sty m:val="p"/>
                          </m:rPr>
                          <a:rPr lang="en-US" sz="1200" dirty="0">
                            <a:solidFill>
                              <a:srgbClr val="000000"/>
                            </a:solidFill>
                            <a:effectLst/>
                          </a:rPr>
                          <m:t>C</m:t>
                        </m:r>
                      </m:e>
                      <m:sub>
                        <m:r>
                          <m:rPr>
                            <m:sty m:val="p"/>
                          </m:rPr>
                          <a:rPr lang="en-US" sz="1200" dirty="0">
                            <a:solidFill>
                              <a:srgbClr val="000000"/>
                            </a:solidFill>
                            <a:effectLst/>
                          </a:rPr>
                          <m:t>2</m:t>
                        </m:r>
                      </m:sub>
                    </m:sSub>
                  </m:oMath>
                </a14:m>
                <a:r>
                  <a:rPr lang="en-US" sz="1200" dirty="0">
                    <a:effectLst/>
                  </a:rPr>
                  <a:t> labeled MA. The FTIR spectroscopy provides qualitative evidence that the grafting of MA to ester has occur. The spectra of grafted product show bands at 1864 and </a:t>
                </a:r>
                <a:r>
                  <a:rPr lang="en-US" sz="1200" dirty="0">
                    <a:effectLst/>
                  </a:rPr>
                  <a:t>​</a:t>
                </a:r>
                <a14:m>
                  <m:oMath>
                    <m:r>
                      <m:rPr>
                        <m:sty m:val="p"/>
                      </m:rPr>
                      <a:rPr lang="en-US" sz="1200" dirty="0">
                        <a:solidFill>
                          <a:srgbClr val="000000"/>
                        </a:solidFill>
                        <a:effectLst/>
                      </a:rPr>
                      <m:t>1788</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(antisymm. and symm. C=O, respectively), and 952-909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(ring stretching of a saturated cyclic five membered anhydride). The percent MA unit was determined to be 1.25 wt. %. These results are in agreement with those of several researchers who have used FTIR, both qualitatively to identify the presence of succinic anhydride residues [134,151,192,458,459] and quantitatively to determine the MA percent in grafted polymer [168,224] and model systems [140,191]. Proton NMR spectra of grafted MA exhibits resonances centered around 3,3, 3,2 and 2.83 ppm, which have been assigned to the CH and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CH</m:t>
                        </m:r>
                      </m:e>
                      <m:sub>
                        <m:r>
                          <m:rPr>
                            <m:sty m:val="p"/>
                          </m:rPr>
                          <a:rPr lang="en-US" sz="1200" dirty="0">
                            <a:solidFill>
                              <a:srgbClr val="000000"/>
                            </a:solidFill>
                            <a:effectLst/>
                          </a:rPr>
                          <m:t>2</m:t>
                        </m:r>
                      </m:sub>
                    </m:sSub>
                  </m:oMath>
                </a14:m>
                <a:r>
                  <a:rPr lang="en-US" sz="1200" dirty="0">
                    <a:effectLst/>
                  </a:rPr>
                  <a:t> protons of the grafted MA ring. The carbon atoms of these groups in the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13</m:t>
                        </m:r>
                      </m:sup>
                    </m:sSup>
                    <m:r>
                      <m:rPr>
                        <m:sty m:val="p"/>
                      </m:rPr>
                      <a:rPr lang="en-US" sz="1200" dirty="0">
                        <a:solidFill>
                          <a:srgbClr val="000000"/>
                        </a:solidFill>
                        <a:effectLst/>
                      </a:rPr>
                      <m:t>C</m:t>
                    </m:r>
                    <m:r>
                      <m:rPr>
                        <m:sty m:val="p"/>
                      </m:rPr>
                      <a:rPr lang="en-US" sz="1200" dirty="0">
                        <a:solidFill>
                          <a:srgbClr val="000000"/>
                        </a:solidFill>
                        <a:effectLst/>
                      </a:rPr>
                      <m:t>NMR</m:t>
                    </m:r>
                  </m:oMath>
                </a14:m>
                <a:r>
                  <a:rPr lang="en-US" sz="1200" dirty="0">
                    <a:effectLst/>
                  </a:rPr>
                  <a:t> spectra are characterized by 30-35 ppm (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CH</m:t>
                        </m:r>
                      </m:e>
                      <m:sub>
                        <m:r>
                          <m:rPr>
                            <m:sty m:val="p"/>
                          </m:rPr>
                          <a:rPr lang="en-US" sz="1200" dirty="0">
                            <a:solidFill>
                              <a:srgbClr val="000000"/>
                            </a:solidFill>
                            <a:effectLst/>
                          </a:rPr>
                          <m:t>2</m:t>
                        </m:r>
                      </m:sub>
                    </m:sSub>
                  </m:oMath>
                </a14:m>
                <a:r>
                  <a:rPr lang="en-US" sz="1200" dirty="0">
                    <a:effectLst/>
                  </a:rPr>
                  <a:t> ) and 40-47 ppm (CH) peaks of the grafted MA residues. Authors represented proposed mechanism of grafting as follows (Figure 29) [158]:</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5105400"/>
                <a:ext cx="9144000" cy="685800"/>
              </a:xfrm>
              <a:prstGeom prst="rect">
                <a:avLst/>
              </a:prstGeom>
            </p:spPr>
            <p:txBody>
              <a:bodyPr anchor="t" lIns="0" tIns="0" rIns="0" bIns="0">
                <a:noAutofit/>
              </a:bodyPr>
              <a:lstStyle/>
              <a:p>
                <a:pPr>
                  <a:lnSpc>
                    <a:spcPct val="120000"/>
                  </a:lnSpc>
                </a:pPr>
                <a:r>
                  <a:rPr lang="en-US" sz="1200" dirty="0">
                    <a:effectLst/>
                  </a:rPr>
                  <a:t>Free-radical-initiated grafting of MA onto poly(butylene adipate-co-terephthalate) (PBAT) a biodegradable aliphatic-aromatic copolyester, was performed in a twin-screw extrusion system at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185</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in the presence of 0.5 wt. % organic peroxide (Lupersol 101) by Nabar et al. [460].</a:t>
                </a:r>
              </a:p>
            </p:txBody>
          </p:sp>
        </mc:Choice>
        <mc:Fallback/>
      </mc:AlternateContent>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685800"/>
              </a:xfrm>
              <a:prstGeom prst="rect">
                <a:avLst/>
              </a:prstGeom>
            </p:spPr>
            <p:txBody>
              <a:bodyPr anchor="t" lIns="0" tIns="0" rIns="0" bIns="0">
                <a:noAutofit/>
              </a:bodyPr>
              <a:lstStyle/>
              <a:p>
                <a:pPr>
                  <a:lnSpc>
                    <a:spcPct val="120000"/>
                  </a:lnSpc>
                </a:pPr>
                <a:r>
                  <a:rPr lang="en-US" sz="1200" dirty="0">
                    <a:effectLst/>
                  </a:rPr>
                  <a:t>The MA concentration varied between 1.0 and 5.0 wt. %. In these conditions, authors prepared poly(PBAT-g-MA)s containing MA grafted unit between 0.194 % and 0.691 %. Authors proposed the following mechanism of grafting reactions which are accompanied by the </a:t>
                </a:r>
                <a:r>
                  <a:rPr lang="en-US" sz="1200" dirty="0">
                    <a:effectLst/>
                  </a:rPr>
                  <a:t>​</a:t>
                </a:r>
                <a14:m>
                  <m:oMath>
                    <m:r>
                      <m:rPr>
                        <m:sty m:val="i"/>
                      </m:rPr>
                      <a:rPr lang="en-US" sz="1200" dirty="0">
                        <a:solidFill>
                          <a:srgbClr val="000000"/>
                        </a:solidFill>
                        <a:effectLst/>
                      </a:rPr>
                      <m:t>β</m:t>
                    </m:r>
                  </m:oMath>
                </a14:m>
                <a:r>
                  <a:rPr lang="en-US" sz="1200" dirty="0">
                    <a:effectLst/>
                  </a:rPr>
                  <a:t>-scission along the polyester backbone (Figure 30).</a:t>
                </a:r>
              </a:p>
            </p:txBody>
          </p:sp>
        </mc:Choice>
        <mc:Fallback/>
      </mc:AlternateContent>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9c604faa9c6b2f38d1f93fa402826fdd8db3febd.jpg"/>
          <p:cNvPicPr/>
          <p:nvPr/>
        </p:nvPicPr>
        <p:blipFill>
          <a:blip r:embed="rId2" cstate="print"/>
          <a:srcRect/>
          <a:stretch>
            <a:fillRect/>
          </a:stretch>
        </p:blipFill>
        <p:spPr>
          <a:xfrm>
            <a:off x="1524000" y="457200"/>
            <a:ext cx="7620000" cy="5943600"/>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29. Grafting of MA onto a linear ester methyl deconate as a model biodegradable compound. Adapted from [158].</a:t>
            </a:r>
          </a:p>
        </p:txBody>
      </p:sp>
      <p:pic>
        <p:nvPicPr>
          <p:cNvPr id="2" name="image-svg-3d29c95a303f8b1adad94b61c8f4da2e6046c878.png"/>
          <p:cNvPicPr/>
          <p:nvPr/>
        </p:nvPicPr>
        <p:blipFill>
          <a:blip r:embed="rId2" cstate="print"/>
          <a:srcRect/>
          <a:stretch>
            <a:fillRect/>
          </a:stretch>
        </p:blipFill>
        <p:spPr>
          <a:xfrm>
            <a:off x="1524000" y="685800"/>
            <a:ext cx="8591550" cy="1666875"/>
          </a:xfrm>
          <a:prstGeom prst="rect">
            <a:avLst/>
          </a:prstGeom>
        </p:spPr>
      </p:pic>
      <mc:AlternateContent xmlns:mc="http://schemas.openxmlformats.org/markup-compatibility/2006">
        <mc:Choice xmlns:a14="http://schemas.microsoft.com/office/drawing/2010/main" Requires="a14">
          <p:sp>
            <p:nvSpPr>
              <p:cNvPr id="2" name="Text"/>
              <p:cNvSpPr/>
              <p:nvPr/>
            </p:nvSpPr>
            <p:spPr>
              <a:xfrm>
                <a:off x="1524000" y="2505075"/>
                <a:ext cx="9144000" cy="1600200"/>
              </a:xfrm>
              <a:prstGeom prst="rect">
                <a:avLst/>
              </a:prstGeom>
            </p:spPr>
            <p:txBody>
              <a:bodyPr anchor="t" lIns="0" tIns="0" rIns="0" bIns="0">
                <a:noAutofit/>
              </a:bodyPr>
              <a:lstStyle/>
              <a:p>
                <a:pPr>
                  <a:lnSpc>
                    <a:spcPct val="120000"/>
                  </a:lnSpc>
                </a:pPr>
                <a:r>
                  <a:rPr lang="en-US" sz="1200" dirty="0">
                    <a:effectLst/>
                  </a:rPr>
                  <a:t>Figure 30. Grafting of MA onto biodegradable poly(butylene adipate-co-terephthalate). Adapted from [460].</a:t>
                </a:r>
                <a:br>
                  <a:rPr lang="en-US" sz="1200" dirty="0"/>
                </a:br>
                <a:r>
                  <a:rPr lang="en-US" sz="1200" dirty="0">
                    <a:effectLst/>
                  </a:rPr>
                  <a:t> But in this system, oligomerization of MA was not observed. According to the authors, the </a:t>
                </a:r>
                <a:r>
                  <a:rPr lang="en-US" sz="1200" dirty="0">
                    <a:effectLst/>
                  </a:rPr>
                  <a:t>​</a:t>
                </a:r>
                <a14:m>
                  <m:oMath>
                    <m:r>
                      <m:rPr>
                        <m:sty m:val="i"/>
                      </m:rPr>
                      <a:rPr lang="en-US" sz="1200" dirty="0">
                        <a:solidFill>
                          <a:srgbClr val="000000"/>
                        </a:solidFill>
                        <a:effectLst/>
                      </a:rPr>
                      <m:t>β</m:t>
                    </m:r>
                  </m:oMath>
                </a14:m>
                <a:r>
                  <a:rPr lang="en-US" sz="1200" dirty="0">
                    <a:effectLst/>
                  </a:rPr>
                  <a:t>-scission is responsible for the drop in molecular weight and melt viscosity would indeed be the dominant mechanism over the hydrogen abstraction rections. Observed unusual relationship between molecular weight and initiator or MA concentration, authors explaned by the presence of other reactions, such as branching, favorable radical recombination, radical termination before the grafting and thermal hydrolysis during the maleation of PBAT in the extrusion process. They also showed that the maleation of the polyester proved to be very efficient in promoting strong interfacial adhesion with high amylose cornstarch in starch foams as prepared by melt blending.</a:t>
                </a:r>
              </a:p>
            </p:txBody>
          </p:sp>
        </mc:Choice>
        <mc:Fallback/>
      </mc:AlternateContent>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286000"/>
              </a:xfrm>
              <a:prstGeom prst="rect">
                <a:avLst/>
              </a:prstGeom>
            </p:spPr>
            <p:txBody>
              <a:bodyPr anchor="t" lIns="0" tIns="0" rIns="0" bIns="0">
                <a:noAutofit/>
              </a:bodyPr>
              <a:lstStyle/>
              <a:p>
                <a:pPr>
                  <a:lnSpc>
                    <a:spcPct val="120000"/>
                  </a:lnSpc>
                </a:pPr>
                <a:r>
                  <a:rPr lang="en-US" sz="1200" dirty="0">
                    <a:effectLst/>
                  </a:rPr>
                  <a:t>Bhattacharya et al. [121] studied grafting reactions of MA with aliphatic and aromatic/aliphatic copolyesters in melt by reactive extrusion at 130-180 °C in the presence of dicumyl peroxide as an initiator, as well as in toluene solution. The following polymers were used in this study: polybutylene succinate adipinate (PBS), polybutylene succinate adipinate copolyesters (PBSA), copolymer of tetraphthalic and adipic acid and butanediol (Eastar) and 2-and/or 4- and 4-carbon diacids and glycols (Bionolle). The percent grafting was found to vary with the experimental conditions. Thus, the graft content increased from 0.46 to 1.15% as the temperature increased from 140 to 180 °C. FTIR studies confirm the presence of siccinic anhydride groups; 2D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r>
                      <m:rPr>
                        <m:sty m:val="p"/>
                      </m:rPr>
                      <a:rPr lang="en-US" sz="1200" dirty="0">
                        <a:solidFill>
                          <a:srgbClr val="000000"/>
                        </a:solidFill>
                        <a:effectLst/>
                      </a:rPr>
                      <m:t>H</m:t>
                    </m:r>
                    <m:r>
                      <m:rPr>
                        <m:sty m:val="p"/>
                      </m:rPr>
                      <a:rPr lang="en-US" sz="1200" dirty="0">
                        <a:solidFill>
                          <a:srgbClr val="000000"/>
                        </a:solidFill>
                        <a:effectLst/>
                      </a:rPr>
                      <m:t>NMR</m:t>
                    </m:r>
                  </m:oMath>
                </a14:m>
                <a:r>
                  <a:rPr lang="en-US" sz="1200" dirty="0">
                    <a:effectLst/>
                  </a:rPr>
                  <a:t> spectra (COSY) suggest that the grating reaction takes place at aliphatic dicarboxylic acid units of the copolyesters; minimal degradation of the polyester is evident as observed from intrinsic viscosity measurements. The grafting behavior of different copolyesters studied in this work varied with the [peroxide]/[MA] ratio. In PLA, low grafting efficiency was observed due to its limited availability of free radical sites on the polymer backbone for grafting.</a:t>
                </a:r>
              </a:p>
            </p:txBody>
          </p:sp>
        </mc:Choice>
        <mc:Fallback/>
      </mc:AlternateContent>
      <p:sp>
        <p:nvSpPr>
          <p:cNvPr id="2" name="Text"/>
          <p:cNvSpPr/>
          <p:nvPr/>
        </p:nvSpPr>
        <p:spPr>
          <a:xfrm>
            <a:off x="1524000" y="2895600"/>
            <a:ext cx="9144000" cy="266700"/>
          </a:xfrm>
          <a:prstGeom prst="rect">
            <a:avLst/>
          </a:prstGeom>
        </p:spPr>
        <p:txBody>
          <a:bodyPr anchor="t" lIns="0" tIns="0" rIns="0" bIns="0">
            <a:noAutofit/>
          </a:bodyPr>
          <a:lstStyle/>
          <a:p>
            <a:pPr>
              <a:lnSpc>
                <a:spcPct val="125800"/>
              </a:lnSpc>
            </a:pPr>
            <a:r>
              <a:rPr lang="en-US" sz="1400" dirty="0" b="1">
                <a:effectLst/>
              </a:rPr>
              <a:t>5.3. Polyethers</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4114800"/>
              </a:xfrm>
              <a:prstGeom prst="rect">
                <a:avLst/>
              </a:prstGeom>
            </p:spPr>
            <p:txBody>
              <a:bodyPr anchor="t" lIns="0" tIns="0" rIns="0" bIns="0">
                <a:noAutofit/>
              </a:bodyPr>
              <a:lstStyle/>
              <a:p>
                <a:pPr>
                  <a:lnSpc>
                    <a:spcPct val="120000"/>
                  </a:lnSpc>
                </a:pPr>
                <a:r>
                  <a:rPr lang="en-US" sz="1200" dirty="0">
                    <a:effectLst/>
                  </a:rPr>
                  <a:t>Poly(propylene oxide) (PPO) is a widely applied type of aliphatic polyether for the preparation of thermoplastic elastomers as soft segment component, surfactants and poltmeric additives. For the development of advanced thermoplastic elastomers and other high performance materials, functionalization of PPO was carried out by radical grafting of maleic and fumaric acids onto PPO macromolecules [461,462]. Authors of these works suggested single succinic acid units linked to PPO methine carbons as the structure of graft products of maleic acid (MAc) and PPO. The proposed structure shows similarities to the structure of the graft products of MA and PP. However, studies concerning the reactivity of ethers in radical reactions [463,464] and the grafting of poly(tetrahydrofurane) (as a cycloaliphatic polyether) with MA [465] indicated that the ether oxygen has a high influence on the radical hydrogen abstraction. Taking into account the higher reactivity of MA in the radical reactions compared to maleic and fumaric acids, as well as possibility more efficient grafting expection by using MA as graft monomer, Rische et al. [459,466] studied radical-initiated grafting reactions and structure of grafted products of MA/poly(tetrahydrofuran) (PTHF) and MA/PPO systems [459]. The grafting of MA onto PTHF mainly occurred through carbon atoms in </a:t>
                </a:r>
                <a:r>
                  <a:rPr lang="en-US" sz="1200" dirty="0">
                    <a:effectLst/>
                  </a:rPr>
                  <a:t>​</a:t>
                </a:r>
                <a14:m>
                  <m:oMath>
                    <m:r>
                      <m:rPr>
                        <m:sty m:val="i"/>
                      </m:rPr>
                      <a:rPr lang="en-US" sz="1200" dirty="0">
                        <a:solidFill>
                          <a:srgbClr val="000000"/>
                        </a:solidFill>
                        <a:effectLst/>
                      </a:rPr>
                      <m:t>α</m:t>
                    </m:r>
                  </m:oMath>
                </a14:m>
                <a:r>
                  <a:rPr lang="en-US" sz="1200" dirty="0">
                    <a:effectLst/>
                  </a:rPr>
                  <a:t>-positon. It was found that approximately 10 % of all graftings took place onto PTHF backbone carbons in </a:t>
                </a:r>
                <a:r>
                  <a:rPr lang="en-US" sz="1200" dirty="0">
                    <a:effectLst/>
                  </a:rPr>
                  <a:t>​</a:t>
                </a:r>
                <a14:m>
                  <m:oMath>
                    <m:r>
                      <m:rPr>
                        <m:sty m:val="i"/>
                      </m:rPr>
                      <a:rPr lang="en-US" sz="1200" dirty="0">
                        <a:solidFill>
                          <a:srgbClr val="000000"/>
                        </a:solidFill>
                        <a:effectLst/>
                      </a:rPr>
                      <m:t>β</m:t>
                    </m:r>
                  </m:oMath>
                </a14:m>
                <a:r>
                  <a:rPr lang="en-US" sz="1200" dirty="0">
                    <a:effectLst/>
                  </a:rPr>
                  <a:t>-position. Indications for the formation of poly(MA) graft units were not found. A protection of hydroxyl end-groups of PPO realized by acetylation (structure D) to prevent side-reactions of these groups with MA. It was shown that in contrast to grafting reactions onto polyolefins, unusual high grafting degree (up to 20 wt.%) were obtained by the grafting of MA onto poly(tetrahydrofuran) and PPO. According to the authors, by extraction with hexane highly MA grafted PPO chains could be isolated easily from the reaction products. The procentage of grafting of the isolated products was up to </a:t>
                </a:r>
                <a:r>
                  <a:rPr lang="en-US" sz="1200" dirty="0">
                    <a:effectLst/>
                  </a:rPr>
                  <a:t>​</a:t>
                </a:r>
                <a14:m>
                  <m:oMath>
                    <m:r>
                      <m:rPr>
                        <m:sty m:val="p"/>
                      </m:rPr>
                      <a:rPr lang="en-US" sz="1200" dirty="0">
                        <a:solidFill>
                          <a:srgbClr val="000000"/>
                        </a:solidFill>
                        <a:effectLst/>
                      </a:rPr>
                      <m:t>24.3</m:t>
                    </m:r>
                    <m:r>
                      <m:rPr>
                        <m:sty m:val="p"/>
                      </m:rPr>
                      <a:rPr lang="en-US" sz="1200" dirty="0">
                        <a:solidFill>
                          <a:srgbClr val="000000"/>
                        </a:solidFill>
                        <a:effectLst/>
                      </a:rPr>
                      <m:t>wt</m:t>
                    </m:r>
                    <m:r>
                      <m:rPr>
                        <m:sty m:val="p"/>
                      </m:rPr>
                      <a:rPr lang="en-US" sz="1200" dirty="0">
                        <a:solidFill>
                          <a:srgbClr val="000000"/>
                        </a:solidFill>
                        <a:effectLst/>
                      </a:rPr>
                      <m:t>.</m:t>
                    </m:r>
                    <m:r>
                      <m:rPr>
                        <m:sty m:val="p"/>
                      </m:rPr>
                      <a:rPr lang="en-US" sz="1200" dirty="0">
                        <a:solidFill>
                          <a:srgbClr val="000000"/>
                        </a:solidFill>
                        <a:effectLst/>
                      </a:rPr>
                      <m:t>%</m:t>
                    </m:r>
                  </m:oMath>
                </a14:m>
                <a:r>
                  <a:rPr lang="en-US" sz="1200" dirty="0">
                    <a:effectLst/>
                  </a:rPr>
                  <a:t>. The synthesized graft products characterized by authors using FTIR and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13</m:t>
                        </m:r>
                      </m:sup>
                    </m:sSup>
                    <m:r>
                      <m:rPr>
                        <m:sty m:val="p"/>
                      </m:rPr>
                      <a:rPr lang="en-US" sz="1200" dirty="0">
                        <a:solidFill>
                          <a:srgbClr val="000000"/>
                        </a:solidFill>
                        <a:effectLst/>
                      </a:rPr>
                      <m:t>C</m:t>
                    </m:r>
                  </m:oMath>
                </a14:m>
                <a:r>
                  <a:rPr lang="en-US" sz="1200" dirty="0">
                    <a:effectLst/>
                  </a:rPr>
                  <a:t> NMR and GPC techniques, results of which are confirmed the formation of the following graft structures (A, B and C) (Figure 31) [466]:</a:t>
                </a:r>
              </a:p>
            </p:txBody>
          </p:sp>
        </mc:Choice>
        <mc:Fallback/>
      </mc:AlternateContent>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46b4f2d2126502905e1b610fce22d589beaa9304.jpg"/>
          <p:cNvPicPr/>
          <p:nvPr/>
        </p:nvPicPr>
        <p:blipFill>
          <a:blip r:embed="rId2" cstate="print"/>
          <a:srcRect/>
          <a:stretch>
            <a:fillRect/>
          </a:stretch>
        </p:blipFill>
        <p:spPr>
          <a:xfrm>
            <a:off x="1524000" y="457200"/>
            <a:ext cx="8362950" cy="5038725"/>
          </a:xfrm>
          <a:prstGeom prst="rect">
            <a:avLst/>
          </a:prstGeom>
        </p:spPr>
      </p:pic>
      <p:sp>
        <p:nvSpPr>
          <p:cNvPr id="3" name="Text"/>
          <p:cNvSpPr/>
          <p:nvPr/>
        </p:nvSpPr>
        <p:spPr>
          <a:xfrm>
            <a:off x="1524000" y="5495925"/>
            <a:ext cx="9144000" cy="228600"/>
          </a:xfrm>
          <a:prstGeom prst="rect">
            <a:avLst/>
          </a:prstGeom>
        </p:spPr>
        <p:txBody>
          <a:bodyPr anchor="t" lIns="0" tIns="0" rIns="0" bIns="0">
            <a:noAutofit/>
          </a:bodyPr>
          <a:lstStyle/>
          <a:p>
            <a:pPr>
              <a:lnSpc>
                <a:spcPct val="120000"/>
              </a:lnSpc>
            </a:pPr>
            <a:r>
              <a:rPr lang="en-US" sz="1200" dirty="0">
                <a:effectLst/>
              </a:rPr>
              <a:t>Figure 31. The formation of various graft structures in the grafting of MA onto poly(propylene oxide). Adapted from [466].</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514600"/>
              </a:xfrm>
              <a:prstGeom prst="rect">
                <a:avLst/>
              </a:prstGeom>
            </p:spPr>
            <p:txBody>
              <a:bodyPr anchor="t" lIns="0" tIns="0" rIns="0" bIns="0">
                <a:noAutofit/>
              </a:bodyPr>
              <a:lstStyle/>
              <a:p>
                <a:pPr>
                  <a:lnSpc>
                    <a:spcPct val="120000"/>
                  </a:lnSpc>
                </a:pPr>
                <a:r>
                  <a:rPr lang="en-US" sz="1200" dirty="0">
                    <a:effectLst/>
                  </a:rPr>
                  <a:t>Authors observed that the antisymmetric </a:t>
                </a:r>
                <a:r>
                  <a:rPr lang="en-US" sz="1200" dirty="0">
                    <a:effectLst/>
                  </a:rPr>
                  <a:t>​</a:t>
                </a:r>
                <a14:m>
                  <m:oMath>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O</m:t>
                    </m:r>
                  </m:oMath>
                </a14:m>
                <a:r>
                  <a:rPr lang="en-US" sz="1200" dirty="0">
                    <a:effectLst/>
                  </a:rPr>
                  <a:t> bands of grafted products is shifted from 1781 (free MA) to 1783.5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(MA graft) and the symmetric </a:t>
                </a:r>
                <a:r>
                  <a:rPr lang="en-US" sz="1200" dirty="0">
                    <a:effectLst/>
                  </a:rPr>
                  <a:t>​</a:t>
                </a:r>
                <a14:m>
                  <m:oMath>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O</m:t>
                    </m:r>
                  </m:oMath>
                </a14:m>
                <a:r>
                  <a:rPr lang="en-US" sz="1200" dirty="0">
                    <a:effectLst/>
                  </a:rPr>
                  <a:t> vibration is shifted from 1856 to </a:t>
                </a:r>
                <a:r>
                  <a:rPr lang="en-US" sz="1200" dirty="0">
                    <a:effectLst/>
                  </a:rPr>
                  <a:t>​</a:t>
                </a:r>
                <a14:m>
                  <m:oMath>
                    <m:r>
                      <m:rPr>
                        <m:sty m:val="p"/>
                      </m:rPr>
                      <a:rPr lang="en-US" sz="1200" dirty="0">
                        <a:solidFill>
                          <a:srgbClr val="000000"/>
                        </a:solidFill>
                        <a:effectLst/>
                      </a:rPr>
                      <m:t>1862</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This fact, finding by authors, indicates the formation of a saturated cyclic anhydride structure. The results of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13</m:t>
                        </m:r>
                      </m:sup>
                    </m:sSup>
                    <m:r>
                      <m:rPr>
                        <m:sty m:val="p"/>
                      </m:rPr>
                      <a:rPr lang="en-US" sz="1200" dirty="0">
                        <a:solidFill>
                          <a:srgbClr val="000000"/>
                        </a:solidFill>
                        <a:effectLst/>
                      </a:rPr>
                      <m:t>C</m:t>
                    </m:r>
                    <m:r>
                      <m:rPr>
                        <m:sty m:val="p"/>
                      </m:rPr>
                      <a:rPr lang="en-US" sz="1200" dirty="0">
                        <a:solidFill>
                          <a:srgbClr val="000000"/>
                        </a:solidFill>
                        <a:effectLst/>
                      </a:rPr>
                      <m:t>NMR</m:t>
                    </m:r>
                  </m:oMath>
                </a14:m>
                <a:r>
                  <a:rPr lang="en-US" sz="1200" dirty="0">
                    <a:effectLst/>
                  </a:rPr>
                  <a:t> analysis indicate that the grafting of MA occurs onto both CH (in A structure) and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CH</m:t>
                        </m:r>
                      </m:e>
                      <m:sub>
                        <m:r>
                          <m:rPr>
                            <m:sty m:val="p"/>
                          </m:rPr>
                          <a:rPr lang="en-US" sz="1200" dirty="0">
                            <a:solidFill>
                              <a:srgbClr val="000000"/>
                            </a:solidFill>
                            <a:effectLst/>
                          </a:rPr>
                          <m:t>2</m:t>
                        </m:r>
                      </m:sub>
                    </m:sSub>
                  </m:oMath>
                </a14:m>
                <a:r>
                  <a:rPr lang="en-US" sz="1200" dirty="0">
                    <a:effectLst/>
                  </a:rPr>
                  <a:t> (in B structure) backbone carbons of the PPO chains in the form of monosubstituted succinic anhydride graft units. Furthermore, in products synthesized with a high initial concentration of MA (~20 wt.%) beside single units a small amount of oligo(MA) grafts (C strurture) was formed. According to authors, these higly functionalized PPOs are of potential interest as components for crosslinked elastomers. Furthermore, the formed anhydride graft units may be used to carry out further reactions, e.g. imidizations, to form molecules with new interesting propereties. A complete hydrolysis of the grafted anhydrides of the reaction products was possible. They asummed that appropriate PPO molecule with a high concentration of carboxylic groups can be of interect for the development of surfactants, water soluble polymer dispersions as well as for the development of polyelectrolytes and ionomers [466].</a:t>
                </a:r>
              </a:p>
            </p:txBody>
          </p:sp>
        </mc:Choice>
        <mc:Fallback/>
      </mc:AlternateContent>
      <p:sp>
        <p:nvSpPr>
          <p:cNvPr id="2" name="Text"/>
          <p:cNvSpPr/>
          <p:nvPr/>
        </p:nvSpPr>
        <p:spPr>
          <a:xfrm>
            <a:off x="1524000" y="3124200"/>
            <a:ext cx="9144000" cy="342900"/>
          </a:xfrm>
          <a:prstGeom prst="rect">
            <a:avLst/>
          </a:prstGeom>
        </p:spPr>
        <p:txBody>
          <a:bodyPr anchor="t" lIns="0" tIns="0" rIns="0" bIns="0">
            <a:noAutofit/>
          </a:bodyPr>
          <a:lstStyle/>
          <a:p>
            <a:pPr>
              <a:lnSpc>
                <a:spcPct val="120000"/>
              </a:lnSpc>
            </a:pPr>
            <a:r>
              <a:rPr lang="en-US" sz="1800" dirty="0" b="1">
                <a:effectLst/>
              </a:rPr>
              <a:t>6. Grafting onto Other Polymers and Anhydride-Functionalized Copolymers</a:t>
            </a:r>
          </a:p>
        </p:txBody>
      </p:sp>
      <p:sp>
        <p:nvSpPr>
          <p:cNvPr id="2" name="Text"/>
          <p:cNvSpPr/>
          <p:nvPr/>
        </p:nvSpPr>
        <p:spPr>
          <a:xfrm>
            <a:off x="1524000" y="3656839"/>
            <a:ext cx="9144000" cy="1371600"/>
          </a:xfrm>
          <a:prstGeom prst="rect">
            <a:avLst/>
          </a:prstGeom>
        </p:spPr>
        <p:txBody>
          <a:bodyPr anchor="t" lIns="0" tIns="0" rIns="0" bIns="0">
            <a:noAutofit/>
          </a:bodyPr>
          <a:lstStyle/>
          <a:p>
            <a:pPr>
              <a:lnSpc>
                <a:spcPct val="120000"/>
              </a:lnSpc>
            </a:pPr>
            <a:r>
              <a:rPr lang="en-US" sz="1200" dirty="0">
                <a:effectLst/>
              </a:rPr>
              <a:t>The radical-induced grafting of diethyl maleate onto poly[bis(4-ethylphenoxy) phosphazene] was reported, together with the possible parameters that can influence this</a:t>
            </a:r>
            <a:br>
              <a:rPr lang="en-US" sz="1200" dirty="0"/>
            </a:br>
            <a:r>
              <a:rPr lang="en-US" sz="1200" dirty="0">
                <a:effectLst/>
              </a:rPr>
              <a:t> reaction, i.e., the maleate, molecular oxygen, and dicumylperoxide concentrations, in the reaction mixture, the solvent, time, and temperature of the process. A possible mechanism of this process is inferred on the basis of analogous grafting processes carried out onto polyolefins. The importance of the decrease of the intrinsic viscosity of the reaction mixture that takes place during the grafting reaction is also discussed in terms of chain scission and molecular weight degradation of the phosphazene macromolecules [467].</a:t>
            </a:r>
          </a:p>
        </p:txBody>
      </p:sp>
      <mc:AlternateContent xmlns:mc="http://schemas.openxmlformats.org/markup-compatibility/2006">
        <mc:Choice xmlns:a14="http://schemas.microsoft.com/office/drawing/2010/main" Requires="a14">
          <p:sp>
            <p:nvSpPr>
              <p:cNvPr id="2" name="Text"/>
              <p:cNvSpPr/>
              <p:nvPr/>
            </p:nvSpPr>
            <p:spPr>
              <a:xfrm>
                <a:off x="1524000" y="5180839"/>
                <a:ext cx="9144000" cy="1143000"/>
              </a:xfrm>
              <a:prstGeom prst="rect">
                <a:avLst/>
              </a:prstGeom>
            </p:spPr>
            <p:txBody>
              <a:bodyPr anchor="t" lIns="0" tIns="0" rIns="0" bIns="0">
                <a:noAutofit/>
              </a:bodyPr>
              <a:lstStyle/>
              <a:p>
                <a:pPr>
                  <a:lnSpc>
                    <a:spcPct val="120000"/>
                  </a:lnSpc>
                </a:pPr>
                <a:r>
                  <a:rPr lang="en-US" sz="1200" dirty="0">
                    <a:effectLst/>
                  </a:rPr>
                  <a:t>To improve water wettability of polyurethane (PU), graft copolymerization of itaconic acid (IA) performed by Pulat and Babayigit [468] using benzoyl peroxide initiator. The grafting reaction was carried out by placing the membranes in aqueous solutions of IA at constant temperature. The optimum temperature, polymerization time, initiator and monomer concentrations were found to be 80 °C, </a:t>
                </a:r>
                <a:r>
                  <a:rPr lang="en-US" sz="1200" dirty="0">
                    <a:effectLst/>
                  </a:rPr>
                  <a:t>​</a:t>
                </a:r>
                <a14:m>
                  <m:oMath>
                    <m:r>
                      <m:rPr>
                        <m:sty m:val="p"/>
                      </m:rPr>
                      <a:rPr lang="en-US" sz="1200" dirty="0">
                        <a:solidFill>
                          <a:srgbClr val="000000"/>
                        </a:solidFill>
                        <a:effectLst/>
                      </a:rPr>
                      <m:t>1</m:t>
                    </m:r>
                    <m:r>
                      <m:rPr>
                        <m:sty m:val="i"/>
                      </m:rPr>
                      <a:rPr lang="en-US" sz="1200" dirty="0">
                        <a:solidFill>
                          <a:srgbClr val="000000"/>
                        </a:solidFill>
                        <a:effectLst/>
                      </a:rPr>
                      <m:t>h</m:t>
                    </m:r>
                  </m:oMath>
                </a14:m>
                <a:r>
                  <a:rPr lang="en-US" sz="1200" dirty="0">
                    <a:effectLst/>
                  </a:rPr>
                  <a:t>, 0.04 and </a:t>
                </a:r>
                <a:r>
                  <a:rPr lang="en-US" sz="1200" dirty="0">
                    <a:effectLst/>
                  </a:rPr>
                  <a:t>​</a:t>
                </a:r>
                <a14:m>
                  <m:oMath>
                    <m:r>
                      <m:rPr>
                        <m:sty m:val="p"/>
                      </m:rPr>
                      <a:rPr lang="en-US" sz="1200" dirty="0">
                        <a:solidFill>
                          <a:srgbClr val="000000"/>
                        </a:solidFill>
                        <a:effectLst/>
                      </a:rPr>
                      <m:t>1.5</m:t>
                    </m:r>
                    <m:r>
                      <m:rPr>
                        <m:sty m:val="p"/>
                      </m:rPr>
                      <a:rPr lang="en-US" sz="1200" dirty="0">
                        <a:solidFill>
                          <a:srgbClr val="000000"/>
                        </a:solidFill>
                        <a:effectLst/>
                      </a:rPr>
                      <m:t xml:space="preserve"> </m:t>
                    </m:r>
                    <m:r>
                      <m:rPr>
                        <m:sty m:val="p"/>
                      </m:rPr>
                      <a:rPr lang="en-US" sz="1200" dirty="0">
                        <a:solidFill>
                          <a:srgbClr val="000000"/>
                        </a:solidFill>
                        <a:effectLst/>
                      </a:rPr>
                      <m:t>mol</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L</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respectively. The membranes prepared were characterized by FTIR spectroscopy and scanning electron microscopy analysis, and grafting effect on equilibrium water content of PU membranes was obtained by swelling measurements.</a:t>
                </a:r>
              </a:p>
            </p:txBody>
          </p:sp>
        </mc:Choice>
        <mc:Fallback/>
      </mc:AlternateContent>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828800"/>
              </a:xfrm>
              <a:prstGeom prst="rect">
                <a:avLst/>
              </a:prstGeom>
            </p:spPr>
            <p:txBody>
              <a:bodyPr anchor="t" lIns="0" tIns="0" rIns="0" bIns="0">
                <a:noAutofit/>
              </a:bodyPr>
              <a:lstStyle/>
              <a:p>
                <a:pPr>
                  <a:lnSpc>
                    <a:spcPct val="120000"/>
                  </a:lnSpc>
                </a:pPr>
                <a:r>
                  <a:rPr lang="en-US" sz="1200" dirty="0">
                    <a:effectLst/>
                  </a:rPr>
                  <a:t>Wu et al. [469] prepared poly(vinyl acetate-co-dibutyl maleate) and poly(VA-co-DBM) latex films in the presence of grafted and post added poly(vinyl alcohol) (PVOH). They polymerisized of 4:1 weight ratio of VA and DBM in the presence of PVOH to obtain a series of samples in which about 13 to 30 % of the PVOH becames grafted to the copolymer particles. They assumed that grafting of the PVOH onto copolymer can occur via a chain transfer in two ways, involving the pendant methyl groups of the acetate units or the CH groups on the PVOH main chain according to Britton et al. [470]. Then they demonstrated that grafting of the PVOH strongly affects not only the colloidial stability of the copolymer latex, but also the properties of the latex films. MA was grafted onto the poly[ethylene-covinyl acetate (18 mol %)] (PEVA) in a Haake Rheocord mixer at </a:t>
                </a:r>
                <a:r>
                  <a:rPr lang="en-US" sz="1200" dirty="0">
                    <a:effectLst/>
                  </a:rPr>
                  <a:t>​</a:t>
                </a:r>
                <a14:m>
                  <m:oMath>
                    <m:r>
                      <m:rPr>
                        <m:sty m:val="p"/>
                      </m:rPr>
                      <a:rPr lang="en-US" sz="1200" dirty="0">
                        <a:solidFill>
                          <a:srgbClr val="000000"/>
                        </a:solidFill>
                        <a:effectLst/>
                      </a:rPr>
                      <m:t>175</m:t>
                    </m:r>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and rotor speed 50 rpm during 10 min. Kim et al. [471] also disclosed the detailed reaction mechanism of MA grafting onto poly(ethylene-co-vinyl acetate) (EVA).</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438400"/>
                <a:ext cx="9144000" cy="1828800"/>
              </a:xfrm>
              <a:prstGeom prst="rect">
                <a:avLst/>
              </a:prstGeom>
            </p:spPr>
            <p:txBody>
              <a:bodyPr anchor="t" lIns="0" tIns="0" rIns="0" bIns="0">
                <a:noAutofit/>
              </a:bodyPr>
              <a:lstStyle/>
              <a:p>
                <a:pPr>
                  <a:lnSpc>
                    <a:spcPct val="120000"/>
                  </a:lnSpc>
                </a:pPr>
                <a:r>
                  <a:rPr lang="en-US" sz="1200" dirty="0">
                    <a:effectLst/>
                  </a:rPr>
                  <a:t>Some publications of Rzayev et al. related to the synthesis and characterization of novel bioengineering macro- branched copolymers of MA and their conjugates with biopolymers. These grafted copolymers synthesized by reaction of poly(MA-rand- </a:t>
                </a:r>
                <a:r>
                  <a:rPr lang="en-US" sz="1200" dirty="0">
                    <a:effectLst/>
                  </a:rPr>
                  <a:t>​</a:t>
                </a:r>
                <a14:m>
                  <m:oMath>
                    <m:r>
                      <m:rPr>
                        <m:sty m:val="i"/>
                      </m:rPr>
                      <a:rPr lang="en-US" sz="1200" dirty="0">
                        <a:solidFill>
                          <a:srgbClr val="000000"/>
                        </a:solidFill>
                        <a:effectLst/>
                      </a:rPr>
                      <m:t>N</m:t>
                    </m:r>
                  </m:oMath>
                </a14:m>
                <a:r>
                  <a:rPr lang="en-US" sz="1200" dirty="0">
                    <a:effectLst/>
                  </a:rPr>
                  <a:t>-isopropylacrylamide) [8,472, 473], poly(MA-alt- </a:t>
                </a:r>
                <a:r>
                  <a:rPr lang="en-US" sz="1200" dirty="0">
                    <a:effectLst/>
                  </a:rPr>
                  <a:t>​</a:t>
                </a:r>
                <a14:m>
                  <m:oMath>
                    <m:r>
                      <m:rPr>
                        <m:sty m:val="i"/>
                      </m:rPr>
                      <a:rPr lang="en-US" sz="1200" dirty="0">
                        <a:solidFill>
                          <a:srgbClr val="000000"/>
                        </a:solidFill>
                        <a:effectLst/>
                      </a:rPr>
                      <m:t>p</m:t>
                    </m:r>
                  </m:oMath>
                </a14:m>
                <a:r>
                  <a:rPr lang="en-US" sz="1200" dirty="0">
                    <a:effectLst/>
                  </a:rPr>
                  <a:t>-vinylphenylboronic acid) and poly(citraconic anhydride-alt- </a:t>
                </a:r>
                <a:r>
                  <a:rPr lang="en-US" sz="1200" dirty="0">
                    <a:effectLst/>
                  </a:rPr>
                  <a:t>​</a:t>
                </a:r>
                <a14:m>
                  <m:oMath>
                    <m:r>
                      <m:rPr>
                        <m:sty m:val="i"/>
                      </m:rPr>
                      <a:rPr lang="en-US" sz="1200" dirty="0">
                        <a:solidFill>
                          <a:srgbClr val="000000"/>
                        </a:solidFill>
                        <a:effectLst/>
                      </a:rPr>
                      <m:t>p</m:t>
                    </m:r>
                  </m:oMath>
                </a14:m>
                <a:r>
                  <a:rPr lang="en-US" sz="1200" dirty="0">
                    <a:effectLst/>
                  </a:rPr>
                  <a:t>-vinylphenylboronic acid) [10], and poly(MA- </a:t>
                </a:r>
                <a:r>
                  <a:rPr lang="en-US" sz="1200" dirty="0">
                    <a:effectLst/>
                  </a:rPr>
                  <a:t>​</a:t>
                </a:r>
                <a14:m>
                  <m:oMath>
                    <m:r>
                      <m:rPr>
                        <m:sty m:val="i"/>
                      </m:rPr>
                      <a:rPr lang="en-US" sz="1200" dirty="0">
                        <a:solidFill>
                          <a:srgbClr val="000000"/>
                        </a:solidFill>
                        <a:effectLst/>
                      </a:rPr>
                      <m:t>n</m:t>
                    </m:r>
                  </m:oMath>
                </a14:m>
                <a:r>
                  <a:rPr lang="en-US" sz="1200" dirty="0">
                    <a:effectLst/>
                  </a:rPr>
                  <a:t>-hexene-1) [13,14] with </a:t>
                </a:r>
                <a:r>
                  <a:rPr lang="en-US" sz="1200" dirty="0">
                    <a:effectLst/>
                  </a:rPr>
                  <a:t>​</a:t>
                </a:r>
                <a14:m>
                  <m:oMath>
                    <m:r>
                      <m:rPr>
                        <m:sty m:val="i"/>
                      </m:rPr>
                      <a:rPr lang="en-US" sz="1200" dirty="0">
                        <a:solidFill>
                          <a:srgbClr val="000000"/>
                        </a:solidFill>
                        <a:effectLst/>
                      </a:rPr>
                      <m:t>α</m:t>
                    </m:r>
                  </m:oMath>
                </a14:m>
                <a:r>
                  <a:rPr lang="en-US" sz="1200" dirty="0">
                    <a:effectLst/>
                  </a:rPr>
                  <a:t>-hydroxy- </a:t>
                </a:r>
                <a:r>
                  <a:rPr lang="en-US" sz="1200" dirty="0">
                    <a:effectLst/>
                  </a:rPr>
                  <a:t>​</a:t>
                </a:r>
                <a14:m>
                  <m:oMath>
                    <m:r>
                      <m:rPr>
                        <m:sty m:val="i"/>
                      </m:rPr>
                      <a:rPr lang="en-US" sz="1200" dirty="0">
                        <a:solidFill>
                          <a:srgbClr val="000000"/>
                        </a:solidFill>
                        <a:effectLst/>
                      </a:rPr>
                      <m:t>ω</m:t>
                    </m:r>
                  </m:oMath>
                </a14:m>
                <a:r>
                  <a:rPr lang="en-US" sz="1200" dirty="0">
                    <a:effectLst/>
                  </a:rPr>
                  <a:t> methoxy-poly(ethylene oxide) in the 1,4-dioxane at 50°C according to the following general Figure 32.</a:t>
                </a:r>
                <a:br>
                  <a:rPr lang="en-US" sz="1200" dirty="0"/>
                </a:br>
                <a:r>
                  <a:rPr lang="en-US" sz="1200" dirty="0">
                    <a:effectLst/>
                  </a:rPr>
                  <a:t> Variations on the </a:t>
                </a:r>
                <a:r>
                  <a:rPr lang="en-US" sz="1200" dirty="0">
                    <a:effectLst/>
                  </a:rPr>
                  <a:t>​</a:t>
                </a:r>
                <a14:m>
                  <m:oMath>
                    <m:r>
                      <m:rPr>
                        <m:sty m:val="i"/>
                      </m:rPr>
                      <a:rPr lang="en-US" sz="1200" dirty="0">
                        <a:solidFill>
                          <a:srgbClr val="000000"/>
                        </a:solidFill>
                        <a:effectLst/>
                      </a:rPr>
                      <m:t>ω</m:t>
                    </m:r>
                  </m:oMath>
                </a14:m>
                <a:r>
                  <a:rPr lang="en-US" sz="1200" dirty="0">
                    <a:effectLst/>
                  </a:rPr>
                  <a:t>-methoxypoly(ethylene glycol) grafted poly(ethyl-2-cyanoacrylate) (ECA) copolymers, namely poly </a:t>
                </a:r>
                <a:r>
                  <a:rPr lang="en-US" sz="1200" dirty="0">
                    <a:effectLst/>
                  </a:rPr>
                  <a:t>​</a:t>
                </a:r>
                <a14:m>
                  <m:oMath>
                    <m:r>
                      <m:rPr>
                        <m:sty m:val="p"/>
                      </m:rPr>
                      <a:rPr lang="en-US" sz="1200" dirty="0">
                        <a:solidFill>
                          <a:srgbClr val="000000"/>
                        </a:solidFill>
                        <a:effectLst/>
                      </a:rPr>
                      <m:t>(</m:t>
                    </m:r>
                    <m:r>
                      <m:rPr>
                        <m:sty m:val="i"/>
                      </m:rPr>
                      <a:rPr lang="en-US" sz="1200" dirty="0">
                        <a:solidFill>
                          <a:srgbClr val="000000"/>
                        </a:solidFill>
                        <a:effectLst/>
                      </a:rPr>
                      <m:t>α</m:t>
                    </m:r>
                    <m:r>
                      <m:rPr>
                        <m:sty m:val="p"/>
                      </m:rPr>
                      <a:rPr lang="en-US" sz="1200" dirty="0">
                        <a:solidFill>
                          <a:srgbClr val="000000"/>
                        </a:solidFill>
                        <a:effectLst/>
                      </a:rPr>
                      <m:t>−</m:t>
                    </m:r>
                  </m:oMath>
                </a14:m>
                <a:r>
                  <a:rPr lang="en-US" sz="1200" dirty="0">
                    <a:effectLst/>
                  </a:rPr>
                  <a:t> MA- </a:t>
                </a:r>
                <a:r>
                  <a:rPr lang="en-US" sz="1200" dirty="0">
                    <a:effectLst/>
                  </a:rPr>
                  <a:t>​</a:t>
                </a:r>
                <a14:m>
                  <m:oMath>
                    <m:r>
                      <m:rPr>
                        <m:sty m:val="i"/>
                      </m:rPr>
                      <a:rPr lang="en-US" sz="1200" dirty="0">
                        <a:solidFill>
                          <a:srgbClr val="000000"/>
                        </a:solidFill>
                        <a:effectLst/>
                      </a:rPr>
                      <m:t>ω</m:t>
                    </m:r>
                  </m:oMath>
                </a14:m>
                <a:r>
                  <a:rPr lang="en-US" sz="1200" dirty="0">
                    <a:effectLst/>
                  </a:rPr>
                  <a:t>-methoxy-PEG)-co-ECA)s, Deng et al. [474] prepared via the initial synthesis of </a:t>
                </a:r>
                <a:r>
                  <a:rPr lang="en-US" sz="1200" dirty="0">
                    <a:effectLst/>
                  </a:rPr>
                  <a:t>​</a:t>
                </a:r>
                <a14:m>
                  <m:oMath>
                    <m:r>
                      <m:rPr>
                        <m:sty m:val="i"/>
                      </m:rPr>
                      <a:rPr lang="en-US" sz="1200" dirty="0">
                        <a:solidFill>
                          <a:srgbClr val="000000"/>
                        </a:solidFill>
                        <a:effectLst/>
                      </a:rPr>
                      <m:t>ω</m:t>
                    </m:r>
                  </m:oMath>
                </a14:m>
                <a:r>
                  <a:rPr lang="en-US" sz="1200" dirty="0">
                    <a:effectLst/>
                  </a:rPr>
                  <a:t>-methoxy-PEG macromonomer using MA, which then copolymerized with ECA in the presence of radical initiator (AIBN). Synthesis</a:t>
                </a:r>
              </a:p>
            </p:txBody>
          </p:sp>
        </mc:Choice>
        <mc:Fallback/>
      </mc:AlternateContent>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c586f7a7374d2c191a001f22efcf78422b29de7c.jpg"/>
          <p:cNvPicPr/>
          <p:nvPr/>
        </p:nvPicPr>
        <p:blipFill>
          <a:blip r:embed="rId2" cstate="print"/>
          <a:srcRect/>
          <a:stretch>
            <a:fillRect/>
          </a:stretch>
        </p:blipFill>
        <p:spPr>
          <a:xfrm>
            <a:off x="1524000" y="457200"/>
            <a:ext cx="8248650" cy="3914775"/>
          </a:xfrm>
          <a:prstGeom prst="rect">
            <a:avLst/>
          </a:prstGeom>
        </p:spPr>
      </p:pic>
      <mc:AlternateContent xmlns:mc="http://schemas.openxmlformats.org/markup-compatibility/2006">
        <mc:Choice xmlns:a14="http://schemas.microsoft.com/office/drawing/2010/main" Requires="a14">
          <p:sp>
            <p:nvSpPr>
              <p:cNvPr id="3" name="Text"/>
              <p:cNvSpPr/>
              <p:nvPr/>
            </p:nvSpPr>
            <p:spPr>
              <a:xfrm>
                <a:off x="1524000" y="4371975"/>
                <a:ext cx="9144000" cy="228600"/>
              </a:xfrm>
              <a:prstGeom prst="rect">
                <a:avLst/>
              </a:prstGeom>
            </p:spPr>
            <p:txBody>
              <a:bodyPr anchor="t" lIns="0" tIns="0" rIns="0" bIns="0">
                <a:noAutofit/>
              </a:bodyPr>
              <a:lstStyle/>
              <a:p>
                <a:pPr>
                  <a:lnSpc>
                    <a:spcPct val="120000"/>
                  </a:lnSpc>
                </a:pPr>
                <a:r>
                  <a:rPr lang="en-US" sz="1200" dirty="0">
                    <a:effectLst/>
                  </a:rPr>
                  <a:t>Figure 32. Grafting of the various anhydride-containing copolymers with </a:t>
                </a:r>
                <a:r>
                  <a:rPr lang="en-US" sz="1200" dirty="0">
                    <a:effectLst/>
                  </a:rPr>
                  <a:t>​</a:t>
                </a:r>
                <a14:m>
                  <m:oMath>
                    <m:r>
                      <m:rPr>
                        <m:sty m:val="i"/>
                      </m:rPr>
                      <a:rPr lang="en-US" sz="1200" dirty="0">
                        <a:solidFill>
                          <a:srgbClr val="000000"/>
                        </a:solidFill>
                        <a:effectLst/>
                      </a:rPr>
                      <m:t>α</m:t>
                    </m:r>
                  </m:oMath>
                </a14:m>
                <a:r>
                  <a:rPr lang="en-US" sz="1200" dirty="0">
                    <a:effectLst/>
                  </a:rPr>
                  <a:t>-hydroxy- </a:t>
                </a:r>
                <a:r>
                  <a:rPr lang="en-US" sz="1200" dirty="0">
                    <a:effectLst/>
                  </a:rPr>
                  <a:t>​</a:t>
                </a:r>
                <a14:m>
                  <m:oMath>
                    <m:r>
                      <m:rPr>
                        <m:sty m:val="i"/>
                      </m:rPr>
                      <a:rPr lang="en-US" sz="1200" dirty="0">
                        <a:solidFill>
                          <a:srgbClr val="000000"/>
                        </a:solidFill>
                        <a:effectLst/>
                      </a:rPr>
                      <m:t>ω</m:t>
                    </m:r>
                  </m:oMath>
                </a14:m>
                <a:r>
                  <a:rPr lang="en-US" sz="1200" dirty="0">
                    <a:effectLst/>
                  </a:rPr>
                  <a:t>-methoxy-poly(ethylene oxide).</a:t>
                </a:r>
              </a:p>
            </p:txBody>
          </p:sp>
        </mc:Choice>
        <mc:Fallback/>
      </mc:AlternateContent>
      <p:sp>
        <p:nvSpPr>
          <p:cNvPr id="2" name="Text"/>
          <p:cNvSpPr/>
          <p:nvPr/>
        </p:nvSpPr>
        <p:spPr>
          <a:xfrm>
            <a:off x="1524000" y="4600575"/>
            <a:ext cx="9144000" cy="228600"/>
          </a:xfrm>
          <a:prstGeom prst="rect">
            <a:avLst/>
          </a:prstGeom>
        </p:spPr>
        <p:txBody>
          <a:bodyPr anchor="t" lIns="0" tIns="0" rIns="0" bIns="0">
            <a:noAutofit/>
          </a:bodyPr>
          <a:lstStyle/>
          <a:p>
            <a:pPr>
              <a:lnSpc>
                <a:spcPct val="120000"/>
              </a:lnSpc>
            </a:pPr>
            <a:r>
              <a:rPr lang="en-US" sz="1200" dirty="0">
                <a:effectLst/>
              </a:rPr>
              <a:t>routes and structure of copolymers were represented as follows (Figure 33):</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976ba508e2bd7cfb12bf0dc8201c5155e829a852.jpg"/>
          <p:cNvPicPr/>
          <p:nvPr/>
        </p:nvPicPr>
        <p:blipFill>
          <a:blip r:embed="rId2" cstate="print"/>
          <a:srcRect/>
          <a:stretch>
            <a:fillRect/>
          </a:stretch>
        </p:blipFill>
        <p:spPr>
          <a:xfrm>
            <a:off x="1524000" y="457200"/>
            <a:ext cx="8048625" cy="3848100"/>
          </a:xfrm>
          <a:prstGeom prst="rect">
            <a:avLst/>
          </a:prstGeom>
        </p:spPr>
      </p:pic>
      <mc:AlternateContent xmlns:mc="http://schemas.openxmlformats.org/markup-compatibility/2006">
        <mc:Choice xmlns:a14="http://schemas.microsoft.com/office/drawing/2010/main" Requires="a14">
          <p:sp>
            <p:nvSpPr>
              <p:cNvPr id="3" name="Text"/>
              <p:cNvSpPr/>
              <p:nvPr/>
            </p:nvSpPr>
            <p:spPr>
              <a:xfrm>
                <a:off x="1524000" y="4305300"/>
                <a:ext cx="9144000" cy="457200"/>
              </a:xfrm>
              <a:prstGeom prst="rect">
                <a:avLst/>
              </a:prstGeom>
            </p:spPr>
            <p:txBody>
              <a:bodyPr anchor="t" lIns="0" tIns="0" rIns="0" bIns="0">
                <a:noAutofit/>
              </a:bodyPr>
              <a:lstStyle/>
              <a:p>
                <a:pPr>
                  <a:lnSpc>
                    <a:spcPct val="120000"/>
                  </a:lnSpc>
                </a:pPr>
                <a:r>
                  <a:rPr lang="en-US" sz="1200" dirty="0">
                    <a:effectLst/>
                  </a:rPr>
                  <a:t>Figure 33. Synthetic partways of </a:t>
                </a:r>
                <a:r>
                  <a:rPr lang="en-US" sz="1200" dirty="0">
                    <a:effectLst/>
                  </a:rPr>
                  <a:t>​</a:t>
                </a:r>
                <a14:m>
                  <m:oMath>
                    <m:r>
                      <m:rPr>
                        <m:sty m:val="i"/>
                      </m:rPr>
                      <a:rPr lang="en-US" sz="1200" dirty="0">
                        <a:solidFill>
                          <a:srgbClr val="000000"/>
                        </a:solidFill>
                        <a:effectLst/>
                      </a:rPr>
                      <m:t>ω</m:t>
                    </m:r>
                  </m:oMath>
                </a14:m>
                <a:r>
                  <a:rPr lang="en-US" sz="1200" dirty="0">
                    <a:effectLst/>
                  </a:rPr>
                  <a:t>-methoxy-PEG macromonomer and its copolymer with poly(ethyl-2-cyanoacrylate. Adapted from [474].</a:t>
                </a:r>
              </a:p>
            </p:txBody>
          </p:sp>
        </mc:Choice>
        <mc:Fallback/>
      </mc:AlternateContent>
      <p:sp>
        <p:nvSpPr>
          <p:cNvPr id="2" name="Text"/>
          <p:cNvSpPr/>
          <p:nvPr/>
        </p:nvSpPr>
        <p:spPr>
          <a:xfrm>
            <a:off x="1524000" y="4762500"/>
            <a:ext cx="9144000" cy="914400"/>
          </a:xfrm>
          <a:prstGeom prst="rect">
            <a:avLst/>
          </a:prstGeom>
        </p:spPr>
        <p:txBody>
          <a:bodyPr anchor="t" lIns="0" tIns="0" rIns="0" bIns="0">
            <a:noAutofit/>
          </a:bodyPr>
          <a:lstStyle/>
          <a:p>
            <a:pPr>
              <a:lnSpc>
                <a:spcPct val="120000"/>
              </a:lnSpc>
            </a:pPr>
            <a:r>
              <a:rPr lang="en-US" sz="1200" dirty="0">
                <a:effectLst/>
              </a:rPr>
              <a:t>Synthesized by authors macrobranched graft copolymers with core-shell structural nanoparticles have good hydrophobic drug-loading ability, which could provide a delivery system for hydrophobic compounds. They showed that the size of the nanoparticles increased with increasing the hydrophobic property of the solvent, increasing the copolymer concentration in the organic solvent, and increasing the molecular weight of branched moieties.</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971800"/>
              </a:xfrm>
              <a:prstGeom prst="rect">
                <a:avLst/>
              </a:prstGeom>
            </p:spPr>
            <p:txBody>
              <a:bodyPr anchor="t" lIns="0" tIns="0" rIns="0" bIns="0">
                <a:noAutofit/>
              </a:bodyPr>
              <a:lstStyle/>
              <a:p>
                <a:pPr>
                  <a:lnSpc>
                    <a:spcPct val="120000"/>
                  </a:lnSpc>
                </a:pPr>
                <a:r>
                  <a:rPr lang="en-US" sz="1200" dirty="0">
                    <a:effectLst/>
                  </a:rPr>
                  <a:t>Yağcı et al. [475] demonstrated a new synthetic approach for the preparation of well-defined graft copolymers on the basis of the Diels-Adler (DA) "click chemistry" between copolymers bearing anthryl pendant groups and maleimide as end-functionalized polymers. The grafting processes carried out at the reflux temperature of toluene with a quantitative yield and without need for an additional purification step. First, random copolymers of styrene (S) and chloromethylstyrene (CMS) with various CMS contents were prepared by the nitroxide-mediated radical polymerization (NMP) process. Then, the choromethyl groups were converted to anthryl groups via the etherifaction with 9-anthracenemethanol. The other component of the click reaction, namely protected maleimide functional polymers, were prepared independently by the modification of commercially available poly(ethylene glycol) (PEG) and poly(methyl methacrylate) (PMMA) obtained by atom transfer radical polymerization (ATRP) using the corresponding functional</a:t>
                </a:r>
                <a:br>
                  <a:rPr lang="en-US" sz="1200" dirty="0"/>
                </a:br>
                <a:r>
                  <a:rPr lang="en-US" sz="1200" dirty="0">
                    <a:effectLst/>
                  </a:rPr>
                  <a:t> initiator. Then, in the final stage PEG and PMMA prepolymers were deprotected by retro-Diels-Alder in situ reaction by heating at 110°C in toluene. The recovered maleimide groups and added anthrylfunctional polystyrene undergo Diels-Alder reaction to form the respective (PS- </a:t>
                </a:r>
                <a:r>
                  <a:rPr lang="en-US" sz="1200" dirty="0">
                    <a:effectLst/>
                  </a:rPr>
                  <a:t>​</a:t>
                </a:r>
                <a14:m>
                  <m:oMath>
                    <m:r>
                      <m:rPr>
                        <m:sty m:val="i"/>
                      </m:rPr>
                      <a:rPr lang="en-US" sz="1200" dirty="0">
                        <a:solidFill>
                          <a:srgbClr val="000000"/>
                        </a:solidFill>
                        <a:effectLst/>
                      </a:rPr>
                      <m:t>g</m:t>
                    </m:r>
                  </m:oMath>
                </a14:m>
                <a:r>
                  <a:rPr lang="en-US" sz="1200" dirty="0">
                    <a:effectLst/>
                  </a:rPr>
                  <a:t> -PEG) and (PS- </a:t>
                </a:r>
                <a:r>
                  <a:rPr lang="en-US" sz="1200" dirty="0">
                    <a:effectLst/>
                  </a:rPr>
                  <a:t>​</a:t>
                </a:r>
                <a14:m>
                  <m:oMath>
                    <m:r>
                      <m:rPr>
                        <m:sty m:val="i"/>
                      </m:rPr>
                      <a:rPr lang="en-US" sz="1200" dirty="0">
                        <a:solidFill>
                          <a:srgbClr val="000000"/>
                        </a:solidFill>
                        <a:effectLst/>
                      </a:rPr>
                      <m:t>g</m:t>
                    </m:r>
                  </m:oMath>
                </a14:m>
                <a:r>
                  <a:rPr lang="en-US" sz="1200" dirty="0">
                    <a:effectLst/>
                  </a:rPr>
                  <a:t>-PMMA) copolymers. Authors characterized the graft copolymers and the intermediates in detail by using a combination of various methods such as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oMath>
                </a14:m>
                <a:r>
                  <a:rPr lang="en-US" sz="1200" dirty="0">
                    <a:effectLst/>
                  </a:rPr>
                  <a:t> H NMR, GPC, UV, fluorescence, DSC, and AFM measurements. According to authors, the strategy adopted in this study appears to be entirely satisfactory in terms of efficiency and simplicity.</a:t>
                </a:r>
              </a:p>
            </p:txBody>
          </p:sp>
        </mc:Choice>
        <mc:Fallback/>
      </mc:AlternateContent>
      <p:sp>
        <p:nvSpPr>
          <p:cNvPr id="2" name="Text"/>
          <p:cNvSpPr/>
          <p:nvPr/>
        </p:nvSpPr>
        <p:spPr>
          <a:xfrm>
            <a:off x="1524000" y="3581400"/>
            <a:ext cx="9144000" cy="1371600"/>
          </a:xfrm>
          <a:prstGeom prst="rect">
            <a:avLst/>
          </a:prstGeom>
        </p:spPr>
        <p:txBody>
          <a:bodyPr anchor="t" lIns="0" tIns="0" rIns="0" bIns="0">
            <a:noAutofit/>
          </a:bodyPr>
          <a:lstStyle/>
          <a:p>
            <a:pPr>
              <a:lnSpc>
                <a:spcPct val="120000"/>
              </a:lnSpc>
            </a:pPr>
            <a:r>
              <a:rPr lang="en-US" sz="1200" dirty="0">
                <a:effectLst/>
              </a:rPr>
              <a:t>Yoon et al. [476] prepared the reactive blend of poly(ethylene terphthalate) (PET) and poly(MA-costyrene). They compared the properties of this reactive blend and PET/PS physical blend. It was expected that the reaction between ester groups in PET and maleic sites in copolymer would affect the properties of the blends. The reaction was observed in 70 and 90 % copolymer blends. It was confirmed indirectly from the solubility of the blends in THF. The reaction between the ester groups in PET and anhydride units in copolymer produces a graft polymer, which increases the viscosity of the blends. Besides these two blend compositions, morphology indicates that there are interactions between two phases in all PET/poly(MA-co-styrene) blend compositions.</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600200"/>
              </a:xfrm>
              <a:prstGeom prst="rect">
                <a:avLst/>
              </a:prstGeom>
            </p:spPr>
            <p:txBody>
              <a:bodyPr anchor="t" lIns="0" tIns="0" rIns="0" bIns="0">
                <a:noAutofit/>
              </a:bodyPr>
              <a:lstStyle/>
              <a:p>
                <a:pPr>
                  <a:lnSpc>
                    <a:spcPct val="120000"/>
                  </a:lnSpc>
                </a:pPr>
                <a:r>
                  <a:rPr lang="en-US" sz="1200" dirty="0">
                    <a:effectLst/>
                  </a:rPr>
                  <a:t>Graft copolymers involving MA moieties have been the subject of considerable interest, because these grafting anhydride units are reactive carbonyl groups which are subjected to numerous reactions. Abd El-Rehim et al. [477] reported the radiation-induced graft copolymeri- zation of MA and styrene with PE, and some reactions of graft copolymers with metal salts and amine-containing compounds. Authors chemically modified the PE-(MA-co-styrene) graft copolymers with different reagents containing various functional groups. The scheme of these reactions represented in Figure 34. According to this Figure, the functionlization of the grafted membranes is a ring opening reaction, and there is no other low molecula release. The conversion of the MA units in the graft copolymer membranes (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p"/>
                          </m:rPr>
                          <a:rPr lang="en-US" sz="1200" dirty="0">
                            <a:solidFill>
                              <a:srgbClr val="000000"/>
                            </a:solidFill>
                            <a:effectLst/>
                          </a:rPr>
                          <m:t>MA</m:t>
                        </m:r>
                      </m:sub>
                    </m:sSub>
                  </m:oMath>
                </a14:m>
                <a:r>
                  <a:rPr lang="en-US" sz="1200" dirty="0">
                    <a:effectLst/>
                  </a:rPr>
                  <a:t> ) calculated as follows:</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209800"/>
                <a:ext cx="9144000" cy="200025"/>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p"/>
                                  </m:rPr>
                                  <a:rPr lang="en-US" sz="1200" dirty="0">
                                    <a:solidFill>
                                      <a:srgbClr val="000000"/>
                                    </a:solidFill>
                                    <a:effectLst/>
                                  </a:rPr>
                                  <m:t>MA</m:t>
                                </m:r>
                              </m:sub>
                            </m:sSub>
                            <m:r>
                              <m:rPr>
                                <m:sty m:val="p"/>
                              </m:rPr>
                              <a:rPr lang="en-US" sz="1200" dirty="0">
                                <a:solidFill>
                                  <a:srgbClr val="000000"/>
                                </a:solidFill>
                                <a:effectLst/>
                              </a:rPr>
                              <m:t>=</m:t>
                            </m:r>
                            <m:d>
                              <m:dPr>
                                <m:begChr m:val="["/>
                                <m:endChr m:val="]"/>
                                <m:ctrlPr>
                                  <a:rPr sz="1200">
                                    <a:latin typeface="Cambria Math" panose="02040503050406030204" pitchFamily="18" charset="0"/>
                                  </a:rPr>
                                </m:ctrlPr>
                              </m:dPr>
                              <m:e>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W</m:t>
                                        </m:r>
                                      </m:e>
                                      <m:sub>
                                        <m:r>
                                          <m:rPr>
                                            <m:sty m:val="p"/>
                                          </m:rPr>
                                          <a:rPr lang="en-US" sz="1200" dirty="0">
                                            <a:solidFill>
                                              <a:srgbClr val="000000"/>
                                            </a:solidFill>
                                            <a:effectLst/>
                                          </a:rPr>
                                          <m:t>1</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W</m:t>
                                        </m:r>
                                      </m:e>
                                      <m:sub>
                                        <m:r>
                                          <m:rPr>
                                            <m:sty m:val="p"/>
                                          </m:rPr>
                                          <a:rPr lang="en-US" sz="1200" dirty="0">
                                            <a:solidFill>
                                              <a:srgbClr val="000000"/>
                                            </a:solidFill>
                                            <a:effectLst/>
                                          </a:rPr>
                                          <m:t>0</m:t>
                                        </m:r>
                                      </m:sub>
                                    </m:sSub>
                                  </m:e>
                                </m:d>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W</m:t>
                                    </m:r>
                                  </m:e>
                                  <m:sub>
                                    <m:r>
                                      <m:rPr>
                                        <m:sty m:val="p"/>
                                      </m:rPr>
                                      <a:rPr lang="en-US" sz="1200" dirty="0">
                                        <a:solidFill>
                                          <a:srgbClr val="000000"/>
                                        </a:solidFill>
                                        <a:effectLst/>
                                      </a:rPr>
                                      <m:t>0</m:t>
                                    </m:r>
                                  </m:sub>
                                </m:sSub>
                              </m:e>
                            </m:d>
                            <m:r>
                              <m:rPr>
                                <m:sty m:val="p"/>
                              </m:rPr>
                              <a:rPr lang="en-US" sz="1200" dirty="0">
                                <a:solidFill>
                                  <a:srgbClr val="000000"/>
                                </a:solidFill>
                                <a:effectLst/>
                              </a:rPr>
                              <m:t>⋅</m:t>
                            </m:r>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1</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2</m:t>
                                    </m:r>
                                  </m:sub>
                                </m:sSub>
                              </m:e>
                            </m:d>
                            <m:r>
                              <m:rPr>
                                <m:sty m:val="p"/>
                              </m:rPr>
                              <a:rPr lang="en-US" sz="1200" dirty="0">
                                <a:solidFill>
                                  <a:srgbClr val="000000"/>
                                </a:solidFill>
                                <a:effectLst/>
                              </a:rPr>
                              <m:t>×</m:t>
                            </m:r>
                            <m:r>
                              <m:rPr>
                                <m:sty m:val="p"/>
                              </m:rPr>
                              <a:rPr lang="en-US" sz="1200" dirty="0">
                                <a:solidFill>
                                  <a:srgbClr val="000000"/>
                                </a:solidFill>
                                <a:effectLst/>
                              </a:rPr>
                              <m:t>100</m:t>
                            </m:r>
                          </m:e>
                          <m:e>
                            <m:r>
                              <m:rPr>
                                <m:sty m:val="p"/>
                              </m:rPr>
                              <a:rPr lang="en-US" sz="1200" dirty="0">
                                <a:solidFill>
                                  <a:srgbClr val="000000"/>
                                </a:solidFill>
                                <a:effectLst/>
                              </a:rPr>
                              <m:t>(18)</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562225"/>
                <a:ext cx="9144000" cy="4572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W</m:t>
                        </m:r>
                      </m:e>
                      <m:sub>
                        <m:r>
                          <m:rPr>
                            <m:sty m:val="p"/>
                          </m:rPr>
                          <a:rPr lang="en-US" sz="1200" dirty="0">
                            <a:solidFill>
                              <a:srgbClr val="000000"/>
                            </a:solidFill>
                            <a:effectLst/>
                          </a:rPr>
                          <m:t>1</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W</m:t>
                        </m:r>
                      </m:e>
                      <m:sub>
                        <m:r>
                          <m:rPr>
                            <m:sty m:val="p"/>
                          </m:rPr>
                          <a:rPr lang="en-US" sz="1200" dirty="0">
                            <a:solidFill>
                              <a:srgbClr val="000000"/>
                            </a:solidFill>
                            <a:effectLst/>
                          </a:rPr>
                          <m:t>o</m:t>
                        </m:r>
                      </m:sub>
                    </m:sSub>
                  </m:oMath>
                </a14:m>
                <a:r>
                  <a:rPr lang="en-US" sz="1200" dirty="0">
                    <a:effectLst/>
                  </a:rPr>
                  <a:t> are the weights (g) of poly[PE- </a:t>
                </a:r>
                <a:r>
                  <a:rPr lang="en-US" sz="1200" dirty="0">
                    <a:effectLst/>
                  </a:rPr>
                  <a:t>​</a:t>
                </a:r>
                <a14:m>
                  <m:oMath>
                    <m:r>
                      <m:rPr>
                        <m:sty m:val="i"/>
                      </m:rPr>
                      <a:rPr lang="en-US" sz="1200" dirty="0">
                        <a:solidFill>
                          <a:srgbClr val="000000"/>
                        </a:solidFill>
                        <a:effectLst/>
                      </a:rPr>
                      <m:t>g</m:t>
                    </m:r>
                  </m:oMath>
                </a14:m>
                <a:r>
                  <a:rPr lang="en-US" sz="1200" dirty="0">
                    <a:effectLst/>
                  </a:rPr>
                  <a:t>-poly(S-</a:t>
                </a:r>
                <a:r>
                  <a:rPr lang="en-US" sz="1200" dirty="0">
                    <a:effectLst/>
                  </a:rPr>
                  <a:t>​</a:t>
                </a:r>
                <a14:m>
                  <m:oMath>
                    <m:r>
                      <m:rPr>
                        <m:sty m:val="i"/>
                      </m:rPr>
                      <a:rPr lang="en-US" sz="1200" dirty="0">
                        <a:solidFill>
                          <a:srgbClr val="000000"/>
                        </a:solidFill>
                        <a:effectLst/>
                      </a:rPr>
                      <m:t>c</m:t>
                    </m:r>
                    <m:r>
                      <m:rPr>
                        <m:sty m:val="i"/>
                      </m:rPr>
                      <a:rPr lang="en-US" sz="1200" dirty="0">
                        <a:solidFill>
                          <a:srgbClr val="000000"/>
                        </a:solidFill>
                        <a:effectLst/>
                      </a:rPr>
                      <m:t>o</m:t>
                    </m:r>
                    <m:r>
                      <m:rPr>
                        <m:sty m:val="p"/>
                      </m:rPr>
                      <a:rPr lang="en-US" sz="1200" dirty="0">
                        <a:solidFill>
                          <a:srgbClr val="000000"/>
                        </a:solidFill>
                        <a:effectLst/>
                      </a:rPr>
                      <m:t>−</m:t>
                    </m:r>
                    <m:r>
                      <m:rPr>
                        <m:sty m:val="p"/>
                      </m:rPr>
                      <a:rPr lang="en-US" sz="1200" dirty="0">
                        <a:solidFill>
                          <a:srgbClr val="000000"/>
                        </a:solidFill>
                        <a:effectLst/>
                      </a:rPr>
                      <m:t>MA</m:t>
                    </m:r>
                    <m:r>
                      <m:rPr>
                        <m:sty m:val="p"/>
                      </m:rPr>
                      <a:rPr lang="en-US" sz="1200" dirty="0">
                        <a:solidFill>
                          <a:srgbClr val="000000"/>
                        </a:solidFill>
                        <a:effectLst/>
                      </a:rPr>
                      <m:t>)</m:t>
                    </m:r>
                    <m:r>
                      <m:rPr>
                        <m:sty m:val="p"/>
                      </m:rPr>
                      <a:rPr lang="en-US" sz="1200" dirty="0">
                        <a:solidFill>
                          <a:srgbClr val="000000"/>
                        </a:solidFill>
                        <a:effectLst/>
                      </a:rPr>
                      <m:t>]</m:t>
                    </m:r>
                  </m:oMath>
                </a14:m>
                <a:r>
                  <a:rPr lang="en-US" sz="1200" dirty="0">
                    <a:effectLst/>
                  </a:rPr>
                  <a:t> after and before reaction, respectively;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1</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2</m:t>
                        </m:r>
                      </m:sub>
                    </m:sSub>
                  </m:oMath>
                </a14:m>
                <a:r>
                  <a:rPr lang="en-US" sz="1200" dirty="0">
                    <a:effectLst/>
                  </a:rPr>
                  <a:t> are the molecular weights of the S-MA chain unit (212 </a:t>
                </a:r>
                <a:r>
                  <a:rPr lang="en-US" sz="1200" dirty="0">
                    <a:effectLst/>
                  </a:rPr>
                  <a:t>​</a:t>
                </a:r>
                <a14:m>
                  <m:oMath>
                    <m:r>
                      <m:rPr>
                        <m:sty m:val="p"/>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mol</m:t>
                    </m:r>
                  </m:oMath>
                </a14:m>
                <a:r>
                  <a:rPr lang="en-US" sz="1200" dirty="0">
                    <a:effectLst/>
                  </a:rPr>
                  <a:t> ) and the amine compound, respectively.</a:t>
                </a:r>
              </a:p>
            </p:txBody>
          </p:sp>
        </mc:Choice>
        <mc:Fallback/>
      </mc:AlternateContent>
      <p:sp>
        <p:nvSpPr>
          <p:cNvPr id="2" name="Text"/>
          <p:cNvSpPr/>
          <p:nvPr/>
        </p:nvSpPr>
        <p:spPr>
          <a:xfrm>
            <a:off x="1524000" y="3171825"/>
            <a:ext cx="9144000" cy="457200"/>
          </a:xfrm>
          <a:prstGeom prst="rect">
            <a:avLst/>
          </a:prstGeom>
        </p:spPr>
        <p:txBody>
          <a:bodyPr anchor="t" lIns="0" tIns="0" rIns="0" bIns="0">
            <a:noAutofit/>
          </a:bodyPr>
          <a:lstStyle/>
          <a:p>
            <a:pPr>
              <a:lnSpc>
                <a:spcPct val="120000"/>
              </a:lnSpc>
            </a:pPr>
            <a:r>
              <a:rPr lang="en-US" sz="1200" dirty="0">
                <a:effectLst/>
              </a:rPr>
              <a:t>According to the authors, these functionalized graft copolymer membranes are possessed good chelating properties towards different metal ions such as Fe(III), Cr(II), Cu(II), Ni(II), Cd(II) and Hg(II).</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594edac5ab609d23b00363b5a6b395ee253262e5.jpg"/>
          <p:cNvPicPr/>
          <p:nvPr/>
        </p:nvPicPr>
        <p:blipFill>
          <a:blip r:embed="rId2" cstate="print"/>
          <a:srcRect/>
          <a:stretch>
            <a:fillRect/>
          </a:stretch>
        </p:blipFill>
        <p:spPr>
          <a:xfrm>
            <a:off x="1524000" y="457200"/>
            <a:ext cx="5591175" cy="5943600"/>
          </a:xfrm>
          <a:prstGeom prst="rect">
            <a:avLst/>
          </a:prstGeom>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34. Radiation-induced graft copolymerization of MA and styrene with PE, and some reactions of graft copolymers with amine-containing compounds. Adapted from [477].</a:t>
            </a:r>
          </a:p>
        </p:txBody>
      </p:sp>
      <p:sp>
        <p:nvSpPr>
          <p:cNvPr id="2" name="Text"/>
          <p:cNvSpPr/>
          <p:nvPr/>
        </p:nvSpPr>
        <p:spPr>
          <a:xfrm>
            <a:off x="1524000" y="914400"/>
            <a:ext cx="9144000" cy="342900"/>
          </a:xfrm>
          <a:prstGeom prst="rect">
            <a:avLst/>
          </a:prstGeom>
        </p:spPr>
        <p:txBody>
          <a:bodyPr anchor="t" lIns="0" tIns="0" rIns="0" bIns="0">
            <a:noAutofit/>
          </a:bodyPr>
          <a:lstStyle/>
          <a:p>
            <a:pPr>
              <a:lnSpc>
                <a:spcPct val="120000"/>
              </a:lnSpc>
            </a:pPr>
            <a:r>
              <a:rPr lang="en-US" sz="1800" dirty="0" b="1">
                <a:effectLst/>
              </a:rPr>
              <a:t>7. Graft Copolymerization</a:t>
            </a:r>
          </a:p>
        </p:txBody>
      </p:sp>
      <p:sp>
        <p:nvSpPr>
          <p:cNvPr id="2" name="Text"/>
          <p:cNvSpPr/>
          <p:nvPr/>
        </p:nvSpPr>
        <p:spPr>
          <a:xfrm>
            <a:off x="1524000" y="1447039"/>
            <a:ext cx="9144000" cy="914400"/>
          </a:xfrm>
          <a:prstGeom prst="rect">
            <a:avLst/>
          </a:prstGeom>
        </p:spPr>
        <p:txBody>
          <a:bodyPr anchor="t" lIns="0" tIns="0" rIns="0" bIns="0">
            <a:noAutofit/>
          </a:bodyPr>
          <a:lstStyle/>
          <a:p>
            <a:pPr>
              <a:lnSpc>
                <a:spcPct val="120000"/>
              </a:lnSpc>
            </a:pPr>
            <a:r>
              <a:rPr lang="en-US" sz="1200" dirty="0">
                <a:effectLst/>
              </a:rPr>
              <a:t>In fact, MA is a versatile hydrophilic monomer. If MA is grafted onto substrates and further hydrolyzed, the substrates will carry a denser distribution of -COOH groups; furthermore, a large number of other functional groups can be introduced onto the substrates by the reactive anhydride groups. Some studies have suggested that poly(MA) and MA copolymers show antitumor and antiviral activities [1-2,67]. Therefore, much research has been focused on the polymerization and copolymerization of MA [1-3,4,27].</a:t>
            </a:r>
          </a:p>
        </p:txBody>
      </p:sp>
      <p:sp>
        <p:nvSpPr>
          <p:cNvPr id="2" name="Text"/>
          <p:cNvSpPr/>
          <p:nvPr/>
        </p:nvSpPr>
        <p:spPr>
          <a:xfrm>
            <a:off x="1524000" y="2513839"/>
            <a:ext cx="9144000" cy="914400"/>
          </a:xfrm>
          <a:prstGeom prst="rect">
            <a:avLst/>
          </a:prstGeom>
        </p:spPr>
        <p:txBody>
          <a:bodyPr anchor="t" lIns="0" tIns="0" rIns="0" bIns="0">
            <a:noAutofit/>
          </a:bodyPr>
          <a:lstStyle/>
          <a:p>
            <a:pPr>
              <a:lnSpc>
                <a:spcPct val="120000"/>
              </a:lnSpc>
            </a:pPr>
            <a:r>
              <a:rPr lang="en-US" sz="1200" dirty="0">
                <a:effectLst/>
              </a:rPr>
              <a:t>In ealier publications, Gaylord et al. grafted poly(MA-alt-styrene) and poly(styrene-alt-MMA) onto PS and poly(styrene-alt-AN) [355,356] onto cellulose [478] in the presence of zinc chloride. Poly(MA-alt-styrene) grafted onto a variety of conventional polymers through freeradical initiation. Graft copolymerization of MA/styrene mixture in the presence of different thermoplastic polymers and synthetic rubbers using various type mixing apparatus and extruders was also reported [1,2,353,354].</a:t>
            </a:r>
          </a:p>
        </p:txBody>
      </p:sp>
      <p:sp>
        <p:nvSpPr>
          <p:cNvPr id="2" name="Text"/>
          <p:cNvSpPr/>
          <p:nvPr/>
        </p:nvSpPr>
        <p:spPr>
          <a:xfrm>
            <a:off x="1524000" y="3580639"/>
            <a:ext cx="9144000" cy="1371600"/>
          </a:xfrm>
          <a:prstGeom prst="rect">
            <a:avLst/>
          </a:prstGeom>
        </p:spPr>
        <p:txBody>
          <a:bodyPr anchor="t" lIns="0" tIns="0" rIns="0" bIns="0">
            <a:noAutofit/>
          </a:bodyPr>
          <a:lstStyle/>
          <a:p>
            <a:pPr>
              <a:lnSpc>
                <a:spcPct val="120000"/>
              </a:lnSpc>
            </a:pPr>
            <a:r>
              <a:rPr lang="en-US" sz="1200" dirty="0">
                <a:effectLst/>
              </a:rPr>
              <a:t>Graft copolymerization method using various donoracceptor monomer mixtures, including styrene and MA, significantly increases functiolalization degree of thermoplastic polymers. It was reported that there are some monomers, predominantly styrene, capable of acting as a donoting electron to MA, leading to an enhancement of MA grafting efficiency onto polyolefins [163,164]. Authors found that styrene monomer effectively increases the grafting percentage of MA on PP and decreases the PP degradation. Styrene reacts with MA to form alternating copolymer during the melt process and that grafting of this copolymer leads to improvement in the grafting degree of</a:t>
            </a:r>
          </a:p>
        </p:txBody>
      </p:sp>
      <mc:AlternateContent xmlns:mc="http://schemas.openxmlformats.org/markup-compatibility/2006">
        <mc:Choice xmlns:a14="http://schemas.microsoft.com/office/drawing/2010/main" Requires="a14">
          <p:sp>
            <p:nvSpPr>
              <p:cNvPr id="2" name="Text"/>
              <p:cNvSpPr/>
              <p:nvPr/>
            </p:nvSpPr>
            <p:spPr>
              <a:xfrm>
                <a:off x="1524000" y="5104639"/>
                <a:ext cx="9144000" cy="1143000"/>
              </a:xfrm>
              <a:prstGeom prst="rect">
                <a:avLst/>
              </a:prstGeom>
            </p:spPr>
            <p:txBody>
              <a:bodyPr anchor="t" lIns="0" tIns="0" rIns="0" bIns="0">
                <a:noAutofit/>
              </a:bodyPr>
              <a:lstStyle/>
              <a:p>
                <a:pPr>
                  <a:lnSpc>
                    <a:spcPct val="120000"/>
                  </a:lnSpc>
                </a:pPr>
                <a:r>
                  <a:rPr lang="en-US" sz="1200" dirty="0">
                    <a:effectLst/>
                  </a:rPr>
                  <a:t>MA on the polymer [179,478]. The effect of various donor and/or acceptor comonomers such as styrene, </a:t>
                </a:r>
                <a:r>
                  <a:rPr lang="en-US" sz="1200" dirty="0">
                    <a:effectLst/>
                  </a:rPr>
                  <a:t>​</a:t>
                </a:r>
                <a14:m>
                  <m:oMath>
                    <m:r>
                      <m:rPr>
                        <m:sty m:val="i"/>
                      </m:rPr>
                      <a:rPr lang="en-US" sz="1200" dirty="0">
                        <a:solidFill>
                          <a:srgbClr val="000000"/>
                        </a:solidFill>
                        <a:effectLst/>
                      </a:rPr>
                      <m:t>α</m:t>
                    </m:r>
                  </m:oMath>
                </a14:m>
                <a:r>
                  <a:rPr lang="en-US" sz="1200" dirty="0">
                    <a:effectLst/>
                  </a:rPr>
                  <a:t> methylstyrene, vinyl acetate, </a:t>
                </a:r>
                <a:r>
                  <a:rPr lang="en-US" sz="1200" dirty="0">
                    <a:effectLst/>
                  </a:rPr>
                  <a:t>​</a:t>
                </a:r>
                <a14:m>
                  <m:oMath>
                    <m:r>
                      <m:rPr>
                        <m:sty m:val="i"/>
                      </m:rPr>
                      <a:rPr lang="en-US" sz="1200" dirty="0">
                        <a:solidFill>
                          <a:srgbClr val="000000"/>
                        </a:solidFill>
                        <a:effectLst/>
                      </a:rPr>
                      <m:t>N</m:t>
                    </m:r>
                  </m:oMath>
                </a14:m>
                <a:r>
                  <a:rPr lang="en-US" sz="1200" dirty="0">
                    <a:effectLst/>
                  </a:rPr>
                  <a:t>-vinylpyrrolidone, acrylic and methacrylic acids, esters of unsaturated mono- and dicarbonic acids, etc. on grafting conversion of MA onto linear low density PE [461] and PP[158,164,179,232,479] also studied. It was observed that grafting yields to PP decreases in the following raw: styrene </a:t>
                </a:r>
                <a:r>
                  <a:rPr lang="en-US" sz="1200" dirty="0">
                    <a:effectLst/>
                  </a:rPr>
                  <a:t>​</a:t>
                </a:r>
                <a14:m>
                  <m:oMath>
                    <m:r>
                      <m:rPr>
                        <m:sty m:val="p"/>
                      </m:rPr>
                      <a:rPr lang="en-US" sz="1200" dirty="0">
                        <a:solidFill>
                          <a:srgbClr val="000000"/>
                        </a:solidFill>
                        <a:effectLst/>
                      </a:rPr>
                      <m:t>≫</m:t>
                    </m:r>
                    <m:r>
                      <m:rPr>
                        <m:sty m:val="i"/>
                      </m:rPr>
                      <a:rPr lang="en-US" sz="1200" dirty="0">
                        <a:solidFill>
                          <a:srgbClr val="000000"/>
                        </a:solidFill>
                        <a:effectLst/>
                      </a:rPr>
                      <m:t>α</m:t>
                    </m:r>
                  </m:oMath>
                </a14:m>
                <a:r>
                  <a:rPr lang="en-US" sz="1200" dirty="0">
                    <a:effectLst/>
                  </a:rPr>
                  <a:t>-methylstyrene &gt; MMA &gt; vinyl acetate &gt; (no comonomer) &gt; N-vinylpyrrolidone. It was proposed that higher yields can be explained by formation of a charge transfer complex (CTC) between comonomers and MA as follows (Figure 35) [150,179]:</a:t>
                </a:r>
              </a:p>
            </p:txBody>
          </p:sp>
        </mc:Choice>
        <mc:Fallback/>
      </mc:AlternateContent>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02318e85cb698860479be185d154b79d2b089665.jpg"/>
          <p:cNvPicPr/>
          <p:nvPr/>
        </p:nvPicPr>
        <p:blipFill>
          <a:blip r:embed="rId2" cstate="print"/>
          <a:srcRect/>
          <a:stretch>
            <a:fillRect/>
          </a:stretch>
        </p:blipFill>
        <p:spPr>
          <a:xfrm>
            <a:off x="1524000" y="457200"/>
            <a:ext cx="6477000" cy="5943600"/>
          </a:xfrm>
          <a:prstGeom prst="rect">
            <a:avLst/>
          </a:prstGeom>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35. Graft copolymerization of MA and styrene with PP in the presence of free MA monomer and its CTC with styrene (S...MA). Adapted from [179].</a:t>
            </a:r>
          </a:p>
        </p:txBody>
      </p:sp>
      <mc:AlternateContent xmlns:mc="http://schemas.openxmlformats.org/markup-compatibility/2006">
        <mc:Choice xmlns:a14="http://schemas.microsoft.com/office/drawing/2010/main" Requires="a14">
          <p:sp>
            <p:nvSpPr>
              <p:cNvPr id="2" name="Text"/>
              <p:cNvSpPr/>
              <p:nvPr/>
            </p:nvSpPr>
            <p:spPr>
              <a:xfrm>
                <a:off x="1524000" y="914400"/>
                <a:ext cx="9144000" cy="2514600"/>
              </a:xfrm>
              <a:prstGeom prst="rect">
                <a:avLst/>
              </a:prstGeom>
            </p:spPr>
            <p:txBody>
              <a:bodyPr anchor="t" lIns="0" tIns="0" rIns="0" bIns="0">
                <a:noAutofit/>
              </a:bodyPr>
              <a:lstStyle/>
              <a:p>
                <a:pPr>
                  <a:lnSpc>
                    <a:spcPct val="120000"/>
                  </a:lnSpc>
                </a:pPr>
                <a:r>
                  <a:rPr lang="en-US" sz="1200" dirty="0">
                    <a:effectLst/>
                  </a:rPr>
                  <a:t>According to the authors, [S...MA] complex may have a higher reactivity than free MA. It was also likely that more efficient grafting may, in part, simply be due to attachment of a longer chain length graft rather than a greater number of graft sites [166]. On the basis of NMR data for styrene</a:t>
                </a:r>
                <a:r>
                  <a:rPr lang="en-US" sz="1200" dirty="0">
                    <a:effectLst/>
                  </a:rPr>
                  <a:t>​</a:t>
                </a:r>
                <a14:m>
                  <m:oMath>
                    <m:r>
                      <m:rPr>
                        <m:sty m:val="i"/>
                      </m:rPr>
                      <a:rPr lang="en-US" sz="1200" dirty="0">
                        <a:solidFill>
                          <a:srgbClr val="000000"/>
                        </a:solidFill>
                        <a:effectLst/>
                      </a:rPr>
                      <m:t>g</m:t>
                    </m:r>
                  </m:oMath>
                </a14:m>
                <a:r>
                  <a:rPr lang="en-US" sz="1200" dirty="0">
                    <a:effectLst/>
                  </a:rPr>
                  <a:t>-MA copolymers, authors suggest that the graft is a copolymer chain and not a single styrene-MA pair. Authors proposed that that styrene and MA do not show the same tendency to alternate in the chain in graft copolymer formation as is seen in conventional free radical copolymerization in solution at relatively low temperature. They found that the S/MA ratio in the graft exceeds the initial S/MA ratio irrespective of that ratio. The S:MA ratio in the graft copolymer varies from ca. 0.7:1 to 4.5:1 when the monomer ratio is varied in the range </a:t>
                </a:r>
                <a:r>
                  <a:rPr lang="en-US" sz="1200" dirty="0">
                    <a:effectLst/>
                  </a:rPr>
                  <a:t>​</a:t>
                </a:r>
                <a14:m>
                  <m:oMath>
                    <m:r>
                      <m:rPr>
                        <m:sty m:val="p"/>
                      </m:rPr>
                      <a:rPr lang="en-US" sz="1200" dirty="0">
                        <a:solidFill>
                          <a:srgbClr val="000000"/>
                        </a:solidFill>
                        <a:effectLst/>
                      </a:rPr>
                      <m:t>0.25</m:t>
                    </m:r>
                    <m:r>
                      <m:rPr>
                        <m:sty m:val="p"/>
                      </m:rPr>
                      <a:rPr lang="en-US" sz="1200" dirty="0">
                        <a:solidFill>
                          <a:srgbClr val="000000"/>
                        </a:solidFill>
                        <a:effectLst/>
                      </a:rPr>
                      <m:t>:</m:t>
                    </m:r>
                    <m:r>
                      <m:rPr>
                        <m:sty m:val="p"/>
                      </m:rPr>
                      <a:rPr lang="en-US" sz="1200" dirty="0">
                        <a:solidFill>
                          <a:srgbClr val="000000"/>
                        </a:solidFill>
                        <a:effectLst/>
                      </a:rPr>
                      <m:t>1</m:t>
                    </m:r>
                    <m:r>
                      <m:rPr>
                        <m:sty m:val="p"/>
                      </m:rPr>
                      <a:rPr lang="en-US" sz="1200" dirty="0">
                        <a:solidFill>
                          <a:srgbClr val="000000"/>
                        </a:solidFill>
                        <a:effectLst/>
                      </a:rPr>
                      <m:t>−</m:t>
                    </m:r>
                    <m:r>
                      <m:rPr>
                        <m:sty m:val="p"/>
                      </m:rPr>
                      <a:rPr lang="en-US" sz="1200" dirty="0">
                        <a:solidFill>
                          <a:srgbClr val="000000"/>
                        </a:solidFill>
                        <a:effectLst/>
                      </a:rPr>
                      <m:t>3</m:t>
                    </m:r>
                    <m:r>
                      <m:rPr>
                        <m:sty m:val="p"/>
                      </m:rPr>
                      <a:rPr lang="en-US" sz="1200" dirty="0">
                        <a:solidFill>
                          <a:srgbClr val="000000"/>
                        </a:solidFill>
                        <a:effectLst/>
                      </a:rPr>
                      <m:t>:</m:t>
                    </m:r>
                    <m:r>
                      <m:rPr>
                        <m:sty m:val="p"/>
                      </m:rPr>
                      <a:rPr lang="en-US" sz="1200" dirty="0">
                        <a:solidFill>
                          <a:srgbClr val="000000"/>
                        </a:solidFill>
                        <a:effectLst/>
                      </a:rPr>
                      <m:t>1</m:t>
                    </m:r>
                  </m:oMath>
                </a14:m>
                <a:r>
                  <a:rPr lang="en-US" sz="1200" dirty="0">
                    <a:effectLst/>
                  </a:rPr>
                  <a:t> (batch mixer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215</m:t>
                        </m:r>
                      </m:e>
                      <m:sup>
                        <m:r>
                          <m:rPr>
                            <m:sty m:val="p"/>
                          </m:rPr>
                          <a:rPr lang="en-US" sz="1200" dirty="0">
                            <a:solidFill>
                              <a:srgbClr val="000000"/>
                            </a:solidFill>
                            <a:effectLst/>
                          </a:rPr>
                          <m:t>∘</m:t>
                        </m:r>
                      </m:sup>
                    </m:sSup>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4.0</m:t>
                    </m:r>
                  </m:oMath>
                </a14:m>
                <a:r>
                  <a:rPr lang="en-US" sz="1200" dirty="0">
                    <a:effectLst/>
                  </a:rPr>
                  <a:t> wt.% MA vs. PP, 0.5 wt.% di- </a:t>
                </a:r>
                <a:r>
                  <a:rPr lang="en-US" sz="1200" dirty="0">
                    <a:effectLst/>
                  </a:rPr>
                  <a:t>​</a:t>
                </a:r>
                <a14:m>
                  <m:oMath>
                    <m:r>
                      <m:rPr>
                        <m:sty m:val="i"/>
                      </m:rPr>
                      <a:rPr lang="en-US" sz="1200" dirty="0">
                        <a:solidFill>
                          <a:srgbClr val="000000"/>
                        </a:solidFill>
                        <a:effectLst/>
                      </a:rPr>
                      <m:t>t</m:t>
                    </m:r>
                  </m:oMath>
                </a14:m>
                <a:r>
                  <a:rPr lang="en-US" sz="1200" dirty="0">
                    <a:effectLst/>
                  </a:rPr>
                  <a:t> -butylperoxy-2,5-dimethylhexane initiator) [179]. These results indicated that the chain growing reactions in the graft copolymerization occur by the mixed mechanism including alternating chain growing monomer pair through effective initiation of free radical/donor-acceptor (at S:MA=1:1 in feed) mixture and random chain growing styrene and MA units (at S&gt;MA in feed) (Rzayev's comment). According to Moad [150] these observations do not preclude the involvement of a CTC but do show that the monomers are not simply incorporated pairwise.</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581400"/>
                <a:ext cx="9144000" cy="1600200"/>
              </a:xfrm>
              <a:prstGeom prst="rect">
                <a:avLst/>
              </a:prstGeom>
            </p:spPr>
            <p:txBody>
              <a:bodyPr anchor="t" lIns="0" tIns="0" rIns="0" bIns="0">
                <a:noAutofit/>
              </a:bodyPr>
              <a:lstStyle/>
              <a:p>
                <a:pPr>
                  <a:lnSpc>
                    <a:spcPct val="120000"/>
                  </a:lnSpc>
                </a:pPr>
                <a:r>
                  <a:rPr lang="en-US" sz="1200" dirty="0">
                    <a:effectLst/>
                  </a:rPr>
                  <a:t>Surface photografting polymerization of MA and its CTCs with vinylacetate monomer and various solvents, such as THF, acetone, ethyl acetate and 2,4-dioxane, onto different polymeric substrates have been reported by Deng et al. [258-262,480]. The effects of grafting conditions such as the temperature, photoinitiator, solvent, and UV intensity on the graft polymerization of MA onto LDPE film were examined. Furthermore, the formation of grafted film was identified with FTIR and ESCA surface analysis methods [259]. It is known that PP polymeric radical in situ react with MA to produce MA terminated PP with a single MA unit. In the presence of styrene, the polymeric radical initiates a "stable" copolymerization of styrene and MA with an alternating manner [3,27,481]. The resulting PP- </a:t>
                </a:r>
                <a:r>
                  <a:rPr lang="en-US" sz="1200" dirty="0">
                    <a:effectLst/>
                  </a:rPr>
                  <a:t>​</a:t>
                </a:r>
                <a14:m>
                  <m:oMath>
                    <m:r>
                      <m:rPr>
                        <m:sty m:val="i"/>
                      </m:rPr>
                      <a:rPr lang="en-US" sz="1200" dirty="0">
                        <a:solidFill>
                          <a:srgbClr val="000000"/>
                        </a:solidFill>
                        <a:effectLst/>
                      </a:rPr>
                      <m:t>b</m:t>
                    </m:r>
                  </m:oMath>
                </a14:m>
                <a:r>
                  <a:rPr lang="en-US" sz="1200" dirty="0">
                    <a:effectLst/>
                  </a:rPr>
                  <a:t> -SMA diblock copolymer contains both PP and alternating styrene-MA segments.</a:t>
                </a:r>
              </a:p>
            </p:txBody>
          </p:sp>
        </mc:Choice>
        <mc:Fallback/>
      </mc:AlternateContent>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3886200"/>
              </a:xfrm>
              <a:prstGeom prst="rect">
                <a:avLst/>
              </a:prstGeom>
            </p:spPr>
            <p:txBody>
              <a:bodyPr anchor="t" lIns="0" tIns="0" rIns="0" bIns="0">
                <a:noAutofit/>
              </a:bodyPr>
              <a:lstStyle/>
              <a:p>
                <a:pPr>
                  <a:lnSpc>
                    <a:spcPct val="120000"/>
                  </a:lnSpc>
                </a:pPr>
                <a:r>
                  <a:rPr lang="en-US" sz="1200" dirty="0">
                    <a:effectLst/>
                  </a:rPr>
                  <a:t>Graft copolymerization of PP with MA or other monomers can be performed in a solution, the melt, and aqueous suspension, or a solid state. Solid-phase graft copolymerization is relatively new method developed in the early 1990s [135]. It is performed below the melting point of PP powder, normally with a high concentration of initiator and some interfacial agent. Compared with other grafting methods, solid-phase grafting has many advantages such as lower reaction temperature, free from the need for solvent recovery and simpler equipment requirement. So far, studies on solid-phase graft copolymerization of PP are mainly based on MA monomer [139,242,245,482]. Because the self-polymerization of MA is very poor, the MA graft segments only exist as a monomer or a short branch on the PP chains [180], and the grafting percentage is low (&lt; 5 %). Jia et al. [245] found that solid-phase copolymerization of PP with two acceptor-donor type of monomers such as , MA and styrene, significantly ncreased the grafting percentage and grafting efficiency. Then they carried out solid-phase graft copolymerization of PP with MA and styrene by using benzoyl peroxide as the initiator and xylene as the interfacial agent. The graft copolymerization process was performed in a stainless steel reactor. PP, monomers, initiator and interfacial agent were mixed in a predetermined proportion and reacted in nitrogen atmosphere at 120 °C for 1 h. Obtained by authors results showed that the grafting degree and acid value of poly[PP- </a:t>
                </a:r>
                <a:r>
                  <a:rPr lang="en-US" sz="1200" dirty="0">
                    <a:effectLst/>
                  </a:rPr>
                  <a:t>​</a:t>
                </a:r>
                <a14:m>
                  <m:oMath>
                    <m:r>
                      <m:rPr>
                        <m:sty m:val="i"/>
                      </m:rPr>
                      <a:rPr lang="en-US" sz="1200" dirty="0">
                        <a:solidFill>
                          <a:srgbClr val="000000"/>
                        </a:solidFill>
                        <a:effectLst/>
                      </a:rPr>
                      <m:t>g</m:t>
                    </m:r>
                  </m:oMath>
                </a14:m>
                <a:r>
                  <a:rPr lang="en-US" sz="1200" dirty="0">
                    <a:effectLst/>
                  </a:rPr>
                  <a:t>-(MA-co-styrene)] are affected by the total monomer concen- tration, monomer ratio, and initiator concentration, and are considerably higher than those of poly(PP- </a:t>
                </a:r>
                <a:r>
                  <a:rPr lang="en-US" sz="1200" dirty="0">
                    <a:effectLst/>
                  </a:rPr>
                  <a:t>​</a:t>
                </a:r>
                <a14:m>
                  <m:oMath>
                    <m:r>
                      <m:rPr>
                        <m:sty m:val="i"/>
                      </m:rPr>
                      <a:rPr lang="en-US" sz="1200" dirty="0">
                        <a:solidFill>
                          <a:srgbClr val="000000"/>
                        </a:solidFill>
                        <a:effectLst/>
                      </a:rPr>
                      <m:t>g</m:t>
                    </m:r>
                  </m:oMath>
                </a14:m>
                <a:r>
                  <a:rPr lang="en-US" sz="1200" dirty="0">
                    <a:effectLst/>
                  </a:rPr>
                  <a:t>-MA). The results of dynamic mechanical analysis showed that the pure PP has only one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g</m:t>
                        </m:r>
                      </m:sub>
                    </m:sSub>
                  </m:oMath>
                </a14:m>
                <a:r>
                  <a:rPr lang="en-US" sz="1200" dirty="0">
                    <a:effectLst/>
                  </a:rPr>
                  <a:t> but graft copolymer has two: the first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g</m:t>
                        </m:r>
                      </m:sub>
                    </m:sSub>
                    <m:d>
                      <m:dPr>
                        <m:begChr m:val="("/>
                        <m:endChr m:val=")"/>
                        <m:ctrlPr>
                          <a:rPr sz="1200">
                            <a:latin typeface="Cambria Math" panose="02040503050406030204" pitchFamily="18" charset="0"/>
                          </a:rPr>
                        </m:ctrlPr>
                      </m:dPr>
                      <m:e>
                        <m:sSup>
                          <m:sSupPr>
                            <m:ctrlPr>
                              <a:rPr sz="1200">
                                <a:latin typeface="Cambria Math" panose="02040503050406030204" pitchFamily="18" charset="0"/>
                              </a:rPr>
                            </m:ctrlPr>
                          </m:sSupPr>
                          <m:e>
                            <m:r>
                              <m:rPr>
                                <m:sty m:val="p"/>
                              </m:rPr>
                              <a:rPr lang="en-US" sz="1200" dirty="0">
                                <a:solidFill>
                                  <a:srgbClr val="000000"/>
                                </a:solidFill>
                                <a:effectLst/>
                              </a:rPr>
                              <m:t>14.9</m:t>
                            </m:r>
                          </m:e>
                          <m:sup>
                            <m:r>
                              <m:rPr>
                                <m:sty m:val="p"/>
                              </m:rPr>
                              <a:rPr lang="en-US" sz="1200" dirty="0">
                                <a:solidFill>
                                  <a:srgbClr val="000000"/>
                                </a:solidFill>
                                <a:effectLst/>
                              </a:rPr>
                              <m:t>∘</m:t>
                            </m:r>
                          </m:sup>
                        </m:sSup>
                        <m:r>
                          <m:rPr>
                            <m:sty m:val="p"/>
                          </m:rPr>
                          <a:rPr lang="en-US" sz="1200" dirty="0">
                            <a:solidFill>
                              <a:srgbClr val="000000"/>
                            </a:solidFill>
                            <a:effectLst/>
                          </a:rPr>
                          <m:t>C</m:t>
                        </m:r>
                      </m:e>
                    </m:d>
                  </m:oMath>
                </a14:m>
                <a:r>
                  <a:rPr lang="en-US" sz="1200" dirty="0">
                    <a:effectLst/>
                  </a:rPr>
                  <a:t> is of the PP bacbone, and the second </a:t>
                </a:r>
                <a:r>
                  <a:rPr lang="en-US" sz="1200" dirty="0">
                    <a:effectLst/>
                  </a:rPr>
                  <a:t>​</a:t>
                </a:r>
                <a14:m>
                  <m:oMath>
                    <m:d>
                      <m:dPr>
                        <m:begChr m:val="("/>
                        <m:endChr m:val=")"/>
                        <m:ctrlPr>
                          <a:rPr sz="1200">
                            <a:latin typeface="Cambria Math" panose="02040503050406030204" pitchFamily="18" charset="0"/>
                          </a:rPr>
                        </m:ctrlPr>
                      </m:dPr>
                      <m:e>
                        <m:sSup>
                          <m:sSupPr>
                            <m:ctrlPr>
                              <a:rPr sz="1200">
                                <a:latin typeface="Cambria Math" panose="02040503050406030204" pitchFamily="18" charset="0"/>
                              </a:rPr>
                            </m:ctrlPr>
                          </m:sSupPr>
                          <m:e>
                            <m:r>
                              <m:rPr>
                                <m:sty m:val="p"/>
                              </m:rPr>
                              <a:rPr lang="en-US" sz="1200" dirty="0">
                                <a:solidFill>
                                  <a:srgbClr val="000000"/>
                                </a:solidFill>
                                <a:effectLst/>
                              </a:rPr>
                              <m:t>104.4</m:t>
                            </m:r>
                          </m:e>
                          <m:sup>
                            <m:r>
                              <m:rPr>
                                <m:sty m:val="p"/>
                              </m:rPr>
                              <a:rPr lang="en-US" sz="1200" dirty="0">
                                <a:solidFill>
                                  <a:srgbClr val="000000"/>
                                </a:solidFill>
                                <a:effectLst/>
                              </a:rPr>
                              <m:t>∘</m:t>
                            </m:r>
                          </m:sup>
                        </m:sSup>
                        <m:r>
                          <m:rPr>
                            <m:sty m:val="p"/>
                          </m:rPr>
                          <a:rPr lang="en-US" sz="1200" dirty="0">
                            <a:solidFill>
                              <a:srgbClr val="000000"/>
                            </a:solidFill>
                            <a:effectLst/>
                          </a:rPr>
                          <m:t>C</m:t>
                        </m:r>
                      </m:e>
                    </m:d>
                  </m:oMath>
                </a14:m>
                <a:r>
                  <a:rPr lang="en-US" sz="1200" dirty="0">
                    <a:effectLst/>
                  </a:rPr>
                  <a:t> is likely caused by the relaxation of the grafted MA-styrene copolymer segments. The grafted segments are shown to be the copolymer of MA and styrene with a substantial molecular weight [245]. Braun et al. [166] reported heterogeneous grafting of MA</a:t>
                </a:r>
              </a:p>
            </p:txBody>
          </p:sp>
        </mc:Choice>
        <mc:Fallback/>
      </mc:AlternateContent>
      <p:sp>
        <p:nvSpPr>
          <p:cNvPr id="2" name="Text"/>
          <p:cNvSpPr/>
          <p:nvPr/>
        </p:nvSpPr>
        <p:spPr>
          <a:xfrm>
            <a:off x="1524000" y="4495800"/>
            <a:ext cx="9144000" cy="685800"/>
          </a:xfrm>
          <a:prstGeom prst="rect">
            <a:avLst/>
          </a:prstGeom>
        </p:spPr>
        <p:txBody>
          <a:bodyPr anchor="t" lIns="0" tIns="0" rIns="0" bIns="0">
            <a:noAutofit/>
          </a:bodyPr>
          <a:lstStyle/>
          <a:p>
            <a:pPr>
              <a:lnSpc>
                <a:spcPct val="120000"/>
              </a:lnSpc>
            </a:pPr>
            <a:r>
              <a:rPr lang="en-US" sz="1800" dirty="0" b="1">
                <a:effectLst/>
              </a:rPr>
              <a:t>International Review of Chemical Engineering, volume 3, No 2, March, 2011 Int. Rev.Chem. Eng., 3(2011) 153-215</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600200"/>
              </a:xfrm>
              <a:prstGeom prst="rect">
                <a:avLst/>
              </a:prstGeom>
            </p:spPr>
            <p:txBody>
              <a:bodyPr anchor="t" lIns="0" tIns="0" rIns="0" bIns="0">
                <a:noAutofit/>
              </a:bodyPr>
              <a:lstStyle/>
              <a:p>
                <a:pPr>
                  <a:lnSpc>
                    <a:spcPct val="120000"/>
                  </a:lnSpc>
                </a:pPr>
                <a:r>
                  <a:rPr lang="en-US" sz="1200" dirty="0">
                    <a:effectLst/>
                  </a:rPr>
                  <a:t>and </a:t>
                </a:r>
                <a:r>
                  <a:rPr lang="en-US" sz="1200" dirty="0">
                    <a:effectLst/>
                  </a:rPr>
                  <a:t>​</a:t>
                </a:r>
                <a14:m>
                  <m:oMath>
                    <m:r>
                      <m:rPr>
                        <m:sty m:val="i"/>
                      </m:rPr>
                      <a:rPr lang="en-US" sz="1200" dirty="0">
                        <a:solidFill>
                          <a:srgbClr val="000000"/>
                        </a:solidFill>
                        <a:effectLst/>
                      </a:rPr>
                      <m:t>α</m:t>
                    </m:r>
                  </m:oMath>
                </a14:m>
                <a:r>
                  <a:rPr lang="en-US" sz="1200" dirty="0">
                    <a:effectLst/>
                  </a:rPr>
                  <a:t>-methyl styrene (MS) onto PP. The maleination of PP via radical grafting at high temperatures was investigated. Since MA produces discoloring oligomers, PP was grafted with a mixture of MA and MS. Advantageous is that MS cannot homopolymerize at high temperatures and that MA and MS tend to copolymerize alternatingly (to colorless products). The kinetics of the grafting process is complicated by a phase separation of PP and MA/MS mixture that is cauased by the special attractions between the two monomers. As a result, two grafted PP products were obtained, of which the major is only slightly but the minor is heavily grafted. The latter graft copolymer, which is probably created in the interfaces between phase domains, carries one MA-MS graft per PP backbone chain, approximately with three MA and five MS units.</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209800"/>
                <a:ext cx="9144000" cy="2514600"/>
              </a:xfrm>
              <a:prstGeom prst="rect">
                <a:avLst/>
              </a:prstGeom>
            </p:spPr>
            <p:txBody>
              <a:bodyPr anchor="t" lIns="0" tIns="0" rIns="0" bIns="0">
                <a:noAutofit/>
              </a:bodyPr>
              <a:lstStyle/>
              <a:p>
                <a:pPr>
                  <a:lnSpc>
                    <a:spcPct val="120000"/>
                  </a:lnSpc>
                </a:pPr>
                <a:r>
                  <a:rPr lang="en-US" sz="1200" dirty="0">
                    <a:effectLst/>
                  </a:rPr>
                  <a:t>Functionalized polymers also obtained by graft copolymerization of functional donor-acceptor monomer pairs with some commercially available polymers such as butadiene homo- and terpolymers. Modification of poly[acrylonitrile (22.4 wt. %)-co-butadiene (13.5 wt. %)-</a:t>
                </a:r>
                <a:r>
                  <a:rPr lang="en-US" sz="1200" dirty="0">
                    <a:effectLst/>
                  </a:rPr>
                  <a:t>​</a:t>
                </a:r>
                <a14:m>
                  <m:oMath>
                    <m:r>
                      <m:rPr>
                        <m:sty m:val="i"/>
                      </m:rPr>
                      <a:rPr lang="en-US" sz="1200" dirty="0">
                        <a:solidFill>
                          <a:srgbClr val="000000"/>
                        </a:solidFill>
                        <a:effectLst/>
                      </a:rPr>
                      <m:t>c</m:t>
                    </m:r>
                    <m:r>
                      <m:rPr>
                        <m:sty m:val="i"/>
                      </m:rPr>
                      <a:rPr lang="en-US" sz="1200" dirty="0">
                        <a:solidFill>
                          <a:srgbClr val="000000"/>
                        </a:solidFill>
                        <a:effectLst/>
                      </a:rPr>
                      <m:t>o</m:t>
                    </m:r>
                  </m:oMath>
                </a14:m>
                <a:r>
                  <a:rPr lang="en-US" sz="1200" dirty="0">
                    <a:effectLst/>
                  </a:rPr>
                  <a:t>-styrene (61.4 wt.%)] (ABS with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n</m:t>
                        </m:r>
                      </m:sub>
                    </m:sSub>
                    <m:r>
                      <m:rPr>
                        <m:sty m:val="p"/>
                      </m:rPr>
                      <a:rPr lang="en-US" sz="1200" dirty="0">
                        <a:solidFill>
                          <a:srgbClr val="000000"/>
                        </a:solidFill>
                        <a:effectLst/>
                      </a:rPr>
                      <m:t>=</m:t>
                    </m:r>
                    <m:r>
                      <m:rPr>
                        <m:sty m:val="p"/>
                      </m:rPr>
                      <a:rPr lang="en-US" sz="1200" dirty="0">
                        <a:solidFill>
                          <a:srgbClr val="000000"/>
                        </a:solidFill>
                        <a:effectLst/>
                      </a:rPr>
                      <m:t>49</m:t>
                    </m:r>
                    <m:r>
                      <m:rPr>
                        <m:sty m:val="p"/>
                      </m:rPr>
                      <a:rPr lang="en-US" sz="1200" dirty="0">
                        <a:solidFill>
                          <a:srgbClr val="000000"/>
                        </a:solidFill>
                        <a:effectLst/>
                      </a:rPr>
                      <m:t>,</m:t>
                    </m:r>
                    <m:r>
                      <m:rPr>
                        <m:sty m:val="p"/>
                      </m:rPr>
                      <a:rPr lang="en-US" sz="1200" dirty="0">
                        <a:solidFill>
                          <a:srgbClr val="000000"/>
                        </a:solidFill>
                        <a:effectLst/>
                      </a:rPr>
                      <m:t>000</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mol</m:t>
                    </m:r>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n</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w</m:t>
                        </m:r>
                      </m:sub>
                    </m:sSub>
                    <m:r>
                      <m:rPr>
                        <m:sty m:val="p"/>
                      </m:rPr>
                      <a:rPr lang="en-US" sz="1200" dirty="0">
                        <a:solidFill>
                          <a:srgbClr val="000000"/>
                        </a:solidFill>
                        <a:effectLst/>
                      </a:rPr>
                      <m:t>=</m:t>
                    </m:r>
                    <m:r>
                      <m:rPr>
                        <m:sty m:val="p"/>
                      </m:rPr>
                      <a:rPr lang="en-US" sz="1200" dirty="0">
                        <a:solidFill>
                          <a:srgbClr val="000000"/>
                        </a:solidFill>
                        <a:effectLst/>
                      </a:rPr>
                      <m:t>2.72</m:t>
                    </m:r>
                  </m:oMath>
                </a14:m>
                <a:r>
                  <a:rPr lang="en-US" sz="1200" dirty="0">
                    <a:effectLst/>
                  </a:rPr>
                  <a:t> is contained </a:t>
                </a:r>
                <a:r>
                  <a:rPr lang="en-US" sz="1200" dirty="0">
                    <a:effectLst/>
                  </a:rPr>
                  <a:t>​</a:t>
                </a:r>
                <a14:m>
                  <m:oMath>
                    <m:r>
                      <m:rPr>
                        <m:sty m:val="p"/>
                      </m:rPr>
                      <a:rPr lang="en-US" sz="1200" dirty="0">
                        <a:solidFill>
                          <a:srgbClr val="000000"/>
                        </a:solidFill>
                        <a:effectLst/>
                      </a:rPr>
                      <m:t>2.7</m:t>
                    </m:r>
                    <m:r>
                      <m:rPr>
                        <m:sty m:val="p"/>
                      </m:rPr>
                      <a:rPr lang="en-US" sz="1200" dirty="0">
                        <a:solidFill>
                          <a:srgbClr val="000000"/>
                        </a:solidFill>
                        <a:effectLst/>
                      </a:rPr>
                      <m:t>wt</m:t>
                    </m:r>
                    <m:r>
                      <m:rPr>
                        <m:sty m:val="p"/>
                      </m:rPr>
                      <a:rPr lang="en-US" sz="1200" dirty="0">
                        <a:solidFill>
                          <a:srgbClr val="000000"/>
                        </a:solidFill>
                        <a:effectLst/>
                      </a:rPr>
                      <m:t>.</m:t>
                    </m:r>
                    <m:r>
                      <m:rPr>
                        <m:sty m:val="p"/>
                      </m:rPr>
                      <a:rPr lang="en-US" sz="1200" dirty="0">
                        <a:solidFill>
                          <a:srgbClr val="000000"/>
                        </a:solidFill>
                        <a:effectLst/>
                      </a:rPr>
                      <m:t>%</m:t>
                    </m:r>
                  </m:oMath>
                </a14:m>
                <a:r>
                  <a:rPr lang="en-US" sz="1200" dirty="0">
                    <a:effectLst/>
                  </a:rPr>
                  <a:t> of additives) by graft copolymerization of MA-styrene monomer pair by using binary initiator system (dicumyl peroxide + benzoyl peroxide) in the molten state reported in detail by Qi et al. [149,485]. They also carried out graft copolymerization of ABS with MA and MA-styrene mixture in melt using a Haake twin-screw extruder (Germany) under various processing conditions [483]. In the case of using styrene as a comonomer, a higher grafting degree of MA onto ABS terpolymer observed by these authors. The mechanical properties and phase morphologies (by transmission electron microscopy) of the modified products poly(ABS-g-MA) were also studied. Authors found that the melt flow index (MFI) of poly(ABS- </a:t>
                </a:r>
                <a:r>
                  <a:rPr lang="en-US" sz="1200" dirty="0">
                    <a:effectLst/>
                  </a:rPr>
                  <a:t>​</a:t>
                </a:r>
                <a14:m>
                  <m:oMath>
                    <m:r>
                      <m:rPr>
                        <m:sty m:val="i"/>
                      </m:rPr>
                      <a:rPr lang="en-US" sz="1200" dirty="0">
                        <a:solidFill>
                          <a:srgbClr val="000000"/>
                        </a:solidFill>
                        <a:effectLst/>
                      </a:rPr>
                      <m:t>g</m:t>
                    </m:r>
                  </m:oMath>
                </a14:m>
                <a:r>
                  <a:rPr lang="en-US" sz="1200" dirty="0">
                    <a:effectLst/>
                  </a:rPr>
                  <a:t>-MA) increases with the increases with the increase of MA content, the initiator concentration, and the scew speed, whereas the MFI decreases with the increase of temperature. The impact strength and the percentage elongation of poly(ABS- </a:t>
                </a:r>
                <a:r>
                  <a:rPr lang="en-US" sz="1200" dirty="0">
                    <a:effectLst/>
                  </a:rPr>
                  <a:t>​</a:t>
                </a:r>
                <a14:m>
                  <m:oMath>
                    <m:r>
                      <m:rPr>
                        <m:sty m:val="i"/>
                      </m:rPr>
                      <a:rPr lang="en-US" sz="1200" dirty="0">
                        <a:solidFill>
                          <a:srgbClr val="000000"/>
                        </a:solidFill>
                        <a:effectLst/>
                      </a:rPr>
                      <m:t>g</m:t>
                    </m:r>
                  </m:oMath>
                </a14:m>
                <a:r>
                  <a:rPr lang="en-US" sz="1200" dirty="0">
                    <a:effectLst/>
                  </a:rPr>
                  <a:t>-MA) both decreased and the tensile strength of poly(ABS- </a:t>
                </a:r>
                <a:r>
                  <a:rPr lang="en-US" sz="1200" dirty="0">
                    <a:effectLst/>
                  </a:rPr>
                  <a:t>​</a:t>
                </a:r>
                <a14:m>
                  <m:oMath>
                    <m:r>
                      <m:rPr>
                        <m:sty m:val="i"/>
                      </m:rPr>
                      <a:rPr lang="en-US" sz="1200" dirty="0">
                        <a:solidFill>
                          <a:srgbClr val="000000"/>
                        </a:solidFill>
                        <a:effectLst/>
                      </a:rPr>
                      <m:t>g</m:t>
                    </m:r>
                  </m:oMath>
                </a14:m>
                <a:r>
                  <a:rPr lang="en-US" sz="1200" dirty="0">
                    <a:effectLst/>
                  </a:rPr>
                  <a:t>-MA) increased slightly as the grafting degree increased.</a:t>
                </a:r>
              </a:p>
            </p:txBody>
          </p:sp>
        </mc:Choice>
        <mc:Fallback/>
      </mc:AlternateContent>
      <p:sp>
        <p:nvSpPr>
          <p:cNvPr id="2" name="Text"/>
          <p:cNvSpPr/>
          <p:nvPr/>
        </p:nvSpPr>
        <p:spPr>
          <a:xfrm>
            <a:off x="1524000" y="4876800"/>
            <a:ext cx="9144000" cy="342900"/>
          </a:xfrm>
          <a:prstGeom prst="rect">
            <a:avLst/>
          </a:prstGeom>
        </p:spPr>
        <p:txBody>
          <a:bodyPr anchor="t" lIns="0" tIns="0" rIns="0" bIns="0">
            <a:noAutofit/>
          </a:bodyPr>
          <a:lstStyle/>
          <a:p>
            <a:pPr>
              <a:lnSpc>
                <a:spcPct val="120000"/>
              </a:lnSpc>
            </a:pPr>
            <a:r>
              <a:rPr lang="en-US" sz="1800" dirty="0" b="1">
                <a:effectLst/>
              </a:rPr>
              <a:t>8. In situ Grafting Reactions and Processing</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371600"/>
          </a:xfrm>
          <a:prstGeom prst="rect">
            <a:avLst/>
          </a:prstGeom>
        </p:spPr>
        <p:txBody>
          <a:bodyPr anchor="t" lIns="0" tIns="0" rIns="0" bIns="0">
            <a:noAutofit/>
          </a:bodyPr>
          <a:lstStyle/>
          <a:p>
            <a:pPr>
              <a:lnSpc>
                <a:spcPct val="120000"/>
              </a:lnSpc>
            </a:pPr>
            <a:r>
              <a:rPr lang="en-US" sz="1200" dirty="0">
                <a:effectLst/>
              </a:rPr>
              <a:t>In polymer blends, immiscibility of the components results in incompatibility of the phases. Compatibility and adhesion between different polymeric phases can be improved by addition of suitable block or graft copolymers that act as interfacial agents. An alternative is to generate these copolymers in situ during blend preparation through polymer-polymer graft reactions by using functionalized polymers [484-488]. Recently, extruders have been increasingly been used as chemical reactor [489-492]. A new trend, called "reactive extrusion", has been developed in the technology of polymer production and processing. No matter in what reactor the chemical process occurs, it is subject to the basic thermodynamic laws [493].</a:t>
            </a:r>
          </a:p>
        </p:txBody>
      </p:sp>
      <p:sp>
        <p:nvSpPr>
          <p:cNvPr id="2" name="Text"/>
          <p:cNvSpPr/>
          <p:nvPr/>
        </p:nvSpPr>
        <p:spPr>
          <a:xfrm>
            <a:off x="1524000" y="1981200"/>
            <a:ext cx="9144000" cy="4114800"/>
          </a:xfrm>
          <a:prstGeom prst="rect">
            <a:avLst/>
          </a:prstGeom>
        </p:spPr>
        <p:txBody>
          <a:bodyPr anchor="t" lIns="0" tIns="0" rIns="0" bIns="0">
            <a:noAutofit/>
          </a:bodyPr>
          <a:lstStyle/>
          <a:p>
            <a:pPr>
              <a:lnSpc>
                <a:spcPct val="120000"/>
              </a:lnSpc>
            </a:pPr>
            <a:r>
              <a:rPr lang="en-US" sz="1200" dirty="0">
                <a:effectLst/>
              </a:rPr>
              <a:t>Immiscible blends are possible to be compatibilized through the reaction that reduces interfacial tension and promotes adhesion at the interface. The results are a finely dispersed phase, resistance to gross separation, and enhanced overall properties [494]. It is known that the polymers containing functional groups such as anhydride [127,192,495-497], carboxy [498,499], epoxy [500,501], oxazoline [502], and isocyanate [503,504] groups reacted with the amino group of various thermoplastic resins. Reactive mixing process widely used for obtaining improved compatibility of polymer blend [505-509]. Such a process required introduction of some functionality reacting with other functional groups to either of the blend components.</a:t>
            </a:r>
            <a:br>
              <a:rPr lang="en-US" sz="1200" dirty="0"/>
            </a:br>
            <a:r>
              <a:rPr lang="en-US" sz="1200" dirty="0">
                <a:effectLst/>
              </a:rPr>
              <a:t> Poly(styrene-co-MA) (SMA) used as a successful reactive compatibilizer in several incompatible polymer blends [507-509]. Immiscible blends of poly(styrene-co-acrylonitrile) (SAN) and thermoplastic polyurethane (PU) obtained by melt mixing compatibilized by the addition of SMA copolymer. The best compatibility attained for the PU/SAN/SMA (70/30/5) blend [504]. Chiang and Chang [510] showed that SMA copolymer is a highly effective reactive compatibilizer for immiscible and incompatible blends od polyamide-6 (PA-6) and poly(ethylene oxide) (PEO). The overall improvement in mechanical properties was drastic after compatibili- zation. It was observed that the addition of SMA copolymer (up to 10 wt.%) in amorphous PA/SAN blends impoves the enhancement of interfacial adhesion and the tensile strength of blend [507]. PA-6 and poly(methyl methacrylate) (PMMA) blends satisfactory compatibilized by SMA containing 20 wt.% of MA [506]. Blend of SAN with poly(ethylene-co-1-octene) (EOP) rubber studied by Mader et al. [508]. An improved toughness-stiffness balance was achieved when oxazoline-functionalized EOP and SMA were added to the mixture. Teselios et al. [509] used SMA copolymer in blends containing poly(ethylene-co-vinyl alcohol) EVA prepred by melt mixing. They showed that the reaction between the hydroxyl group of EVA and the anhydride group of SMA leads to the formation of branched and crosslinked macromolecules, which can cause morphology stabilization of the immiscible blend.</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371600"/>
          </a:xfrm>
          <a:prstGeom prst="rect">
            <a:avLst/>
          </a:prstGeom>
        </p:spPr>
        <p:txBody>
          <a:bodyPr anchor="t" lIns="0" tIns="0" rIns="0" bIns="0">
            <a:noAutofit/>
          </a:bodyPr>
          <a:lstStyle/>
          <a:p>
            <a:pPr>
              <a:lnSpc>
                <a:spcPct val="120000"/>
              </a:lnSpc>
            </a:pPr>
            <a:r>
              <a:rPr lang="en-US" sz="1200" dirty="0">
                <a:effectLst/>
              </a:rPr>
              <a:t>Cassu and Felisberti [486,510] reported the preparation and properties of Poly(styrene) (PS)/polyester PU elastomer blends compatibilized by different amounts of SMA (around 0.5-5.0 wt.%), containing 7.0 or 14.0 wt.% of anhydride. Binary nonreactive (PS/PUs), and reactive binary and ternary blends containing SMA reactive compatibilizer were prapared with 10 and 20 wt.% of PUs. Their results showed that this compatibitization occurs by the formation of a graft copolymeri in situ during the melt mixing and is responsible for the decrease of the elastomer domain size in the glassy matrix. The phase behavior, morphology and mechanical propereties of blends depended on their composition, especially on the SMA amount and anhydride content in SMA copolymer.</a:t>
            </a:r>
          </a:p>
        </p:txBody>
      </p:sp>
      <p:sp>
        <p:nvSpPr>
          <p:cNvPr id="2" name="Text"/>
          <p:cNvSpPr/>
          <p:nvPr/>
        </p:nvSpPr>
        <p:spPr>
          <a:xfrm>
            <a:off x="1524000" y="1981200"/>
            <a:ext cx="9144000" cy="685800"/>
          </a:xfrm>
          <a:prstGeom prst="rect">
            <a:avLst/>
          </a:prstGeom>
        </p:spPr>
        <p:txBody>
          <a:bodyPr anchor="t" lIns="0" tIns="0" rIns="0" bIns="0">
            <a:noAutofit/>
          </a:bodyPr>
          <a:lstStyle/>
          <a:p>
            <a:pPr>
              <a:lnSpc>
                <a:spcPct val="120000"/>
              </a:lnSpc>
            </a:pPr>
            <a:r>
              <a:rPr lang="en-US" sz="1800" dirty="0" b="1">
                <a:effectLst/>
              </a:rPr>
              <a:t>International Review of Chemical Engineering, volume 3, No 2, March, 2011 Int. Rev.Chem. Eng., 3(2011) 153-215</a:t>
            </a:r>
          </a:p>
        </p:txBody>
      </p:sp>
      <p:sp>
        <p:nvSpPr>
          <p:cNvPr id="2" name="Text"/>
          <p:cNvSpPr/>
          <p:nvPr/>
        </p:nvSpPr>
        <p:spPr>
          <a:xfrm>
            <a:off x="1524000" y="2856739"/>
            <a:ext cx="9144000" cy="266700"/>
          </a:xfrm>
          <a:prstGeom prst="rect">
            <a:avLst/>
          </a:prstGeom>
        </p:spPr>
        <p:txBody>
          <a:bodyPr anchor="t" lIns="0" tIns="0" rIns="0" bIns="0">
            <a:noAutofit/>
          </a:bodyPr>
          <a:lstStyle/>
          <a:p>
            <a:pPr>
              <a:lnSpc>
                <a:spcPct val="125800"/>
              </a:lnSpc>
            </a:pPr>
            <a:r>
              <a:rPr lang="en-US" sz="1400" dirty="0" b="1">
                <a:effectLst/>
              </a:rPr>
              <a:t>8.1. Polyolefin reactive blends</a:t>
            </a:r>
          </a:p>
        </p:txBody>
      </p:sp>
      <mc:AlternateContent xmlns:mc="http://schemas.openxmlformats.org/markup-compatibility/2006">
        <mc:Choice xmlns:a14="http://schemas.microsoft.com/office/drawing/2010/main" Requires="a14">
          <p:sp>
            <p:nvSpPr>
              <p:cNvPr id="2" name="Text"/>
              <p:cNvSpPr/>
              <p:nvPr/>
            </p:nvSpPr>
            <p:spPr>
              <a:xfrm>
                <a:off x="1524000" y="3301747"/>
                <a:ext cx="9144000" cy="2971800"/>
              </a:xfrm>
              <a:prstGeom prst="rect">
                <a:avLst/>
              </a:prstGeom>
            </p:spPr>
            <p:txBody>
              <a:bodyPr anchor="t" lIns="0" tIns="0" rIns="0" bIns="0">
                <a:noAutofit/>
              </a:bodyPr>
              <a:lstStyle/>
              <a:p>
                <a:pPr>
                  <a:lnSpc>
                    <a:spcPct val="120000"/>
                  </a:lnSpc>
                </a:pPr>
                <a:r>
                  <a:rPr lang="en-US" sz="1200" dirty="0">
                    <a:effectLst/>
                  </a:rPr>
                  <a:t>The improve the compatibility of SMA copolymer/ LDPE blends, LDPE grafted with 2-hydroxyethyl methacrylateisophorone diisocyanate (LDPE- </a:t>
                </a:r>
                <a:r>
                  <a:rPr lang="en-US" sz="1200" dirty="0">
                    <a:effectLst/>
                  </a:rPr>
                  <a:t>​</a:t>
                </a:r>
                <a14:m>
                  <m:oMath>
                    <m:r>
                      <m:rPr>
                        <m:sty m:val="i"/>
                      </m:rPr>
                      <a:rPr lang="en-US" sz="1200" dirty="0">
                        <a:solidFill>
                          <a:srgbClr val="000000"/>
                        </a:solidFill>
                        <a:effectLst/>
                      </a:rPr>
                      <m:t>g</m:t>
                    </m:r>
                  </m:oMath>
                </a14:m>
                <a:r>
                  <a:rPr lang="en-US" sz="1200" dirty="0">
                    <a:effectLst/>
                  </a:rPr>
                  <a:t>-HI) was prepared and blended with SMA copolymer of which anhydride groups were converted to carboxylic acid groups [488]. In the blend morphology, some adhesions between the two pases and much finer dispersions were observed in the SMA/LDPE- </a:t>
                </a:r>
                <a:r>
                  <a:rPr lang="en-US" sz="1200" dirty="0">
                    <a:effectLst/>
                  </a:rPr>
                  <a:t>​</a:t>
                </a:r>
                <a14:m>
                  <m:oMath>
                    <m:r>
                      <m:rPr>
                        <m:sty m:val="i"/>
                      </m:rPr>
                      <a:rPr lang="en-US" sz="1200" dirty="0">
                        <a:solidFill>
                          <a:srgbClr val="000000"/>
                        </a:solidFill>
                        <a:effectLst/>
                      </a:rPr>
                      <m:t>g</m:t>
                    </m:r>
                  </m:oMath>
                </a14:m>
                <a:r>
                  <a:rPr lang="en-US" sz="1200" dirty="0">
                    <a:effectLst/>
                  </a:rPr>
                  <a:t>-HI blends, indicating that chemical reactions took place during the melt blending. The lower heat capacity change at the glass transition temperature demonstrated that chemical bonds were produced in the poly(MA-co-styrene)/ LDPE-g-HI blends. From the results of the rheological test, it was found that strong positive devaition from the mixting rule occurred in viscosity for these functional polymer blends, concerning with good adhesion and finer dispersions. For these blends, the improvement in mechanical properties, resulting from chemical reaction, was also observed. When SMA copolymer blended with other ductile polymers like polyethylene (PE), it may offer an attractive balance of mechanical property and resistance to heat distortion. To attain satisfactory performance in the immiscible SMA/PE blend, it will be important to improve the compatibility. There are few detailed studies on the SMA/PE blends obtained by a reactive processing without using a compatibilizer. A blending of LDPE with isocyanate functionality and SMA copolymer with acid functionality was also carried out to improve compatibility of SMA/LDPE blends through chemical reaction occurring during the blend process [491].</a:t>
                </a:r>
              </a:p>
            </p:txBody>
          </p:sp>
        </mc:Choice>
        <mc:Fallback/>
      </mc:AlternateContent>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371600"/>
              </a:xfrm>
              <a:prstGeom prst="rect">
                <a:avLst/>
              </a:prstGeom>
            </p:spPr>
            <p:txBody>
              <a:bodyPr anchor="t" lIns="0" tIns="0" rIns="0" bIns="0">
                <a:noAutofit/>
              </a:bodyPr>
              <a:lstStyle/>
              <a:p>
                <a:pPr>
                  <a:lnSpc>
                    <a:spcPct val="120000"/>
                  </a:lnSpc>
                </a:pPr>
                <a:r>
                  <a:rPr lang="en-US" sz="1200" dirty="0">
                    <a:effectLst/>
                  </a:rPr>
                  <a:t>The compability and mechanical properties of incompatible PP/PS (polystyrene) blends can be improved by the addition of graft copolymer compatibilizers, inorganic particles, and with reactive compatibilization. The addition of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BaSO</m:t>
                        </m:r>
                      </m:e>
                      <m:sub>
                        <m:r>
                          <m:rPr>
                            <m:sty m:val="p"/>
                          </m:rPr>
                          <a:rPr lang="en-US" sz="1200" dirty="0">
                            <a:solidFill>
                              <a:srgbClr val="000000"/>
                            </a:solidFill>
                            <a:effectLst/>
                          </a:rPr>
                          <m:t>4</m:t>
                        </m:r>
                      </m:sub>
                    </m:sSub>
                  </m:oMath>
                </a14:m>
                <a:r>
                  <a:rPr lang="en-US" sz="1200" dirty="0">
                    <a:effectLst/>
                  </a:rPr>
                  <a:t> to the PP/PS blend resulted in a decrease in the domain size of the minor polymer phase [511,512].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BaSO</m:t>
                        </m:r>
                      </m:e>
                      <m:sub>
                        <m:r>
                          <m:rPr>
                            <m:sty m:val="p"/>
                          </m:rPr>
                          <a:rPr lang="en-US" sz="1200" dirty="0">
                            <a:solidFill>
                              <a:srgbClr val="000000"/>
                            </a:solidFill>
                            <a:effectLst/>
                          </a:rPr>
                          <m:t>4</m:t>
                        </m:r>
                      </m:sub>
                    </m:sSub>
                  </m:oMath>
                </a14:m>
                <a:r>
                  <a:rPr lang="en-US" sz="1200" dirty="0">
                    <a:effectLst/>
                  </a:rPr>
                  <a:t> alone did not have a nucleation effect on PP; however, in combination with poly(PP- </a:t>
                </a:r>
                <a:r>
                  <a:rPr lang="en-US" sz="1200" dirty="0">
                    <a:effectLst/>
                  </a:rPr>
                  <a:t>​</a:t>
                </a:r>
                <a14:m>
                  <m:oMath>
                    <m:r>
                      <m:rPr>
                        <m:sty m:val="i"/>
                      </m:rPr>
                      <a:rPr lang="en-US" sz="1200" dirty="0">
                        <a:solidFill>
                          <a:srgbClr val="000000"/>
                        </a:solidFill>
                        <a:effectLst/>
                      </a:rPr>
                      <m:t>g</m:t>
                    </m:r>
                  </m:oMath>
                </a14:m>
                <a:r>
                  <a:rPr lang="en-US" sz="1200" dirty="0">
                    <a:effectLst/>
                  </a:rPr>
                  <a:t>-MA), a clear nucleation effect was observed. Some studies have comfirmed that comonomers styrene (S) and MA react readly to form a SMA copolymer with the help of an initiator agent. It is much easier for SMA than MA to graft with PP; therefore, the degree of gtafting of MA increases, and more poly(PP-</a:t>
                </a:r>
                <a:r>
                  <a:rPr lang="en-US" sz="1200" dirty="0">
                    <a:effectLst/>
                  </a:rPr>
                  <a:t>​</a:t>
                </a:r>
                <a14:m>
                  <m:oMath>
                    <m:r>
                      <m:rPr>
                        <m:sty m:val="i"/>
                      </m:rPr>
                      <a:rPr lang="en-US" sz="1200" dirty="0">
                        <a:solidFill>
                          <a:srgbClr val="000000"/>
                        </a:solidFill>
                        <a:effectLst/>
                      </a:rPr>
                      <m:t>g</m:t>
                    </m:r>
                  </m:oMath>
                </a14:m>
                <a:r>
                  <a:rPr lang="en-US" sz="1200" dirty="0">
                    <a:effectLst/>
                  </a:rPr>
                  <a:t>-MA) is formed in situ [513].</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981200"/>
                <a:ext cx="9144000" cy="1828800"/>
              </a:xfrm>
              <a:prstGeom prst="rect">
                <a:avLst/>
              </a:prstGeom>
            </p:spPr>
            <p:txBody>
              <a:bodyPr anchor="t" lIns="0" tIns="0" rIns="0" bIns="0">
                <a:noAutofit/>
              </a:bodyPr>
              <a:lstStyle/>
              <a:p>
                <a:pPr>
                  <a:lnSpc>
                    <a:spcPct val="120000"/>
                  </a:lnSpc>
                </a:pPr>
                <a:r>
                  <a:rPr lang="en-US" sz="1200" dirty="0">
                    <a:effectLst/>
                  </a:rPr>
                  <a:t>Zhang et al. [514] reported the results of a study on the influence of reactivity monomers, MA and S, on the crystallization and melting behaviour and dynamic mechanical properties of PP/PS blends. In situ processing of blends was carried out by melting extrusion in a HL-200 kneader at </a:t>
                </a:r>
                <a:r>
                  <a:rPr lang="en-US" sz="1200" dirty="0">
                    <a:effectLst/>
                  </a:rPr>
                  <a:t>​</a:t>
                </a:r>
                <a14:m>
                  <m:oMath>
                    <m:r>
                      <m:rPr>
                        <m:sty m:val="p"/>
                      </m:rPr>
                      <a:rPr lang="en-US" sz="1200" dirty="0">
                        <a:solidFill>
                          <a:srgbClr val="000000"/>
                        </a:solidFill>
                        <a:effectLst/>
                      </a:rPr>
                      <m:t>185</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190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The FTIR structural analysis indicated that (PP- </a:t>
                </a:r>
                <a:r>
                  <a:rPr lang="en-US" sz="1200" dirty="0">
                    <a:effectLst/>
                  </a:rPr>
                  <a:t>​</a:t>
                </a:r>
                <a14:m>
                  <m:oMath>
                    <m:r>
                      <m:rPr>
                        <m:sty m:val="i"/>
                      </m:rPr>
                      <a:rPr lang="en-US" sz="1200" dirty="0">
                        <a:solidFill>
                          <a:srgbClr val="000000"/>
                        </a:solidFill>
                        <a:effectLst/>
                      </a:rPr>
                      <m:t>g</m:t>
                    </m:r>
                  </m:oMath>
                </a14:m>
                <a:r>
                  <a:rPr lang="en-US" sz="1200" dirty="0">
                    <a:effectLst/>
                  </a:rPr>
                  <a:t>-PS) formed in PP/PS blends modified by MA monomer. However, the formation of (PP-g-MA) observed in PP/PS blends modified by MA and S monomer mixture. According to authora, in PP modified by the MA comonomer, the formation of (PP- </a:t>
                </a:r>
                <a:r>
                  <a:rPr lang="en-US" sz="1200" dirty="0">
                    <a:effectLst/>
                  </a:rPr>
                  <a:t>​</a:t>
                </a:r>
                <a14:m>
                  <m:oMath>
                    <m:r>
                      <m:rPr>
                        <m:sty m:val="i"/>
                      </m:rPr>
                      <a:rPr lang="en-US" sz="1200" dirty="0">
                        <a:solidFill>
                          <a:srgbClr val="000000"/>
                        </a:solidFill>
                        <a:effectLst/>
                      </a:rPr>
                      <m:t>g</m:t>
                    </m:r>
                  </m:oMath>
                </a14:m>
                <a:r>
                  <a:rPr lang="en-US" sz="1200" dirty="0">
                    <a:effectLst/>
                  </a:rPr>
                  <a:t>-MA) was more significant. MA hardly influenced the crystallization temperature (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c</m:t>
                        </m:r>
                      </m:sub>
                    </m:sSub>
                  </m:oMath>
                </a14:m>
                <a:r>
                  <a:rPr lang="en-US" sz="1200" dirty="0">
                    <a:effectLst/>
                  </a:rPr>
                  <a:t> ) of PP in the blends, but the addition of MA and S increased the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c</m:t>
                        </m:r>
                      </m:sub>
                    </m:sSub>
                  </m:oMath>
                </a14:m>
                <a:r>
                  <a:rPr lang="en-US" sz="1200" dirty="0">
                    <a:effectLst/>
                  </a:rPr>
                  <a:t> of PP in its blends. The blends showed no remarkable variety for the melting temperature, but the shapes of the melting peaks were influenced by the addition of the reactive monomers. In addition, a significant increase in the storage and loss moduli of all the modified PP/PS blends was observed.</a:t>
                </a:r>
              </a:p>
            </p:txBody>
          </p:sp>
        </mc:Choice>
        <mc:Fallback/>
      </mc:AlternateContent>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4114800"/>
              </a:xfrm>
              <a:prstGeom prst="rect">
                <a:avLst/>
              </a:prstGeom>
            </p:spPr>
            <p:txBody>
              <a:bodyPr anchor="t" lIns="0" tIns="0" rIns="0" bIns="0">
                <a:noAutofit/>
              </a:bodyPr>
              <a:lstStyle/>
              <a:p>
                <a:pPr>
                  <a:lnSpc>
                    <a:spcPct val="120000"/>
                  </a:lnSpc>
                </a:pPr>
                <a:r>
                  <a:rPr lang="en-US" sz="1200" dirty="0">
                    <a:effectLst/>
                  </a:rPr>
                  <a:t>Xia et al. [515] performed the in situ compatibilization of ABS and a copolyester liquid crystalline polymer (LCP) by addition of a reactive poly[MA(14 wt.%)-co-styrene] to blend in melt stage. ABS is a polymer blends consisting of a butadiene-based rubber grafted with astyrene and acrylonitrile copolymer (SAN) dispersed in the SAN matrix. The LCP is a copolyester of hydroxybenzoic acid (HBA) and poly(ethylene terephthalate) (PET) with a molar ratio of HBA/PET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80</m:t>
                    </m:r>
                    <m:r>
                      <m:rPr>
                        <m:sty m:val="p"/>
                      </m:rPr>
                      <a:rPr lang="en-US" sz="1200" dirty="0">
                        <a:solidFill>
                          <a:srgbClr val="000000"/>
                        </a:solidFill>
                        <a:effectLst/>
                      </a:rPr>
                      <m:t>/</m:t>
                    </m:r>
                    <m:r>
                      <m:rPr>
                        <m:sty m:val="p"/>
                      </m:rPr>
                      <a:rPr lang="en-US" sz="1200" dirty="0">
                        <a:solidFill>
                          <a:srgbClr val="000000"/>
                        </a:solidFill>
                        <a:effectLst/>
                      </a:rPr>
                      <m:t>20</m:t>
                    </m:r>
                  </m:oMath>
                </a14:m>
                <a:r>
                  <a:rPr lang="en-US" sz="1200" dirty="0">
                    <a:effectLst/>
                  </a:rPr>
                  <a:t>. According to the authors, anhydride group in the copolymer backbone can incorporate with the carboxylic acid end groups through H-bonding, and can react with the hydroxylic end groups or eventually the ester groups in the LCP bacbone. They observed that SMA copolymer exhibits a compatibilizing effect on the blend system and optimum copolymer content exists for mechanical properties enhancement. This reactive compotibilizer improves the interfacial adhesion, whereas excess of copolymer reduces the LCP fibrillation. The tensile strength and the modulus were slightly enhanced with the addition of 2-5 % of copolymer. Colbeaux et al. [516] developed a strategy for in situ compatibilization of PP/PE blends by reactive extrusion, for recycling purpose. As the PE and the PP are chemically inert, the process consisted of adding to the medium a certain amount of poly(PP- </a:t>
                </a:r>
                <a:r>
                  <a:rPr lang="en-US" sz="1200" dirty="0">
                    <a:effectLst/>
                  </a:rPr>
                  <a:t>​</a:t>
                </a:r>
                <a14:m>
                  <m:oMath>
                    <m:r>
                      <m:rPr>
                        <m:sty m:val="i"/>
                      </m:rPr>
                      <a:rPr lang="en-US" sz="1200" dirty="0">
                        <a:solidFill>
                          <a:srgbClr val="000000"/>
                        </a:solidFill>
                        <a:effectLst/>
                      </a:rPr>
                      <m:t>g</m:t>
                    </m:r>
                  </m:oMath>
                </a14:m>
                <a:r>
                  <a:rPr lang="en-US" sz="1200" dirty="0">
                    <a:effectLst/>
                  </a:rPr>
                  <a:t>-MA) and poly(PE- </a:t>
                </a:r>
                <a:r>
                  <a:rPr lang="en-US" sz="1200" dirty="0">
                    <a:effectLst/>
                  </a:rPr>
                  <a:t>​</a:t>
                </a:r>
                <a14:m>
                  <m:oMath>
                    <m:r>
                      <m:rPr>
                        <m:sty m:val="i"/>
                      </m:rPr>
                      <a:rPr lang="en-US" sz="1200" dirty="0">
                        <a:solidFill>
                          <a:srgbClr val="000000"/>
                        </a:solidFill>
                        <a:effectLst/>
                      </a:rPr>
                      <m:t>g</m:t>
                    </m:r>
                  </m:oMath>
                </a14:m>
                <a:r>
                  <a:rPr lang="en-US" sz="1200" dirty="0">
                    <a:effectLst/>
                  </a:rPr>
                  <a:t>-MA) chains. Thus, by coupling between the chains, a compatibilizing copolymer can be formed at the interface. Authors used the amine/anhydride reaction for effective compatibilization of these polymer blends. To simplify the problem, model reactions carried out on poly(PE- </a:t>
                </a:r>
                <a:r>
                  <a:rPr lang="en-US" sz="1200" dirty="0">
                    <a:effectLst/>
                  </a:rPr>
                  <a:t>​</a:t>
                </a:r>
                <a14:m>
                  <m:oMath>
                    <m:r>
                      <m:rPr>
                        <m:sty m:val="i"/>
                      </m:rPr>
                      <a:rPr lang="en-US" sz="1200" dirty="0">
                        <a:solidFill>
                          <a:srgbClr val="000000"/>
                        </a:solidFill>
                        <a:effectLst/>
                      </a:rPr>
                      <m:t>g</m:t>
                    </m:r>
                  </m:oMath>
                </a14:m>
                <a:r>
                  <a:rPr lang="en-US" sz="1200" dirty="0">
                    <a:effectLst/>
                  </a:rPr>
                  <a:t>-MA), and the properties of the resulting modified PE were analysed. The efficiency of the diamines 1,12-diaminododecane (DAD) and (4,4'-methylene)bis(2,6-diethylaniline) (MDEA) used as coupling agents for poly(PE-g-MA) compared by authors. It was shown tha the reaction of DAD on the grafted MA funtions is faster than that of MDEA. Moreover, authors observed that all the anhydride functions were consumed if the stoichiometric ratio was equal to or higher than 2. One anhydride unit reacted with two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NH</m:t>
                        </m:r>
                      </m:e>
                      <m:sub>
                        <m:r>
                          <m:rPr>
                            <m:sty m:val="p"/>
                          </m:rPr>
                          <a:rPr lang="en-US" sz="1200" dirty="0">
                            <a:solidFill>
                              <a:srgbClr val="000000"/>
                            </a:solidFill>
                            <a:effectLst/>
                          </a:rPr>
                          <m:t>2</m:t>
                        </m:r>
                      </m:sub>
                    </m:sSub>
                  </m:oMath>
                </a14:m>
                <a:r>
                  <a:rPr lang="en-US" sz="1200" dirty="0">
                    <a:effectLst/>
                  </a:rPr>
                  <a:t> groups, leading to highly branched PE chains. DAD is thus a suitable coupling agent for in situ compatibilization of PP/PE blends.</a:t>
                </a:r>
              </a:p>
            </p:txBody>
          </p:sp>
        </mc:Choice>
        <mc:Fallback/>
      </mc:AlternateContent>
      <p:sp>
        <p:nvSpPr>
          <p:cNvPr id="2" name="Text"/>
          <p:cNvSpPr/>
          <p:nvPr/>
        </p:nvSpPr>
        <p:spPr>
          <a:xfrm>
            <a:off x="1524000" y="4724400"/>
            <a:ext cx="9144000" cy="914400"/>
          </a:xfrm>
          <a:prstGeom prst="rect">
            <a:avLst/>
          </a:prstGeom>
        </p:spPr>
        <p:txBody>
          <a:bodyPr anchor="t" lIns="0" tIns="0" rIns="0" bIns="0">
            <a:noAutofit/>
          </a:bodyPr>
          <a:lstStyle/>
          <a:p>
            <a:pPr>
              <a:lnSpc>
                <a:spcPct val="120000"/>
              </a:lnSpc>
            </a:pPr>
            <a:r>
              <a:rPr lang="en-US" sz="1200" dirty="0">
                <a:effectLst/>
              </a:rPr>
              <a:t>PP and polyethylene terephthalate (PET) are formed inmissible blends with two-phase morphology and poorer mechanical properties than those for pristine PP and PET [517]. Cartner et al. [518] grafted MA onto PP in the melt and subsequent blending with highly crystalline PET. They found that compatibilized PP/PET blends showed mechanical, thermal and barrier properties and morphology that clearly differed from the noncompatibi-lized ones.</a:t>
            </a:r>
          </a:p>
        </p:txBody>
      </p:sp>
      <mc:AlternateContent xmlns:mc="http://schemas.openxmlformats.org/markup-compatibility/2006">
        <mc:Choice xmlns:a14="http://schemas.microsoft.com/office/drawing/2010/main" Requires="a14">
          <p:sp>
            <p:nvSpPr>
              <p:cNvPr id="2" name="Text"/>
              <p:cNvSpPr/>
              <p:nvPr/>
            </p:nvSpPr>
            <p:spPr>
              <a:xfrm>
                <a:off x="1524000" y="5791200"/>
                <a:ext cx="9144000" cy="228600"/>
              </a:xfrm>
              <a:prstGeom prst="rect">
                <a:avLst/>
              </a:prstGeom>
            </p:spPr>
            <p:txBody>
              <a:bodyPr anchor="t" lIns="0" tIns="0" rIns="0" bIns="0">
                <a:noAutofit/>
              </a:bodyPr>
              <a:lstStyle/>
              <a:p>
                <a:pPr>
                  <a:lnSpc>
                    <a:spcPct val="120000"/>
                  </a:lnSpc>
                </a:pPr>
                <a:r>
                  <a:rPr lang="en-US" sz="1200" dirty="0">
                    <a:effectLst/>
                  </a:rPr>
                  <a:t>Baird et al. [519] employed poly(PP- </a:t>
                </a:r>
                <a:r>
                  <a:rPr lang="en-US" sz="1200" dirty="0">
                    <a:effectLst/>
                  </a:rPr>
                  <a:t>​</a:t>
                </a:r>
                <a14:m>
                  <m:oMath>
                    <m:r>
                      <m:rPr>
                        <m:sty m:val="i"/>
                      </m:rPr>
                      <a:rPr lang="en-US" sz="1200" dirty="0">
                        <a:solidFill>
                          <a:srgbClr val="000000"/>
                        </a:solidFill>
                        <a:effectLst/>
                      </a:rPr>
                      <m:t>g</m:t>
                    </m:r>
                  </m:oMath>
                </a14:m>
                <a:r>
                  <a:rPr lang="en-US" sz="1200" dirty="0">
                    <a:effectLst/>
                  </a:rPr>
                  <a:t>-MA) as a compatibilizer for polyblends of a copolyester of LCP</a:t>
                </a:r>
              </a:p>
            </p:txBody>
          </p:sp>
        </mc:Choice>
        <mc:Fallback/>
      </mc:AlternateContent>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1143000"/>
              </a:xfrm>
              <a:prstGeom prst="rect">
                <a:avLst/>
              </a:prstGeom>
            </p:spPr>
            <p:txBody>
              <a:bodyPr anchor="t" lIns="0" tIns="0" rIns="0" bIns="0">
                <a:noAutofit/>
              </a:bodyPr>
              <a:lstStyle/>
              <a:p>
                <a:pPr>
                  <a:lnSpc>
                    <a:spcPct val="120000"/>
                  </a:lnSpc>
                </a:pPr>
                <a:r>
                  <a:rPr lang="en-US" sz="1200" dirty="0">
                    <a:effectLst/>
                  </a:rPr>
                  <a:t> (thermotropic liquid crystalline polymer) and PP. They reported that significant improvements can be achieved in tensile strength and modulus by adding a small amount of poly(PP- </a:t>
                </a:r>
                <a:r>
                  <a:rPr lang="en-US" sz="1200" dirty="0">
                    <a:effectLst/>
                  </a:rPr>
                  <a:t>​</a:t>
                </a:r>
                <a14:m>
                  <m:oMath>
                    <m:r>
                      <m:rPr>
                        <m:sty m:val="i"/>
                      </m:rPr>
                      <a:rPr lang="en-US" sz="1200" dirty="0">
                        <a:solidFill>
                          <a:srgbClr val="000000"/>
                        </a:solidFill>
                        <a:effectLst/>
                      </a:rPr>
                      <m:t>g</m:t>
                    </m:r>
                  </m:oMath>
                </a14:m>
                <a:r>
                  <a:rPr lang="en-US" sz="1200" dirty="0">
                    <a:effectLst/>
                  </a:rPr>
                  <a:t>-MA) in the PP/LCP polyblends. This observed fact authors explained by possible reaction of the anhydride units of poly(PP- </a:t>
                </a:r>
                <a:r>
                  <a:rPr lang="en-US" sz="1200" dirty="0">
                    <a:effectLst/>
                  </a:rPr>
                  <a:t>​</a:t>
                </a:r>
                <a14:m>
                  <m:oMath>
                    <m:r>
                      <m:rPr>
                        <m:sty m:val="i"/>
                      </m:rPr>
                      <a:rPr lang="en-US" sz="1200" dirty="0">
                        <a:solidFill>
                          <a:srgbClr val="000000"/>
                        </a:solidFill>
                        <a:effectLst/>
                      </a:rPr>
                      <m:t>g</m:t>
                    </m:r>
                  </m:oMath>
                </a14:m>
                <a:r>
                  <a:rPr lang="en-US" sz="1200" dirty="0">
                    <a:effectLst/>
                  </a:rPr>
                  <a:t>-MA) with the amide-end groups of LCP. They indicated that hydrogen bonding is responsible for the compatibilizing effect of poly(PP- </a:t>
                </a:r>
                <a:r>
                  <a:rPr lang="en-US" sz="1200" dirty="0">
                    <a:effectLst/>
                  </a:rPr>
                  <a:t>​</a:t>
                </a:r>
                <a14:m>
                  <m:oMath>
                    <m:r>
                      <m:rPr>
                        <m:sty m:val="i"/>
                      </m:rPr>
                      <a:rPr lang="en-US" sz="1200" dirty="0">
                        <a:solidFill>
                          <a:srgbClr val="000000"/>
                        </a:solidFill>
                        <a:effectLst/>
                      </a:rPr>
                      <m:t>g</m:t>
                    </m:r>
                  </m:oMath>
                </a14:m>
                <a:r>
                  <a:rPr lang="en-US" sz="1200" dirty="0">
                    <a:effectLst/>
                  </a:rPr>
                  <a:t>-MA) on PP/LCP blends. Similar H-bonding effect was also observed by Tjong and Meng [520].</a:t>
                </a:r>
              </a:p>
            </p:txBody>
          </p:sp>
        </mc:Choice>
        <mc:Fallback/>
      </mc:AlternateContent>
      <p:sp>
        <p:nvSpPr>
          <p:cNvPr id="2" name="Text"/>
          <p:cNvSpPr/>
          <p:nvPr/>
        </p:nvSpPr>
        <p:spPr>
          <a:xfrm>
            <a:off x="1524000" y="1752600"/>
            <a:ext cx="9144000" cy="2057400"/>
          </a:xfrm>
          <a:prstGeom prst="rect">
            <a:avLst/>
          </a:prstGeom>
        </p:spPr>
        <p:txBody>
          <a:bodyPr anchor="t" lIns="0" tIns="0" rIns="0" bIns="0">
            <a:noAutofit/>
          </a:bodyPr>
          <a:lstStyle/>
          <a:p>
            <a:pPr>
              <a:lnSpc>
                <a:spcPct val="120000"/>
              </a:lnSpc>
            </a:pPr>
            <a:r>
              <a:rPr lang="en-US" sz="1200" dirty="0">
                <a:effectLst/>
              </a:rPr>
              <a:t>The toughening of semi-crystalline polyamides using maleated rubbers, predominantly maleated styrene/ ethylene-butene/styrene rubber [poly(SEBS-g-MA) with 29 wt.% of styrene and 1.84 wt.% of MA] has received considerable attention in recent years because of the capability of tailoring the rubber phase morphology by the in situ reaction between MA grafted to the rubber and the polyamide amine end groups during melt compounding [521-527]. Huang et al. [528] investigated rubber toughening of an amorphous polyamide using combinations of triblock copolymers of SEBS and a poly(SEBS-g-MA). Two series of blends were prepared by both the single and twin screw extruders. The effects of rubber content and the type of the extruder on the morphology, Izod impact behavior and the ductile-brittle transition temperature were explored. I was found the morphology (spherical and regular) of these blends in more similar to that of nylon 6 blends than nylon 66 blends. Authors showed that the twin screw extruder produced smaller particles with a more narrow distribution of sizes than the single screw extruder.</a:t>
            </a:r>
          </a:p>
        </p:txBody>
      </p:sp>
      <mc:AlternateContent xmlns:mc="http://schemas.openxmlformats.org/markup-compatibility/2006">
        <mc:Choice xmlns:a14="http://schemas.microsoft.com/office/drawing/2010/main" Requires="a14">
          <p:sp>
            <p:nvSpPr>
              <p:cNvPr id="2" name="Text"/>
              <p:cNvSpPr/>
              <p:nvPr/>
            </p:nvSpPr>
            <p:spPr>
              <a:xfrm>
                <a:off x="1524000" y="3962400"/>
                <a:ext cx="9144000" cy="1600200"/>
              </a:xfrm>
              <a:prstGeom prst="rect">
                <a:avLst/>
              </a:prstGeom>
            </p:spPr>
            <p:txBody>
              <a:bodyPr anchor="t" lIns="0" tIns="0" rIns="0" bIns="0">
                <a:noAutofit/>
              </a:bodyPr>
              <a:lstStyle/>
              <a:p>
                <a:pPr>
                  <a:lnSpc>
                    <a:spcPct val="120000"/>
                  </a:lnSpc>
                </a:pPr>
                <a:r>
                  <a:rPr lang="en-US" sz="1200" dirty="0">
                    <a:effectLst/>
                  </a:rPr>
                  <a:t>Tanrattanakul et al. [529] obtained toughened poly(ethylene terephtalate) (PET) by reactive blending with 1-5 % of SEBS-g-MA (with. 2 % grafted MA unit). They showed that the fracture strain of PET increased by more than a factor of 10, consistent with in situ formation of a graft copolymer by reaction of PET hydroxyl end groups with MA. Also in the case of blends of polyamide (PA6) with polycarbonate (PC), authors proposed that in the situ chemical reaction between the anhydride units of SEBS and the amine end group of PA6 during melt mixing induces the encapsulation of SEBS- </a:t>
                </a:r>
                <a:r>
                  <a:rPr lang="en-US" sz="1200" dirty="0">
                    <a:effectLst/>
                  </a:rPr>
                  <a:t>​</a:t>
                </a:r>
                <a14:m>
                  <m:oMath>
                    <m:r>
                      <m:rPr>
                        <m:sty m:val="i"/>
                      </m:rPr>
                      <a:rPr lang="en-US" sz="1200" dirty="0">
                        <a:solidFill>
                          <a:srgbClr val="000000"/>
                        </a:solidFill>
                        <a:effectLst/>
                      </a:rPr>
                      <m:t>g</m:t>
                    </m:r>
                  </m:oMath>
                </a14:m>
                <a:r>
                  <a:rPr lang="en-US" sz="1200" dirty="0">
                    <a:effectLst/>
                  </a:rPr>
                  <a:t>-MA within the PC domains in PA6 rich blends [530,531]. It was found that the adhesion on the domain boundary between PA6 and PC through this phase formation improve and thus also mechanical properties enhance.</a:t>
                </a:r>
              </a:p>
            </p:txBody>
          </p:sp>
        </mc:Choice>
        <mc:Fallback/>
      </mc:AlternateContent>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371600"/>
              </a:xfrm>
              <a:prstGeom prst="rect">
                <a:avLst/>
              </a:prstGeom>
            </p:spPr>
            <p:txBody>
              <a:bodyPr anchor="t" lIns="0" tIns="0" rIns="0" bIns="0">
                <a:noAutofit/>
              </a:bodyPr>
              <a:lstStyle/>
              <a:p>
                <a:pPr>
                  <a:lnSpc>
                    <a:spcPct val="120000"/>
                  </a:lnSpc>
                </a:pPr>
                <a:r>
                  <a:rPr lang="en-US" sz="1200" dirty="0">
                    <a:effectLst/>
                  </a:rPr>
                  <a:t>Tjong et al. [532] prepared 80/20 poly(SEBS)/PPand 20/80 poly(SEBS-g-MA)/PP hydrid blend composites reinforced with 30 wt % SGFs (surface glass fibers) by extrusion and subsequent injection molding. They shown that poly[SEBS- </a:t>
                </a:r>
                <a:r>
                  <a:rPr lang="en-US" sz="1200" dirty="0">
                    <a:effectLst/>
                  </a:rPr>
                  <a:t>​</a:t>
                </a:r>
                <a14:m>
                  <m:oMath>
                    <m:r>
                      <m:rPr>
                        <m:sty m:val="i"/>
                      </m:rPr>
                      <a:rPr lang="en-US" sz="1200" dirty="0">
                        <a:solidFill>
                          <a:srgbClr val="000000"/>
                        </a:solidFill>
                        <a:effectLst/>
                      </a:rPr>
                      <m:t>g</m:t>
                    </m:r>
                  </m:oMath>
                </a14:m>
                <a:r>
                  <a:rPr lang="en-US" sz="1200" dirty="0">
                    <a:effectLst/>
                  </a:rPr>
                  <a:t>-MA ( </a:t>
                </a:r>
                <a:r>
                  <a:rPr lang="en-US" sz="1200" dirty="0">
                    <a:effectLst/>
                  </a:rPr>
                  <a:t>​</a:t>
                </a:r>
                <a14:m>
                  <m:oMath>
                    <m:r>
                      <m:rPr>
                        <m:sty m:val="p"/>
                      </m:rPr>
                      <a:rPr lang="en-US" sz="1200" dirty="0">
                        <a:solidFill>
                          <a:srgbClr val="000000"/>
                        </a:solidFill>
                        <a:effectLst/>
                      </a:rPr>
                      <m:t>1.84</m:t>
                    </m:r>
                    <m:r>
                      <m:rPr>
                        <m:sty m:val="p"/>
                      </m:rPr>
                      <a:rPr lang="en-US" sz="1200" dirty="0">
                        <a:solidFill>
                          <a:srgbClr val="000000"/>
                        </a:solidFill>
                        <a:effectLst/>
                      </a:rPr>
                      <m:t>wt</m:t>
                    </m:r>
                    <m:r>
                      <m:rPr>
                        <m:sty m:val="p"/>
                      </m:rPr>
                      <a:rPr lang="en-US" sz="1200" dirty="0">
                        <a:solidFill>
                          <a:srgbClr val="000000"/>
                        </a:solidFill>
                        <a:effectLst/>
                      </a:rPr>
                      <m:t>.</m:t>
                    </m:r>
                    <m:r>
                      <m:rPr>
                        <m:sty m:val="p"/>
                      </m:rPr>
                      <a:rPr lang="en-US" sz="1200" dirty="0">
                        <a:solidFill>
                          <a:srgbClr val="000000"/>
                        </a:solidFill>
                        <a:effectLst/>
                      </a:rPr>
                      <m:t>%</m:t>
                    </m:r>
                  </m:oMath>
                </a14:m>
                <a:r>
                  <a:rPr lang="en-US" sz="1200" dirty="0">
                    <a:effectLst/>
                  </a:rPr>
                  <a:t> )] improves the yield strength and impact toughness of the hybrid composites. The MA was grafted to the central EB chain segment od SEBS copolymer. According to the authors, the anhydride groups in this position may be react with hydroxyl groups of the glass-fiber surfaces during compounding, thereby improving the compatibility between the SFG and SEBS. The reaction between SEBS- </a:t>
                </a:r>
                <a:r>
                  <a:rPr lang="en-US" sz="1200" dirty="0">
                    <a:effectLst/>
                  </a:rPr>
                  <a:t>​</a:t>
                </a:r>
                <a14:m>
                  <m:oMath>
                    <m:r>
                      <m:rPr>
                        <m:sty m:val="i"/>
                      </m:rPr>
                      <a:rPr lang="en-US" sz="1200" dirty="0">
                        <a:solidFill>
                          <a:srgbClr val="000000"/>
                        </a:solidFill>
                        <a:effectLst/>
                      </a:rPr>
                      <m:t>g</m:t>
                    </m:r>
                  </m:oMath>
                </a14:m>
                <a:r>
                  <a:rPr lang="en-US" sz="1200" dirty="0">
                    <a:effectLst/>
                  </a:rPr>
                  <a:t>-MA and SGF represented as follows (Figure 36):</a:t>
                </a:r>
              </a:p>
            </p:txBody>
          </p:sp>
        </mc:Choice>
        <mc:Fallback/>
      </mc:AlternateContent>
      <p:pic>
        <p:nvPicPr>
          <p:cNvPr id="2" name="image-38495f72b1218dcf3d802c6e1ece1c037b8b2190.jpg"/>
          <p:cNvPicPr/>
          <p:nvPr/>
        </p:nvPicPr>
        <p:blipFill>
          <a:blip r:embed="rId2" cstate="print"/>
          <a:srcRect/>
          <a:stretch>
            <a:fillRect/>
          </a:stretch>
        </p:blipFill>
        <p:spPr>
          <a:xfrm>
            <a:off x="1524000" y="1981200"/>
            <a:ext cx="8001000" cy="1676400"/>
          </a:xfrm>
          <a:prstGeom prst="rect">
            <a:avLst/>
          </a:prstGeom>
        </p:spPr>
      </p:pic>
      <mc:AlternateContent xmlns:mc="http://schemas.openxmlformats.org/markup-compatibility/2006">
        <mc:Choice xmlns:a14="http://schemas.microsoft.com/office/drawing/2010/main" Requires="a14">
          <p:sp>
            <p:nvSpPr>
              <p:cNvPr id="3" name="Text"/>
              <p:cNvSpPr/>
              <p:nvPr/>
            </p:nvSpPr>
            <p:spPr>
              <a:xfrm>
                <a:off x="1524000" y="3657600"/>
                <a:ext cx="9144000" cy="457200"/>
              </a:xfrm>
              <a:prstGeom prst="rect">
                <a:avLst/>
              </a:prstGeom>
            </p:spPr>
            <p:txBody>
              <a:bodyPr anchor="t" lIns="0" tIns="0" rIns="0" bIns="0">
                <a:noAutofit/>
              </a:bodyPr>
              <a:lstStyle/>
              <a:p>
                <a:pPr>
                  <a:lnSpc>
                    <a:spcPct val="120000"/>
                  </a:lnSpc>
                </a:pPr>
                <a:r>
                  <a:rPr lang="en-US" sz="1200" dirty="0">
                    <a:effectLst/>
                  </a:rPr>
                  <a:t>Figure 36. Reaction of SEBS- </a:t>
                </a:r>
                <a:r>
                  <a:rPr lang="en-US" sz="1200" dirty="0">
                    <a:effectLst/>
                  </a:rPr>
                  <a:t>​</a:t>
                </a:r>
                <a14:m>
                  <m:oMath>
                    <m:r>
                      <m:rPr>
                        <m:sty m:val="i"/>
                      </m:rPr>
                      <a:rPr lang="en-US" sz="1200" dirty="0">
                        <a:solidFill>
                          <a:srgbClr val="000000"/>
                        </a:solidFill>
                        <a:effectLst/>
                      </a:rPr>
                      <m:t>g</m:t>
                    </m:r>
                  </m:oMath>
                </a14:m>
                <a:r>
                  <a:rPr lang="en-US" sz="1200" dirty="0">
                    <a:effectLst/>
                  </a:rPr>
                  <a:t>-MA and surface glass fibers via esterification of anhydride units of graft copolymer with surface hydroxyl groups of fiber. Adapted from [532].</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114800"/>
                <a:ext cx="9144000" cy="1828800"/>
              </a:xfrm>
              <a:prstGeom prst="rect">
                <a:avLst/>
              </a:prstGeom>
            </p:spPr>
            <p:txBody>
              <a:bodyPr anchor="t" lIns="0" tIns="0" rIns="0" bIns="0">
                <a:noAutofit/>
              </a:bodyPr>
              <a:lstStyle/>
              <a:p>
                <a:pPr>
                  <a:lnSpc>
                    <a:spcPct val="120000"/>
                  </a:lnSpc>
                </a:pPr>
                <a:r>
                  <a:rPr lang="en-US" sz="1200" dirty="0">
                    <a:effectLst/>
                  </a:rPr>
                  <a:t>Liang et al. [533] reported that to encapsulate the elastomeric phase, the entire filler or glass-bead surface for maleated elastomer/PP hybrids reinforced with filler particles. This leads to a fine dispersion of rigid particles with a core-shell structure within the PP matrix. However, authors [532] on the base of obtained SEM micrographs of surface morphology of blends assumed that, elongated SGF can only result in a partial coating or bonding of fiber surfaces with thin layers of SEBS- </a:t>
                </a:r>
                <a:r>
                  <a:rPr lang="en-US" sz="1200" dirty="0">
                    <a:effectLst/>
                  </a:rPr>
                  <a:t>​</a:t>
                </a:r>
                <a14:m>
                  <m:oMath>
                    <m:r>
                      <m:rPr>
                        <m:sty m:val="i"/>
                      </m:rPr>
                      <a:rPr lang="en-US" sz="1200" dirty="0">
                        <a:solidFill>
                          <a:srgbClr val="000000"/>
                        </a:solidFill>
                        <a:effectLst/>
                      </a:rPr>
                      <m:t>g</m:t>
                    </m:r>
                  </m:oMath>
                </a14:m>
                <a:r>
                  <a:rPr lang="en-US" sz="1200" dirty="0">
                    <a:effectLst/>
                  </a:rPr>
                  <a:t>-MA. Extensive plastic deformation occurred at the matrix interface layer next to the fibers of the SGF/poly(SEBS-g-MA)/PP composites durind impact testing. DSC measurements indicated that SEBS promoted the crystallization fo PP spherulites by acting as active nucleation sites. While the MA grafted units retarded the crystallization of PP. Authors confirmed the absence of transcrystallinity at the glass-fiber surfaces of both SGF/poly(SEBS-g-MA)/PP and SGF/poly(SEBS/ PP hybrid composites by polarized optical microscopy.</a:t>
                </a:r>
              </a:p>
            </p:txBody>
          </p:sp>
        </mc:Choice>
        <mc:Fallback/>
      </mc:AlternateContent>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371600"/>
          </a:xfrm>
          <a:prstGeom prst="rect">
            <a:avLst/>
          </a:prstGeom>
        </p:spPr>
        <p:txBody>
          <a:bodyPr anchor="t" lIns="0" tIns="0" rIns="0" bIns="0">
            <a:noAutofit/>
          </a:bodyPr>
          <a:lstStyle/>
          <a:p>
            <a:pPr>
              <a:lnSpc>
                <a:spcPct val="120000"/>
              </a:lnSpc>
            </a:pPr>
            <a:r>
              <a:rPr lang="en-US" sz="1200" dirty="0">
                <a:effectLst/>
              </a:rPr>
              <a:t>Willis et al. [534] studied the morphology and impact properties of poly(MA-co-styrene)/bromobutyl elactomer (rubber) blends, and processing-morphology-property relationships as a function of in situ modification and melt processing conditions. They found that dimethylaminoethanol (DMAE) serves as a reactive compatibilizing agent for these blends and that the addition of DMAE results in a five-fold reduction in the size of the dispersed phase. Authors presented evidence for covalent bond formation between the DMAE and the elactomer and reactive polystyrene phases. It was shown that impact strength measurements clearly dependent on the quantity of DMAE in the system as well as on the concentration of elastomer.</a:t>
            </a:r>
          </a:p>
        </p:txBody>
      </p:sp>
      <mc:AlternateContent xmlns:mc="http://schemas.openxmlformats.org/markup-compatibility/2006">
        <mc:Choice xmlns:a14="http://schemas.microsoft.com/office/drawing/2010/main" Requires="a14">
          <p:sp>
            <p:nvSpPr>
              <p:cNvPr id="2" name="Text"/>
              <p:cNvSpPr/>
              <p:nvPr/>
            </p:nvSpPr>
            <p:spPr>
              <a:xfrm>
                <a:off x="1524000" y="1981200"/>
                <a:ext cx="9144000" cy="3657600"/>
              </a:xfrm>
              <a:prstGeom prst="rect">
                <a:avLst/>
              </a:prstGeom>
            </p:spPr>
            <p:txBody>
              <a:bodyPr anchor="t" lIns="0" tIns="0" rIns="0" bIns="0">
                <a:noAutofit/>
              </a:bodyPr>
              <a:lstStyle/>
              <a:p>
                <a:pPr>
                  <a:lnSpc>
                    <a:spcPct val="120000"/>
                  </a:lnSpc>
                </a:pPr>
                <a:r>
                  <a:rPr lang="en-US" sz="1200" dirty="0">
                    <a:effectLst/>
                  </a:rPr>
                  <a:t>Pötschke et al. [535] reported the preparation, morphology and mechanical properties of reactive blends of thermoplastic polyurethane elastomer (TPU) and poly[PE- </a:t>
                </a:r>
                <a:r>
                  <a:rPr lang="en-US" sz="1200" dirty="0">
                    <a:effectLst/>
                  </a:rPr>
                  <a:t>​</a:t>
                </a:r>
                <a14:m>
                  <m:oMath>
                    <m:r>
                      <m:rPr>
                        <m:sty m:val="i"/>
                      </m:rPr>
                      <a:rPr lang="en-US" sz="1200" dirty="0">
                        <a:solidFill>
                          <a:srgbClr val="000000"/>
                        </a:solidFill>
                        <a:effectLst/>
                      </a:rPr>
                      <m:t>g</m:t>
                    </m:r>
                  </m:oMath>
                </a14:m>
                <a:r>
                  <a:rPr lang="en-US" sz="1200" dirty="0">
                    <a:effectLst/>
                  </a:rPr>
                  <a:t>-MA (0.5 wt. %)]. TPU and PE form immiscible blends with an extremely low compatibility. In order to improve the dispersion, stability, and properties of these blends, authors grafted MA onto PE using thje following procedure: A master batch of PE powder and 0.7 wt. % of MA was fed to extruder. The grafting was carried out at 240 °C without addition of peroxide. The grafting MA content was determined by quantitative IR spectroscopy using the adsorption band at </a:t>
                </a:r>
                <a:r>
                  <a:rPr lang="en-US" sz="1200" dirty="0">
                    <a:effectLst/>
                  </a:rPr>
                  <a:t>​</a:t>
                </a:r>
                <a14:m>
                  <m:oMath>
                    <m:r>
                      <m:rPr>
                        <m:sty m:val="p"/>
                      </m:rPr>
                      <a:rPr lang="en-US" sz="1200" dirty="0">
                        <a:solidFill>
                          <a:srgbClr val="000000"/>
                        </a:solidFill>
                        <a:effectLst/>
                      </a:rPr>
                      <m:t>1792</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r>
                      <m:rPr>
                        <m:sty m:val="p"/>
                      </m:rPr>
                      <a:rPr lang="en-US" sz="1200" dirty="0">
                        <a:solidFill>
                          <a:srgbClr val="000000"/>
                        </a:solidFill>
                        <a:effectLst/>
                      </a:rPr>
                      <m:t>(</m:t>
                    </m:r>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O</m:t>
                    </m:r>
                    <m:r>
                      <m:rPr>
                        <m:sty m:val="p"/>
                      </m:rPr>
                      <a:rPr lang="en-US" sz="1200" dirty="0">
                        <a:solidFill>
                          <a:srgbClr val="000000"/>
                        </a:solidFill>
                        <a:effectLst/>
                      </a:rPr>
                      <m:t>)</m:t>
                    </m:r>
                  </m:oMath>
                </a14:m>
                <a:r>
                  <a:rPr lang="en-US" sz="1200" dirty="0">
                    <a:effectLst/>
                  </a:rPr>
                  <a:t> to be 0.5 wt. %. Grafting of MA onto PE leads to a decrease of the molecular weight, the melt viscosity, and the mechanical properties of the pure PE. Blends a commercial polyester type TPU with poly(PE-g-MA) prepared by authors in a twin-screw extruder. It was shown that the particle size dramatically reduced in the case of poly(PE-g-MA) as a</a:t>
                </a:r>
                <a:br>
                  <a:rPr lang="en-US" sz="1200" dirty="0"/>
                </a:br>
                <a:r>
                  <a:rPr lang="en-US" sz="1200" dirty="0">
                    <a:effectLst/>
                  </a:rPr>
                  <a:t> blend component, in comparison with non-grafted PE. Coalescence (coarsening of the blend morphology during processing, e.g. injection molding) was significantly reduced and the increase in particle size with compositon was less pronounced than in bleds with PE. In addition, the phase adhesion and the mechanical properties were improved by using poly(PE- </a:t>
                </a:r>
                <a:r>
                  <a:rPr lang="en-US" sz="1200" dirty="0">
                    <a:effectLst/>
                  </a:rPr>
                  <a:t>​</a:t>
                </a:r>
                <a14:m>
                  <m:oMath>
                    <m:r>
                      <m:rPr>
                        <m:sty m:val="i"/>
                      </m:rPr>
                      <a:rPr lang="en-US" sz="1200" dirty="0">
                        <a:solidFill>
                          <a:srgbClr val="000000"/>
                        </a:solidFill>
                        <a:effectLst/>
                      </a:rPr>
                      <m:t>g</m:t>
                    </m:r>
                  </m:oMath>
                </a14:m>
                <a:r>
                  <a:rPr lang="en-US" sz="1200" dirty="0">
                    <a:effectLst/>
                  </a:rPr>
                  <a:t>-MA) compatibilizer as minor component. This reactive blend system exhibits a lower viscosity ratio. The reduction in viscosity ratio has a big influence on the blend morphology and because of that on the mechanical properties. According to authors, observed them a lower interfacial tension in this blend system may result from ether an increase in the surface tension and polarity of the poly(PE- </a:t>
                </a:r>
                <a:r>
                  <a:rPr lang="en-US" sz="1200" dirty="0">
                    <a:effectLst/>
                  </a:rPr>
                  <a:t>​</a:t>
                </a:r>
                <a14:m>
                  <m:oMath>
                    <m:r>
                      <m:rPr>
                        <m:sty m:val="i"/>
                      </m:rPr>
                      <a:rPr lang="en-US" sz="1200" dirty="0">
                        <a:solidFill>
                          <a:srgbClr val="000000"/>
                        </a:solidFill>
                        <a:effectLst/>
                      </a:rPr>
                      <m:t>g</m:t>
                    </m:r>
                  </m:oMath>
                </a14:m>
                <a:r>
                  <a:rPr lang="en-US" sz="1200" dirty="0">
                    <a:effectLst/>
                  </a:rPr>
                  <a:t>-MA) or by a chemical reaction between the blend components. This effect can be also interpreted as polymer/polymer interaction via complex formation between -NH (urethane fragment) and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O</m:t>
                    </m:r>
                  </m:oMath>
                </a14:m>
                <a:r>
                  <a:rPr lang="en-US" sz="1200" dirty="0">
                    <a:effectLst/>
                  </a:rPr>
                  <a:t> (anhydride unit).</a:t>
                </a:r>
              </a:p>
            </p:txBody>
          </p:sp>
        </mc:Choice>
        <mc:Fallback/>
      </mc:AlternateContent>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914400"/>
              </a:xfrm>
              <a:prstGeom prst="rect">
                <a:avLst/>
              </a:prstGeom>
            </p:spPr>
            <p:txBody>
              <a:bodyPr anchor="t" lIns="0" tIns="0" rIns="0" bIns="0">
                <a:noAutofit/>
              </a:bodyPr>
              <a:lstStyle/>
              <a:p>
                <a:pPr>
                  <a:lnSpc>
                    <a:spcPct val="120000"/>
                  </a:lnSpc>
                </a:pPr>
                <a:r>
                  <a:rPr lang="en-US" sz="1200" dirty="0">
                    <a:effectLst/>
                  </a:rPr>
                  <a:t>Melt grafting of EPDM with MA and the use of EPDM-</a:t>
                </a:r>
                <a:r>
                  <a:rPr lang="en-US" sz="1200" dirty="0">
                    <a:effectLst/>
                  </a:rPr>
                  <a:t>​</a:t>
                </a:r>
                <a14:m>
                  <m:oMath>
                    <m:r>
                      <m:rPr>
                        <m:sty m:val="i"/>
                      </m:rPr>
                      <a:rPr lang="en-US" sz="1200" dirty="0">
                        <a:solidFill>
                          <a:srgbClr val="000000"/>
                        </a:solidFill>
                        <a:effectLst/>
                      </a:rPr>
                      <m:t>g</m:t>
                    </m:r>
                  </m:oMath>
                </a14:m>
                <a:r>
                  <a:rPr lang="en-US" sz="1200" dirty="0">
                    <a:effectLst/>
                  </a:rPr>
                  <a:t>-MA as compatibilizer in polymer blends has been reported to be successful in improving the properties of the blends [536]. Enhancement of impact strength of PP/EPDM blend upon grafting the EPDM with MA {poly[EPDM-g-MA(1.5 wt %)]} was reported by Zhao and Dai [537]. Montiel et al. [538] observed that the effect of MA grafting level in polyamide 6/poly(E-co-P) rubber (EPR) blend to result in improved mechanical properties and morphology of the blend.</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524000"/>
                <a:ext cx="9144000" cy="2057400"/>
              </a:xfrm>
              <a:prstGeom prst="rect">
                <a:avLst/>
              </a:prstGeom>
            </p:spPr>
            <p:txBody>
              <a:bodyPr anchor="t" lIns="0" tIns="0" rIns="0" bIns="0">
                <a:noAutofit/>
              </a:bodyPr>
              <a:lstStyle/>
              <a:p>
                <a:pPr>
                  <a:lnSpc>
                    <a:spcPct val="120000"/>
                  </a:lnSpc>
                </a:pPr>
                <a:r>
                  <a:rPr lang="en-US" sz="1200" dirty="0">
                    <a:effectLst/>
                  </a:rPr>
                  <a:t>Many researchers have been observed that the addition of MA grafted copolymers such as poly[ethylerne-co-vinylacetate)- </a:t>
                </a:r>
                <a:r>
                  <a:rPr lang="en-US" sz="1200" dirty="0">
                    <a:effectLst/>
                  </a:rPr>
                  <a:t>​</a:t>
                </a:r>
                <a14:m>
                  <m:oMath>
                    <m:r>
                      <m:rPr>
                        <m:sty m:val="i"/>
                      </m:rPr>
                      <a:rPr lang="en-US" sz="1200" dirty="0">
                        <a:solidFill>
                          <a:srgbClr val="000000"/>
                        </a:solidFill>
                        <a:effectLst/>
                      </a:rPr>
                      <m:t>g</m:t>
                    </m:r>
                  </m:oMath>
                </a14:m>
                <a:r>
                  <a:rPr lang="en-US" sz="1200" dirty="0">
                    <a:effectLst/>
                  </a:rPr>
                  <a:t>-MA] and poly[HDPE- </a:t>
                </a:r>
                <a:r>
                  <a:rPr lang="en-US" sz="1200" dirty="0">
                    <a:effectLst/>
                  </a:rPr>
                  <a:t>​</a:t>
                </a:r>
                <a14:m>
                  <m:oMath>
                    <m:r>
                      <m:rPr>
                        <m:sty m:val="i"/>
                      </m:rPr>
                      <a:rPr lang="en-US" sz="1200" dirty="0">
                        <a:solidFill>
                          <a:srgbClr val="000000"/>
                        </a:solidFill>
                        <a:effectLst/>
                      </a:rPr>
                      <m:t>g</m:t>
                    </m:r>
                  </m:oMath>
                </a14:m>
                <a:r>
                  <a:rPr lang="en-US" sz="1200" dirty="0">
                    <a:effectLst/>
                  </a:rPr>
                  <a:t>-MA(1.2 %)] to poly(butylene terephthalate) (PBT)/HDPE blending systems considerably improved the impact strength without significanly sacrificing the tensile and flexural strength and decreased the size of dispersion phase [539-542]. Synthesis of poly(ABS-g-MA) and poly(HDPE-g-MA) graft copolymers in melt by reactive extrusion reported by Qi et al. [543,544], The effect of the compatibilization on the mechanical and rheological properrties, morphology and crystalline behavior of the PBT/HDPE and PBT/poly(HDPE- </a:t>
                </a:r>
                <a:r>
                  <a:rPr lang="en-US" sz="1200" dirty="0">
                    <a:effectLst/>
                  </a:rPr>
                  <a:t>​</a:t>
                </a:r>
                <a14:m>
                  <m:oMath>
                    <m:r>
                      <m:rPr>
                        <m:sty m:val="i"/>
                      </m:rPr>
                      <a:rPr lang="en-US" sz="1200" dirty="0">
                        <a:solidFill>
                          <a:srgbClr val="000000"/>
                        </a:solidFill>
                        <a:effectLst/>
                      </a:rPr>
                      <m:t>g</m:t>
                    </m:r>
                  </m:oMath>
                </a14:m>
                <a:r>
                  <a:rPr lang="en-US" sz="1200" dirty="0">
                    <a:effectLst/>
                  </a:rPr>
                  <a:t>-MA) blends were investigated in detail [544]. The results of these authors showed that the notched impact strength and the interfacial adhesion of PBT/poly(HDPE-g-MA) blend increased and the dispersed phase paticles decreased with the addition of MA grafted copolymer. Similar increase of interfacial adhesion in PP/EPDM/poly[EPDM- </a:t>
                </a:r>
                <a:r>
                  <a:rPr lang="en-US" sz="1200" dirty="0">
                    <a:effectLst/>
                  </a:rPr>
                  <a:t>​</a:t>
                </a:r>
                <a14:m>
                  <m:oMath>
                    <m:r>
                      <m:rPr>
                        <m:sty m:val="i"/>
                      </m:rPr>
                      <a:rPr lang="en-US" sz="1200" dirty="0">
                        <a:solidFill>
                          <a:srgbClr val="000000"/>
                        </a:solidFill>
                        <a:effectLst/>
                      </a:rPr>
                      <m:t>g</m:t>
                    </m:r>
                  </m:oMath>
                </a14:m>
                <a:r>
                  <a:rPr lang="en-US" sz="1200" dirty="0">
                    <a:effectLst/>
                  </a:rPr>
                  <a:t>-MA(0.3 wt %)] [EPDM is poly(ethylene-co-propylene-co-norbor- nene)] blends was observed by Purnima et al. [545].</a:t>
                </a:r>
              </a:p>
            </p:txBody>
          </p:sp>
        </mc:Choice>
        <mc:Fallback/>
      </mc:AlternateContent>
      <p:sp>
        <p:nvSpPr>
          <p:cNvPr id="2" name="Text"/>
          <p:cNvSpPr/>
          <p:nvPr/>
        </p:nvSpPr>
        <p:spPr>
          <a:xfrm>
            <a:off x="1524000" y="3733800"/>
            <a:ext cx="9144000" cy="266700"/>
          </a:xfrm>
          <a:prstGeom prst="rect">
            <a:avLst/>
          </a:prstGeom>
        </p:spPr>
        <p:txBody>
          <a:bodyPr anchor="t" lIns="0" tIns="0" rIns="0" bIns="0">
            <a:noAutofit/>
          </a:bodyPr>
          <a:lstStyle/>
          <a:p>
            <a:pPr>
              <a:lnSpc>
                <a:spcPct val="125800"/>
              </a:lnSpc>
            </a:pPr>
            <a:r>
              <a:rPr lang="en-US" sz="1400" dirty="0" b="1">
                <a:effectLst/>
              </a:rPr>
              <a:t>8.2. Polyamide reactive blends</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286000"/>
              </a:xfrm>
              <a:prstGeom prst="rect">
                <a:avLst/>
              </a:prstGeom>
            </p:spPr>
            <p:txBody>
              <a:bodyPr anchor="t" lIns="0" tIns="0" rIns="0" bIns="0">
                <a:noAutofit/>
              </a:bodyPr>
              <a:lstStyle/>
              <a:p>
                <a:pPr>
                  <a:lnSpc>
                    <a:spcPct val="120000"/>
                  </a:lnSpc>
                </a:pPr>
                <a:r>
                  <a:rPr lang="en-US" sz="1200" dirty="0">
                    <a:effectLst/>
                  </a:rPr>
                  <a:t>PAs are a family of engineering thermoplastics whose wet affinity limits their application. PA blends with lower-module but hydrophobic polymer-like polyolefins has therefore become a matter of interest for both their ultimate and their thermal and morphological properties [546-549]. The rections of MA units in graft copolymers with the amine end groups of PA6 and PA66 studied in detail and well documented by many researchers. Wu et al. [550] investigated the effects of poly[PP- </a:t>
                </a:r>
                <a:r>
                  <a:rPr lang="en-US" sz="1200" dirty="0">
                    <a:effectLst/>
                  </a:rPr>
                  <a:t>​</a:t>
                </a:r>
                <a14:m>
                  <m:oMath>
                    <m:r>
                      <m:rPr>
                        <m:sty m:val="i"/>
                      </m:rPr>
                      <a:rPr lang="en-US" sz="1200" dirty="0">
                        <a:solidFill>
                          <a:srgbClr val="000000"/>
                        </a:solidFill>
                        <a:effectLst/>
                      </a:rPr>
                      <m:t>g</m:t>
                    </m:r>
                  </m:oMath>
                </a14:m>
                <a:r>
                  <a:rPr lang="en-US" sz="1200" dirty="0">
                    <a:effectLst/>
                  </a:rPr>
                  <a:t>-MA (0.6 %)] compatibilizer content on crystallization of PA12/PP blends and their morphology. It was found that an in situ reaction ocurred between the MA uints of compatibilizer and the amide end groups of PA12. Authors observed that the PA12 did not crystallize at temperatures typical for bulk crystallization when the amount of compatibilizer was more that 4 %,. The in situ interfacial reaction in the modified blend component resulted in compatibilization connected with a higher finely dispersed blend morphology and the apearance of fractionated crystallization. According to authors, the in-situ formed graft copolymer poly[(PP- </a:t>
                </a:r>
                <a:r>
                  <a:rPr lang="en-US" sz="1200" dirty="0">
                    <a:effectLst/>
                  </a:rPr>
                  <a:t>​</a:t>
                </a:r>
                <a14:m>
                  <m:oMath>
                    <m:r>
                      <m:rPr>
                        <m:sty m:val="i"/>
                      </m:rPr>
                      <a:rPr lang="en-US" sz="1200" dirty="0">
                        <a:solidFill>
                          <a:srgbClr val="000000"/>
                        </a:solidFill>
                        <a:effectLst/>
                      </a:rPr>
                      <m:t>g</m:t>
                    </m:r>
                  </m:oMath>
                </a14:m>
                <a:r>
                  <a:rPr lang="en-US" sz="1200" dirty="0">
                    <a:effectLst/>
                  </a:rPr>
                  <a:t> -MA)- </a:t>
                </a:r>
                <a:r>
                  <a:rPr lang="en-US" sz="1200" dirty="0">
                    <a:effectLst/>
                  </a:rPr>
                  <a:t>​</a:t>
                </a:r>
                <a14:m>
                  <m:oMath>
                    <m:r>
                      <m:rPr>
                        <m:sty m:val="i"/>
                      </m:rPr>
                      <a:rPr lang="en-US" sz="1200" dirty="0">
                        <a:solidFill>
                          <a:srgbClr val="000000"/>
                        </a:solidFill>
                        <a:effectLst/>
                      </a:rPr>
                      <m:t>g</m:t>
                    </m:r>
                  </m:oMath>
                </a14:m>
                <a:r>
                  <a:rPr lang="en-US" sz="1200" dirty="0">
                    <a:effectLst/>
                  </a:rPr>
                  <a:t>-PA12] played a role in concurrent crystallization by reducing interfacial tension and increasing the dispersiveness of PA12.</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895600"/>
                <a:ext cx="9144000" cy="1828800"/>
              </a:xfrm>
              <a:prstGeom prst="rect">
                <a:avLst/>
              </a:prstGeom>
            </p:spPr>
            <p:txBody>
              <a:bodyPr anchor="t" lIns="0" tIns="0" rIns="0" bIns="0">
                <a:noAutofit/>
              </a:bodyPr>
              <a:lstStyle/>
              <a:p>
                <a:pPr>
                  <a:lnSpc>
                    <a:spcPct val="120000"/>
                  </a:lnSpc>
                </a:pPr>
                <a:r>
                  <a:rPr lang="en-US" sz="1200" dirty="0">
                    <a:effectLst/>
                  </a:rPr>
                  <a:t>The most common of in situ compatibilization of polymer blends is the application of MA-containing polymers in blends with polyamides (PA) [550-562]. Steurer and Hellman [561] studied the homogeneous interface grafting in melt of maleinated polystyrene (PSMA) and PA reactive blends. They investigated a series of PSMA/PA blends differing in composition and PA chain lengths, and the kinetics of in situ in homogeneous interface melt-grafting of poly[MA(14 mol %)-rand-styrene] (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g</m:t>
                        </m:r>
                      </m:sub>
                    </m:sSub>
                    <m:r>
                      <m:rPr>
                        <m:sty m:val="p"/>
                      </m:rPr>
                      <a:rPr lang="en-US" sz="1200" dirty="0">
                        <a:solidFill>
                          <a:srgbClr val="000000"/>
                        </a:solidFill>
                        <a:effectLst/>
                      </a:rPr>
                      <m:t>=</m:t>
                    </m:r>
                  </m:oMath>
                </a14:m>
                <a:r>
                  <a:rPr lang="en-US" sz="1200" dirty="0">
                    <a:effectLst/>
                  </a:rPr>
                  <a:t>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134</m:t>
                        </m:r>
                      </m:e>
                      <m:sup>
                        <m:r>
                          <m:rPr>
                            <m:sty m:val="p"/>
                          </m:rPr>
                          <a:rPr lang="en-US" sz="1200" dirty="0">
                            <a:solidFill>
                              <a:srgbClr val="000000"/>
                            </a:solidFill>
                            <a:effectLst/>
                          </a:rPr>
                          <m:t>∘</m:t>
                        </m:r>
                      </m:sup>
                    </m:sSup>
                    <m:r>
                      <m:rPr>
                        <m:sty m:val="p"/>
                      </m:rPr>
                      <a:rPr lang="en-US" sz="1200" dirty="0">
                        <a:solidFill>
                          <a:srgbClr val="000000"/>
                        </a:solidFill>
                        <a:effectLst/>
                      </a:rPr>
                      <m:t>C</m:t>
                    </m:r>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n</m:t>
                        </m:r>
                      </m:sub>
                    </m:sSub>
                    <m:r>
                      <m:rPr>
                        <m:sty m:val="p"/>
                      </m:rPr>
                      <a:rPr lang="en-US" sz="1200" dirty="0">
                        <a:solidFill>
                          <a:srgbClr val="000000"/>
                        </a:solidFill>
                        <a:effectLst/>
                      </a:rPr>
                      <m:t>=</m:t>
                    </m:r>
                    <m:r>
                      <m:rPr>
                        <m:sty m:val="p"/>
                      </m:rPr>
                      <a:rPr lang="en-US" sz="1200" dirty="0">
                        <a:solidFill>
                          <a:srgbClr val="000000"/>
                        </a:solidFill>
                        <a:effectLst/>
                      </a:rPr>
                      <m:t>85</m:t>
                    </m:r>
                    <m:r>
                      <m:rPr>
                        <m:sty m:val="p"/>
                      </m:rPr>
                      <a:rPr lang="en-US" sz="1200" dirty="0">
                        <a:solidFill>
                          <a:srgbClr val="000000"/>
                        </a:solidFill>
                        <a:effectLst/>
                      </a:rPr>
                      <m:t>,</m:t>
                    </m:r>
                    <m:r>
                      <m:rPr>
                        <m:sty m:val="p"/>
                      </m:rPr>
                      <a:rPr lang="en-US" sz="1200" dirty="0">
                        <a:solidFill>
                          <a:srgbClr val="000000"/>
                        </a:solidFill>
                        <a:effectLst/>
                      </a:rPr>
                      <m:t>000</m:t>
                    </m:r>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w</m:t>
                        </m:r>
                      </m:sub>
                    </m:sSub>
                    <m:r>
                      <m:rPr>
                        <m:sty m:val="p"/>
                      </m:rPr>
                      <a:rPr lang="en-US" sz="1200" dirty="0">
                        <a:solidFill>
                          <a:srgbClr val="000000"/>
                        </a:solidFill>
                        <a:effectLst/>
                      </a:rPr>
                      <m:t>=</m:t>
                    </m:r>
                    <m:r>
                      <m:rPr>
                        <m:sty m:val="p"/>
                      </m:rPr>
                      <a:rPr lang="en-US" sz="1200" dirty="0">
                        <a:solidFill>
                          <a:srgbClr val="000000"/>
                        </a:solidFill>
                        <a:effectLst/>
                      </a:rPr>
                      <m:t>160</m:t>
                    </m:r>
                    <m:r>
                      <m:rPr>
                        <m:sty m:val="p"/>
                      </m:rPr>
                      <a:rPr lang="en-US" sz="1200" dirty="0">
                        <a:solidFill>
                          <a:srgbClr val="000000"/>
                        </a:solidFill>
                        <a:effectLst/>
                      </a:rPr>
                      <m:t>,</m:t>
                    </m:r>
                    <m:r>
                      <m:rPr>
                        <m:sty m:val="p"/>
                      </m:rPr>
                      <a:rPr lang="en-US" sz="1200" dirty="0">
                        <a:solidFill>
                          <a:srgbClr val="000000"/>
                        </a:solidFill>
                        <a:effectLst/>
                      </a:rPr>
                      <m:t>000</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mol</m:t>
                    </m:r>
                  </m:oMath>
                </a14:m>
                <a:r>
                  <a:rPr lang="en-US" sz="1200" dirty="0">
                    <a:effectLst/>
                  </a:rPr>
                  <a:t> ) and PAs (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m</m:t>
                        </m:r>
                      </m:sub>
                    </m:sSub>
                  </m:oMath>
                </a14:m>
                <a:r>
                  <a:rPr lang="en-US" sz="1200" dirty="0">
                    <a:effectLst/>
                  </a:rPr>
                  <a:t>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170</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180</m:t>
                        </m:r>
                      </m:e>
                      <m:sup>
                        <m:r>
                          <m:rPr>
                            <m:sty m:val="p"/>
                          </m:rPr>
                          <a:rPr lang="en-US" sz="1200" dirty="0">
                            <a:solidFill>
                              <a:srgbClr val="000000"/>
                            </a:solidFill>
                            <a:effectLst/>
                          </a:rPr>
                          <m:t>∘</m:t>
                        </m:r>
                      </m:sup>
                    </m:sSup>
                    <m:r>
                      <m:rPr>
                        <m:sty m:val="p"/>
                      </m:rPr>
                      <a:rPr lang="en-US" sz="1200" dirty="0">
                        <a:solidFill>
                          <a:srgbClr val="000000"/>
                        </a:solidFill>
                        <a:effectLst/>
                      </a:rPr>
                      <m:t>C</m:t>
                    </m:r>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n</m:t>
                        </m:r>
                      </m:sub>
                    </m:sSub>
                    <m:r>
                      <m:rPr>
                        <m:sty m:val="p"/>
                      </m:rPr>
                      <a:rPr lang="en-US" sz="1200" dirty="0">
                        <a:solidFill>
                          <a:srgbClr val="000000"/>
                        </a:solidFill>
                        <a:effectLst/>
                      </a:rPr>
                      <m:t>=</m:t>
                    </m:r>
                    <m:r>
                      <m:rPr>
                        <m:sty m:val="p"/>
                      </m:rPr>
                      <a:rPr lang="en-US" sz="1200" dirty="0">
                        <a:solidFill>
                          <a:srgbClr val="000000"/>
                        </a:solidFill>
                        <a:effectLst/>
                      </a:rPr>
                      <m:t>1600</m:t>
                    </m:r>
                    <m:r>
                      <m:rPr>
                        <m:sty m:val="p"/>
                      </m:rPr>
                      <a:rPr lang="en-US" sz="1200" dirty="0">
                        <a:solidFill>
                          <a:srgbClr val="000000"/>
                        </a:solidFill>
                        <a:effectLst/>
                      </a:rPr>
                      <m:t>−</m:t>
                    </m:r>
                    <m:r>
                      <m:rPr>
                        <m:sty m:val="p"/>
                      </m:rPr>
                      <a:rPr lang="en-US" sz="1200" dirty="0">
                        <a:solidFill>
                          <a:srgbClr val="000000"/>
                        </a:solidFill>
                        <a:effectLst/>
                      </a:rPr>
                      <m:t>20000</m:t>
                    </m:r>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w</m:t>
                        </m:r>
                      </m:sub>
                    </m:sSub>
                    <m:r>
                      <m:rPr>
                        <m:sty m:val="p"/>
                      </m:rPr>
                      <a:rPr lang="en-US" sz="1200" dirty="0">
                        <a:solidFill>
                          <a:srgbClr val="000000"/>
                        </a:solidFill>
                        <a:effectLst/>
                      </a:rPr>
                      <m:t>=</m:t>
                    </m:r>
                    <m:r>
                      <m:rPr>
                        <m:sty m:val="p"/>
                      </m:rPr>
                      <a:rPr lang="en-US" sz="1200" dirty="0">
                        <a:solidFill>
                          <a:srgbClr val="000000"/>
                        </a:solidFill>
                        <a:effectLst/>
                      </a:rPr>
                      <m:t>3100</m:t>
                    </m:r>
                    <m:r>
                      <m:rPr>
                        <m:sty m:val="p"/>
                      </m:rPr>
                      <a:rPr lang="en-US" sz="1200" dirty="0">
                        <a:solidFill>
                          <a:srgbClr val="000000"/>
                        </a:solidFill>
                        <a:effectLst/>
                      </a:rPr>
                      <m:t>−</m:t>
                    </m:r>
                    <m:r>
                      <m:rPr>
                        <m:sty m:val="p"/>
                      </m:rPr>
                      <a:rPr lang="en-US" sz="1200" dirty="0">
                        <a:solidFill>
                          <a:srgbClr val="000000"/>
                        </a:solidFill>
                        <a:effectLst/>
                      </a:rPr>
                      <m:t>39000</m:t>
                    </m:r>
                  </m:oMath>
                </a14:m>
                <a:r>
                  <a:rPr lang="en-US" sz="1200" dirty="0">
                    <a:effectLst/>
                  </a:rPr>
                  <a:t> g/mol) and their trifluoroacetylated derivatives. According to the authors, immiscible polymers A and B carrying complementary function X (anhydride unit of SMA) and Y (amino group of PA) can form graft copolymer chains poly(SMA- </a:t>
                </a:r>
                <a:r>
                  <a:rPr lang="en-US" sz="1200" dirty="0">
                    <a:effectLst/>
                  </a:rPr>
                  <a:t>​</a:t>
                </a:r>
                <a14:m>
                  <m:oMath>
                    <m:r>
                      <m:rPr>
                        <m:sty m:val="i"/>
                      </m:rPr>
                      <a:rPr lang="en-US" sz="1200" dirty="0">
                        <a:solidFill>
                          <a:srgbClr val="000000"/>
                        </a:solidFill>
                        <a:effectLst/>
                      </a:rPr>
                      <m:t>g</m:t>
                    </m:r>
                  </m:oMath>
                </a14:m>
                <a:r>
                  <a:rPr lang="en-US" sz="1200" dirty="0">
                    <a:effectLst/>
                  </a:rPr>
                  <a:t>-PA) in the interfaces between their phase domains (Figure 37):</a:t>
                </a:r>
              </a:p>
            </p:txBody>
          </p:sp>
        </mc:Choice>
        <mc:Fallback/>
      </mc:AlternateContent>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57045a09e77dec346bd00002567e809d84c54d79.jpg"/>
          <p:cNvPicPr/>
          <p:nvPr/>
        </p:nvPicPr>
        <p:blipFill>
          <a:blip r:embed="rId2" cstate="print"/>
          <a:srcRect/>
          <a:stretch>
            <a:fillRect/>
          </a:stretch>
        </p:blipFill>
        <p:spPr>
          <a:xfrm>
            <a:off x="1524000" y="457200"/>
            <a:ext cx="6781800" cy="2676525"/>
          </a:xfrm>
          <a:prstGeom prst="rect">
            <a:avLst/>
          </a:prstGeom>
        </p:spPr>
      </p:pic>
      <p:sp>
        <p:nvSpPr>
          <p:cNvPr id="3" name="Text"/>
          <p:cNvSpPr/>
          <p:nvPr/>
        </p:nvSpPr>
        <p:spPr>
          <a:xfrm>
            <a:off x="1524000" y="3133725"/>
            <a:ext cx="9144000" cy="457200"/>
          </a:xfrm>
          <a:prstGeom prst="rect">
            <a:avLst/>
          </a:prstGeom>
        </p:spPr>
        <p:txBody>
          <a:bodyPr anchor="t" lIns="0" tIns="0" rIns="0" bIns="0">
            <a:noAutofit/>
          </a:bodyPr>
          <a:lstStyle/>
          <a:p>
            <a:pPr>
              <a:lnSpc>
                <a:spcPct val="120000"/>
              </a:lnSpc>
            </a:pPr>
            <a:r>
              <a:rPr lang="en-US" sz="1200" dirty="0">
                <a:effectLst/>
              </a:rPr>
              <a:t>Figure 37. The formation of graft copolymer chains through interfacial copolymer (A-SMA) and polyamide (B-PA) interaction. Adapted from [561].</a:t>
            </a:r>
          </a:p>
        </p:txBody>
      </p:sp>
      <mc:AlternateContent xmlns:mc="http://schemas.openxmlformats.org/markup-compatibility/2006">
        <mc:Choice xmlns:a14="http://schemas.microsoft.com/office/drawing/2010/main" Requires="a14">
          <p:sp>
            <p:nvSpPr>
              <p:cNvPr id="2" name="Text"/>
              <p:cNvSpPr/>
              <p:nvPr/>
            </p:nvSpPr>
            <p:spPr>
              <a:xfrm>
                <a:off x="1524000" y="3590925"/>
                <a:ext cx="9144000" cy="1600200"/>
              </a:xfrm>
              <a:prstGeom prst="rect">
                <a:avLst/>
              </a:prstGeom>
            </p:spPr>
            <p:txBody>
              <a:bodyPr anchor="t" lIns="0" tIns="0" rIns="0" bIns="0">
                <a:noAutofit/>
              </a:bodyPr>
              <a:lstStyle/>
              <a:p>
                <a:pPr>
                  <a:lnSpc>
                    <a:spcPct val="120000"/>
                  </a:lnSpc>
                </a:pPr>
                <a:r>
                  <a:rPr lang="en-US" sz="1200" dirty="0">
                    <a:effectLst/>
                  </a:rPr>
                  <a:t>Blending of PA with MA-modified rubbers, such as ethylene-propylene(EP)- </a:t>
                </a:r>
                <a:r>
                  <a:rPr lang="en-US" sz="1200" dirty="0">
                    <a:effectLst/>
                  </a:rPr>
                  <a:t>​</a:t>
                </a:r>
                <a14:m>
                  <m:oMath>
                    <m:r>
                      <m:rPr>
                        <m:sty m:val="i"/>
                      </m:rPr>
                      <a:rPr lang="en-US" sz="1200" dirty="0">
                        <a:solidFill>
                          <a:srgbClr val="000000"/>
                        </a:solidFill>
                        <a:effectLst/>
                      </a:rPr>
                      <m:t>g</m:t>
                    </m:r>
                  </m:oMath>
                </a14:m>
                <a:r>
                  <a:rPr lang="en-US" sz="1200" dirty="0">
                    <a:effectLst/>
                  </a:rPr>
                  <a:t>-MA and styrene-butylene-styrene(SBS)- </a:t>
                </a:r>
                <a:r>
                  <a:rPr lang="en-US" sz="1200" dirty="0">
                    <a:effectLst/>
                  </a:rPr>
                  <a:t>​</a:t>
                </a:r>
                <a14:m>
                  <m:oMath>
                    <m:r>
                      <m:rPr>
                        <m:sty m:val="i"/>
                      </m:rPr>
                      <a:rPr lang="en-US" sz="1200" dirty="0">
                        <a:solidFill>
                          <a:srgbClr val="000000"/>
                        </a:solidFill>
                        <a:effectLst/>
                      </a:rPr>
                      <m:t>g</m:t>
                    </m:r>
                  </m:oMath>
                </a14:m>
                <a:r>
                  <a:rPr lang="en-US" sz="1200" dirty="0">
                    <a:effectLst/>
                  </a:rPr>
                  <a:t>-MA, results in increased (low temperature) tougness [563]. In addition, Majumdar et al. [564] showed that the resistance towards moisture and warpage were improved when ABS used as an impact modifier. Blending of PA with PP- </a:t>
                </a:r>
                <a:r>
                  <a:rPr lang="en-US" sz="1200" dirty="0">
                    <a:effectLst/>
                  </a:rPr>
                  <a:t>​</a:t>
                </a:r>
                <a14:m>
                  <m:oMath>
                    <m:r>
                      <m:rPr>
                        <m:sty m:val="i"/>
                      </m:rPr>
                      <a:rPr lang="en-US" sz="1200" dirty="0">
                        <a:solidFill>
                          <a:srgbClr val="000000"/>
                        </a:solidFill>
                        <a:effectLst/>
                      </a:rPr>
                      <m:t>g</m:t>
                    </m:r>
                  </m:oMath>
                </a14:m>
                <a:r>
                  <a:rPr lang="en-US" sz="1200" dirty="0">
                    <a:effectLst/>
                  </a:rPr>
                  <a:t>-MA resulted in decreased moisture sensitivity and a lower cost price [565]; blending with MA-modified E-P copolymer increased impact strenght and high temperature resistance [550,551]. For special purposes MA-styrene copolymer used by authors as a blend component to increase the high-temperature performance or</a:t>
                </a:r>
                <a:br>
                  <a:rPr lang="en-US" sz="1200" dirty="0"/>
                </a:br>
                <a:r>
                  <a:rPr lang="en-US" sz="1200" dirty="0">
                    <a:effectLst/>
                  </a:rPr>
                  <a:t> as a compatibilizer in blends with convertional polymers, such as PS, SAN, ABS, PMMA, etc. [564].</a:t>
                </a:r>
              </a:p>
            </p:txBody>
          </p:sp>
        </mc:Choice>
        <mc:Fallback/>
      </mc:AlternateContent>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3657600"/>
              </a:xfrm>
              <a:prstGeom prst="rect">
                <a:avLst/>
              </a:prstGeom>
            </p:spPr>
            <p:txBody>
              <a:bodyPr anchor="t" lIns="0" tIns="0" rIns="0" bIns="0">
                <a:noAutofit/>
              </a:bodyPr>
              <a:lstStyle/>
              <a:p>
                <a:pPr>
                  <a:lnSpc>
                    <a:spcPct val="120000"/>
                  </a:lnSpc>
                </a:pPr>
                <a:r>
                  <a:rPr lang="en-US" sz="1200" dirty="0">
                    <a:effectLst/>
                  </a:rPr>
                  <a:t>The best examples of in situ chemical modification are reactive polymer blends of MA-containing copolymers and graft copolymers with polyamides (PA)s [445-449,451,453]. Blended of PA with MA-modified rubbers, such as poly(EPDM- </a:t>
                </a:r>
                <a:r>
                  <a:rPr lang="en-US" sz="1200" dirty="0">
                    <a:effectLst/>
                  </a:rPr>
                  <a:t>​</a:t>
                </a:r>
                <a14:m>
                  <m:oMath>
                    <m:r>
                      <m:rPr>
                        <m:sty m:val="i"/>
                      </m:rPr>
                      <a:rPr lang="en-US" sz="1200" dirty="0">
                        <a:solidFill>
                          <a:srgbClr val="000000"/>
                        </a:solidFill>
                        <a:effectLst/>
                      </a:rPr>
                      <m:t>g</m:t>
                    </m:r>
                  </m:oMath>
                </a14:m>
                <a:r>
                  <a:rPr lang="en-US" sz="1200" dirty="0">
                    <a:effectLst/>
                  </a:rPr>
                  <a:t>-MA) and poly(SEBS- </a:t>
                </a:r>
                <a:r>
                  <a:rPr lang="en-US" sz="1200" dirty="0">
                    <a:effectLst/>
                  </a:rPr>
                  <a:t>​</a:t>
                </a:r>
                <a14:m>
                  <m:oMath>
                    <m:r>
                      <m:rPr>
                        <m:sty m:val="i"/>
                      </m:rPr>
                      <a:rPr lang="en-US" sz="1200" dirty="0">
                        <a:solidFill>
                          <a:srgbClr val="000000"/>
                        </a:solidFill>
                        <a:effectLst/>
                      </a:rPr>
                      <m:t>g</m:t>
                    </m:r>
                  </m:oMath>
                </a14:m>
                <a:r>
                  <a:rPr lang="en-US" sz="1200" dirty="0">
                    <a:effectLst/>
                  </a:rPr>
                  <a:t>-MA), results in increased (low temperature) thougness [562]. In situ modification of PA with poly(PP- </a:t>
                </a:r>
                <a:r>
                  <a:rPr lang="en-US" sz="1200" dirty="0">
                    <a:effectLst/>
                  </a:rPr>
                  <a:t>​</a:t>
                </a:r>
                <a14:m>
                  <m:oMath>
                    <m:r>
                      <m:rPr>
                        <m:sty m:val="i"/>
                      </m:rPr>
                      <a:rPr lang="en-US" sz="1200" dirty="0">
                        <a:solidFill>
                          <a:srgbClr val="000000"/>
                        </a:solidFill>
                        <a:effectLst/>
                      </a:rPr>
                      <m:t>g</m:t>
                    </m:r>
                  </m:oMath>
                </a14:m>
                <a:r>
                  <a:rPr lang="en-US" sz="1200" dirty="0">
                    <a:effectLst/>
                  </a:rPr>
                  <a:t>-MA) results in decreased moisture sensitivity and a lower cost price [565]; blending with MA-modified PE increases impact strength and high-temperature resistance [566,567]. In addition, the resistance towards moisture and warpage were improved when ABS is used as an impact modifier [565-569]. Blending PA with MA grafted E-P copolymer increases impact strength and themal stability [567]. Majumdar et al. [568] reported a serial reactive bifunctional PAs (nylon-6,6 and nylon-12,12) blends with poly(SEBS- </a:t>
                </a:r>
                <a:r>
                  <a:rPr lang="en-US" sz="1200" dirty="0">
                    <a:effectLst/>
                  </a:rPr>
                  <a:t>​</a:t>
                </a:r>
                <a14:m>
                  <m:oMath>
                    <m:r>
                      <m:rPr>
                        <m:sty m:val="i"/>
                      </m:rPr>
                      <a:rPr lang="en-US" sz="1200" dirty="0">
                        <a:solidFill>
                          <a:srgbClr val="000000"/>
                        </a:solidFill>
                        <a:effectLst/>
                      </a:rPr>
                      <m:t>g</m:t>
                    </m:r>
                  </m:oMath>
                </a14:m>
                <a:r>
                  <a:rPr lang="en-US" sz="1200" dirty="0">
                    <a:effectLst/>
                  </a:rPr>
                  <a:t>-MA) (a maleated styrenic triblock copolymer with ethylene-butylene middle block) and poly(EPR- </a:t>
                </a:r>
                <a:r>
                  <a:rPr lang="en-US" sz="1200" dirty="0">
                    <a:effectLst/>
                  </a:rPr>
                  <a:t>​</a:t>
                </a:r>
                <a14:m>
                  <m:oMath>
                    <m:r>
                      <m:rPr>
                        <m:sty m:val="i"/>
                      </m:rPr>
                      <a:rPr lang="en-US" sz="1200" dirty="0">
                        <a:solidFill>
                          <a:srgbClr val="000000"/>
                        </a:solidFill>
                        <a:effectLst/>
                      </a:rPr>
                      <m:t>g</m:t>
                    </m:r>
                  </m:oMath>
                </a14:m>
                <a:r>
                  <a:rPr lang="en-US" sz="1200" dirty="0">
                    <a:effectLst/>
                  </a:rPr>
                  <a:t>-MA) (a maleated ethylene-propylene rubber). The morphology and mechanical properties of these blends prepared in single and corotating twin-screw extruders and studied using transmission electron microscopy (TEM) technique. It was shown that for blends of poly(SEBS- </a:t>
                </a:r>
                <a:r>
                  <a:rPr lang="en-US" sz="1200" dirty="0">
                    <a:effectLst/>
                  </a:rPr>
                  <a:t>​</a:t>
                </a:r>
                <a14:m>
                  <m:oMath>
                    <m:r>
                      <m:rPr>
                        <m:sty m:val="i"/>
                      </m:rPr>
                      <a:rPr lang="en-US" sz="1200" dirty="0">
                        <a:solidFill>
                          <a:srgbClr val="000000"/>
                        </a:solidFill>
                        <a:effectLst/>
                      </a:rPr>
                      <m:t>g</m:t>
                    </m:r>
                  </m:oMath>
                </a14:m>
                <a:r>
                  <a:rPr lang="en-US" sz="1200" dirty="0">
                    <a:effectLst/>
                  </a:rPr>
                  <a:t>-MA) with bifunctional PAs, the twin-screw extruder is more effective in producing a finer dispersion of the rubber phase. On the other hand, for blends of poly(SEBS- </a:t>
                </a:r>
                <a:r>
                  <a:rPr lang="en-US" sz="1200" dirty="0">
                    <a:effectLst/>
                  </a:rPr>
                  <a:t>​</a:t>
                </a:r>
                <a14:m>
                  <m:oMath>
                    <m:r>
                      <m:rPr>
                        <m:sty m:val="i"/>
                      </m:rPr>
                      <a:rPr lang="en-US" sz="1200" dirty="0">
                        <a:solidFill>
                          <a:srgbClr val="000000"/>
                        </a:solidFill>
                        <a:effectLst/>
                      </a:rPr>
                      <m:t>g</m:t>
                    </m:r>
                  </m:oMath>
                </a14:m>
                <a:r>
                  <a:rPr lang="en-US" sz="1200" dirty="0">
                    <a:effectLst/>
                  </a:rPr>
                  <a:t>-MA) with monofunctional PA (nylon-6), the single-screw extruder led to blends with excellent low-temperature impact properties for both single-step and masterbatch mixing techniques. Araújo et al. [569] prepared PA6/ABS blends compatibilized with poly[methyl methacrylate-co-MA(3-20 wt. %)]. They showed that the presence of this copolymer in the blends clearly led to a more efficient dispersion of the ABS phase and consequently optimized Izod impact properties. According to the authors, reactive compatibilization proceeds through reaction of anhydride unit of copolymer with the amine end groups in PA6 during melt processing.</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267200"/>
                <a:ext cx="9144000" cy="2057400"/>
              </a:xfrm>
              <a:prstGeom prst="rect">
                <a:avLst/>
              </a:prstGeom>
            </p:spPr>
            <p:txBody>
              <a:bodyPr anchor="t" lIns="0" tIns="0" rIns="0" bIns="0">
                <a:noAutofit/>
              </a:bodyPr>
              <a:lstStyle/>
              <a:p>
                <a:pPr>
                  <a:lnSpc>
                    <a:spcPct val="120000"/>
                  </a:lnSpc>
                </a:pPr>
                <a:r>
                  <a:rPr lang="en-US" sz="1200" dirty="0">
                    <a:effectLst/>
                  </a:rPr>
                  <a:t>Maleation of metallocene poly[ethylene-co-1-octene (25 wt. %)] (POE elastomer with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m</m:t>
                        </m:r>
                      </m:sub>
                    </m:sSub>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55</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and MFI 0.5 </a:t>
                </a:r>
                <a:r>
                  <a:rPr lang="en-US" sz="1200" dirty="0">
                    <a:effectLst/>
                  </a:rPr>
                  <a:t>​</a:t>
                </a:r>
                <a14:m>
                  <m:oMath>
                    <m:r>
                      <m:rPr>
                        <m:sty m:val="p"/>
                      </m:rPr>
                      <a:rPr lang="en-US" sz="1200" dirty="0">
                        <a:solidFill>
                          <a:srgbClr val="000000"/>
                        </a:solidFill>
                        <a:effectLst/>
                      </a:rPr>
                      <m:t>dg</m:t>
                    </m:r>
                    <m:r>
                      <m:rPr>
                        <m:sty m:val="p"/>
                      </m:rPr>
                      <a:rPr lang="en-US" sz="1200" dirty="0">
                        <a:solidFill>
                          <a:srgbClr val="000000"/>
                        </a:solidFill>
                        <a:effectLst/>
                      </a:rPr>
                      <m:t>/</m:t>
                    </m:r>
                    <m:r>
                      <m:rPr>
                        <m:sty m:val="p"/>
                      </m:rPr>
                      <a:rPr lang="en-US" sz="1200" dirty="0">
                        <a:solidFill>
                          <a:srgbClr val="000000"/>
                        </a:solidFill>
                        <a:effectLst/>
                      </a:rPr>
                      <m:t>min</m:t>
                    </m:r>
                  </m:oMath>
                </a14:m>
                <a:r>
                  <a:rPr lang="en-US" sz="1200" dirty="0">
                    <a:effectLst/>
                  </a:rPr>
                  <a:t> ) carried out with dicumul peroxide as an intiator at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200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and 120 rpm in melt by co-rotating twin-screw extruder by Yu et al. [570]. They reported the effect of the addition of grafted POE on the impact strength, yield strength and modulus of nylon 6. The effects of the MA graft ratio and functionality of a series POE on the mechanical properties and morphology of nylon-11/ (poly(POE- </a:t>
                </a:r>
                <a:r>
                  <a:rPr lang="en-US" sz="1200" dirty="0">
                    <a:effectLst/>
                  </a:rPr>
                  <a:t>​</a:t>
                </a:r>
                <a14:m>
                  <m:oMath>
                    <m:r>
                      <m:rPr>
                        <m:sty m:val="i"/>
                      </m:rPr>
                      <a:rPr lang="en-US" sz="1200" dirty="0">
                        <a:solidFill>
                          <a:srgbClr val="000000"/>
                        </a:solidFill>
                        <a:effectLst/>
                      </a:rPr>
                      <m:t>g</m:t>
                    </m:r>
                  </m:oMath>
                </a14:m>
                <a:r>
                  <a:rPr lang="en-US" sz="1200" dirty="0">
                    <a:effectLst/>
                  </a:rPr>
                  <a:t>-MA) binary reactive blends and nylon-11 /POE/(poly(POE- </a:t>
                </a:r>
                <a:r>
                  <a:rPr lang="en-US" sz="1200" dirty="0">
                    <a:effectLst/>
                  </a:rPr>
                  <a:t>​</a:t>
                </a:r>
                <a14:m>
                  <m:oMath>
                    <m:r>
                      <m:rPr>
                        <m:sty m:val="i"/>
                      </m:rPr>
                      <a:rPr lang="en-US" sz="1200" dirty="0">
                        <a:solidFill>
                          <a:srgbClr val="000000"/>
                        </a:solidFill>
                        <a:effectLst/>
                      </a:rPr>
                      <m:t>g</m:t>
                    </m:r>
                  </m:oMath>
                </a14:m>
                <a:r>
                  <a:rPr lang="en-US" sz="1200" dirty="0">
                    <a:effectLst/>
                  </a:rPr>
                  <a:t>-MA) ternary reactive blends investigated in detail by Li et al. [571]. Semi-crystalline Nylon 11with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g</m:t>
                        </m:r>
                      </m:sub>
                    </m:sSub>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44</m:t>
                        </m:r>
                      </m:e>
                      <m:sup>
                        <m:r>
                          <m:rPr>
                            <m:sty m:val="p"/>
                          </m:rPr>
                          <a:rPr lang="en-US" sz="1200" dirty="0">
                            <a:solidFill>
                              <a:srgbClr val="000000"/>
                            </a:solidFill>
                            <a:effectLst/>
                          </a:rPr>
                          <m:t>∘</m:t>
                        </m:r>
                      </m:sup>
                    </m:sSup>
                    <m:r>
                      <m:rPr>
                        <m:sty m:val="p"/>
                      </m:rPr>
                      <a:rPr lang="en-US" sz="1200" dirty="0">
                        <a:solidFill>
                          <a:srgbClr val="000000"/>
                        </a:solidFill>
                        <a:effectLst/>
                      </a:rPr>
                      <m:t>C</m:t>
                    </m:r>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m</m:t>
                        </m:r>
                      </m:sub>
                    </m:sSub>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193</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w</m:t>
                        </m:r>
                      </m:sub>
                    </m:sSub>
                    <m:r>
                      <m:rPr>
                        <m:sty m:val="p"/>
                      </m:rPr>
                      <a:rPr lang="en-US" sz="1200" dirty="0">
                        <a:solidFill>
                          <a:srgbClr val="000000"/>
                        </a:solidFill>
                        <a:effectLst/>
                      </a:rPr>
                      <m:t>=</m:t>
                    </m:r>
                    <m:r>
                      <m:rPr>
                        <m:sty m:val="p"/>
                      </m:rPr>
                      <a:rPr lang="en-US" sz="1200" dirty="0">
                        <a:solidFill>
                          <a:srgbClr val="000000"/>
                        </a:solidFill>
                        <a:effectLst/>
                      </a:rPr>
                      <m:t>26000</m:t>
                    </m:r>
                  </m:oMath>
                </a14:m>
                <a:r>
                  <a:rPr lang="en-US" sz="1200" dirty="0">
                    <a:effectLst/>
                  </a:rPr>
                  <a:t> </a:t>
                </a:r>
                <a:r>
                  <a:rPr lang="en-US" sz="1200" dirty="0">
                    <a:effectLst/>
                  </a:rPr>
                  <a:t>​</a:t>
                </a:r>
                <a14:m>
                  <m:oMath>
                    <m:r>
                      <m:rPr>
                        <m:sty m:val="p"/>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mol</m:t>
                    </m:r>
                  </m:oMath>
                </a14:m>
                <a:r>
                  <a:rPr lang="en-US" sz="1200" dirty="0">
                    <a:effectLst/>
                  </a:rPr>
                  <a:t> and poly(POE- </a:t>
                </a:r>
                <a:r>
                  <a:rPr lang="en-US" sz="1200" dirty="0">
                    <a:effectLst/>
                  </a:rPr>
                  <a:t>​</a:t>
                </a:r>
                <a14:m>
                  <m:oMath>
                    <m:r>
                      <m:rPr>
                        <m:sty m:val="i"/>
                      </m:rPr>
                      <a:rPr lang="en-US" sz="1200" dirty="0">
                        <a:solidFill>
                          <a:srgbClr val="000000"/>
                        </a:solidFill>
                        <a:effectLst/>
                      </a:rPr>
                      <m:t>g</m:t>
                    </m:r>
                  </m:oMath>
                </a14:m>
                <a:r>
                  <a:rPr lang="en-US" sz="1200" dirty="0">
                    <a:effectLst/>
                  </a:rPr>
                  <a:t>-MA)s with 0.38, 0.56 and 0.89 % MA graft ratios used in this study. It was found that the optimal MA content for the preparation of blend with maximum value of Izod impact strength (~800 J/m) is 0.56 wt. %. SEM and TEM micrographs demonstrated that incorporation poly(POE- </a:t>
                </a:r>
                <a:r>
                  <a:rPr lang="en-US" sz="1200" dirty="0">
                    <a:effectLst/>
                  </a:rPr>
                  <a:t>​</a:t>
                </a:r>
                <a14:m>
                  <m:oMath>
                    <m:r>
                      <m:rPr>
                        <m:sty m:val="i"/>
                      </m:rPr>
                      <a:rPr lang="en-US" sz="1200" dirty="0">
                        <a:solidFill>
                          <a:srgbClr val="000000"/>
                        </a:solidFill>
                        <a:effectLst/>
                      </a:rPr>
                      <m:t>g</m:t>
                    </m:r>
                  </m:oMath>
                </a14:m>
                <a:r>
                  <a:rPr lang="en-US" sz="1200" dirty="0">
                    <a:effectLst/>
                  </a:rPr>
                  <a:t>-MA) ensured good compatibility between nylon 11 and POE particles [572].</a:t>
                </a:r>
              </a:p>
            </p:txBody>
          </p:sp>
        </mc:Choice>
        <mc:Fallback/>
      </mc:AlternateContent>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914400"/>
              </a:xfrm>
              <a:prstGeom prst="rect">
                <a:avLst/>
              </a:prstGeom>
            </p:spPr>
            <p:txBody>
              <a:bodyPr anchor="t" lIns="0" tIns="0" rIns="0" bIns="0">
                <a:noAutofit/>
              </a:bodyPr>
              <a:lstStyle/>
              <a:p>
                <a:pPr>
                  <a:lnSpc>
                    <a:spcPct val="120000"/>
                  </a:lnSpc>
                </a:pPr>
                <a:r>
                  <a:rPr lang="en-US" sz="1200" dirty="0">
                    <a:effectLst/>
                  </a:rPr>
                  <a:t>The chemical reaction scheme of anhydrides of dicarboxylic acids with amines and amides is quite complex, but is sumplified at elevated temperatures (&gt;200 </a:t>
                </a:r>
                <a:r>
                  <a:rPr lang="en-US" sz="1200" dirty="0">
                    <a:effectLst/>
                  </a:rPr>
                  <a:t>​</a:t>
                </a:r>
                <a14:m>
                  <m:oMath>
                    <m:d>
                      <m:dPr>
                        <m:begChr m:val=""/>
                        <m:endChr m:val=")"/>
                        <m:ctrlPr>
                          <a:rPr sz="1200">
                            <a:latin typeface="Cambria Math" panose="02040503050406030204" pitchFamily="18" charset="0"/>
                          </a:rPr>
                        </m:ctrlPr>
                      </m:dPr>
                      <m:e>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r>
                          <m:rPr>
                            <m:sty m:val="p"/>
                          </m:rPr>
                          <a:rPr lang="en-US" sz="1200" dirty="0">
                            <a:solidFill>
                              <a:srgbClr val="000000"/>
                            </a:solidFill>
                            <a:effectLst/>
                          </a:rPr>
                          <m:t>C</m:t>
                        </m:r>
                      </m:e>
                    </m:d>
                  </m:oMath>
                </a14:m>
                <a:r>
                  <a:rPr lang="en-US" sz="1200" dirty="0">
                    <a:effectLst/>
                  </a:rPr>
                  <a:t> [553]. According to the authors [572-575], amine end groups of PA react with the anhydride moiety, resulting in PA graft formation via an imide linkage. PA amide groups do not react directly with the anhydride unit unit, but only after being hydrolyzed to an amine and a carboxylic acid (Figure 38).</a:t>
                </a:r>
              </a:p>
            </p:txBody>
          </p:sp>
        </mc:Choice>
        <mc:Fallback/>
      </mc:AlternateContent>
      <p:pic>
        <p:nvPicPr>
          <p:cNvPr id="2" name="image-9d16db11962e35bbf31e2aa6a8dc5d2c8373c628.jpg"/>
          <p:cNvPicPr/>
          <p:nvPr/>
        </p:nvPicPr>
        <p:blipFill>
          <a:blip r:embed="rId2" cstate="print"/>
          <a:srcRect/>
          <a:stretch>
            <a:fillRect/>
          </a:stretch>
        </p:blipFill>
        <p:spPr>
          <a:xfrm>
            <a:off x="1524000" y="1524000"/>
            <a:ext cx="8134350" cy="3762375"/>
          </a:xfrm>
          <a:prstGeom prst="rect">
            <a:avLst/>
          </a:prstGeom>
        </p:spPr>
      </p:pic>
      <p:sp>
        <p:nvSpPr>
          <p:cNvPr id="3" name="Text"/>
          <p:cNvSpPr/>
          <p:nvPr/>
        </p:nvSpPr>
        <p:spPr>
          <a:xfrm>
            <a:off x="1524000" y="5286375"/>
            <a:ext cx="9144000" cy="457200"/>
          </a:xfrm>
          <a:prstGeom prst="rect">
            <a:avLst/>
          </a:prstGeom>
        </p:spPr>
        <p:txBody>
          <a:bodyPr anchor="t" lIns="0" tIns="0" rIns="0" bIns="0">
            <a:noAutofit/>
          </a:bodyPr>
          <a:lstStyle/>
          <a:p>
            <a:pPr>
              <a:lnSpc>
                <a:spcPct val="120000"/>
              </a:lnSpc>
            </a:pPr>
            <a:r>
              <a:rPr lang="en-US" sz="1200" dirty="0">
                <a:effectLst/>
              </a:rPr>
              <a:t>Figure 38. The formation MA copolymer/PA graft by reaction of end amine groups with the anhydride moiety via formation of an imide linkage. Adapted from [573].</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914400"/>
          </a:xfrm>
          <a:prstGeom prst="rect">
            <a:avLst/>
          </a:prstGeom>
        </p:spPr>
        <p:txBody>
          <a:bodyPr anchor="t" lIns="0" tIns="0" rIns="0" bIns="0">
            <a:noAutofit/>
          </a:bodyPr>
          <a:lstStyle/>
          <a:p>
            <a:pPr>
              <a:lnSpc>
                <a:spcPct val="120000"/>
              </a:lnSpc>
            </a:pPr>
            <a:r>
              <a:rPr lang="en-US" sz="1200" dirty="0">
                <a:effectLst/>
              </a:rPr>
              <a:t>Overall reaction results in PA chain scission and imide formation. The interactions between chemistry, morphology, and rheology studied by several researchers using MA-containing polymers with different MA unit contents such as poly[EPDM-g-MA(1.4 wt.%)] and poly[styrene-co-MA (28 wt.%)]. The effect of PA symmetry also studied. It was shown the when PA-6 is used, only linking is occur; in the case of PA-66, crosslinking is occur [557-559,568,569,576].</a:t>
            </a:r>
          </a:p>
        </p:txBody>
      </p:sp>
      <mc:AlternateContent xmlns:mc="http://schemas.openxmlformats.org/markup-compatibility/2006">
        <mc:Choice xmlns:a14="http://schemas.microsoft.com/office/drawing/2010/main" Requires="a14">
          <p:sp>
            <p:nvSpPr>
              <p:cNvPr id="2" name="Text"/>
              <p:cNvSpPr/>
              <p:nvPr/>
            </p:nvSpPr>
            <p:spPr>
              <a:xfrm>
                <a:off x="1524000" y="1524000"/>
                <a:ext cx="9144000" cy="2286000"/>
              </a:xfrm>
              <a:prstGeom prst="rect">
                <a:avLst/>
              </a:prstGeom>
            </p:spPr>
            <p:txBody>
              <a:bodyPr anchor="t" lIns="0" tIns="0" rIns="0" bIns="0">
                <a:noAutofit/>
              </a:bodyPr>
              <a:lstStyle/>
              <a:p>
                <a:pPr>
                  <a:lnSpc>
                    <a:spcPct val="120000"/>
                  </a:lnSpc>
                </a:pPr>
                <a:r>
                  <a:rPr lang="en-US" sz="1200" dirty="0">
                    <a:effectLst/>
                  </a:rPr>
                  <a:t>Van Duin et al. [573] demonstrated that melt blending of PA-6 and PA-6,6 with poly(EPDM-g-MA) and poly(St-alt-MA) results in coupling of PA with MA-containing polymer via an imide linkage and is accompanied by PA degradation. Differential scanning calorimetry shows that the degree of crystallinity of the PA phase is decreased only when the size of the PA phase between the MA-containing polymer domains approaches the PA crystalline lamellar thickness. Graft formation and chain scission in blends of PA-6 and PA-6,6 with MA-containing polymers [EPDM- </a:t>
                </a:r>
                <a:r>
                  <a:rPr lang="en-US" sz="1200" dirty="0">
                    <a:effectLst/>
                  </a:rPr>
                  <a:t>​</a:t>
                </a:r>
                <a14:m>
                  <m:oMath>
                    <m:r>
                      <m:rPr>
                        <m:sty m:val="i"/>
                      </m:rPr>
                      <a:rPr lang="en-US" sz="1200" dirty="0">
                        <a:solidFill>
                          <a:srgbClr val="000000"/>
                        </a:solidFill>
                        <a:effectLst/>
                      </a:rPr>
                      <m:t>g</m:t>
                    </m:r>
                  </m:oMath>
                </a14:m>
                <a:r>
                  <a:rPr lang="en-US" sz="1200" dirty="0">
                    <a:effectLst/>
                  </a:rPr>
                  <a:t> -MA and MA(28 wt %)-styrene copolymer] also studied by these authors. For this, they prepared four polymer blends and characterized. Chemical analyses showed that the amount of PA graft is independent of the blend composition. Going from EPDM- </a:t>
                </a:r>
                <a:r>
                  <a:rPr lang="en-US" sz="1200" dirty="0">
                    <a:effectLst/>
                  </a:rPr>
                  <a:t>​</a:t>
                </a:r>
                <a14:m>
                  <m:oMath>
                    <m:r>
                      <m:rPr>
                        <m:sty m:val="i"/>
                      </m:rPr>
                      <a:rPr lang="en-US" sz="1200" dirty="0">
                        <a:solidFill>
                          <a:srgbClr val="000000"/>
                        </a:solidFill>
                        <a:effectLst/>
                      </a:rPr>
                      <m:t>g</m:t>
                    </m:r>
                  </m:oMath>
                </a14:m>
                <a:r>
                  <a:rPr lang="en-US" sz="1200" dirty="0">
                    <a:effectLst/>
                  </a:rPr>
                  <a:t>-MA to MA(28 wt %)-styrene copolymer the MA content of the orginal MA-containing polymer increases, which in the corresponding blends results in an increase in the number of PA grafts and a decrease in the length of the PA grafts. It was found that in the MA-styrene copolymer blends the number averaged molecular weight of the grafted PA is only about </a:t>
                </a:r>
                <a:r>
                  <a:rPr lang="en-US" sz="1200" dirty="0">
                    <a:effectLst/>
                  </a:rPr>
                  <a:t>​</a:t>
                </a:r>
                <a14:m>
                  <m:oMath>
                    <m:r>
                      <m:rPr>
                        <m:sty m:val="p"/>
                      </m:rPr>
                      <a:rPr lang="en-US" sz="1200" dirty="0">
                        <a:solidFill>
                          <a:srgbClr val="000000"/>
                        </a:solidFill>
                        <a:effectLst/>
                      </a:rPr>
                      <m:t>200</m:t>
                    </m:r>
                    <m:r>
                      <m:rPr>
                        <m:sty m:val="p"/>
                      </m:rPr>
                      <a:rPr lang="en-US" sz="1200" dirty="0">
                        <a:solidFill>
                          <a:srgbClr val="000000"/>
                        </a:solidFill>
                        <a:effectLst/>
                      </a:rPr>
                      <m:t xml:space="preserve"> </m:t>
                    </m:r>
                    <m:r>
                      <m:rPr>
                        <m:sty m:val="p"/>
                      </m:rPr>
                      <a:rPr lang="en-US" sz="1200" dirty="0">
                        <a:solidFill>
                          <a:srgbClr val="000000"/>
                        </a:solidFill>
                        <a:effectLst/>
                      </a:rPr>
                      <m:t>g</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mol</m:t>
                        </m:r>
                      </m:e>
                      <m:sup>
                        <m:r>
                          <m:rPr>
                            <m:sty m:val="p"/>
                          </m:rPr>
                          <a:rPr lang="en-US" sz="1200" dirty="0">
                            <a:solidFill>
                              <a:srgbClr val="000000"/>
                            </a:solidFill>
                            <a:effectLst/>
                          </a:rPr>
                          <m:t>−</m:t>
                        </m:r>
                      </m:sup>
                    </m:sSup>
                  </m:oMath>
                </a14:m>
                <a:r>
                  <a:rPr lang="en-US" sz="1200" dirty="0">
                    <a:effectLst/>
                  </a:rPr>
                  <a:t>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oMath>
                </a14:m>
                <a:r>
                  <a:rPr lang="en-US" sz="1200" dirty="0">
                    <a:effectLst/>
                  </a:rPr>
                  <a:t>. During blending the MA-containing polymer first melts, completely covering the PA granulate surface with grafts.</a:t>
                </a:r>
              </a:p>
            </p:txBody>
          </p:sp>
        </mc:Choice>
        <mc:Fallback/>
      </mc:AlternateContent>
      <p:sp>
        <p:nvSpPr>
          <p:cNvPr id="2" name="Text"/>
          <p:cNvSpPr/>
          <p:nvPr/>
        </p:nvSpPr>
        <p:spPr>
          <a:xfrm>
            <a:off x="1524000" y="3962400"/>
            <a:ext cx="9144000" cy="685800"/>
          </a:xfrm>
          <a:prstGeom prst="rect">
            <a:avLst/>
          </a:prstGeom>
        </p:spPr>
        <p:txBody>
          <a:bodyPr anchor="t" lIns="0" tIns="0" rIns="0" bIns="0">
            <a:noAutofit/>
          </a:bodyPr>
          <a:lstStyle/>
          <a:p>
            <a:pPr>
              <a:lnSpc>
                <a:spcPct val="120000"/>
              </a:lnSpc>
            </a:pPr>
            <a:r>
              <a:rPr lang="en-US" sz="1200" dirty="0">
                <a:effectLst/>
              </a:rPr>
              <a:t>According to authors, the molecule of water released upon imide formation is formed in the melt at high temperature (260-280 °C) and under these conditions may result in hydrolysis of a PA chain close to the PA/(MA-containing polymer) interface. General scheme reactions at the interface in blends of PA and MA-containing polymers represented as follows (Figure 39):</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75504946ae7ba485d308388746dd36d6d4cc823f.jpg"/>
          <p:cNvPicPr/>
          <p:nvPr/>
        </p:nvPicPr>
        <p:blipFill>
          <a:blip r:embed="rId2" cstate="print"/>
          <a:srcRect/>
          <a:stretch>
            <a:fillRect/>
          </a:stretch>
        </p:blipFill>
        <p:spPr>
          <a:xfrm>
            <a:off x="1524000" y="457200"/>
            <a:ext cx="6000750" cy="4695825"/>
          </a:xfrm>
          <a:prstGeom prst="rect">
            <a:avLst/>
          </a:prstGeom>
        </p:spPr>
      </p:pic>
      <p:sp>
        <p:nvSpPr>
          <p:cNvPr id="3" name="Text"/>
          <p:cNvSpPr/>
          <p:nvPr/>
        </p:nvSpPr>
        <p:spPr>
          <a:xfrm>
            <a:off x="1524000" y="5153025"/>
            <a:ext cx="9144000" cy="228600"/>
          </a:xfrm>
          <a:prstGeom prst="rect">
            <a:avLst/>
          </a:prstGeom>
        </p:spPr>
        <p:txBody>
          <a:bodyPr anchor="t" lIns="0" tIns="0" rIns="0" bIns="0">
            <a:noAutofit/>
          </a:bodyPr>
          <a:lstStyle/>
          <a:p>
            <a:pPr>
              <a:lnSpc>
                <a:spcPct val="120000"/>
              </a:lnSpc>
            </a:pPr>
            <a:r>
              <a:rPr lang="en-US" sz="1200" dirty="0">
                <a:effectLst/>
              </a:rPr>
              <a:t>Figure 39. Interfacial interactions in reactive blends of PA and anhydride copolymer. Adapted from [573].</a:t>
            </a:r>
          </a:p>
        </p:txBody>
      </p:sp>
      <p:sp>
        <p:nvSpPr>
          <p:cNvPr id="2" name="Text"/>
          <p:cNvSpPr/>
          <p:nvPr/>
        </p:nvSpPr>
        <p:spPr>
          <a:xfrm>
            <a:off x="1524000" y="5381625"/>
            <a:ext cx="9144000" cy="457200"/>
          </a:xfrm>
          <a:prstGeom prst="rect">
            <a:avLst/>
          </a:prstGeom>
        </p:spPr>
        <p:txBody>
          <a:bodyPr anchor="t" lIns="0" tIns="0" rIns="0" bIns="0">
            <a:noAutofit/>
          </a:bodyPr>
          <a:lstStyle/>
          <a:p>
            <a:pPr>
              <a:lnSpc>
                <a:spcPct val="120000"/>
              </a:lnSpc>
            </a:pPr>
            <a:r>
              <a:rPr lang="en-US" sz="1200" dirty="0">
                <a:effectLst/>
              </a:rPr>
              <a:t>Authors postulated that the water molecule, released upon imide formation at the PA/MA-containing polymer interface, hydrolyses a PA amide group, resulting in a new amine end group, which in its turn reacts with the MA-containing polymer [573].</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Several researchers [575,576] reported the reactive compatibilization of PA blends with commercial poly(HDPE-g-MA) [564] containing different amount MA unit and some thermoplastic elactomers grafted with MA such as poly(SEBS- </a:t>
                </a:r>
                <a:r>
                  <a:rPr lang="en-US" sz="1200" dirty="0">
                    <a:effectLst/>
                  </a:rPr>
                  <a:t>​</a:t>
                </a:r>
                <a14:m>
                  <m:oMath>
                    <m:r>
                      <m:rPr>
                        <m:sty m:val="i"/>
                      </m:rPr>
                      <a:rPr lang="en-US" sz="1200" dirty="0">
                        <a:solidFill>
                          <a:srgbClr val="000000"/>
                        </a:solidFill>
                        <a:effectLst/>
                      </a:rPr>
                      <m:t>g</m:t>
                    </m:r>
                  </m:oMath>
                </a14:m>
                <a:r>
                  <a:rPr lang="en-US" sz="1200" dirty="0">
                    <a:effectLst/>
                  </a:rPr>
                  <a:t>-MA)s [577].</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066800"/>
                <a:ext cx="9144000" cy="3886200"/>
              </a:xfrm>
              <a:prstGeom prst="rect">
                <a:avLst/>
              </a:prstGeom>
            </p:spPr>
            <p:txBody>
              <a:bodyPr anchor="t" lIns="0" tIns="0" rIns="0" bIns="0">
                <a:noAutofit/>
              </a:bodyPr>
              <a:lstStyle/>
              <a:p>
                <a:pPr>
                  <a:lnSpc>
                    <a:spcPct val="120000"/>
                  </a:lnSpc>
                </a:pPr>
                <a:r>
                  <a:rPr lang="en-US" sz="1200" dirty="0">
                    <a:effectLst/>
                  </a:rPr>
                  <a:t>All these compatibilizer precursors (CPs) react during blending, with the functional groups of PA to produce CP-</a:t>
                </a:r>
                <a:r>
                  <a:rPr lang="en-US" sz="1200" dirty="0">
                    <a:effectLst/>
                  </a:rPr>
                  <a:t>​</a:t>
                </a:r>
                <a14:m>
                  <m:oMath>
                    <m:r>
                      <m:rPr>
                        <m:sty m:val="i"/>
                      </m:rPr>
                      <a:rPr lang="en-US" sz="1200" dirty="0">
                        <a:solidFill>
                          <a:srgbClr val="000000"/>
                        </a:solidFill>
                        <a:effectLst/>
                      </a:rPr>
                      <m:t>g</m:t>
                    </m:r>
                  </m:oMath>
                </a14:m>
                <a:r>
                  <a:rPr lang="en-US" sz="1200" dirty="0">
                    <a:effectLst/>
                  </a:rPr>
                  <a:t>-PA copolymers, though different kinetics and at different yields. The results confirm that the anhydride functional groups possess considerably higher efficiency, for the reactive compatibilization of LDPE/PA blends, than that of the ethylene-acrylic acid and ethylene-glycidyl methacrylate copolymers. Concerning the efficiency of the different MA-grafted precursors, Filippi et al. [575] demonstrated that the efficiency of the poly(E-g-MA)s changes dramatically depending on the structure and the molar mass of the PE substrate. The efficiency of the MA grafrted elastomers such as poly(SEBS-g-MA) and poly(styrene- </a:t>
                </a:r>
                <a:r>
                  <a:rPr lang="en-US" sz="1200" dirty="0">
                    <a:effectLst/>
                  </a:rPr>
                  <a:t>​</a:t>
                </a:r>
                <a14:m>
                  <m:oMath>
                    <m:r>
                      <m:rPr>
                        <m:sty m:val="i"/>
                      </m:rPr>
                      <a:rPr lang="en-US" sz="1200" dirty="0">
                        <a:solidFill>
                          <a:srgbClr val="000000"/>
                        </a:solidFill>
                        <a:effectLst/>
                      </a:rPr>
                      <m:t>b</m:t>
                    </m:r>
                  </m:oMath>
                </a14:m>
                <a:r>
                  <a:rPr lang="en-US" sz="1200" dirty="0">
                    <a:effectLst/>
                  </a:rPr>
                  <a:t>-ethylene-co-propylene) practically coinci-des with that of poly(HDPE-g-MA) for the compatibilization of PE/PA </a:t>
                </a:r>
                <a:r>
                  <a:rPr lang="en-US" sz="1200" dirty="0">
                    <a:effectLst/>
                  </a:rPr>
                  <a:t>​</a:t>
                </a:r>
                <a14:m>
                  <m:oMath>
                    <m:r>
                      <m:rPr>
                        <m:sty m:val="p"/>
                      </m:rPr>
                      <a:rPr lang="en-US" sz="1200" dirty="0">
                        <a:solidFill>
                          <a:srgbClr val="000000"/>
                        </a:solidFill>
                        <a:effectLst/>
                      </a:rPr>
                      <m:t>75</m:t>
                    </m:r>
                    <m:r>
                      <m:rPr>
                        <m:sty m:val="p"/>
                      </m:rPr>
                      <a:rPr lang="en-US" sz="1200" dirty="0">
                        <a:solidFill>
                          <a:srgbClr val="000000"/>
                        </a:solidFill>
                        <a:effectLst/>
                      </a:rPr>
                      <m:t>/</m:t>
                    </m:r>
                    <m:r>
                      <m:rPr>
                        <m:sty m:val="p"/>
                      </m:rPr>
                      <a:rPr lang="en-US" sz="1200" dirty="0">
                        <a:solidFill>
                          <a:srgbClr val="000000"/>
                        </a:solidFill>
                        <a:effectLst/>
                      </a:rPr>
                      <m:t>25</m:t>
                    </m:r>
                  </m:oMath>
                </a14:m>
                <a:r>
                  <a:rPr lang="en-US" sz="1200" dirty="0">
                    <a:effectLst/>
                  </a:rPr>
                  <a:t> w/w blend. CPs functionalized with MA groug also employed for compatibilization of PP/PA blends [564-568]. Holsti-Miettinen et al. [580] studied the poly(SEBS- </a:t>
                </a:r>
                <a:r>
                  <a:rPr lang="en-US" sz="1200" dirty="0">
                    <a:effectLst/>
                  </a:rPr>
                  <a:t>​</a:t>
                </a:r>
                <a14:m>
                  <m:oMath>
                    <m:r>
                      <m:rPr>
                        <m:sty m:val="i"/>
                      </m:rPr>
                      <a:rPr lang="en-US" sz="1200" dirty="0">
                        <a:solidFill>
                          <a:srgbClr val="000000"/>
                        </a:solidFill>
                        <a:effectLst/>
                      </a:rPr>
                      <m:t>g</m:t>
                    </m:r>
                  </m:oMath>
                </a14:m>
                <a:r>
                  <a:rPr lang="en-US" sz="1200" dirty="0">
                    <a:effectLst/>
                  </a:rPr>
                  <a:t>-MA) reactive compatibilization of </a:t>
                </a:r>
                <a:r>
                  <a:rPr lang="en-US" sz="1200" dirty="0">
                    <a:effectLst/>
                  </a:rPr>
                  <a:t>​</a:t>
                </a:r>
                <a14:m>
                  <m:oMath>
                    <m:r>
                      <m:rPr>
                        <m:sty m:val="p"/>
                      </m:rPr>
                      <a:rPr lang="en-US" sz="1200" dirty="0">
                        <a:solidFill>
                          <a:srgbClr val="000000"/>
                        </a:solidFill>
                        <a:effectLst/>
                      </a:rPr>
                      <m:t>PA</m:t>
                    </m:r>
                    <m:r>
                      <m:rPr>
                        <m:sty m:val="p"/>
                      </m:rPr>
                      <a:rPr lang="en-US" sz="1200" dirty="0">
                        <a:solidFill>
                          <a:srgbClr val="000000"/>
                        </a:solidFill>
                        <a:effectLst/>
                      </a:rPr>
                      <m:t>/</m:t>
                    </m:r>
                    <m:r>
                      <m:rPr>
                        <m:sty m:val="i"/>
                      </m:rPr>
                      <a:rPr lang="en-US" sz="1200" dirty="0">
                        <a:solidFill>
                          <a:srgbClr val="000000"/>
                        </a:solidFill>
                        <a:effectLst/>
                      </a:rPr>
                      <m:t>i</m:t>
                    </m:r>
                  </m:oMath>
                </a14:m>
                <a:r>
                  <a:rPr lang="en-US" sz="1200" dirty="0">
                    <a:effectLst/>
                  </a:rPr>
                  <a:t>-PP blends by mechanical, morphological, thermal and rheological analyses. Kim et al. [577,578] assumed that the reactions of anhydride units with amine and amide groups in blends of PA with MA-containing polymers are quite complex. First, amine end groups of PA will react with the anhydride moiety, resulting in PA graft formation via an imide linkage. Amic acids are only formed as intermediates. According to the authors, the PA amide group does not react directly with the anhydride unit, but only after being hydrolyzed to an amine and a carboxylic acid. Kim et al. [572,573] and Wilkinson et al. [581] investigated the i-PP/PA/SEBS-g-MA ternary blends with i-PP as the matrix phase. Gonzales-Montiel et al. [582-584] also reported the preparation and characterization of PA/i-PP/SEBS-g-MA blends. Chen and Harrison [585] used six different CPs, including two grades of poly(SEBS- </a:t>
                </a:r>
                <a:r>
                  <a:rPr lang="en-US" sz="1200" dirty="0">
                    <a:effectLst/>
                  </a:rPr>
                  <a:t>​</a:t>
                </a:r>
                <a14:m>
                  <m:oMath>
                    <m:r>
                      <m:rPr>
                        <m:sty m:val="i"/>
                      </m:rPr>
                      <a:rPr lang="en-US" sz="1200" dirty="0">
                        <a:solidFill>
                          <a:srgbClr val="000000"/>
                        </a:solidFill>
                        <a:effectLst/>
                      </a:rPr>
                      <m:t>g</m:t>
                    </m:r>
                  </m:oMath>
                </a14:m>
                <a:r>
                  <a:rPr lang="en-US" sz="1200" dirty="0">
                    <a:effectLst/>
                  </a:rPr>
                  <a:t>-MA), to compatibilize 80/20 blends of PE with an amorphous PA with the aim of producing PE films reinforced with PA fibers for balloon applications. Armat [588] showed that poly(SEBS- </a:t>
                </a:r>
                <a:r>
                  <a:rPr lang="en-US" sz="1200" dirty="0">
                    <a:effectLst/>
                  </a:rPr>
                  <a:t>​</a:t>
                </a:r>
                <a14:m>
                  <m:oMath>
                    <m:r>
                      <m:rPr>
                        <m:sty m:val="i"/>
                      </m:rPr>
                      <a:rPr lang="en-US" sz="1200" dirty="0">
                        <a:solidFill>
                          <a:srgbClr val="000000"/>
                        </a:solidFill>
                        <a:effectLst/>
                      </a:rPr>
                      <m:t>g</m:t>
                    </m:r>
                  </m:oMath>
                </a14:m>
                <a:r>
                  <a:rPr lang="en-US" sz="1200" dirty="0">
                    <a:effectLst/>
                  </a:rPr>
                  <a:t>-MA) is good CP for the reactive compatibilization of 25/75LDPE/PA blends.</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5105400"/>
                <a:ext cx="9144000" cy="914400"/>
              </a:xfrm>
              <a:prstGeom prst="rect">
                <a:avLst/>
              </a:prstGeom>
            </p:spPr>
            <p:txBody>
              <a:bodyPr anchor="t" lIns="0" tIns="0" rIns="0" bIns="0">
                <a:noAutofit/>
              </a:bodyPr>
              <a:lstStyle/>
              <a:p>
                <a:pPr>
                  <a:lnSpc>
                    <a:spcPct val="120000"/>
                  </a:lnSpc>
                </a:pPr>
                <a:r>
                  <a:rPr lang="en-US" sz="1200" dirty="0">
                    <a:effectLst/>
                  </a:rPr>
                  <a:t>Filippi et al. [575,586] used a MA grafted styrene- </a:t>
                </a:r>
                <a:r>
                  <a:rPr lang="en-US" sz="1200" dirty="0">
                    <a:effectLst/>
                  </a:rPr>
                  <a:t>​</a:t>
                </a:r>
                <a14:m>
                  <m:oMath>
                    <m:r>
                      <m:rPr>
                        <m:sty m:val="i"/>
                      </m:rPr>
                      <a:rPr lang="en-US" sz="1200" dirty="0">
                        <a:solidFill>
                          <a:srgbClr val="000000"/>
                        </a:solidFill>
                        <a:effectLst/>
                      </a:rPr>
                      <m:t>b</m:t>
                    </m:r>
                  </m:oMath>
                </a14:m>
                <a:r>
                  <a:rPr lang="en-US" sz="1200" dirty="0">
                    <a:effectLst/>
                  </a:rPr>
                  <a:t>-(E-co-P) copolymer (SEP- </a:t>
                </a:r>
                <a:r>
                  <a:rPr lang="en-US" sz="1200" dirty="0">
                    <a:effectLst/>
                  </a:rPr>
                  <a:t>​</a:t>
                </a:r>
                <a14:m>
                  <m:oMath>
                    <m:r>
                      <m:rPr>
                        <m:sty m:val="i"/>
                      </m:rPr>
                      <a:rPr lang="en-US" sz="1200" dirty="0">
                        <a:solidFill>
                          <a:srgbClr val="000000"/>
                        </a:solidFill>
                        <a:effectLst/>
                      </a:rPr>
                      <m:t>g</m:t>
                    </m:r>
                  </m:oMath>
                </a14:m>
                <a:r>
                  <a:rPr lang="en-US" sz="1200" dirty="0">
                    <a:effectLst/>
                  </a:rPr>
                  <a:t>-MA) for the compatibili- zation of LDPE/PA6 blends. The morphology and the mechanical properties of these blends (75/25 and 25/75) compared with those of the blends compatibilized with poly(HDPE- </a:t>
                </a:r>
                <a:r>
                  <a:rPr lang="en-US" sz="1200" dirty="0">
                    <a:effectLst/>
                  </a:rPr>
                  <a:t>​</a:t>
                </a:r>
                <a14:m>
                  <m:oMath>
                    <m:r>
                      <m:rPr>
                        <m:sty m:val="i"/>
                      </m:rPr>
                      <a:rPr lang="en-US" sz="1200" dirty="0">
                        <a:solidFill>
                          <a:srgbClr val="000000"/>
                        </a:solidFill>
                        <a:effectLst/>
                      </a:rPr>
                      <m:t>g</m:t>
                    </m:r>
                  </m:oMath>
                </a14:m>
                <a:r>
                  <a:rPr lang="en-US" sz="1200" dirty="0">
                    <a:effectLst/>
                  </a:rPr>
                  <a:t>-MA) and poly(SEBS- </a:t>
                </a:r>
                <a:r>
                  <a:rPr lang="en-US" sz="1200" dirty="0">
                    <a:effectLst/>
                  </a:rPr>
                  <a:t>​</a:t>
                </a:r>
                <a14:m>
                  <m:oMath>
                    <m:r>
                      <m:rPr>
                        <m:sty m:val="i"/>
                      </m:rPr>
                      <a:rPr lang="en-US" sz="1200" dirty="0">
                        <a:solidFill>
                          <a:srgbClr val="000000"/>
                        </a:solidFill>
                        <a:effectLst/>
                      </a:rPr>
                      <m:t>g</m:t>
                    </m:r>
                  </m:oMath>
                </a14:m>
                <a:r>
                  <a:rPr lang="en-US" sz="1200" dirty="0">
                    <a:effectLst/>
                  </a:rPr>
                  <a:t>-MA). These results show the strong compabilizing efficiency of (SEP- </a:t>
                </a:r>
                <a:r>
                  <a:rPr lang="en-US" sz="1200" dirty="0">
                    <a:effectLst/>
                  </a:rPr>
                  <a:t>​</a:t>
                </a:r>
                <a14:m>
                  <m:oMath>
                    <m:r>
                      <m:rPr>
                        <m:sty m:val="i"/>
                      </m:rPr>
                      <a:rPr lang="en-US" sz="1200" dirty="0">
                        <a:solidFill>
                          <a:srgbClr val="000000"/>
                        </a:solidFill>
                        <a:effectLst/>
                      </a:rPr>
                      <m:t>g</m:t>
                    </m:r>
                  </m:oMath>
                </a14:m>
                <a:r>
                  <a:rPr lang="en-US" sz="1200" dirty="0">
                    <a:effectLst/>
                  </a:rPr>
                  <a:t>-MA) towards LDPE/ PA6 blends, while poly(HDPE- </a:t>
                </a:r>
                <a:r>
                  <a:rPr lang="en-US" sz="1200" dirty="0">
                    <a:effectLst/>
                  </a:rPr>
                  <a:t>​</a:t>
                </a:r>
                <a14:m>
                  <m:oMath>
                    <m:r>
                      <m:rPr>
                        <m:sty m:val="i"/>
                      </m:rPr>
                      <a:rPr lang="en-US" sz="1200" dirty="0">
                        <a:solidFill>
                          <a:srgbClr val="000000"/>
                        </a:solidFill>
                        <a:effectLst/>
                      </a:rPr>
                      <m:t>g</m:t>
                    </m:r>
                  </m:oMath>
                </a14:m>
                <a:r>
                  <a:rPr lang="en-US" sz="1200" dirty="0">
                    <a:effectLst/>
                  </a:rPr>
                  <a:t>-MA) demonstrates a slightly lower activity, especially when PA is the matrix phase.</a:t>
                </a:r>
              </a:p>
            </p:txBody>
          </p:sp>
        </mc:Choice>
        <mc:Fallback/>
      </mc:AlternateContent>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143000"/>
          </a:xfrm>
          <a:prstGeom prst="rect">
            <a:avLst/>
          </a:prstGeom>
        </p:spPr>
        <p:txBody>
          <a:bodyPr anchor="t" lIns="0" tIns="0" rIns="0" bIns="0">
            <a:noAutofit/>
          </a:bodyPr>
          <a:lstStyle/>
          <a:p>
            <a:pPr>
              <a:lnSpc>
                <a:spcPct val="120000"/>
              </a:lnSpc>
            </a:pPr>
            <a:r>
              <a:rPr lang="en-US" sz="1200" dirty="0">
                <a:effectLst/>
              </a:rPr>
              <a:t>It is well known that the chemical reaction scheme of cyclic anhydrides with amines and amides is quite complex, but is simplified at elevated temperatures (&gt;200°C) [587 590]. According to the authors, the reactions occurring in blends of PA with MA-containing polymers include the following stages: (1) amine end groups of PA react with the anhydride moiety, resulting in PA grogt formation via an imide linkage; (2) when an excess of anhydride is present, the amide groups in the PA chain also participate; (3) the PA amide group does not react directly with the anhydride, but only after being hydrolyzed to an amine and a carboxylic acid.</a:t>
            </a:r>
          </a:p>
        </p:txBody>
      </p:sp>
      <mc:AlternateContent xmlns:mc="http://schemas.openxmlformats.org/markup-compatibility/2006">
        <mc:Choice xmlns:a14="http://schemas.microsoft.com/office/drawing/2010/main" Requires="a14">
          <p:sp>
            <p:nvSpPr>
              <p:cNvPr id="2" name="Text"/>
              <p:cNvSpPr/>
              <p:nvPr/>
            </p:nvSpPr>
            <p:spPr>
              <a:xfrm>
                <a:off x="1524000" y="1752600"/>
                <a:ext cx="9144000" cy="2057400"/>
              </a:xfrm>
              <a:prstGeom prst="rect">
                <a:avLst/>
              </a:prstGeom>
            </p:spPr>
            <p:txBody>
              <a:bodyPr anchor="t" lIns="0" tIns="0" rIns="0" bIns="0">
                <a:noAutofit/>
              </a:bodyPr>
              <a:lstStyle/>
              <a:p>
                <a:pPr>
                  <a:lnSpc>
                    <a:spcPct val="120000"/>
                  </a:lnSpc>
                </a:pPr>
                <a:r>
                  <a:rPr lang="en-US" sz="1200" dirty="0">
                    <a:effectLst/>
                  </a:rPr>
                  <a:t>PP is widely employed because of its low cost, high barrier properties to moisture, and case of processing, but its high permeability to oxygen and many organic solvents limits its potential use [588]. On the other hand, PA6 is a good barrier material for oxygen and organic compounds but its relatively expensive, hygroscopic and thus poor barrier for water. PP and PA6 are not compatible and that blending of these materials results in poor properties. Poly(PP- </a:t>
                </a:r>
                <a:r>
                  <a:rPr lang="en-US" sz="1200" dirty="0">
                    <a:effectLst/>
                  </a:rPr>
                  <a:t>​</a:t>
                </a:r>
                <a14:m>
                  <m:oMath>
                    <m:r>
                      <m:rPr>
                        <m:sty m:val="i"/>
                      </m:rPr>
                      <a:rPr lang="en-US" sz="1200" dirty="0">
                        <a:solidFill>
                          <a:srgbClr val="000000"/>
                        </a:solidFill>
                        <a:effectLst/>
                      </a:rPr>
                      <m:t>g</m:t>
                    </m:r>
                  </m:oMath>
                </a14:m>
                <a:r>
                  <a:rPr lang="en-US" sz="1200" dirty="0">
                    <a:effectLst/>
                  </a:rPr>
                  <a:t>-MA) is of considerable importance for application as a compatilizing agent with PA6, as adhesion promoter with glass or carbon fibers. Abbacha and Fellahi [589,590] reported the synthesis of poly(PP-g-MA) and evaluation of its effect on the properties of glass fibre reinforced nylon 6/PP blends. They found that the incorporation of the compatibilizer (MA grafted PP) enhances the tensile strength and the modulus, as well as the Izod impact properties of the prepared blends. This was attributed by authors to better interfacial adhesion between the two component phases due to low interfacial tension leading to finer dispersion and a reduction in the dispersed phase size. The optimum in these properties is reached at a</a:t>
                </a:r>
              </a:p>
            </p:txBody>
          </p:sp>
        </mc:Choice>
        <mc:Fallback/>
      </mc:AlternateContent>
      <p:sp>
        <p:nvSpPr>
          <p:cNvPr id="2" name="Text"/>
          <p:cNvSpPr/>
          <p:nvPr/>
        </p:nvSpPr>
        <p:spPr>
          <a:xfrm>
            <a:off x="1524000" y="3962400"/>
            <a:ext cx="9144000" cy="685800"/>
          </a:xfrm>
          <a:prstGeom prst="rect">
            <a:avLst/>
          </a:prstGeom>
        </p:spPr>
        <p:txBody>
          <a:bodyPr anchor="t" lIns="0" tIns="0" rIns="0" bIns="0">
            <a:noAutofit/>
          </a:bodyPr>
          <a:lstStyle/>
          <a:p>
            <a:pPr>
              <a:lnSpc>
                <a:spcPct val="120000"/>
              </a:lnSpc>
            </a:pPr>
            <a:r>
              <a:rPr lang="en-US" sz="1800" dirty="0" b="1">
                <a:effectLst/>
              </a:rPr>
              <a:t>International Review of Chemical Engineering, volume 3, No 2, March, 2011 Int. Rev.Chem. Eng., 3(2011) 153-215</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600200"/>
              </a:xfrm>
              <a:prstGeom prst="rect">
                <a:avLst/>
              </a:prstGeom>
            </p:spPr>
            <p:txBody>
              <a:bodyPr anchor="t" lIns="0" tIns="0" rIns="0" bIns="0">
                <a:noAutofit/>
              </a:bodyPr>
              <a:lstStyle/>
              <a:p>
                <a:pPr>
                  <a:lnSpc>
                    <a:spcPct val="120000"/>
                  </a:lnSpc>
                </a:pPr>
                <a:r>
                  <a:rPr lang="en-US" sz="1200" dirty="0">
                    <a:effectLst/>
                  </a:rPr>
                  <a:t>critical poly(PP- </a:t>
                </a:r>
                <a:r>
                  <a:rPr lang="en-US" sz="1200" dirty="0">
                    <a:effectLst/>
                  </a:rPr>
                  <a:t>​</a:t>
                </a:r>
                <a14:m>
                  <m:oMath>
                    <m:r>
                      <m:rPr>
                        <m:sty m:val="i"/>
                      </m:rPr>
                      <a:rPr lang="en-US" sz="1200" dirty="0">
                        <a:solidFill>
                          <a:srgbClr val="000000"/>
                        </a:solidFill>
                        <a:effectLst/>
                      </a:rPr>
                      <m:t>g</m:t>
                    </m:r>
                  </m:oMath>
                </a14:m>
                <a:r>
                  <a:rPr lang="en-US" sz="1200" dirty="0">
                    <a:effectLst/>
                  </a:rPr>
                  <a:t>-MA) concentration (5 wt. %) [589]. It was demonstrated that the compatibility pf PP and PA blend can be improved by the addition of a compatibilizer, and functionalization of PP with MA in the presence of dicumyl peroxide (1.0 phr) [591]. The reaction was carried out in the molten state using an internal mixer. The poly[PP- </a:t>
                </a:r>
                <a:r>
                  <a:rPr lang="en-US" sz="1200" dirty="0">
                    <a:effectLst/>
                  </a:rPr>
                  <a:t>​</a:t>
                </a:r>
                <a14:m>
                  <m:oMath>
                    <m:r>
                      <m:rPr>
                        <m:sty m:val="i"/>
                      </m:rPr>
                      <a:rPr lang="en-US" sz="1200" dirty="0">
                        <a:solidFill>
                          <a:srgbClr val="000000"/>
                        </a:solidFill>
                        <a:effectLst/>
                      </a:rPr>
                      <m:t>g</m:t>
                    </m:r>
                  </m:oMath>
                </a14:m>
                <a:r>
                  <a:rPr lang="en-US" sz="1200" dirty="0">
                    <a:effectLst/>
                  </a:rPr>
                  <a:t>-MA(0.36 phr)] (2.5-10.0 wt.%) as a compatibilizer was added to 30/70 glass fibre reiforced PA-6/PP blend. It was found that the incorporation of the compatibilizer enhanced the tensile strength and modulus as well as the Izod impact properties of the notched samples. This was attributed to better interfacial adhesion as evidenced by SEM microscopy. A critical value of poly(PP- </a:t>
                </a:r>
                <a:r>
                  <a:rPr lang="en-US" sz="1200" dirty="0">
                    <a:effectLst/>
                  </a:rPr>
                  <a:t>​</a:t>
                </a:r>
                <a14:m>
                  <m:oMath>
                    <m:r>
                      <m:rPr>
                        <m:sty m:val="i"/>
                      </m:rPr>
                      <a:rPr lang="en-US" sz="1200" dirty="0">
                        <a:solidFill>
                          <a:srgbClr val="000000"/>
                        </a:solidFill>
                        <a:effectLst/>
                      </a:rPr>
                      <m:t>g</m:t>
                    </m:r>
                  </m:oMath>
                </a14:m>
                <a:r>
                  <a:rPr lang="en-US" sz="1200" dirty="0">
                    <a:effectLst/>
                  </a:rPr>
                  <a:t>-MA) content of 5 wt.% was determined. It was shown that addition of this compatibilizer led to an eightfold reduction in average particile diameters.</a:t>
                </a:r>
              </a:p>
            </p:txBody>
          </p:sp>
        </mc:Choice>
        <mc:Fallback/>
      </mc:AlternateContent>
      <p:sp>
        <p:nvSpPr>
          <p:cNvPr id="2" name="Text"/>
          <p:cNvSpPr/>
          <p:nvPr/>
        </p:nvSpPr>
        <p:spPr>
          <a:xfrm>
            <a:off x="1524000" y="2209800"/>
            <a:ext cx="9144000" cy="685800"/>
          </a:xfrm>
          <a:prstGeom prst="rect">
            <a:avLst/>
          </a:prstGeom>
        </p:spPr>
        <p:txBody>
          <a:bodyPr anchor="t" lIns="0" tIns="0" rIns="0" bIns="0">
            <a:noAutofit/>
          </a:bodyPr>
          <a:lstStyle/>
          <a:p>
            <a:pPr>
              <a:lnSpc>
                <a:spcPct val="120000"/>
              </a:lnSpc>
            </a:pPr>
            <a:r>
              <a:rPr lang="en-US" sz="1200" dirty="0">
                <a:effectLst/>
              </a:rPr>
              <a:t>Supertough blends of polyamide (nylon-6) with maleated elastomers, such a MA grafted ethylene-propylene rubber [poly(E-co-P-g-MA)] and styrene/ hydrogenated butadiene/styrene triblock copolymer as the high performance engineering materials, have become commericially important materials of considerable scientific interest [568,585,582-600].</a:t>
            </a:r>
          </a:p>
        </p:txBody>
      </p:sp>
      <p:sp>
        <p:nvSpPr>
          <p:cNvPr id="2" name="Text"/>
          <p:cNvSpPr/>
          <p:nvPr/>
        </p:nvSpPr>
        <p:spPr>
          <a:xfrm>
            <a:off x="1524000" y="3048000"/>
            <a:ext cx="9144000" cy="1600200"/>
          </a:xfrm>
          <a:prstGeom prst="rect">
            <a:avLst/>
          </a:prstGeom>
        </p:spPr>
        <p:txBody>
          <a:bodyPr anchor="t" lIns="0" tIns="0" rIns="0" bIns="0">
            <a:noAutofit/>
          </a:bodyPr>
          <a:lstStyle/>
          <a:p>
            <a:pPr>
              <a:lnSpc>
                <a:spcPct val="120000"/>
              </a:lnSpc>
            </a:pPr>
            <a:r>
              <a:rPr lang="en-US" sz="1200" dirty="0">
                <a:effectLst/>
              </a:rPr>
              <a:t>Borggreve et al. [598] used a MA grafted ethylenepropylene-diene rubber (EPDM) to reach the same goal. An essential feature of these materials in the graft copolymer generated from the reaction of the grafted MA unit with polyamide amine end groups during the melt-blending process. The grafted copolymer strengthens the interface between phases, reduces interfacial tension, and provides steric stabilization that retards the coalescence of the dispersed phase. The last allows the formation of stable, finely dispersed rubber particles [599]. Supertough blends result when the rubbers particles can cavitate during the fracture process and permit shear yielding of the polyamide matrix [588,600]. Wu [601,602] obtained a supertough nylon 66 by incorporating of MA grafted ethylenepropylene rubber (EPR).</a:t>
            </a:r>
          </a:p>
        </p:txBody>
      </p:sp>
      <p:sp>
        <p:nvSpPr>
          <p:cNvPr id="2" name="Text"/>
          <p:cNvSpPr/>
          <p:nvPr/>
        </p:nvSpPr>
        <p:spPr>
          <a:xfrm>
            <a:off x="1524000" y="4800600"/>
            <a:ext cx="9144000" cy="1371600"/>
          </a:xfrm>
          <a:prstGeom prst="rect">
            <a:avLst/>
          </a:prstGeom>
        </p:spPr>
        <p:txBody>
          <a:bodyPr anchor="t" lIns="0" tIns="0" rIns="0" bIns="0">
            <a:noAutofit/>
          </a:bodyPr>
          <a:lstStyle/>
          <a:p>
            <a:pPr>
              <a:lnSpc>
                <a:spcPct val="120000"/>
              </a:lnSpc>
            </a:pPr>
            <a:r>
              <a:rPr lang="en-US" sz="1200" dirty="0">
                <a:effectLst/>
              </a:rPr>
              <a:t>It is well known that MA functionalized polyolefins used as compatibilizers in various polymer blends and compositions exhibit enhanced adhesion to polar polymer materials, metals, and glass. Many researchers demonstrated that the formation of a polyamide-polyolefin graft copolymer in situ during melt blending of polyamide-6 (PA6) with various maleated polyolefins significantly improved impact properties of materials [476-482]. PP containing a compatibilizer consisting of MA-modified PP has been shown to enhance the material properties of the composite due to chemical interaction of anhydride groups with functional fragments of used materials in the processing conditions [600-602].</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828800"/>
              </a:xfrm>
              <a:prstGeom prst="rect">
                <a:avLst/>
              </a:prstGeom>
            </p:spPr>
            <p:txBody>
              <a:bodyPr anchor="t" lIns="0" tIns="0" rIns="0" bIns="0">
                <a:noAutofit/>
              </a:bodyPr>
              <a:lstStyle/>
              <a:p>
                <a:pPr>
                  <a:lnSpc>
                    <a:spcPct val="120000"/>
                  </a:lnSpc>
                </a:pPr>
                <a:r>
                  <a:rPr lang="en-US" sz="1200" dirty="0">
                    <a:effectLst/>
                  </a:rPr>
                  <a:t>Dong et al. [603] reported synthesis of graft copolymer, poly[(MA-co-styrene)-g-PA6] and its blend with PVC, as well as the morphology and mechanical properties of compatibilized blends. It is well known that the processing temperature of PVC is ~170-190°C, whereas the melting point of PA6 is 215°C. The huge difference of their processing temperatures becomes the main obstacle to the blending of PVC and PA6. They prepared polymerpolymer graft SMA- </a:t>
                </a:r>
                <a:r>
                  <a:rPr lang="en-US" sz="1200" dirty="0">
                    <a:effectLst/>
                  </a:rPr>
                  <a:t>​</a:t>
                </a:r>
                <a14:m>
                  <m:oMath>
                    <m:r>
                      <m:rPr>
                        <m:sty m:val="i"/>
                      </m:rPr>
                      <a:rPr lang="en-US" sz="1200" dirty="0">
                        <a:solidFill>
                          <a:srgbClr val="000000"/>
                        </a:solidFill>
                        <a:effectLst/>
                      </a:rPr>
                      <m:t>g</m:t>
                    </m:r>
                  </m:oMath>
                </a14:m>
                <a:r>
                  <a:rPr lang="en-US" sz="1200" dirty="0">
                    <a:effectLst/>
                  </a:rPr>
                  <a:t>-PA6 via a solution graft reaction between SMA and PA6. FTIR spectra evidences the occorrence of the graft reaction between SMA and PA6. DSC analysis shows that SMA- </a:t>
                </a:r>
                <a:r>
                  <a:rPr lang="en-US" sz="1200" dirty="0">
                    <a:effectLst/>
                  </a:rPr>
                  <a:t>​</a:t>
                </a:r>
                <a14:m>
                  <m:oMath>
                    <m:r>
                      <m:rPr>
                        <m:sty m:val="i"/>
                      </m:rPr>
                      <a:rPr lang="en-US" sz="1200" dirty="0">
                        <a:solidFill>
                          <a:srgbClr val="000000"/>
                        </a:solidFill>
                        <a:effectLst/>
                      </a:rPr>
                      <m:t>g</m:t>
                    </m:r>
                  </m:oMath>
                </a14:m>
                <a:r>
                  <a:rPr lang="en-US" sz="1200" dirty="0">
                    <a:effectLst/>
                  </a:rPr>
                  <a:t>-PA6 has a lower melting point of 187 °C, which authors explaned by decreasing in crystalliny of PA6 and thus enable efficient blending of that SMA- </a:t>
                </a:r>
                <a:r>
                  <a:rPr lang="en-US" sz="1200" dirty="0">
                    <a:effectLst/>
                  </a:rPr>
                  <a:t>​</a:t>
                </a:r>
                <a14:m>
                  <m:oMath>
                    <m:r>
                      <m:rPr>
                        <m:sty m:val="i"/>
                      </m:rPr>
                      <a:rPr lang="en-US" sz="1200" dirty="0">
                        <a:solidFill>
                          <a:srgbClr val="000000"/>
                        </a:solidFill>
                        <a:effectLst/>
                      </a:rPr>
                      <m:t>g</m:t>
                    </m:r>
                  </m:oMath>
                </a14:m>
                <a:r>
                  <a:rPr lang="en-US" sz="1200" dirty="0">
                    <a:effectLst/>
                  </a:rPr>
                  <a:t>-PA6 with PVC. Authors found that compatibilization is evidenced by the dramatic increase in mechanical properties (impact and tensile strength) the smaller particle size and finer dispersion of PA6 in PVC matrix, and, further, a cocontinuous morphology at 16 wt. % SMA- </a:t>
                </a:r>
                <a:r>
                  <a:rPr lang="en-US" sz="1200" dirty="0">
                    <a:effectLst/>
                  </a:rPr>
                  <a:t>​</a:t>
                </a:r>
                <a14:m>
                  <m:oMath>
                    <m:r>
                      <m:rPr>
                        <m:sty m:val="i"/>
                      </m:rPr>
                      <a:rPr lang="en-US" sz="1200" dirty="0">
                        <a:solidFill>
                          <a:srgbClr val="000000"/>
                        </a:solidFill>
                        <a:effectLst/>
                      </a:rPr>
                      <m:t>g</m:t>
                    </m:r>
                  </m:oMath>
                </a14:m>
                <a:r>
                  <a:rPr lang="en-US" sz="1200" dirty="0">
                    <a:effectLst/>
                  </a:rPr>
                  <a:t>-PA6.</a:t>
                </a:r>
              </a:p>
            </p:txBody>
          </p:sp>
        </mc:Choice>
        <mc:Fallback/>
      </mc:AlternateContent>
      <p:sp>
        <p:nvSpPr>
          <p:cNvPr id="2" name="Text"/>
          <p:cNvSpPr/>
          <p:nvPr/>
        </p:nvSpPr>
        <p:spPr>
          <a:xfrm>
            <a:off x="1524000" y="2438400"/>
            <a:ext cx="9144000" cy="2514600"/>
          </a:xfrm>
          <a:prstGeom prst="rect">
            <a:avLst/>
          </a:prstGeom>
        </p:spPr>
        <p:txBody>
          <a:bodyPr anchor="t" lIns="0" tIns="0" rIns="0" bIns="0">
            <a:noAutofit/>
          </a:bodyPr>
          <a:lstStyle/>
          <a:p>
            <a:pPr>
              <a:lnSpc>
                <a:spcPct val="120000"/>
              </a:lnSpc>
            </a:pPr>
            <a:r>
              <a:rPr lang="en-US" sz="1200" dirty="0">
                <a:effectLst/>
              </a:rPr>
              <a:t>Compatibilization is generally accomplished by either adding a pre-synthesized block copolymer or via reactive processing [568,569,580,602-605]. In the last case, the compatibilizer is generated in situ, during blending, through grafting or exchange reactions. Accordind to Wong and Mai [606], these reactions must generate sufficient copolymer in order to optimize the morphology and, thus, the blend performance. Since the reactions occur across phase boundaries, high stresses must be applied to enlarge the interfacial area and ensure high reaction rates. Blends of industrially relevant polymers such as PA-6, poly(E-co-P) rubber, poly(E-co-P)-g-MA (80/20/0 to 80/0/20; w/w/w) [568,569,602-604] were selected for the studies of the changes in the rheological behavior, morphology and chemical conversion of along a compounding co-rotating twin-screw extruder [494,496]. Authors demonstrated that the linear viscoelastic behavior of immiscible noncompatibilized PA-6/rubber blends along a twin-screw extruder is related to changes in morphology and/or formation of the in situ compatibilizer. The dynamic viscosity and storage modulus decrease substantially upon melting of the components, since this process in induced by a significant increase in interfacial area as a result of in situ grafting reaction of amine (from PA-6) and anhydride (from maleated rubber) groups during extrusion processing.</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057400"/>
              </a:xfrm>
              <a:prstGeom prst="rect">
                <a:avLst/>
              </a:prstGeom>
            </p:spPr>
            <p:txBody>
              <a:bodyPr anchor="t" lIns="0" tIns="0" rIns="0" bIns="0">
                <a:noAutofit/>
              </a:bodyPr>
              <a:lstStyle/>
              <a:p>
                <a:pPr>
                  <a:lnSpc>
                    <a:spcPct val="120000"/>
                  </a:lnSpc>
                </a:pPr>
                <a:r>
                  <a:rPr lang="en-US" sz="1200" dirty="0">
                    <a:effectLst/>
                  </a:rPr>
                  <a:t>Tjong and Meng [520,604,607] used reactive poly(PP- </a:t>
                </a:r>
                <a:r>
                  <a:rPr lang="en-US" sz="1200" dirty="0">
                    <a:effectLst/>
                  </a:rPr>
                  <a:t>​</a:t>
                </a:r>
                <a14:m>
                  <m:oMath>
                    <m:r>
                      <m:rPr>
                        <m:sty m:val="i"/>
                      </m:rPr>
                      <a:rPr lang="en-US" sz="1200" dirty="0">
                        <a:solidFill>
                          <a:srgbClr val="000000"/>
                        </a:solidFill>
                        <a:effectLst/>
                      </a:rPr>
                      <m:t>g</m:t>
                    </m:r>
                  </m:oMath>
                </a14:m>
                <a:r>
                  <a:rPr lang="en-US" sz="1200" dirty="0">
                    <a:effectLst/>
                  </a:rPr>
                  <a:t> -MA) as a compatibilizer for PA-6/liquid crystalline copolyester (LCP) and PP/LCP blends. PA-6/LCP/poly(PP-</a:t>
                </a:r>
                <a:r>
                  <a:rPr lang="en-US" sz="1200" dirty="0">
                    <a:effectLst/>
                  </a:rPr>
                  <a:t>​</a:t>
                </a:r>
                <a14:m>
                  <m:oMath>
                    <m:r>
                      <m:rPr>
                        <m:sty m:val="i"/>
                      </m:rPr>
                      <a:rPr lang="en-US" sz="1200" dirty="0">
                        <a:solidFill>
                          <a:srgbClr val="000000"/>
                        </a:solidFill>
                        <a:effectLst/>
                      </a:rPr>
                      <m:t>g</m:t>
                    </m:r>
                  </m:oMath>
                </a14:m>
                <a:r>
                  <a:rPr lang="en-US" sz="1200" dirty="0">
                    <a:effectLst/>
                  </a:rPr>
                  <a:t>-MA) blends were prepared by extrusion blending of pellets followed by injection molding at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295</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However, one-step injection molding of PA-6 and poly(PP- </a:t>
                </a:r>
                <a:r>
                  <a:rPr lang="en-US" sz="1200" dirty="0">
                    <a:effectLst/>
                  </a:rPr>
                  <a:t>​</a:t>
                </a:r>
                <a14:m>
                  <m:oMath>
                    <m:r>
                      <m:rPr>
                        <m:sty m:val="i"/>
                      </m:rPr>
                      <a:rPr lang="en-US" sz="1200" dirty="0">
                        <a:solidFill>
                          <a:srgbClr val="000000"/>
                        </a:solidFill>
                        <a:effectLst/>
                      </a:rPr>
                      <m:t>g</m:t>
                    </m:r>
                  </m:oMath>
                </a14:m>
                <a:r>
                  <a:rPr lang="en-US" sz="1200" dirty="0">
                    <a:effectLst/>
                  </a:rPr>
                  <a:t>-MA) with LCP pellets at relatively low temperature of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285</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facilitates fibrillation of the LCP phase in the poly(PP- </a:t>
                </a:r>
                <a:r>
                  <a:rPr lang="en-US" sz="1200" dirty="0">
                    <a:effectLst/>
                  </a:rPr>
                  <a:t>​</a:t>
                </a:r>
                <a14:m>
                  <m:oMath>
                    <m:r>
                      <m:rPr>
                        <m:sty m:val="i"/>
                      </m:rPr>
                      <a:rPr lang="en-US" sz="1200" dirty="0">
                        <a:solidFill>
                          <a:srgbClr val="000000"/>
                        </a:solidFill>
                        <a:effectLst/>
                      </a:rPr>
                      <m:t>g</m:t>
                    </m:r>
                  </m:oMath>
                </a14:m>
                <a:r>
                  <a:rPr lang="en-US" sz="1200" dirty="0">
                    <a:effectLst/>
                  </a:rPr>
                  <a:t> -MA) compatibilized PA-6/LCP blends. According to authors, this is due to the elimination of extrusion blending and to a lower processing preventing further degradation of PA-6 [609]. MA compatibilized blends of PP and LCP were prepared either by the direct injection molding (onestep process), or by twin-screw extrusion blending, after which speciments were injection molded (two-step process). The results show that the tensile modulus and strength of poly(PP- </a:t>
                </a:r>
                <a:r>
                  <a:rPr lang="en-US" sz="1200" dirty="0">
                    <a:effectLst/>
                  </a:rPr>
                  <a:t>​</a:t>
                </a:r>
                <a14:m>
                  <m:oMath>
                    <m:r>
                      <m:rPr>
                        <m:sty m:val="i"/>
                      </m:rPr>
                      <a:rPr lang="en-US" sz="1200" dirty="0">
                        <a:solidFill>
                          <a:srgbClr val="000000"/>
                        </a:solidFill>
                        <a:effectLst/>
                      </a:rPr>
                      <m:t>g</m:t>
                    </m:r>
                  </m:oMath>
                </a14:m>
                <a:r>
                  <a:rPr lang="en-US" sz="1200" dirty="0">
                    <a:effectLst/>
                  </a:rPr>
                  <a:t>-MA)/LCP blends prepared by the one-step process are close to those predicted from the rule of mixtures. According to the authors, this is due to the</a:t>
                </a:r>
              </a:p>
            </p:txBody>
          </p:sp>
        </mc:Choice>
        <mc:Fallback/>
      </mc:AlternateContent>
      <p:sp>
        <p:nvSpPr>
          <p:cNvPr id="2" name="Text"/>
          <p:cNvSpPr/>
          <p:nvPr/>
        </p:nvSpPr>
        <p:spPr>
          <a:xfrm>
            <a:off x="1524000" y="2667000"/>
            <a:ext cx="9144000" cy="685800"/>
          </a:xfrm>
          <a:prstGeom prst="rect">
            <a:avLst/>
          </a:prstGeom>
        </p:spPr>
        <p:txBody>
          <a:bodyPr anchor="t" lIns="0" tIns="0" rIns="0" bIns="0">
            <a:noAutofit/>
          </a:bodyPr>
          <a:lstStyle/>
          <a:p>
            <a:pPr>
              <a:lnSpc>
                <a:spcPct val="120000"/>
              </a:lnSpc>
            </a:pPr>
            <a:r>
              <a:rPr lang="en-US" sz="1800" dirty="0" b="1">
                <a:effectLst/>
              </a:rPr>
              <a:t>International Review of Chemical Engineering, volume 3, No 2, March, 2011 Int. Rev.Chem. Eng., 3(2011) 153-215</a:t>
            </a:r>
          </a:p>
        </p:txBody>
      </p:sp>
      <p:sp>
        <p:nvSpPr>
          <p:cNvPr id="2" name="Text"/>
          <p:cNvSpPr/>
          <p:nvPr/>
        </p:nvSpPr>
        <p:spPr>
          <a:xfrm>
            <a:off x="1524000" y="3542539"/>
            <a:ext cx="9144000" cy="914400"/>
          </a:xfrm>
          <a:prstGeom prst="rect">
            <a:avLst/>
          </a:prstGeom>
        </p:spPr>
        <p:txBody>
          <a:bodyPr anchor="t" lIns="0" tIns="0" rIns="0" bIns="0">
            <a:noAutofit/>
          </a:bodyPr>
          <a:lstStyle/>
          <a:p>
            <a:pPr>
              <a:lnSpc>
                <a:spcPct val="120000"/>
              </a:lnSpc>
            </a:pPr>
            <a:r>
              <a:rPr lang="en-US" sz="1200" dirty="0">
                <a:effectLst/>
              </a:rPr>
              <a:t>formation of fine and elongated LCP fibrils in the blends and due to the stability of PP matrix during processing [408]. Moreover, the impact strength of these blends decreases inilially with increasing LCP content up to 10 wt. %, followed by a monotonic increase with increasing LCP content. On he other hand, MA compatibilized blends prepared from the two-step process showed lower tensile stress, modulus, and impact strength owing to the decomposition of PP matrix.</a:t>
            </a:r>
          </a:p>
        </p:txBody>
      </p:sp>
      <mc:AlternateContent xmlns:mc="http://schemas.openxmlformats.org/markup-compatibility/2006">
        <mc:Choice xmlns:a14="http://schemas.microsoft.com/office/drawing/2010/main" Requires="a14">
          <p:sp>
            <p:nvSpPr>
              <p:cNvPr id="2" name="Text"/>
              <p:cNvSpPr/>
              <p:nvPr/>
            </p:nvSpPr>
            <p:spPr>
              <a:xfrm>
                <a:off x="1524000" y="4609339"/>
                <a:ext cx="9144000" cy="1371600"/>
              </a:xfrm>
              <a:prstGeom prst="rect">
                <a:avLst/>
              </a:prstGeom>
            </p:spPr>
            <p:txBody>
              <a:bodyPr anchor="t" lIns="0" tIns="0" rIns="0" bIns="0">
                <a:noAutofit/>
              </a:bodyPr>
              <a:lstStyle/>
              <a:p>
                <a:pPr>
                  <a:lnSpc>
                    <a:spcPct val="120000"/>
                  </a:lnSpc>
                </a:pPr>
                <a:r>
                  <a:rPr lang="en-US" sz="1200" dirty="0">
                    <a:effectLst/>
                  </a:rPr>
                  <a:t>A random copolymer of styrene with MA (SMA) was coupled with amino terminated PA-12 of various chain lengths [607-611]. According to the authors [610], an interface layer of poly(SMA- </a:t>
                </a:r>
                <a:r>
                  <a:rPr lang="en-US" sz="1200" dirty="0">
                    <a:effectLst/>
                  </a:rPr>
                  <a:t>​</a:t>
                </a:r>
                <a14:m>
                  <m:oMath>
                    <m:r>
                      <m:rPr>
                        <m:sty m:val="i"/>
                      </m:rPr>
                      <a:rPr lang="en-US" sz="1200" dirty="0">
                        <a:solidFill>
                          <a:srgbClr val="000000"/>
                        </a:solidFill>
                        <a:effectLst/>
                      </a:rPr>
                      <m:t>g</m:t>
                    </m:r>
                  </m:oMath>
                </a14:m>
                <a:r>
                  <a:rPr lang="en-US" sz="1200" dirty="0">
                    <a:effectLst/>
                  </a:rPr>
                  <a:t>-PA) is formed that compatibilizes the blend by lowering the interface tension and improving the entanglement network so reactive blending leads to finer phase morphologies and increased strength. Thus modified blends can attain submicroscopic morphologies even when A and B components are badly incompatible. It was shown that anhydride and amino functions react at high temperatures fast and irreversibly by imide condensation. The imidization is a bit delayed and the imide forms approximately according to the simple kinetics (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1</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2</m:t>
                        </m:r>
                      </m:sub>
                    </m:sSub>
                  </m:oMath>
                </a14:m>
                <a:r>
                  <a:rPr lang="en-US" sz="1200" dirty="0">
                    <a:effectLst/>
                  </a:rPr>
                  <a:t>, Figure 40):</a:t>
                </a:r>
              </a:p>
            </p:txBody>
          </p:sp>
        </mc:Choice>
        <mc:Fallback/>
      </mc:AlternateContent>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7d37e1f585b573da0ba4323cd4d77fc0f4fc9e03.jpg"/>
          <p:cNvPicPr/>
          <p:nvPr/>
        </p:nvPicPr>
        <p:blipFill>
          <a:blip r:embed="rId2" cstate="print"/>
          <a:srcRect/>
          <a:stretch>
            <a:fillRect/>
          </a:stretch>
        </p:blipFill>
        <p:spPr>
          <a:xfrm>
            <a:off x="1524000" y="457200"/>
            <a:ext cx="7515225" cy="3990975"/>
          </a:xfrm>
          <a:prstGeom prst="rect">
            <a:avLst/>
          </a:prstGeom>
        </p:spPr>
      </p:pic>
      <mc:AlternateContent xmlns:mc="http://schemas.openxmlformats.org/markup-compatibility/2006">
        <mc:Choice xmlns:a14="http://schemas.microsoft.com/office/drawing/2010/main" Requires="a14">
          <p:sp>
            <p:nvSpPr>
              <p:cNvPr id="3" name="Text"/>
              <p:cNvSpPr/>
              <p:nvPr/>
            </p:nvSpPr>
            <p:spPr>
              <a:xfrm>
                <a:off x="1524000" y="4448175"/>
                <a:ext cx="9144000" cy="228600"/>
              </a:xfrm>
              <a:prstGeom prst="rect">
                <a:avLst/>
              </a:prstGeom>
            </p:spPr>
            <p:txBody>
              <a:bodyPr anchor="t" lIns="0" tIns="0" rIns="0" bIns="0">
                <a:noAutofit/>
              </a:bodyPr>
              <a:lstStyle/>
              <a:p>
                <a:pPr>
                  <a:lnSpc>
                    <a:spcPct val="120000"/>
                  </a:lnSpc>
                </a:pPr>
                <a:r>
                  <a:rPr lang="en-US" sz="1200" dirty="0">
                    <a:effectLst/>
                  </a:rPr>
                  <a:t>Figure 40. Synthesis of the amide and imide forms of SMA- </a:t>
                </a:r>
                <a:r>
                  <a:rPr lang="en-US" sz="1200" dirty="0">
                    <a:effectLst/>
                  </a:rPr>
                  <a:t>​</a:t>
                </a:r>
                <a14:m>
                  <m:oMath>
                    <m:r>
                      <m:rPr>
                        <m:sty m:val="i"/>
                      </m:rPr>
                      <a:rPr lang="en-US" sz="1200" dirty="0">
                        <a:solidFill>
                          <a:srgbClr val="000000"/>
                        </a:solidFill>
                        <a:effectLst/>
                      </a:rPr>
                      <m:t>g</m:t>
                    </m:r>
                  </m:oMath>
                </a14:m>
                <a:r>
                  <a:rPr lang="en-US" sz="1200" dirty="0">
                    <a:effectLst/>
                  </a:rPr>
                  <a:t>-PA) via interfacial amine-anhydride reaction. Adapted from [606].</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676775"/>
                <a:ext cx="9144000" cy="228600"/>
              </a:xfrm>
              <a:prstGeom prst="rect">
                <a:avLst/>
              </a:prstGeom>
            </p:spPr>
            <p:txBody>
              <a:bodyPr anchor="t" lIns="0" tIns="0" rIns="0" bIns="0">
                <a:noAutofit/>
              </a:bodyPr>
              <a:lstStyle/>
              <a:p>
                <a:pPr>
                  <a:lnSpc>
                    <a:spcPct val="120000"/>
                  </a:lnSpc>
                </a:pPr>
                <a:r>
                  <a:rPr lang="en-US" sz="1200" dirty="0">
                    <a:effectLst/>
                  </a:rPr>
                  <a:t>It was observed that the poly(SMA- </a:t>
                </a:r>
                <a:r>
                  <a:rPr lang="en-US" sz="1200" dirty="0">
                    <a:effectLst/>
                  </a:rPr>
                  <a:t>​</a:t>
                </a:r>
                <a14:m>
                  <m:oMath>
                    <m:r>
                      <m:rPr>
                        <m:sty m:val="i"/>
                      </m:rPr>
                      <a:rPr lang="en-US" sz="1200" dirty="0">
                        <a:solidFill>
                          <a:srgbClr val="000000"/>
                        </a:solidFill>
                        <a:effectLst/>
                      </a:rPr>
                      <m:t>g</m:t>
                    </m:r>
                  </m:oMath>
                </a14:m>
                <a:r>
                  <a:rPr lang="en-US" sz="1200" dirty="0">
                    <a:effectLst/>
                  </a:rPr>
                  <a:t>-PA) chains form an autoinhibitory barrier in the interfaces that prevents random grafting [612].</a:t>
                </a:r>
              </a:p>
            </p:txBody>
          </p:sp>
        </mc:Choice>
        <mc:Fallback/>
      </mc:AlternateContent>
      <p:sp>
        <p:nvSpPr>
          <p:cNvPr id="2" name="Text"/>
          <p:cNvSpPr/>
          <p:nvPr/>
        </p:nvSpPr>
        <p:spPr>
          <a:xfrm>
            <a:off x="1524000" y="5057775"/>
            <a:ext cx="9144000" cy="914400"/>
          </a:xfrm>
          <a:prstGeom prst="rect">
            <a:avLst/>
          </a:prstGeom>
        </p:spPr>
        <p:txBody>
          <a:bodyPr anchor="t" lIns="0" tIns="0" rIns="0" bIns="0">
            <a:noAutofit/>
          </a:bodyPr>
          <a:lstStyle/>
          <a:p>
            <a:pPr>
              <a:lnSpc>
                <a:spcPct val="120000"/>
              </a:lnSpc>
            </a:pPr>
            <a:r>
              <a:rPr lang="en-US" sz="1200" dirty="0">
                <a:effectLst/>
              </a:rPr>
              <a:t>The compatibilization of PA/thermoplactic elastomers blends involving the grafting of MA onto the elastomer phase also reported by several researchers [570,611-614]. It was shown that MA grafted elastomers improved the impact strength and reduced the dispersed phase size in those blends. The morphology and mechanical properties of these blends significantly depend on the ratio of reactive/ nonreactive elastomers, the MA content, composition and the viscosity of the blend components.</a:t>
            </a:r>
          </a:p>
        </p:txBody>
      </p:sp>
      <p:sp>
        <p:nvSpPr>
          <p:cNvPr id="2" name="Text"/>
          <p:cNvSpPr/>
          <p:nvPr/>
        </p:nvSpPr>
        <p:spPr>
          <a:xfrm>
            <a:off x="1524000" y="6124575"/>
            <a:ext cx="9144000" cy="266700"/>
          </a:xfrm>
          <a:prstGeom prst="rect">
            <a:avLst/>
          </a:prstGeom>
        </p:spPr>
        <p:txBody>
          <a:bodyPr anchor="t" lIns="0" tIns="0" rIns="0" bIns="0">
            <a:noAutofit/>
          </a:bodyPr>
          <a:lstStyle/>
          <a:p>
            <a:pPr>
              <a:lnSpc>
                <a:spcPct val="125800"/>
              </a:lnSpc>
            </a:pPr>
            <a:r>
              <a:rPr lang="en-US" sz="1400" dirty="0" b="1">
                <a:effectLst/>
              </a:rPr>
              <a:t>8.3. Natural polymers reactive blends</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057400"/>
              </a:xfrm>
              <a:prstGeom prst="rect">
                <a:avLst/>
              </a:prstGeom>
            </p:spPr>
            <p:txBody>
              <a:bodyPr anchor="t" lIns="0" tIns="0" rIns="0" bIns="0">
                <a:noAutofit/>
              </a:bodyPr>
              <a:lstStyle/>
              <a:p>
                <a:pPr>
                  <a:lnSpc>
                    <a:spcPct val="120000"/>
                  </a:lnSpc>
                </a:pPr>
                <a:r>
                  <a:rPr lang="en-US" sz="1200" dirty="0">
                    <a:effectLst/>
                  </a:rPr>
                  <a:t>POs are the thermoplastic polymers widely used as a matrix in wood fiber-plastic composites [615]. MA is the usual choice in modification of the polymer matrix by grafting reaction. These graft copolymers, such as maleated PPs, are applied as a coupling agents, for the preparation of composites useful in the authomobile and packaging industries [615,616], and for outdoor application because when maleated PP is used, the fiber surface becomes hydrophobic and the water uptake decreases significantly [507]. The esterification reaction between different wood fibers and maleated PP has been under investigation for several years now. X-ray photoelectron and FTIR spectroscopy are the method most often used to confirm the esterification reaction [394,422-425]. Authors [617] shown that the anhydride form of MA- </a:t>
                </a:r>
                <a:r>
                  <a:rPr lang="en-US" sz="1200" dirty="0">
                    <a:effectLst/>
                  </a:rPr>
                  <a:t>​</a:t>
                </a:r>
                <a14:m>
                  <m:oMath>
                    <m:r>
                      <m:rPr>
                        <m:sty m:val="i"/>
                      </m:rPr>
                      <a:rPr lang="en-US" sz="1200" dirty="0">
                        <a:solidFill>
                          <a:srgbClr val="000000"/>
                        </a:solidFill>
                        <a:effectLst/>
                      </a:rPr>
                      <m:t>g</m:t>
                    </m:r>
                  </m:oMath>
                </a14:m>
                <a:r>
                  <a:rPr lang="en-US" sz="1200" dirty="0">
                    <a:effectLst/>
                  </a:rPr>
                  <a:t>-PP interacts with viscose fiber via physical (hydrogen bounding) or chemical (esterification) bonding, leding to improved adhesion between fibers and the PP matrix. The tensile strength and elongation of fracture of a composite of PP and viscose fiber increase significantly when the MA- </a:t>
                </a:r>
                <a:r>
                  <a:rPr lang="en-US" sz="1200" dirty="0">
                    <a:effectLst/>
                  </a:rPr>
                  <a:t>​</a:t>
                </a:r>
                <a14:m>
                  <m:oMath>
                    <m:r>
                      <m:rPr>
                        <m:sty m:val="i"/>
                      </m:rPr>
                      <a:rPr lang="en-US" sz="1200" dirty="0">
                        <a:solidFill>
                          <a:srgbClr val="000000"/>
                        </a:solidFill>
                        <a:effectLst/>
                      </a:rPr>
                      <m:t>g</m:t>
                    </m:r>
                  </m:oMath>
                </a14:m>
                <a:r>
                  <a:rPr lang="en-US" sz="1200" dirty="0">
                    <a:effectLst/>
                  </a:rPr>
                  <a:t>-PP concentration is increased in the composite material.</a:t>
                </a:r>
              </a:p>
            </p:txBody>
          </p:sp>
        </mc:Choice>
        <mc:Fallback/>
      </mc:AlternateContent>
      <p:sp>
        <p:nvSpPr>
          <p:cNvPr id="2" name="Text"/>
          <p:cNvSpPr/>
          <p:nvPr/>
        </p:nvSpPr>
        <p:spPr>
          <a:xfrm>
            <a:off x="1524000" y="2667000"/>
            <a:ext cx="9144000" cy="1828800"/>
          </a:xfrm>
          <a:prstGeom prst="rect">
            <a:avLst/>
          </a:prstGeom>
        </p:spPr>
        <p:txBody>
          <a:bodyPr anchor="t" lIns="0" tIns="0" rIns="0" bIns="0">
            <a:noAutofit/>
          </a:bodyPr>
          <a:lstStyle/>
          <a:p>
            <a:pPr>
              <a:lnSpc>
                <a:spcPct val="120000"/>
              </a:lnSpc>
            </a:pPr>
            <a:r>
              <a:rPr lang="en-US" sz="1200" dirty="0">
                <a:effectLst/>
              </a:rPr>
              <a:t>It is known that carboxyl-containing polymers have been used as cross-linking agents for cotton fabrics and paper to replace the traditional formaldehyde-based reagents. Yang et al. [618,619] showed that treatment of cotton fabric with a mixture of MA and itaconic acid significantly improves wrinkle-resistance of the fabric. They studied the in situ copolymerization of MA and itaconic acid on cotton fabric. Using FTIR and redox titration technique for quantitative determination of carbonyl fragments and double bonds on the treated cotton fabric, authors found that free radical copolymerization of MA and itaconic acid does not occur on the fabric at elevated temperatures when potassium persulfate is present as an initiator. It does occur, however, when both potassium persulfate and sodium hypophosphite are present on the fabric. Authors assumed that the in situ copolymerization on the cotton fabric probably is initiated by a reduction-oxidation system.</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828800"/>
              </a:xfrm>
              <a:prstGeom prst="rect">
                <a:avLst/>
              </a:prstGeom>
            </p:spPr>
            <p:txBody>
              <a:bodyPr anchor="t" lIns="0" tIns="0" rIns="0" bIns="0">
                <a:noAutofit/>
              </a:bodyPr>
              <a:lstStyle/>
              <a:p>
                <a:pPr>
                  <a:lnSpc>
                    <a:spcPct val="120000"/>
                  </a:lnSpc>
                </a:pPr>
                <a:r>
                  <a:rPr lang="en-US" sz="1200" dirty="0">
                    <a:effectLst/>
                  </a:rPr>
                  <a:t>Synthesis of PE- </a:t>
                </a:r>
                <a:r>
                  <a:rPr lang="en-US" sz="1200" dirty="0">
                    <a:effectLst/>
                  </a:rPr>
                  <a:t>​</a:t>
                </a:r>
                <a14:m>
                  <m:oMath>
                    <m:r>
                      <m:rPr>
                        <m:sty m:val="i"/>
                      </m:rPr>
                      <a:rPr lang="en-US" sz="1200" dirty="0">
                        <a:solidFill>
                          <a:srgbClr val="000000"/>
                        </a:solidFill>
                        <a:effectLst/>
                      </a:rPr>
                      <m:t>g</m:t>
                    </m:r>
                  </m:oMath>
                </a14:m>
                <a:r>
                  <a:rPr lang="en-US" sz="1200" dirty="0">
                    <a:effectLst/>
                  </a:rPr>
                  <a:t>-poly(styrene-co-MA) and its compatibilizing effects on the PE/starch blends reported by Park and Yoon [620]. In this study, graft copolymerization of styrene and MA was carried out using PE-TEMPO (2,2,6,6-tetramethyl-1-piperidinyloxy) as a macroinitiator. It was shown that styrene homopolymerization with PE-TEMPO proceeded very slowly and produced a large amount of polystyrene by-product. A negligible amount of MA was grafted by PE-TEMPO when MA was homopolymerized. However, the graft copolymerization became fast in the presence of complexed St/MA mixture. The amount of MA units in the produced PE- </a:t>
                </a:r>
                <a:r>
                  <a:rPr lang="en-US" sz="1200" dirty="0">
                    <a:effectLst/>
                  </a:rPr>
                  <a:t>​</a:t>
                </a:r>
                <a14:m>
                  <m:oMath>
                    <m:r>
                      <m:rPr>
                        <m:sty m:val="i"/>
                      </m:rPr>
                      <a:rPr lang="en-US" sz="1200" dirty="0">
                        <a:solidFill>
                          <a:srgbClr val="000000"/>
                        </a:solidFill>
                        <a:effectLst/>
                      </a:rPr>
                      <m:t>g</m:t>
                    </m:r>
                  </m:oMath>
                </a14:m>
                <a:r>
                  <a:rPr lang="en-US" sz="1200" dirty="0">
                    <a:effectLst/>
                  </a:rPr>
                  <a:t>-poly(St-co-MA) was much larger than that of MA grafted on PE by using the conventional grafting method with thermal and photoinitiators. Authors found that chemical reaction between MA units and hydroxyl groups of starch was nearly undetecstable in the PE/PE- </a:t>
                </a:r>
                <a:r>
                  <a:rPr lang="en-US" sz="1200" dirty="0">
                    <a:effectLst/>
                  </a:rPr>
                  <a:t>​</a:t>
                </a:r>
                <a14:m>
                  <m:oMath>
                    <m:r>
                      <m:rPr>
                        <m:sty m:val="i"/>
                      </m:rPr>
                      <a:rPr lang="en-US" sz="1200" dirty="0">
                        <a:solidFill>
                          <a:srgbClr val="000000"/>
                        </a:solidFill>
                        <a:effectLst/>
                      </a:rPr>
                      <m:t>g</m:t>
                    </m:r>
                  </m:oMath>
                </a14:m>
                <a:r>
                  <a:rPr lang="en-US" sz="1200" dirty="0">
                    <a:effectLst/>
                  </a:rPr>
                  <a:t>-poly(styrene-co-MA)/starch blend system, and the tensile properties of the blend were not enhanced significantly.</a:t>
                </a:r>
              </a:p>
            </p:txBody>
          </p:sp>
        </mc:Choice>
        <mc:Fallback/>
      </mc:AlternateContent>
      <p:sp>
        <p:nvSpPr>
          <p:cNvPr id="2" name="Text"/>
          <p:cNvSpPr/>
          <p:nvPr/>
        </p:nvSpPr>
        <p:spPr>
          <a:xfrm>
            <a:off x="1524000" y="2438400"/>
            <a:ext cx="9144000" cy="685800"/>
          </a:xfrm>
          <a:prstGeom prst="rect">
            <a:avLst/>
          </a:prstGeom>
        </p:spPr>
        <p:txBody>
          <a:bodyPr anchor="t" lIns="0" tIns="0" rIns="0" bIns="0">
            <a:noAutofit/>
          </a:bodyPr>
          <a:lstStyle/>
          <a:p>
            <a:pPr>
              <a:lnSpc>
                <a:spcPct val="120000"/>
              </a:lnSpc>
            </a:pPr>
            <a:r>
              <a:rPr lang="en-US" sz="1200" dirty="0">
                <a:effectLst/>
              </a:rPr>
              <a:t>In situ chemical modification-interfacial interaction also observed by Bismarck et al. [621] in the cellulose/maleated PP composite systems. The properties such composites depend on their interfacial adhesion as well as properties of the individual components. Many researchers [622-624] found that MA grafted PP is very efficient for preparing</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5715000"/>
              </a:xfrm>
              <a:prstGeom prst="rect">
                <a:avLst/>
              </a:prstGeom>
            </p:spPr>
            <p:txBody>
              <a:bodyPr anchor="t" lIns="0" tIns="0" rIns="0" bIns="0">
                <a:noAutofit/>
              </a:bodyPr>
              <a:lstStyle/>
              <a:p>
                <a:pPr>
                  <a:lnSpc>
                    <a:spcPct val="120000"/>
                  </a:lnSpc>
                </a:pPr>
                <a:r>
                  <a:rPr lang="en-US" sz="1200" dirty="0">
                    <a:effectLst/>
                  </a:rPr>
                  <a:t> cellulosic PP composites with improved mechanical properties. Esterification of MA copolymers or maleated PP graft copolymers with surface hydroxide groups of solid celluloase materials, including cellulose fibers was also described in several publications. Thus, It was shown that cross-linking of cotton cellulose for stabilization by poly(maleic acid) occurs as a two step reaction: (1) formation of cyclic anhydride intermediate (activation) and (2) reaction of the anhydride intermediate with cellulose by esterification [624]. The improvement imparted by the use of poly(PP- </a:t>
                </a:r>
                <a:r>
                  <a:rPr lang="en-US" sz="1200" dirty="0">
                    <a:effectLst/>
                  </a:rPr>
                  <a:t>​</a:t>
                </a:r>
                <a14:m>
                  <m:oMath>
                    <m:r>
                      <m:rPr>
                        <m:sty m:val="i"/>
                      </m:rPr>
                      <a:rPr lang="en-US" sz="1200" dirty="0">
                        <a:solidFill>
                          <a:srgbClr val="000000"/>
                        </a:solidFill>
                        <a:effectLst/>
                      </a:rPr>
                      <m:t>g</m:t>
                    </m:r>
                  </m:oMath>
                </a14:m>
                <a:r>
                  <a:rPr lang="en-US" sz="1200" dirty="0">
                    <a:effectLst/>
                  </a:rPr>
                  <a:t>-MA) is considered to be attributed to esterification reaction of anhydride unit with hydroxyl group of cellulose in solutions in the presence of catalyst. The formation of ester groups has been confirmed by the appaerance of a new IR band at 1729 and </a:t>
                </a:r>
                <a:r>
                  <a:rPr lang="en-US" sz="1200" dirty="0">
                    <a:effectLst/>
                  </a:rPr>
                  <a:t>​</a:t>
                </a:r>
                <a14:m>
                  <m:oMath>
                    <m:r>
                      <m:rPr>
                        <m:sty m:val="p"/>
                      </m:rPr>
                      <a:rPr lang="en-US" sz="1200" dirty="0">
                        <a:solidFill>
                          <a:srgbClr val="000000"/>
                        </a:solidFill>
                        <a:effectLst/>
                      </a:rPr>
                      <m:t>1750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[387,.616,620,621]. It was also found that ball-milling induces intensive esterification betwwen the OH groups on microparticles of cellulose and the MA grafted units of poly(PE-g-MA) [388] or poly(PP-g-MA) [625], in marked contrast to the melt-mixing of the original cellulose and maleated PE and PP. Several researchers also reported the use of MA monomer or maleated PPs in cellulose reinforced thermoplastic composites [429,431,626,626-629], and an esterification between the "solid" cellulose and anhydride moiety has been assumed. Qui et al. [398-400] discussed the formation of ester bonds between "mechanically activated" hydroxyl groups of cellulose and MA units of poly(PP- </a:t>
                </a:r>
                <a:r>
                  <a:rPr lang="en-US" sz="1200" dirty="0">
                    <a:effectLst/>
                  </a:rPr>
                  <a:t>​</a:t>
                </a:r>
                <a14:m>
                  <m:oMath>
                    <m:r>
                      <m:rPr>
                        <m:sty m:val="i"/>
                      </m:rPr>
                      <a:rPr lang="en-US" sz="1200" dirty="0">
                        <a:solidFill>
                          <a:srgbClr val="000000"/>
                        </a:solidFill>
                        <a:effectLst/>
                      </a:rPr>
                      <m:t>g</m:t>
                    </m:r>
                  </m:oMath>
                </a14:m>
                <a:r>
                  <a:rPr lang="en-US" sz="1200" dirty="0">
                    <a:effectLst/>
                  </a:rPr>
                  <a:t>-MA) (freshly tempered at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120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 during ball milling at room temperature (for 10 h). They demonstrated the importance of destroying the H-bond network during ball milling of the highly crystalline cellulose to yield free (activated) hydroxyl groups. Alternatively, the chemical modification of cellulose by MA to cellulose maleate was also carried out successfully in pyridine at 100°C [400].</a:t>
                </a:r>
                <a:br>
                  <a:rPr lang="en-US" sz="1200" dirty="0"/>
                </a:br>
                <a:r>
                  <a:rPr lang="en-US" sz="1200" dirty="0">
                    <a:effectLst/>
                  </a:rPr>
                  <a:t> A new method for the preparation of covalently immobilized cellulose layers on top of inorganic substracts such as silicon wafers or glass carriers reported by Werner et al. [630,631]. Authors used MA copolymer films covalently attached to glass carriers of oxidated silicon wafers as anchor films which bind the cellulose layer by esterification between the OH groups of the cellulose and the anhydride groups of the MA copolymers. The preparation of MA copolymer films covalently bound to amine-functionalized surfaces and the characterization of these layers also described [631]. The composition of the resulting cellulose coating is schematically shown for the example of a silicon oxide carrier material in Figure 41. Authors assumed that the use of MA alternating copolymers, such as poly(MA-alt-ethylene) (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n</m:t>
                        </m:r>
                      </m:sub>
                    </m:sSub>
                    <m:r>
                      <m:rPr>
                        <m:sty m:val="p"/>
                      </m:rPr>
                      <a:rPr lang="en-US" sz="1200" dirty="0">
                        <a:solidFill>
                          <a:srgbClr val="000000"/>
                        </a:solidFill>
                        <a:effectLst/>
                      </a:rPr>
                      <m:t>=</m:t>
                    </m:r>
                    <m:r>
                      <m:rPr>
                        <m:sty m:val="p"/>
                      </m:rPr>
                      <a:rPr lang="en-US" sz="1200" dirty="0">
                        <a:solidFill>
                          <a:srgbClr val="000000"/>
                        </a:solidFill>
                        <a:effectLst/>
                      </a:rPr>
                      <m:t>125</m:t>
                    </m:r>
                  </m:oMath>
                </a14:m>
                <a:r>
                  <a:rPr lang="en-US" sz="1200" dirty="0">
                    <a:effectLst/>
                  </a:rPr>
                  <a:t> 000), poly(MA-alt-propylene) (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n</m:t>
                        </m:r>
                      </m:sub>
                    </m:sSub>
                    <m:r>
                      <m:rPr>
                        <m:sty m:val="p"/>
                      </m:rPr>
                      <a:rPr lang="en-US" sz="1200" dirty="0">
                        <a:solidFill>
                          <a:srgbClr val="000000"/>
                        </a:solidFill>
                        <a:effectLst/>
                      </a:rPr>
                      <m:t>=</m:t>
                    </m:r>
                    <m:r>
                      <m:rPr>
                        <m:sty m:val="p"/>
                      </m:rPr>
                      <a:rPr lang="en-US" sz="1200" dirty="0">
                        <a:solidFill>
                          <a:srgbClr val="000000"/>
                        </a:solidFill>
                        <a:effectLst/>
                      </a:rPr>
                      <m:t>39000</m:t>
                    </m:r>
                  </m:oMath>
                </a14:m>
                <a:r>
                  <a:rPr lang="en-US" sz="1200" dirty="0">
                    <a:effectLst/>
                  </a:rPr>
                  <a:t> ) and poly(MA-alt-styrene) (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n</m:t>
                        </m:r>
                      </m:sub>
                    </m:sSub>
                    <m:r>
                      <m:rPr>
                        <m:sty m:val="p"/>
                      </m:rPr>
                      <a:rPr lang="en-US" sz="1200" dirty="0">
                        <a:solidFill>
                          <a:srgbClr val="000000"/>
                        </a:solidFill>
                        <a:effectLst/>
                      </a:rPr>
                      <m:t>=</m:t>
                    </m:r>
                    <m:r>
                      <m:rPr>
                        <m:sty m:val="p"/>
                      </m:rPr>
                      <a:rPr lang="en-US" sz="1200" dirty="0">
                        <a:solidFill>
                          <a:srgbClr val="000000"/>
                        </a:solidFill>
                        <a:effectLst/>
                      </a:rPr>
                      <m:t>100000</m:t>
                    </m:r>
                  </m:oMath>
                </a14:m>
                <a:r>
                  <a:rPr lang="en-US" sz="1200" dirty="0">
                    <a:effectLst/>
                  </a:rPr>
                  <a:t> ), as anchoring layers was considered advantageous since: (1) they can provide a variety of physicochemical characteristics depending on the comono- mer and spontaneously form covalent bonds to any kind of amine-functionalized surfaces (e.g., inorganic oxide substrates after aminosilane pretreatment or ammonia</a:t>
                </a:r>
              </a:p>
            </p:txBody>
          </p:sp>
        </mc:Choice>
        <mc:Fallback/>
      </mc:AlternateContent>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0482497beaf60d8a5a046a7c63bd647e184d8627.jpg"/>
          <p:cNvPicPr/>
          <p:nvPr/>
        </p:nvPicPr>
        <p:blipFill>
          <a:blip r:embed="rId2" cstate="print"/>
          <a:srcRect/>
          <a:stretch>
            <a:fillRect/>
          </a:stretch>
        </p:blipFill>
        <p:spPr>
          <a:xfrm>
            <a:off x="1524000" y="457200"/>
            <a:ext cx="6619875" cy="5943600"/>
          </a:xfrm>
          <a:prstGeom prst="rect">
            <a:avLst/>
          </a:prstGeom>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41. Structure of cellulose coatings prepared by reaction of cellulose hydroxyl groups with aminefunctionalized silicone and MA copolymer. Adapted from [631].</a:t>
            </a:r>
          </a:p>
        </p:txBody>
      </p:sp>
      <p:sp>
        <p:nvSpPr>
          <p:cNvPr id="2" name="Text"/>
          <p:cNvSpPr/>
          <p:nvPr/>
        </p:nvSpPr>
        <p:spPr>
          <a:xfrm>
            <a:off x="1524000" y="914400"/>
            <a:ext cx="9144000" cy="914400"/>
          </a:xfrm>
          <a:prstGeom prst="rect">
            <a:avLst/>
          </a:prstGeom>
        </p:spPr>
        <p:txBody>
          <a:bodyPr anchor="t" lIns="0" tIns="0" rIns="0" bIns="0">
            <a:noAutofit/>
          </a:bodyPr>
          <a:lstStyle/>
          <a:p>
            <a:pPr>
              <a:lnSpc>
                <a:spcPct val="120000"/>
              </a:lnSpc>
            </a:pPr>
            <a:r>
              <a:rPr lang="en-US" sz="1200" dirty="0">
                <a:effectLst/>
              </a:rPr>
              <a:t>plasma treated polymer materials) and (2) the high reactivity of the remaining anhydride groups of the surfacebound copolymer allow for the creation of ester bonds to cellulose layer subsequently deposited on top of the copolymer films. The introduced method for covalent attachment of cellulose thin films on solid supports using MA copolymer precoatings was demonstrated to provide well-defined, smooth layers distinguished by an excellent stability against shear stress in aqueous solutions [631].</a:t>
            </a:r>
          </a:p>
        </p:txBody>
      </p:sp>
      <p:sp>
        <p:nvSpPr>
          <p:cNvPr id="2" name="Text"/>
          <p:cNvSpPr/>
          <p:nvPr/>
        </p:nvSpPr>
        <p:spPr>
          <a:xfrm>
            <a:off x="1524000" y="1981200"/>
            <a:ext cx="9144000" cy="1371600"/>
          </a:xfrm>
          <a:prstGeom prst="rect">
            <a:avLst/>
          </a:prstGeom>
        </p:spPr>
        <p:txBody>
          <a:bodyPr anchor="t" lIns="0" tIns="0" rIns="0" bIns="0">
            <a:noAutofit/>
          </a:bodyPr>
          <a:lstStyle/>
          <a:p>
            <a:pPr>
              <a:lnSpc>
                <a:spcPct val="120000"/>
              </a:lnSpc>
            </a:pPr>
            <a:r>
              <a:rPr lang="en-US" sz="1200" dirty="0">
                <a:effectLst/>
              </a:rPr>
              <a:t>Polymeric blends based on water-soluble polymers [632-638], including hyroxyethylcellulose/poly(MA-alt-methyl vinyl ether) [HEC/poly(MA-alt-MVE)] [639] are of considerable interest because they are relatively easy to prepare polymer membranes, coatings, packaging films, and have a variety of potential applications in medicine, pharmacy and microelectronics. MA copolymer thin films were untilized as a versatile platform allowing a defined gradiation of the surface physicochemical properties; the attachment of the glycoside molecule onto the MA copolymer thin films occurred readly from aqueous solutions and sugar-based polymer layer being a precursor for potential anti-coagulant coating [633].</a:t>
            </a:r>
          </a:p>
        </p:txBody>
      </p:sp>
      <p:sp>
        <p:nvSpPr>
          <p:cNvPr id="2" name="Text"/>
          <p:cNvSpPr/>
          <p:nvPr/>
        </p:nvSpPr>
        <p:spPr>
          <a:xfrm>
            <a:off x="1524000" y="3505200"/>
            <a:ext cx="9144000" cy="1371600"/>
          </a:xfrm>
          <a:prstGeom prst="rect">
            <a:avLst/>
          </a:prstGeom>
        </p:spPr>
        <p:txBody>
          <a:bodyPr anchor="t" lIns="0" tIns="0" rIns="0" bIns="0">
            <a:noAutofit/>
          </a:bodyPr>
          <a:lstStyle/>
          <a:p>
            <a:pPr>
              <a:lnSpc>
                <a:spcPct val="120000"/>
              </a:lnSpc>
            </a:pPr>
            <a:r>
              <a:rPr lang="en-US" sz="1200" dirty="0">
                <a:effectLst/>
              </a:rPr>
              <a:t>Miscibility of polymers in a blend are dramatically influenced by the presence of H-bonding and electrostatic interactions being the most important [638-640]. H-bonding is very sensitive for misibility of various carboxylic acidcontaining polymer. For instance, Khutoryanskaya et al. [639] reported the polymer blends based on HEC and water-soluble poly(MAc-alt-VA) containing maleic acid units with two carboxylic groups, which can be act as proton-donor and form H-bonds with OH and ether groups of HEC polysaccharide. They prepared hydrophilic films by casting from aqueous solution of these blends. The pristine films exhibit complete miscibility due to the formation of</a:t>
            </a:r>
          </a:p>
        </p:txBody>
      </p:sp>
      <p:sp>
        <p:nvSpPr>
          <p:cNvPr id="2" name="Text"/>
          <p:cNvSpPr/>
          <p:nvPr/>
        </p:nvSpPr>
        <p:spPr>
          <a:xfrm>
            <a:off x="1524000" y="5029200"/>
            <a:ext cx="9144000" cy="685800"/>
          </a:xfrm>
          <a:prstGeom prst="rect">
            <a:avLst/>
          </a:prstGeom>
        </p:spPr>
        <p:txBody>
          <a:bodyPr anchor="t" lIns="0" tIns="0" rIns="0" bIns="0">
            <a:noAutofit/>
          </a:bodyPr>
          <a:lstStyle/>
          <a:p>
            <a:pPr>
              <a:lnSpc>
                <a:spcPct val="120000"/>
              </a:lnSpc>
            </a:pPr>
            <a:r>
              <a:rPr lang="en-US" sz="1800" dirty="0" b="1">
                <a:effectLst/>
              </a:rPr>
              <a:t>International Review of Chemical Engineering, volume 3, No 2, March, 2011 Int. Rev.Chem. Eng., 3(2011) 153-215</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828800"/>
          </a:xfrm>
          <a:prstGeom prst="rect">
            <a:avLst/>
          </a:prstGeom>
        </p:spPr>
        <p:txBody>
          <a:bodyPr anchor="t" lIns="0" tIns="0" rIns="0" bIns="0">
            <a:noAutofit/>
          </a:bodyPr>
          <a:lstStyle/>
          <a:p>
            <a:pPr>
              <a:lnSpc>
                <a:spcPct val="120000"/>
              </a:lnSpc>
            </a:pPr>
            <a:r>
              <a:rPr lang="en-US" sz="1200" dirty="0">
                <a:effectLst/>
              </a:rPr>
              <a:t>intermolecular H-bonding. The thermal treatment of the blend films leads to cross-linking via intermolecular esterification and anhydride formation, which are confirmed by infrared spectra and swelling studies of authors, as well as by TGA-DSC thermal analysis. They demonstrated that the thermal activated crosslinking reactions occurring in these blends lead to an increase in the low temperature modulus and inhibit the mobility of charge carriers and the motion of dipoles in the matrix. Bumbu et al. [425,641] reported the blends of poly(maleic acid-alt-vinyl acetate) [poly(MAc-alt-VA)] with dextran, pulluan and hydroxypropylcellulose (HPC). The presence of inter- molecular H-bonding and the formation of ester bonds lead to compatibility at 85-95 wt. % of dextran in the poly(MAc-alt-VA)(dextran blend. The blends of poly(MAc-alt-VA)/HPC containing 10-30 and 70-90 % of the polysaccharide exhibit single glass-transition temperature values and are transparent, sapporting the assumption of their complecte miscibility.</a:t>
            </a:r>
          </a:p>
        </p:txBody>
      </p:sp>
      <p:sp>
        <p:nvSpPr>
          <p:cNvPr id="2" name="Text"/>
          <p:cNvSpPr/>
          <p:nvPr/>
        </p:nvSpPr>
        <p:spPr>
          <a:xfrm>
            <a:off x="1524000" y="2438400"/>
            <a:ext cx="9144000" cy="266700"/>
          </a:xfrm>
          <a:prstGeom prst="rect">
            <a:avLst/>
          </a:prstGeom>
        </p:spPr>
        <p:txBody>
          <a:bodyPr anchor="t" lIns="0" tIns="0" rIns="0" bIns="0">
            <a:noAutofit/>
          </a:bodyPr>
          <a:lstStyle/>
          <a:p>
            <a:pPr>
              <a:lnSpc>
                <a:spcPct val="125800"/>
              </a:lnSpc>
            </a:pPr>
            <a:r>
              <a:rPr lang="en-US" sz="1400" dirty="0" b="1">
                <a:effectLst/>
              </a:rPr>
              <a:t>8.4. Reactive functional polymer systems</a:t>
            </a:r>
          </a:p>
        </p:txBody>
      </p:sp>
      <p:sp>
        <p:nvSpPr>
          <p:cNvPr id="2" name="Text"/>
          <p:cNvSpPr/>
          <p:nvPr/>
        </p:nvSpPr>
        <p:spPr>
          <a:xfrm>
            <a:off x="1524000" y="2883408"/>
            <a:ext cx="9144000" cy="1600200"/>
          </a:xfrm>
          <a:prstGeom prst="rect">
            <a:avLst/>
          </a:prstGeom>
        </p:spPr>
        <p:txBody>
          <a:bodyPr anchor="t" lIns="0" tIns="0" rIns="0" bIns="0">
            <a:noAutofit/>
          </a:bodyPr>
          <a:lstStyle/>
          <a:p>
            <a:pPr>
              <a:lnSpc>
                <a:spcPct val="120000"/>
              </a:lnSpc>
            </a:pPr>
            <a:r>
              <a:rPr lang="en-US" sz="1200" dirty="0">
                <a:effectLst/>
              </a:rPr>
              <a:t>The copolymers of unsaturated dicarboxylic acids and their anhydrides, especially MA and maleic acid copolymers, soluble in aqueous medium, have attracted major interest [1,2,27,420]. The H-bonding interaction and interpolymer complex formation between alternating maleic acid-vinyl acetate copolymer, poly(MAc-alt-VA) and PEO, poly(AAm) or poly(NIPA) in aqueous solution was potentimetrically and viscometrically studied by Vasile et al. [420]. They showed that poly(MAc-alt-VA) formed with PEO a strong H-bonding interpolymer complex with a compact structure, and while its interaction with poly(AAm) seems to be very waek, if any, the complex formed with poly(NIPA) is even stronger than that with PEO. According to the authors, this observed phenomenon indicates a very important contribution of hydrophobic interaction to the formation of such H-bonding interpolymer complexes.</a:t>
            </a:r>
          </a:p>
        </p:txBody>
      </p:sp>
      <mc:AlternateContent xmlns:mc="http://schemas.openxmlformats.org/markup-compatibility/2006">
        <mc:Choice xmlns:a14="http://schemas.microsoft.com/office/drawing/2010/main" Requires="a14">
          <p:sp>
            <p:nvSpPr>
              <p:cNvPr id="2" name="Text"/>
              <p:cNvSpPr/>
              <p:nvPr/>
            </p:nvSpPr>
            <p:spPr>
              <a:xfrm>
                <a:off x="1524000" y="4636008"/>
                <a:ext cx="9144000" cy="1600200"/>
              </a:xfrm>
              <a:prstGeom prst="rect">
                <a:avLst/>
              </a:prstGeom>
            </p:spPr>
            <p:txBody>
              <a:bodyPr anchor="t" lIns="0" tIns="0" rIns="0" bIns="0">
                <a:noAutofit/>
              </a:bodyPr>
              <a:lstStyle/>
              <a:p>
                <a:pPr>
                  <a:lnSpc>
                    <a:spcPct val="120000"/>
                  </a:lnSpc>
                </a:pPr>
                <a:r>
                  <a:rPr lang="en-US" sz="1200" dirty="0">
                    <a:effectLst/>
                  </a:rPr>
                  <a:t>The interpolymer complexing a proton-donor polymer (weak polyacids: homo- and copolymers of mono- and dicarboxylic acids) with a proton-acceptor polymer Lewis polybases: poly(ethylene oxide) (PEO) polyacrylamide, poly(AAm) or cellulose ethers] in aqueous solution has been extensively investigated [642-650]. This complexation has generally been attributed to successive H-bonding. However, hydrophilic interaction seems to make a major contribution to the formation of these complexes. It is known that poly(methacrylic acid) [poly(MAA)] forms stronger interpolymer complexes with PEO than with polymer of acrylic acid [poly(AA)] [651] and poly( </a:t>
                </a:r>
                <a:r>
                  <a:rPr lang="en-US" sz="1200" dirty="0">
                    <a:effectLst/>
                  </a:rPr>
                  <a:t>​</a:t>
                </a:r>
                <a14:m>
                  <m:oMath>
                    <m:r>
                      <m:rPr>
                        <m:sty m:val="i"/>
                      </m:rPr>
                      <a:rPr lang="en-US" sz="1200" dirty="0">
                        <a:solidFill>
                          <a:srgbClr val="000000"/>
                        </a:solidFill>
                        <a:effectLst/>
                      </a:rPr>
                      <m:t>N</m:t>
                    </m:r>
                  </m:oMath>
                </a14:m>
                <a:r>
                  <a:rPr lang="en-US" sz="1200" dirty="0">
                    <a:effectLst/>
                  </a:rPr>
                  <a:t> -isopropyl- acrylamide) [poly(NIPA)] forms a very strong complex with poly(AA), of increasing strength as temperature increases, while poly(AAm) forms a weak complex, of increasing strength as temperature decreases [652].</a:t>
                </a:r>
              </a:p>
            </p:txBody>
          </p:sp>
        </mc:Choice>
        <mc:Fallback/>
      </mc:AlternateContent>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514600"/>
          </a:xfrm>
          <a:prstGeom prst="rect">
            <a:avLst/>
          </a:prstGeom>
        </p:spPr>
        <p:txBody>
          <a:bodyPr anchor="t" lIns="0" tIns="0" rIns="0" bIns="0">
            <a:noAutofit/>
          </a:bodyPr>
          <a:lstStyle/>
          <a:p>
            <a:pPr>
              <a:lnSpc>
                <a:spcPct val="120000"/>
              </a:lnSpc>
            </a:pPr>
            <a:r>
              <a:rPr lang="en-US" sz="1200" dirty="0">
                <a:effectLst/>
              </a:rPr>
              <a:t>According to Moolman et al. [653], interpolymer complexation is the favourable (non-covalent) interaction between two complementary polymers through e.g. electrostatic interactions, hydrophobic interactions, hydrogen bonding or Van der Waals interactions. For example, a blend of poly(vinyl alcohol) (PVOH) and poly(methyl vinyl ether-alt-maleic acid) [poly(MVE-MAc)] forms an interpolymer complex through hydrogen bonding between the alcohol groups of the PVOH and the carboxylic and ether groups of the poly(MVE-alt-MAc). By using these complexated blends, they developed a novel oxygen barrier technology for plastics pakaging. It was shown that as interpolymer complexation interactions are strongly dependent on stoichiometric ratios, the estimation of the optimum blend ratio is an important component of blend design. Molecular dynamics modelling was also used to predict optimum blend ratio (in terms of maximum interaction) for blends of PVOH and MA alternating copolymer. According to the authors, these copolymers could be an alternative for the polyacid in H-bonding interpolymer complexes, and have the advantages that their hydrophilic or hydrophobic character, their charge density, and therefore their major properties, can be varied by a suitable selection of comonomers.</a:t>
            </a:r>
          </a:p>
        </p:txBody>
      </p:sp>
      <mc:AlternateContent xmlns:mc="http://schemas.openxmlformats.org/markup-compatibility/2006">
        <mc:Choice xmlns:a14="http://schemas.microsoft.com/office/drawing/2010/main" Requires="a14">
          <p:sp>
            <p:nvSpPr>
              <p:cNvPr id="2" name="Text"/>
              <p:cNvSpPr/>
              <p:nvPr/>
            </p:nvSpPr>
            <p:spPr>
              <a:xfrm>
                <a:off x="1524000" y="3124200"/>
                <a:ext cx="9144000" cy="1600200"/>
              </a:xfrm>
              <a:prstGeom prst="rect">
                <a:avLst/>
              </a:prstGeom>
            </p:spPr>
            <p:txBody>
              <a:bodyPr anchor="t" lIns="0" tIns="0" rIns="0" bIns="0">
                <a:noAutofit/>
              </a:bodyPr>
              <a:lstStyle/>
              <a:p>
                <a:pPr>
                  <a:lnSpc>
                    <a:spcPct val="120000"/>
                  </a:lnSpc>
                </a:pPr>
                <a:r>
                  <a:rPr lang="en-US" sz="1200" dirty="0">
                    <a:effectLst/>
                  </a:rPr>
                  <a:t>Copolymer/PEO grafting reactions in the various reactive systems containing alternating and random copolymers of MA [poly(MA-rand-NIPA), poly(MA-alt- </a:t>
                </a:r>
                <a:r>
                  <a:rPr lang="en-US" sz="1200" dirty="0">
                    <a:effectLst/>
                  </a:rPr>
                  <a:t>​</a:t>
                </a:r>
                <a14:m>
                  <m:oMath>
                    <m:r>
                      <m:rPr>
                        <m:sty m:val="i"/>
                      </m:rPr>
                      <a:rPr lang="en-US" sz="1200" dirty="0">
                        <a:solidFill>
                          <a:srgbClr val="000000"/>
                        </a:solidFill>
                        <a:effectLst/>
                      </a:rPr>
                      <m:t>p</m:t>
                    </m:r>
                  </m:oMath>
                </a14:m>
                <a:r>
                  <a:rPr lang="en-US" sz="1200" dirty="0">
                    <a:effectLst/>
                  </a:rPr>
                  <a:t>-vinylphenyl boronic acid), poly(MA-alt-1-hexene), poly(MA-alt-N-vinylpyrrolidone), poly(citraconic anhyd-ride-alt- </a:t>
                </a:r>
                <a:r>
                  <a:rPr lang="en-US" sz="1200" dirty="0">
                    <a:effectLst/>
                  </a:rPr>
                  <a:t>​</a:t>
                </a:r>
                <a14:m>
                  <m:oMath>
                    <m:r>
                      <m:rPr>
                        <m:sty m:val="i"/>
                      </m:rPr>
                      <a:rPr lang="en-US" sz="1200" dirty="0">
                        <a:solidFill>
                          <a:srgbClr val="000000"/>
                        </a:solidFill>
                        <a:effectLst/>
                      </a:rPr>
                      <m:t>N</m:t>
                    </m:r>
                  </m:oMath>
                </a14:m>
                <a:r>
                  <a:rPr lang="en-US" sz="1200" dirty="0">
                    <a:effectLst/>
                  </a:rPr>
                  <a:t>-vinyl-2-pyrrolidone), and etc.] and PEO with end hydoxyl group (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n</m:t>
                        </m:r>
                      </m:sub>
                    </m:sSub>
                    <m:r>
                      <m:rPr>
                        <m:sty m:val="p"/>
                      </m:rPr>
                      <a:rPr lang="en-US" sz="1200" dirty="0">
                        <a:solidFill>
                          <a:srgbClr val="000000"/>
                        </a:solidFill>
                        <a:effectLst/>
                      </a:rPr>
                      <m:t>=</m:t>
                    </m:r>
                    <m:r>
                      <m:rPr>
                        <m:sty m:val="p"/>
                      </m:rPr>
                      <a:rPr lang="en-US" sz="1200" dirty="0">
                        <a:solidFill>
                          <a:srgbClr val="000000"/>
                        </a:solidFill>
                        <a:effectLst/>
                      </a:rPr>
                      <m:t>2000</m:t>
                    </m:r>
                    <m:r>
                      <m:rPr>
                        <m:sty m:val="p"/>
                      </m:rPr>
                      <a:rPr lang="en-US" sz="1200" dirty="0">
                        <a:solidFill>
                          <a:srgbClr val="000000"/>
                        </a:solidFill>
                        <a:effectLst/>
                      </a:rPr>
                      <m:t>,</m:t>
                    </m:r>
                    <m:r>
                      <m:rPr>
                        <m:sty m:val="p"/>
                      </m:rPr>
                      <a:rPr lang="en-US" sz="1200" dirty="0">
                        <a:solidFill>
                          <a:srgbClr val="000000"/>
                        </a:solidFill>
                        <a:effectLst/>
                      </a:rPr>
                      <m:t>4000</m:t>
                    </m:r>
                    <m:r>
                      <m:rPr>
                        <m:sty m:val="p"/>
                      </m:rPr>
                      <a:rPr lang="en-US" sz="1200" dirty="0">
                        <a:solidFill>
                          <a:srgbClr val="000000"/>
                        </a:solidFill>
                        <a:effectLst/>
                      </a:rPr>
                      <m:t>,</m:t>
                    </m:r>
                    <m:r>
                      <m:rPr>
                        <m:sty m:val="p"/>
                      </m:rPr>
                      <a:rPr lang="en-US" sz="1200" dirty="0">
                        <a:solidFill>
                          <a:srgbClr val="000000"/>
                        </a:solidFill>
                        <a:effectLst/>
                      </a:rPr>
                      <m:t>20000</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oMath>
                </a14:m>
                <a:r>
                  <a:rPr lang="en-US" sz="1200" dirty="0">
                    <a:effectLst/>
                  </a:rPr>
                  <a:t> mole </a:t>
                </a:r>
                <a:r>
                  <a:rPr lang="en-US" sz="1200" dirty="0">
                    <a:effectLst/>
                  </a:rPr>
                  <a:t>​</a:t>
                </a:r>
                <a14:m>
                  <m:oMath>
                    <m:r>
                      <m:rPr>
                        <m:sty m:val="p"/>
                      </m:rPr>
                      <a:rPr lang="en-US" sz="1200" dirty="0">
                        <a:solidFill>
                          <a:srgbClr val="000000"/>
                        </a:solidFill>
                        <a:effectLst/>
                      </a:rPr>
                      <m:t>)</m:t>
                    </m:r>
                  </m:oMath>
                </a14:m>
                <a:r>
                  <a:rPr lang="en-US" sz="1200" dirty="0">
                    <a:effectLst/>
                  </a:rPr>
                  <a:t> and/or polyethylene imine (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n</m:t>
                        </m:r>
                      </m:sub>
                    </m:sSub>
                    <m:r>
                      <m:rPr>
                        <m:sty m:val="p"/>
                      </m:rPr>
                      <a:rPr lang="en-US" sz="1200" dirty="0">
                        <a:solidFill>
                          <a:srgbClr val="000000"/>
                        </a:solidFill>
                        <a:effectLst/>
                      </a:rPr>
                      <m:t>=</m:t>
                    </m:r>
                    <m:r>
                      <m:rPr>
                        <m:sty m:val="p"/>
                      </m:rPr>
                      <a:rPr lang="en-US" sz="1200" dirty="0">
                        <a:solidFill>
                          <a:srgbClr val="000000"/>
                        </a:solidFill>
                        <a:effectLst/>
                      </a:rPr>
                      <m:t>2000</m:t>
                    </m:r>
                    <m:r>
                      <m:rPr>
                        <m:sty m:val="p"/>
                      </m:rPr>
                      <a:rPr lang="en-US" sz="1200" dirty="0">
                        <a:solidFill>
                          <a:srgbClr val="000000"/>
                        </a:solidFill>
                        <a:effectLst/>
                      </a:rPr>
                      <m:t>,</m:t>
                    </m:r>
                    <m:r>
                      <m:rPr>
                        <m:sty m:val="p"/>
                      </m:rPr>
                      <a:rPr lang="en-US" sz="1200" dirty="0">
                        <a:solidFill>
                          <a:srgbClr val="000000"/>
                        </a:solidFill>
                        <a:effectLst/>
                      </a:rPr>
                      <m:t>40000</m:t>
                    </m:r>
                    <m:r>
                      <m:rPr>
                        <m:sty m:val="p"/>
                      </m:rPr>
                      <a:rPr lang="en-US" sz="1200" dirty="0">
                        <a:solidFill>
                          <a:srgbClr val="000000"/>
                        </a:solidFill>
                        <a:effectLst/>
                      </a:rPr>
                      <m:t>,</m:t>
                    </m:r>
                    <m:r>
                      <m:rPr>
                        <m:sty m:val="p"/>
                      </m:rPr>
                      <a:rPr lang="en-US" sz="1200" dirty="0">
                        <a:solidFill>
                          <a:srgbClr val="000000"/>
                        </a:solidFill>
                        <a:effectLst/>
                      </a:rPr>
                      <m:t>60000</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oMath>
                </a14:m>
                <a:r>
                  <a:rPr lang="en-US" sz="1200" dirty="0">
                    <a:effectLst/>
                  </a:rPr>
                  <a:t> mole ) as a new route of the synthesis of the bioengineering polymer systems recently reported by Rzayev et al. [5,13-17,472,473,653-657]. Moreover, fabrication of polyolefin nanocomposites in melt by using reactive extrusion systems and various functional copolymers-compatibilizers, including copoly-mers of MA and its isostructural analogs was a subject our recently published Review [658].</a:t>
                </a:r>
              </a:p>
            </p:txBody>
          </p:sp>
        </mc:Choice>
        <mc:Fallback/>
      </mc:AlternateContent>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057400"/>
              </a:xfrm>
              <a:prstGeom prst="rect">
                <a:avLst/>
              </a:prstGeom>
            </p:spPr>
            <p:txBody>
              <a:bodyPr anchor="t" lIns="0" tIns="0" rIns="0" bIns="0">
                <a:noAutofit/>
              </a:bodyPr>
              <a:lstStyle/>
              <a:p>
                <a:pPr>
                  <a:lnSpc>
                    <a:spcPct val="120000"/>
                  </a:lnSpc>
                </a:pPr>
                <a:r>
                  <a:rPr lang="en-US" sz="1200" dirty="0">
                    <a:effectLst/>
                  </a:rPr>
                  <a:t>Yu et al. used a MA grafted mixture of PEO elastomer and semicrystalline polyolefin plastic (60/40 by weight) (TPEg) as the impact modifier for naylon 6 [659], and amorphous copolyester (PETG) of ethylene glycol, terephthalic acid and 1,4-cyclohexanedimethanol [660]. They developed a reactive extrusion process to toughen an amorphous naylon 6 and PETG. Functionalization of these polymers with MA and preparation of reactive blends carried out in a twin screw extruder with the screw spd and the barrel temperature 240 rpm and 225-245°C, respectively. They found that MA (1.0 wt. %) grafted mixture is very efficient for toughening nylon 6. Morphological observations of these authors showed that the TPEg was dispersed in nylon 6 matrix as a core-shell structure with the semicrystalline polyolefin plastic plastic being the core and the PEO elastomer being the shell. According to the authors, a practical advantage of TPEg as an impact modifier lies in the fact it is cheaper compared with the poly[PEO- </a:t>
                </a:r>
                <a:r>
                  <a:rPr lang="en-US" sz="1200" dirty="0">
                    <a:effectLst/>
                  </a:rPr>
                  <a:t>​</a:t>
                </a:r>
                <a14:m>
                  <m:oMath>
                    <m:r>
                      <m:rPr>
                        <m:sty m:val="i"/>
                      </m:rPr>
                      <a:rPr lang="en-US" sz="1200" dirty="0">
                        <a:solidFill>
                          <a:srgbClr val="000000"/>
                        </a:solidFill>
                        <a:effectLst/>
                      </a:rPr>
                      <m:t>g</m:t>
                    </m:r>
                  </m:oMath>
                </a14:m>
                <a:r>
                  <a:rPr lang="en-US" sz="1200" dirty="0">
                    <a:effectLst/>
                  </a:rPr>
                  <a:t>-MA (1.0 wt. %)] and that it has a higher modulus than the poly(PEO- </a:t>
                </a:r>
                <a:r>
                  <a:rPr lang="en-US" sz="1200" dirty="0">
                    <a:effectLst/>
                  </a:rPr>
                  <a:t>​</a:t>
                </a:r>
                <a14:m>
                  <m:oMath>
                    <m:r>
                      <m:rPr>
                        <m:sty m:val="i"/>
                      </m:rPr>
                      <a:rPr lang="en-US" sz="1200" dirty="0">
                        <a:solidFill>
                          <a:srgbClr val="000000"/>
                        </a:solidFill>
                        <a:effectLst/>
                      </a:rPr>
                      <m:t>g</m:t>
                    </m:r>
                  </m:oMath>
                </a14:m>
                <a:r>
                  <a:rPr lang="en-US" sz="1200" dirty="0">
                    <a:effectLst/>
                  </a:rPr>
                  <a:t>-MA). TPEg also</a:t>
                </a:r>
              </a:p>
            </p:txBody>
          </p:sp>
        </mc:Choice>
        <mc:Fallback/>
      </mc:AlternateContent>
      <p:sp>
        <p:nvSpPr>
          <p:cNvPr id="2" name="Text"/>
          <p:cNvSpPr/>
          <p:nvPr/>
        </p:nvSpPr>
        <p:spPr>
          <a:xfrm>
            <a:off x="1524000" y="2667000"/>
            <a:ext cx="9144000" cy="685800"/>
          </a:xfrm>
          <a:prstGeom prst="rect">
            <a:avLst/>
          </a:prstGeom>
        </p:spPr>
        <p:txBody>
          <a:bodyPr anchor="t" lIns="0" tIns="0" rIns="0" bIns="0">
            <a:noAutofit/>
          </a:bodyPr>
          <a:lstStyle/>
          <a:p>
            <a:pPr>
              <a:lnSpc>
                <a:spcPct val="120000"/>
              </a:lnSpc>
            </a:pPr>
            <a:r>
              <a:rPr lang="en-US" sz="1800" dirty="0" b="1">
                <a:effectLst/>
              </a:rPr>
              <a:t>International Review of Chemical Engineering, volume 3, No 2, March, 2011 Int. Rev.Chem. Eng., 3(2011) 153-215</a:t>
            </a:r>
          </a:p>
        </p:txBody>
      </p:sp>
      <mc:AlternateContent xmlns:mc="http://schemas.openxmlformats.org/markup-compatibility/2006">
        <mc:Choice xmlns:a14="http://schemas.microsoft.com/office/drawing/2010/main" Requires="a14">
          <p:sp>
            <p:nvSpPr>
              <p:cNvPr id="2" name="Text"/>
              <p:cNvSpPr/>
              <p:nvPr/>
            </p:nvSpPr>
            <p:spPr>
              <a:xfrm>
                <a:off x="1524000" y="3542539"/>
                <a:ext cx="9144000" cy="1143000"/>
              </a:xfrm>
              <a:prstGeom prst="rect">
                <a:avLst/>
              </a:prstGeom>
            </p:spPr>
            <p:txBody>
              <a:bodyPr anchor="t" lIns="0" tIns="0" rIns="0" bIns="0">
                <a:noAutofit/>
              </a:bodyPr>
              <a:lstStyle/>
              <a:p>
                <a:pPr>
                  <a:lnSpc>
                    <a:spcPct val="120000"/>
                  </a:lnSpc>
                </a:pPr>
                <a:r>
                  <a:rPr lang="en-US" sz="1200" dirty="0">
                    <a:effectLst/>
                  </a:rPr>
                  <a:t>showed an important toughening effect on the PETG copolyester Authors observed a sharp ductile-brittle transition when the TPEg content was about 10 wt. %. For poly(POE- </a:t>
                </a:r>
                <a:r>
                  <a:rPr lang="en-US" sz="1200" dirty="0">
                    <a:effectLst/>
                  </a:rPr>
                  <a:t>​</a:t>
                </a:r>
                <a14:m>
                  <m:oMath>
                    <m:r>
                      <m:rPr>
                        <m:sty m:val="i"/>
                      </m:rPr>
                      <a:rPr lang="en-US" sz="1200" dirty="0">
                        <a:solidFill>
                          <a:srgbClr val="000000"/>
                        </a:solidFill>
                        <a:effectLst/>
                      </a:rPr>
                      <m:t>g</m:t>
                    </m:r>
                  </m:oMath>
                </a14:m>
                <a:r>
                  <a:rPr lang="en-US" sz="1200" dirty="0">
                    <a:effectLst/>
                  </a:rPr>
                  <a:t>-MA) toughened PETG, the ductile-brittle transition required a higher content in grafted copolymer, ~15 wt. %. According to the authors, extensive shear yielding of the PETG matrix could be seen both in the slow and fast crack-growth regions of the PETG/TPEg (90/10) blend under high magnification, which dissipated a significant amount of impact energy, thereby responsible for the super toughness.</a:t>
                </a:r>
              </a:p>
            </p:txBody>
          </p:sp>
        </mc:Choice>
        <mc:Fallback/>
      </mc:AlternateContent>
      <p:sp>
        <p:nvSpPr>
          <p:cNvPr id="2" name="Text"/>
          <p:cNvSpPr/>
          <p:nvPr/>
        </p:nvSpPr>
        <p:spPr>
          <a:xfrm>
            <a:off x="1524000" y="4837939"/>
            <a:ext cx="9144000" cy="342900"/>
          </a:xfrm>
          <a:prstGeom prst="rect">
            <a:avLst/>
          </a:prstGeom>
        </p:spPr>
        <p:txBody>
          <a:bodyPr anchor="t" lIns="0" tIns="0" rIns="0" bIns="0">
            <a:noAutofit/>
          </a:bodyPr>
          <a:lstStyle/>
          <a:p>
            <a:pPr>
              <a:lnSpc>
                <a:spcPct val="120000"/>
              </a:lnSpc>
            </a:pPr>
            <a:r>
              <a:rPr lang="en-US" sz="1800" dirty="0" b="1">
                <a:effectLst/>
              </a:rPr>
              <a:t>9. Conclusion</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371600"/>
          </a:xfrm>
          <a:prstGeom prst="rect">
            <a:avLst/>
          </a:prstGeom>
        </p:spPr>
        <p:txBody>
          <a:bodyPr anchor="t" lIns="0" tIns="0" rIns="0" bIns="0">
            <a:noAutofit/>
          </a:bodyPr>
          <a:lstStyle/>
          <a:p>
            <a:pPr>
              <a:lnSpc>
                <a:spcPct val="120000"/>
              </a:lnSpc>
            </a:pPr>
            <a:r>
              <a:rPr lang="en-US" sz="1200" dirty="0">
                <a:effectLst/>
              </a:rPr>
              <a:t>This review presents the recent progress in the synthesis and reactive processing of various copolymers of maleic anhydride and its isostructural analogs, as well as new aspects of the sturctural phenomena, uniqie properties and application areas of the high performance engineering materials such as reactive blends and composites prepared predominntly in melt by reactive extrusion system. Results of these investigations are discovered important perspectives for the further development of new generation of functional copolymers-compatibilizers for the reactive blends and engineering materials, especially for the synthesis of functional macromolecular architectures and their nanoengineering and bioengineering applications.</a:t>
            </a:r>
          </a:p>
        </p:txBody>
      </p:sp>
      <p:sp>
        <p:nvSpPr>
          <p:cNvPr id="2" name="Text"/>
          <p:cNvSpPr/>
          <p:nvPr/>
        </p:nvSpPr>
        <p:spPr>
          <a:xfrm>
            <a:off x="1524000" y="1981200"/>
            <a:ext cx="9144000" cy="342900"/>
          </a:xfrm>
          <a:prstGeom prst="rect">
            <a:avLst/>
          </a:prstGeom>
        </p:spPr>
        <p:txBody>
          <a:bodyPr anchor="t" lIns="0" tIns="0" rIns="0" bIns="0">
            <a:noAutofit/>
          </a:bodyPr>
          <a:lstStyle/>
          <a:p>
            <a:pPr>
              <a:lnSpc>
                <a:spcPct val="120000"/>
              </a:lnSpc>
            </a:pPr>
            <a:r>
              <a:rPr lang="en-US" sz="1800" dirty="0" b="1">
                <a:effectLst/>
              </a:rPr>
              <a:t>Acknowledgments</a:t>
            </a:r>
          </a:p>
        </p:txBody>
      </p:sp>
      <p:sp>
        <p:nvSpPr>
          <p:cNvPr id="2" name="Text"/>
          <p:cNvSpPr/>
          <p:nvPr/>
        </p:nvSpPr>
        <p:spPr>
          <a:xfrm>
            <a:off x="1524000" y="2513839"/>
            <a:ext cx="9144000" cy="1143000"/>
          </a:xfrm>
          <a:prstGeom prst="rect">
            <a:avLst/>
          </a:prstGeom>
        </p:spPr>
        <p:txBody>
          <a:bodyPr anchor="t" lIns="0" tIns="0" rIns="0" bIns="0">
            <a:noAutofit/>
          </a:bodyPr>
          <a:lstStyle/>
          <a:p>
            <a:pPr>
              <a:lnSpc>
                <a:spcPct val="120000"/>
              </a:lnSpc>
            </a:pPr>
            <a:r>
              <a:rPr lang="en-US" sz="1200" dirty="0">
                <a:effectLst/>
              </a:rPr>
              <a:t>This review also contains the results of systematic studies on synthesis and characterization of the functional copolymers of maleic anhydride which were carried out according to the Polymer Science and Technology Program of the Institute of Science and Engineering, Division of Nanoscience &amp; Nanomedicine, Hacettepe University. The supports of the Turkish National Scientific and Technical Concil (TÜBITAK) and Hacettepe University Scientific Research Unit through TBAG-HD/249 project are kindly acknowledged.</a:t>
            </a:r>
          </a:p>
        </p:txBody>
      </p:sp>
      <p:sp>
        <p:nvSpPr>
          <p:cNvPr id="2" name="Text"/>
          <p:cNvSpPr/>
          <p:nvPr/>
        </p:nvSpPr>
        <p:spPr>
          <a:xfrm>
            <a:off x="1524000" y="3809239"/>
            <a:ext cx="9144000" cy="342900"/>
          </a:xfrm>
          <a:prstGeom prst="rect">
            <a:avLst/>
          </a:prstGeom>
        </p:spPr>
        <p:txBody>
          <a:bodyPr anchor="t" lIns="0" tIns="0" rIns="0" bIns="0">
            <a:noAutofit/>
          </a:bodyPr>
          <a:lstStyle/>
          <a:p>
            <a:pPr>
              <a:lnSpc>
                <a:spcPct val="120000"/>
              </a:lnSpc>
            </a:pPr>
            <a:r>
              <a:rPr lang="en-US" sz="1800" dirty="0" b="1">
                <a:effectLst/>
              </a:rPr>
              <a:t>References</a:t>
            </a:r>
          </a:p>
        </p:txBody>
      </p:sp>
      <mc:AlternateContent xmlns:mc="http://schemas.openxmlformats.org/markup-compatibility/2006">
        <mc:Choice xmlns:a14="http://schemas.microsoft.com/office/drawing/2010/main" Requires="a14">
          <p:sp>
            <p:nvSpPr>
              <p:cNvPr id="2" name="Text"/>
              <p:cNvSpPr/>
              <p:nvPr/>
            </p:nvSpPr>
            <p:spPr>
              <a:xfrm>
                <a:off x="1524000" y="4341878"/>
                <a:ext cx="9144000" cy="2057400"/>
              </a:xfrm>
              <a:prstGeom prst="rect">
                <a:avLst/>
              </a:prstGeom>
            </p:spPr>
            <p:txBody>
              <a:bodyPr anchor="t" lIns="0" tIns="0" rIns="0" bIns="0">
                <a:noAutofit/>
              </a:bodyPr>
              <a:lstStyle/>
              <a:p>
                <a:pPr lvl="0" indent="-285750" marL="533400">
                  <a:lnSpc>
                    <a:spcPct val="120000"/>
                  </a:lnSpc>
                  <a:buNone/>
                </a:pPr>
                <a:r>
                  <a:rPr lang="en-US" sz="1200" dirty="0">
                    <a:effectLst/>
                  </a:rPr>
                  <a:t>[1] B. G. Trivedi, B. M. Culbertson, Maleic Anhydride (Plenum Press, 1982).</a:t>
                </a:r>
              </a:p>
              <a:p>
                <a:pPr lvl="0" indent="-285750" marL="533400">
                  <a:lnSpc>
                    <a:spcPct val="120000"/>
                  </a:lnSpc>
                  <a:buNone/>
                </a:pPr>
                <a:r>
                  <a:rPr lang="en-US" sz="1200" dirty="0">
                    <a:effectLst/>
                  </a:rPr>
                  <a:t>[2] Z. M. Rzaev, Polymers and Copolymers of Maleic Anhydride (Elm, 1984).</a:t>
                </a:r>
              </a:p>
              <a:p>
                <a:pPr lvl="0" indent="-285750" marL="533400">
                  <a:lnSpc>
                    <a:spcPct val="120000"/>
                  </a:lnSpc>
                  <a:buNone/>
                </a:pPr>
                <a:r>
                  <a:rPr lang="en-US" sz="1200" dirty="0">
                    <a:effectLst/>
                  </a:rPr>
                  <a:t>[3] G. J. M. Cowie, Alternating Copolymers (Plenum Press, 1985).</a:t>
                </a:r>
              </a:p>
              <a:p>
                <a:pPr lvl="0" indent="-285750" marL="533400">
                  <a:lnSpc>
                    <a:spcPct val="120000"/>
                  </a:lnSpc>
                  <a:buNone/>
                </a:pPr>
                <a:r>
                  <a:rPr lang="en-US" sz="1200" dirty="0">
                    <a:effectLst/>
                  </a:rPr>
                  <a:t>[4] B. M. Culbertson, Maleic and Fumaric Polymers (Encycl. Polym. Sci. &amp; Eng. Vol. 9, 1985).</a:t>
                </a:r>
              </a:p>
              <a:p>
                <a:pPr lvl="0" indent="-285750" marL="533400">
                  <a:lnSpc>
                    <a:spcPct val="120000"/>
                  </a:lnSpc>
                  <a:buNone/>
                </a:pPr>
                <a:r>
                  <a:rPr lang="en-US" sz="1200" dirty="0">
                    <a:effectLst/>
                  </a:rPr>
                  <a:t>[5] Z. M. O. Rzayev, S. Dinçer , E. Pişkin, Functional copolymers of </a:t>
                </a:r>
                <a:r>
                  <a:rPr lang="en-US" sz="1200" dirty="0">
                    <a:effectLst/>
                  </a:rPr>
                  <a:t>​</a:t>
                </a:r>
                <a14:m>
                  <m:oMath>
                    <m:r>
                      <m:rPr>
                        <m:sty m:val="i"/>
                      </m:rPr>
                      <a:rPr lang="en-US" sz="1200" dirty="0">
                        <a:solidFill>
                          <a:srgbClr val="000000"/>
                        </a:solidFill>
                        <a:effectLst/>
                      </a:rPr>
                      <m:t>N</m:t>
                    </m:r>
                  </m:oMath>
                </a14:m>
                <a:r>
                  <a:rPr lang="en-US" sz="1200" dirty="0">
                    <a:effectLst/>
                  </a:rPr>
                  <a:t>-isopropyl acrylamide for bioengineering applications, Prog. Polym. Sci. 32 (2007) 534-595.</a:t>
                </a:r>
              </a:p>
              <a:p>
                <a:pPr lvl="0" indent="-285750" marL="533400">
                  <a:lnSpc>
                    <a:spcPct val="120000"/>
                  </a:lnSpc>
                  <a:buNone/>
                </a:pPr>
                <a:r>
                  <a:rPr lang="en-US" sz="1200" dirty="0">
                    <a:effectLst/>
                  </a:rPr>
                  <a:t>[6] G. Kahraman, O. Beşkardeş, Z. M. O. Rzayev, E. Pişkin, Bioengineering functional copolymers. VII. Synthesis and characterization of copolymers of </a:t>
                </a:r>
                <a:r>
                  <a:rPr lang="en-US" sz="1200" dirty="0">
                    <a:effectLst/>
                  </a:rPr>
                  <a:t>​</a:t>
                </a:r>
                <a14:m>
                  <m:oMath>
                    <m:r>
                      <m:rPr>
                        <m:sty m:val="i"/>
                      </m:rPr>
                      <a:rPr lang="en-US" sz="1200" dirty="0">
                        <a:solidFill>
                          <a:srgbClr val="000000"/>
                        </a:solidFill>
                        <a:effectLst/>
                      </a:rPr>
                      <m:t>p</m:t>
                    </m:r>
                  </m:oMath>
                </a14:m>
                <a:r>
                  <a:rPr lang="en-US" sz="1200" dirty="0">
                    <a:effectLst/>
                  </a:rPr>
                  <a:t>-vinylphenyl boronic acid with maleic and citraconic anhydrides and their self-assembled macrobranched supramolecular architectures, Polymer 45 (2004) 5813-5828.</a:t>
                </a:r>
              </a:p>
            </p:txBody>
          </p:sp>
        </mc:Choice>
        <mc:Fallback/>
      </mc:AlternateContent>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5943600"/>
              </a:xfrm>
              <a:prstGeom prst="rect">
                <a:avLst/>
              </a:prstGeom>
            </p:spPr>
            <p:txBody>
              <a:bodyPr anchor="t" lIns="0" tIns="0" rIns="0" bIns="0">
                <a:noAutofit/>
              </a:bodyPr>
              <a:lstStyle/>
              <a:p>
                <a:pPr lvl="0" indent="-285750" marL="533400">
                  <a:lnSpc>
                    <a:spcPct val="120000"/>
                  </a:lnSpc>
                  <a:buNone/>
                </a:pPr>
                <a:r>
                  <a:rPr lang="en-US" sz="1200" dirty="0">
                    <a:effectLst/>
                  </a:rPr>
                  <a:t>[7] S. Kavlak, H. K. Can, A. Güner, Z. M. O. Rzayev, Effect of Ni(II), Cd(II), and Cu(II) metal ions on the ctrystallinity of poly(maleicanhydride-alt-acrylic acid), J. Appl.. Polym. Sci. 2003;90:1708-1715.</a:t>
                </a:r>
              </a:p>
              <a:p>
                <a:pPr lvl="0" indent="-285750" marL="533400">
                  <a:lnSpc>
                    <a:spcPct val="120000"/>
                  </a:lnSpc>
                  <a:buNone/>
                </a:pPr>
                <a:r>
                  <a:rPr lang="en-US" sz="1200" dirty="0">
                    <a:effectLst/>
                  </a:rPr>
                  <a:t>[8] Z. M. O. Rzaev, B. Kırcı-Deniz, H. Deniz, Bioengineering functional copolymers. XI. Copper(II)-poly( </a:t>
                </a:r>
                <a:r>
                  <a:rPr lang="en-US" sz="1200" dirty="0">
                    <a:effectLst/>
                  </a:rPr>
                  <a:t>​</a:t>
                </a:r>
                <a14:m>
                  <m:oMath>
                    <m:r>
                      <m:rPr>
                        <m:sty m:val="i"/>
                      </m:rPr>
                      <a:rPr lang="en-US" sz="1200" dirty="0">
                        <a:solidFill>
                          <a:srgbClr val="000000"/>
                        </a:solidFill>
                        <a:effectLst/>
                      </a:rPr>
                      <m:t>N</m:t>
                    </m:r>
                  </m:oMath>
                </a14:m>
                <a:r>
                  <a:rPr lang="en-US" sz="1200" dirty="0">
                    <a:effectLst/>
                  </a:rPr>
                  <a:t>-vinyl-2-pyrrolidone-co- </a:t>
                </a:r>
                <a:r>
                  <a:rPr lang="en-US" sz="1200" dirty="0">
                    <a:effectLst/>
                  </a:rPr>
                  <a:t>​</a:t>
                </a:r>
                <a14:m>
                  <m:oMath>
                    <m:r>
                      <m:rPr>
                        <m:sty m:val="i"/>
                      </m:rPr>
                      <a:rPr lang="en-US" sz="1200" dirty="0">
                        <a:solidFill>
                          <a:srgbClr val="000000"/>
                        </a:solidFill>
                        <a:effectLst/>
                      </a:rPr>
                      <m:t>N</m:t>
                    </m:r>
                  </m:oMath>
                </a14:m>
                <a:r>
                  <a:rPr lang="en-US" sz="1200" dirty="0">
                    <a:effectLst/>
                  </a:rPr>
                  <a:t> isopropyl acrylamide) macrocomplexes, J. Appl. Polym. Sci. 109 (2008) 903-909.</a:t>
                </a:r>
              </a:p>
              <a:p>
                <a:pPr lvl="0" indent="-285750" marL="533400">
                  <a:lnSpc>
                    <a:spcPct val="120000"/>
                  </a:lnSpc>
                  <a:buNone/>
                </a:pPr>
                <a:r>
                  <a:rPr lang="en-US" sz="1200" dirty="0">
                    <a:effectLst/>
                  </a:rPr>
                  <a:t>[9] D. Demircan, G. Kibarer, A. Güner, Z. M. O. Rzaev, E. Ersoy, The synthesis of poly(MA-alt-NIPA) copolymer, spectroscopic characterization, and the investigation of solubility profile-viscosity behavior, Carbohyd. Polym. 72 (2008) 682-694.</a:t>
                </a:r>
              </a:p>
              <a:p>
                <a:pPr lvl="0" indent="-285750" marL="533400">
                  <a:lnSpc>
                    <a:spcPct val="120000"/>
                  </a:lnSpc>
                  <a:buNone/>
                </a:pPr>
                <a:r>
                  <a:rPr lang="en-US" sz="1200" dirty="0">
                    <a:effectLst/>
                  </a:rPr>
                  <a:t>[10] A. Uzdoğan, Z. M. O. Rzaev, G. Okay, Bioengineering functional copolymers: Synthesis and characterization of ( </a:t>
                </a:r>
                <a:r>
                  <a:rPr lang="en-US" sz="1200" dirty="0">
                    <a:effectLst/>
                  </a:rPr>
                  <a:t>​</a:t>
                </a:r>
                <a14:m>
                  <m:oMath>
                    <m:r>
                      <m:rPr>
                        <m:sty m:val="i"/>
                      </m:rPr>
                      <a:rPr lang="en-US" sz="1200" dirty="0">
                        <a:solidFill>
                          <a:srgbClr val="000000"/>
                        </a:solidFill>
                        <a:effectLst/>
                      </a:rPr>
                      <m:t>N</m:t>
                    </m:r>
                  </m:oMath>
                </a14:m>
                <a:r>
                  <a:rPr lang="en-US" sz="1200" dirty="0">
                    <a:effectLst/>
                  </a:rPr>
                  <a:t>-isopropyl acrylamide-co-3,4-2H-dihydropyran)s, J. Polym. Res. 32 (2007) 534-595.</a:t>
                </a:r>
              </a:p>
              <a:p>
                <a:pPr lvl="0" indent="-285750" marL="533400">
                  <a:lnSpc>
                    <a:spcPct val="120000"/>
                  </a:lnSpc>
                  <a:buNone/>
                </a:pPr>
                <a:r>
                  <a:rPr lang="en-US" sz="1200" dirty="0">
                    <a:effectLst/>
                  </a:rPr>
                  <a:t>[11] S. Dinçer, Z. M. O. Rzaev, E. Pişkin, Synthesis and characterization of poly[( </a:t>
                </a:r>
                <a:r>
                  <a:rPr lang="en-US" sz="1200" dirty="0">
                    <a:effectLst/>
                  </a:rPr>
                  <a:t>​</a:t>
                </a:r>
                <a14:m>
                  <m:oMath>
                    <m:r>
                      <m:rPr>
                        <m:sty m:val="i"/>
                      </m:rPr>
                      <a:rPr lang="en-US" sz="1200" dirty="0">
                        <a:solidFill>
                          <a:srgbClr val="000000"/>
                        </a:solidFill>
                        <a:effectLst/>
                      </a:rPr>
                      <m:t>N</m:t>
                    </m:r>
                  </m:oMath>
                </a14:m>
                <a:r>
                  <a:rPr lang="en-US" sz="1200" dirty="0">
                    <a:effectLst/>
                  </a:rPr>
                  <a:t>-isopropyl acrylamide- </a:t>
                </a:r>
                <a:r>
                  <a:rPr lang="en-US" sz="1200" dirty="0">
                    <a:effectLst/>
                  </a:rPr>
                  <a:t>​</a:t>
                </a:r>
                <a14:m>
                  <m:oMath>
                    <m:r>
                      <m:rPr>
                        <m:sty m:val="i"/>
                      </m:rPr>
                      <a:rPr lang="en-US" sz="1200" dirty="0">
                        <a:solidFill>
                          <a:srgbClr val="000000"/>
                        </a:solidFill>
                        <a:effectLst/>
                      </a:rPr>
                      <m:t>c</m:t>
                    </m:r>
                    <m:r>
                      <m:rPr>
                        <m:sty m:val="i"/>
                      </m:rPr>
                      <a:rPr lang="en-US" sz="1200" dirty="0">
                        <a:solidFill>
                          <a:srgbClr val="000000"/>
                        </a:solidFill>
                        <a:effectLst/>
                      </a:rPr>
                      <m:t>o</m:t>
                    </m:r>
                  </m:oMath>
                </a14:m>
                <a:r>
                  <a:rPr lang="en-US" sz="1200" dirty="0">
                    <a:effectLst/>
                  </a:rPr>
                  <a:t> - </a:t>
                </a:r>
                <a:r>
                  <a:rPr lang="en-US" sz="1200" dirty="0">
                    <a:effectLst/>
                  </a:rPr>
                  <a:t>​</a:t>
                </a:r>
                <a14:m>
                  <m:oMath>
                    <m:r>
                      <m:rPr>
                        <m:sty m:val="i"/>
                      </m:rPr>
                      <a:rPr lang="en-US" sz="1200" dirty="0">
                        <a:solidFill>
                          <a:srgbClr val="000000"/>
                        </a:solidFill>
                        <a:effectLst/>
                      </a:rPr>
                      <m:t>N</m:t>
                    </m:r>
                  </m:oMath>
                </a14:m>
                <a:r>
                  <a:rPr lang="en-US" sz="1200" dirty="0">
                    <a:effectLst/>
                  </a:rPr>
                  <a:t>-vinyl-2-pyrrolidone), J. Polym. Res. 13 (2006) 121-131.</a:t>
                </a:r>
              </a:p>
              <a:p>
                <a:pPr lvl="0" indent="-285750" marL="533400">
                  <a:lnSpc>
                    <a:spcPct val="120000"/>
                  </a:lnSpc>
                  <a:buNone/>
                </a:pPr>
                <a:r>
                  <a:rPr lang="en-US" sz="1200" dirty="0">
                    <a:effectLst/>
                  </a:rPr>
                  <a:t>[12] N. Pekel, Z. M. O. Rzayev, O. Güven, Synthesis and characterization of poly(VI-co-AN) and determination of monomer reactivity ratios, Macromol. Chem. Phys. 205 (2004) 1088-1095.</a:t>
                </a:r>
              </a:p>
              <a:p>
                <a:pPr lvl="0" indent="-285750" marL="533400">
                  <a:lnSpc>
                    <a:spcPct val="120000"/>
                  </a:lnSpc>
                  <a:buNone/>
                </a:pPr>
                <a:r>
                  <a:rPr lang="en-US" sz="1200" dirty="0">
                    <a:effectLst/>
                  </a:rPr>
                  <a:t>[13] H. Mazi, E. Emregül, Z. M. O. Rzaev, G. Kibarer, Preparation and properties of invertase immobilized on a poly(maleic anhydride-alt-hexene-1) membrane, J. Biomater. Sci. Polym. Ed. 17 (2006) 821-835.</a:t>
                </a:r>
              </a:p>
              <a:p>
                <a:pPr lvl="0" indent="-285750" marL="533400">
                  <a:lnSpc>
                    <a:spcPct val="120000"/>
                  </a:lnSpc>
                  <a:buNone/>
                </a:pPr>
                <a:r>
                  <a:rPr lang="en-US" sz="1200" dirty="0">
                    <a:effectLst/>
                  </a:rPr>
                  <a:t>[14] H. Mazi, G. Kibarer, E. Emregül, Z. M. O. Rzaev, bioengineering functional copolymers. IX. Poly[(maleic anhydride-co-hexene-1)-g-poly(ethylene oxide)], Macromol. Biosci. 6 (2006) 311-321.</a:t>
                </a:r>
              </a:p>
              <a:p>
                <a:pPr lvl="0" indent="-285750" marL="533400">
                  <a:lnSpc>
                    <a:spcPct val="120000"/>
                  </a:lnSpc>
                  <a:buNone/>
                </a:pPr>
                <a:r>
                  <a:rPr lang="en-US" sz="1200" dirty="0">
                    <a:effectLst/>
                  </a:rPr>
                  <a:t>[15] S. Kavlak, H. K. Can, Z. M. O. Rzaev, A. Güner, Thermal properties of poly(maleic anhydride-alt-acrylic acid) in the presence of ceptain metal chlorides, J. Appl. Polym. Sci. 100 (2006) 3926-3930.</a:t>
                </a:r>
              </a:p>
              <a:p>
                <a:pPr lvl="0" indent="-285750" marL="533400">
                  <a:lnSpc>
                    <a:spcPct val="120000"/>
                  </a:lnSpc>
                  <a:buNone/>
                </a:pPr>
                <a:r>
                  <a:rPr lang="en-US" sz="1200" dirty="0">
                    <a:effectLst/>
                  </a:rPr>
                  <a:t>[16] E. K. Çimen, Z. M. O. Rzaev, E. Pişkin, Bioengineering functional copolymers. V. Synthesis, LCST, and thermal behavior of poly( </a:t>
                </a:r>
                <a:r>
                  <a:rPr lang="en-US" sz="1200" dirty="0">
                    <a:effectLst/>
                  </a:rPr>
                  <a:t>​</a:t>
                </a:r>
                <a14:m>
                  <m:oMath>
                    <m:r>
                      <m:rPr>
                        <m:sty m:val="i"/>
                      </m:rPr>
                      <a:rPr lang="en-US" sz="1200" dirty="0">
                        <a:solidFill>
                          <a:srgbClr val="000000"/>
                        </a:solidFill>
                        <a:effectLst/>
                      </a:rPr>
                      <m:t>N</m:t>
                    </m:r>
                  </m:oMath>
                </a14:m>
                <a:r>
                  <a:rPr lang="en-US" sz="1200" dirty="0">
                    <a:effectLst/>
                  </a:rPr>
                  <a:t> -isopropyl acrylamide-co-p-vinylphenylboronic acid), J. Appl. Polym. Sci. 95 (2005) 573-582.</a:t>
                </a:r>
              </a:p>
              <a:p>
                <a:pPr lvl="0" indent="-285750" marL="533400">
                  <a:lnSpc>
                    <a:spcPct val="120000"/>
                  </a:lnSpc>
                  <a:buNone/>
                </a:pPr>
                <a:r>
                  <a:rPr lang="en-US" sz="1200" dirty="0">
                    <a:effectLst/>
                  </a:rPr>
                  <a:t>[17] Pekel N, Şahiner N, Güven O, Z. M. O. Rzayev, Synthesis and characterization of </a:t>
                </a:r>
                <a:r>
                  <a:rPr lang="en-US" sz="1200" dirty="0">
                    <a:effectLst/>
                  </a:rPr>
                  <a:t>​</a:t>
                </a:r>
                <a14:m>
                  <m:oMath>
                    <m:r>
                      <m:rPr>
                        <m:sty m:val="i"/>
                      </m:rPr>
                      <a:rPr lang="en-US" sz="1200" dirty="0">
                        <a:solidFill>
                          <a:srgbClr val="000000"/>
                        </a:solidFill>
                        <a:effectLst/>
                      </a:rPr>
                      <m:t>N</m:t>
                    </m:r>
                  </m:oMath>
                </a14:m>
                <a:r>
                  <a:rPr lang="en-US" sz="1200" dirty="0">
                    <a:effectLst/>
                  </a:rPr>
                  <a:t>-imidazole-ethyl methacrylate copolymers and determination of monomer reactivity ratios, Eur. Polym. J. 37 (2001) 2443-2451.</a:t>
                </a:r>
              </a:p>
              <a:p>
                <a:pPr lvl="0" indent="-285750" marL="533400">
                  <a:lnSpc>
                    <a:spcPct val="120000"/>
                  </a:lnSpc>
                  <a:buNone/>
                </a:pPr>
                <a:r>
                  <a:rPr lang="en-US" sz="1200" dirty="0">
                    <a:effectLst/>
                  </a:rPr>
                  <a:t>[18] Barsbay M, Can HK, Rzaev ZMO, Güner A. Design and properties of new functional water-soluble polymer of citraconic anhydride(CA) and related copolymers, Polym. Bull. 53 (2005) 305-314.</a:t>
                </a:r>
              </a:p>
              <a:p>
                <a:pPr lvl="0" indent="-285750" marL="533400">
                  <a:lnSpc>
                    <a:spcPct val="120000"/>
                  </a:lnSpc>
                  <a:buNone/>
                </a:pPr>
                <a:r>
                  <a:rPr lang="en-US" sz="1200" dirty="0">
                    <a:effectLst/>
                  </a:rPr>
                  <a:t>[19] S. Dinçer, V. Köşeli, H. Kesim, Z. M. O. Rzaev, E. Pişkin, Radical copolymerization of </a:t>
                </a:r>
                <a:r>
                  <a:rPr lang="en-US" sz="1200" dirty="0">
                    <a:effectLst/>
                  </a:rPr>
                  <a:t>​</a:t>
                </a:r>
                <a14:m>
                  <m:oMath>
                    <m:r>
                      <m:rPr>
                        <m:sty m:val="i"/>
                      </m:rPr>
                      <a:rPr lang="en-US" sz="1200" dirty="0">
                        <a:solidFill>
                          <a:srgbClr val="000000"/>
                        </a:solidFill>
                        <a:effectLst/>
                      </a:rPr>
                      <m:t>N</m:t>
                    </m:r>
                  </m:oMath>
                </a14:m>
                <a:r>
                  <a:rPr lang="en-US" sz="1200" dirty="0">
                    <a:effectLst/>
                  </a:rPr>
                  <a:t>-isopropylacrylamide with anhydrides of maleic and citraconic acids, Eur. Polym. J. 38 (2002) 2143-2152.</a:t>
                </a:r>
              </a:p>
            </p:txBody>
          </p:sp>
        </mc:Choice>
        <mc:Fallback/>
      </mc:AlternateContent>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cNvSpPr/>
              <p:nvPr/>
            </p:nvSpPr>
            <p:spPr>
              <a:xfrm>
                <a:off x="1524000" y="457200"/>
                <a:ext cx="9144000" cy="3200400"/>
              </a:xfrm>
              <a:prstGeom prst="rect">
                <a:avLst/>
              </a:prstGeom>
            </p:spPr>
            <p:txBody>
              <a:bodyPr anchor="t" lIns="0" tIns="0" rIns="0" bIns="0">
                <a:noAutofit/>
              </a:bodyPr>
              <a:lstStyle/>
              <a:p>
                <a:pPr lvl="0" indent="-285750" marL="533400">
                  <a:lnSpc>
                    <a:spcPct val="120000"/>
                  </a:lnSpc>
                  <a:buNone/>
                </a:pPr>
                <a:r>
                  <a:rPr lang="en-US" sz="1200" dirty="0">
                    <a:effectLst/>
                  </a:rPr>
                  <a:t>[20] D. Fles, R. Vukovic, Free-radical-initiated polymerization of 6maleimidocholesterylhexanoate and 4- maleimidocholesterylbenzoate and copolymrization with </a:t>
                </a:r>
                <a:r>
                  <a:rPr lang="en-US" sz="1200" dirty="0">
                    <a:effectLst/>
                  </a:rPr>
                  <a:t>​</a:t>
                </a:r>
                <a14:m>
                  <m:oMath>
                    <m:r>
                      <m:rPr>
                        <m:sty m:val="i"/>
                      </m:rPr>
                      <a:rPr lang="en-US" sz="1200" dirty="0">
                        <a:solidFill>
                          <a:srgbClr val="000000"/>
                        </a:solidFill>
                        <a:effectLst/>
                      </a:rPr>
                      <m:t>α</m:t>
                    </m:r>
                  </m:oMath>
                </a14:m>
                <a:r>
                  <a:rPr lang="en-US" sz="1200" dirty="0">
                    <a:effectLst/>
                  </a:rPr>
                  <a:t> methylstyrene, J. Macromol. Sci. Part A:Pure Appl. Chem. 32 (1995) 1461-1469.</a:t>
                </a:r>
              </a:p>
              <a:p>
                <a:pPr lvl="0" indent="-285750" marL="533400">
                  <a:lnSpc>
                    <a:spcPct val="120000"/>
                  </a:lnSpc>
                  <a:buNone/>
                </a:pPr>
                <a:r>
                  <a:rPr lang="en-US" sz="1200" dirty="0">
                    <a:effectLst/>
                  </a:rPr>
                  <a:t>[21] M. N. Teerenstra, D. R. Suwier, B. Van Mele, L. Teuwen, M. Maassen, H. J. Van Den Berg, C. E. Koning, Flexibilized styrene-N-substituted maleimide copolymers. I. Multiblock copolymers prepared from styrene/ maleimide telechekics and polytetrahydrofuran, J. Polym. Sci. Part A: Polym. Chem. 38 (2000) 3550-3557.</a:t>
                </a:r>
              </a:p>
              <a:p>
                <a:pPr lvl="0" indent="-285750" marL="533400">
                  <a:lnSpc>
                    <a:spcPct val="120000"/>
                  </a:lnSpc>
                  <a:buNone/>
                </a:pPr>
                <a:r>
                  <a:rPr lang="en-US" sz="1200" dirty="0">
                    <a:effectLst/>
                  </a:rPr>
                  <a:t>[22] A. Solanki, V. Anand, V. Choudhary, I. K. Varma, Effect of structure on thermal behavior of homopolymers and copolymers of itaconimides, Polym. Rev. 41 (2001) 253-284.</a:t>
                </a:r>
              </a:p>
              <a:p>
                <a:pPr lvl="0" indent="-285750" marL="533400">
                  <a:lnSpc>
                    <a:spcPct val="120000"/>
                  </a:lnSpc>
                  <a:buNone/>
                </a:pPr>
                <a:r>
                  <a:rPr lang="en-US" sz="1200" dirty="0">
                    <a:effectLst/>
                  </a:rPr>
                  <a:t>[23] J. Jiang, X. Q. Jia, Y. Pang , J. L. Huang, Alternating copolymerization of maleimide and ethyl atropate without initiator, </a:t>
                </a:r>
                <a:r>
                  <a:rPr lang="en-US" sz="1200" dirty="0">
                    <a:effectLst/>
                  </a:rPr>
                  <a:t>​</a:t>
                </a:r>
                <a14:m>
                  <m:oMath>
                    <m:r>
                      <m:rPr>
                        <m:sty m:val="i"/>
                      </m:rPr>
                      <a:rPr lang="en-US" sz="1200" dirty="0">
                        <a:solidFill>
                          <a:srgbClr val="000000"/>
                        </a:solidFill>
                        <a:effectLst/>
                      </a:rPr>
                      <m:t>J</m:t>
                    </m:r>
                  </m:oMath>
                </a14:m>
                <a:r>
                  <a:rPr lang="en-US" sz="1200" dirty="0">
                    <a:effectLst/>
                  </a:rPr>
                  <a:t>. Macromol. Sci. Part A :Pure Appl. Chem, 35 (1998) 781-792.</a:t>
                </a:r>
              </a:p>
              <a:p>
                <a:pPr lvl="0" indent="-285750" marL="533400">
                  <a:lnSpc>
                    <a:spcPct val="120000"/>
                  </a:lnSpc>
                  <a:buNone/>
                </a:pPr>
                <a:r>
                  <a:rPr lang="en-US" sz="1200" dirty="0">
                    <a:effectLst/>
                  </a:rPr>
                  <a:t>[24] C.-S. Cui, C.-G. Wang, Y. Zhao, J. Monomer reactivity ratios for acrylonitrile ammonium itaconate during aqueous-deposited copolymerization initiated by mmonium persulfate, Appl. Polym. Sci. 100 (2006) 4645-4648.</a:t>
                </a:r>
              </a:p>
              <a:p>
                <a:pPr lvl="0" indent="-285750" marL="533400">
                  <a:lnSpc>
                    <a:spcPct val="120000"/>
                  </a:lnSpc>
                  <a:buNone/>
                </a:pPr>
                <a:r>
                  <a:rPr lang="en-US" sz="1200" dirty="0">
                    <a:effectLst/>
                  </a:rPr>
                  <a:t>[25] I. Woecht, G. Schmidt-Naaka, Free radical copolymerization of methyl methacrylate and </a:t>
                </a:r>
                <a:r>
                  <a:rPr lang="en-US" sz="1200" dirty="0">
                    <a:effectLst/>
                  </a:rPr>
                  <a:t>​</a:t>
                </a:r>
                <a14:m>
                  <m:oMath>
                    <m:r>
                      <m:rPr>
                        <m:sty m:val="i"/>
                      </m:rPr>
                      <a:rPr lang="en-US" sz="1200" dirty="0">
                        <a:solidFill>
                          <a:srgbClr val="000000"/>
                        </a:solidFill>
                        <a:effectLst/>
                      </a:rPr>
                      <m:t>N</m:t>
                    </m:r>
                  </m:oMath>
                </a14:m>
                <a:r>
                  <a:rPr lang="en-US" sz="1200" dirty="0">
                    <a:effectLst/>
                  </a:rPr>
                  <a:t>-phenylmaleimide in 1-butyl-3-methylimidazolium tetrafluoroborate, Macromol. Symp. 275-276 (2009) 219-229.</a:t>
                </a:r>
              </a:p>
            </p:txBody>
          </p:sp>
        </mc:Choice>
        <mc:Fallback/>
      </mc:AlternateContent>
      <p:sp>
        <p:nvSpPr>
          <p:cNvPr id="2" name="Text"/>
          <p:cNvSpPr/>
          <p:nvPr/>
        </p:nvSpPr>
        <p:spPr>
          <a:xfrm>
            <a:off x="1524000" y="3810000"/>
            <a:ext cx="9144000" cy="685800"/>
          </a:xfrm>
          <a:prstGeom prst="rect">
            <a:avLst/>
          </a:prstGeom>
        </p:spPr>
        <p:txBody>
          <a:bodyPr anchor="t" lIns="0" tIns="0" rIns="0" bIns="0">
            <a:noAutofit/>
          </a:bodyPr>
          <a:lstStyle/>
          <a:p>
            <a:pPr>
              <a:lnSpc>
                <a:spcPct val="120000"/>
              </a:lnSpc>
            </a:pPr>
            <a:r>
              <a:rPr lang="en-US" sz="1800" dirty="0" b="1">
                <a:effectLst/>
              </a:rPr>
              <a:t>International Review of Chemical Engineering, volume 3, No 2, March, 2011 Int. Rev.Chem. Eng., 3(2011) 153-215</a:t>
            </a:r>
          </a:p>
        </p:txBody>
      </p:sp>
      <p:sp>
        <p:nvSpPr>
          <p:cNvPr id="2" name="Text"/>
          <p:cNvSpPr/>
          <p:nvPr/>
        </p:nvSpPr>
        <p:spPr>
          <a:xfrm>
            <a:off x="1524000" y="4685539"/>
            <a:ext cx="9144000" cy="1600200"/>
          </a:xfrm>
          <a:prstGeom prst="rect">
            <a:avLst/>
          </a:prstGeom>
        </p:spPr>
        <p:txBody>
          <a:bodyPr anchor="t" lIns="0" tIns="0" rIns="0" bIns="0">
            <a:noAutofit/>
          </a:bodyPr>
          <a:lstStyle/>
          <a:p>
            <a:pPr lvl="0" indent="-285750" marL="533400">
              <a:lnSpc>
                <a:spcPct val="120000"/>
              </a:lnSpc>
              <a:buNone/>
            </a:pPr>
            <a:r>
              <a:rPr lang="en-US" sz="1200" dirty="0">
                <a:effectLst/>
              </a:rPr>
              <a:t>[26] M. Menges, G. Schmidt-Naaka, Effect of molecular structure and composition on rheological behaviour of (methyl methacrylate-Nphenyl maleimide) copolymers, Polymer 40 (1999) 1271-1277.</a:t>
            </a:r>
          </a:p>
          <a:p>
            <a:pPr lvl="0" indent="-285750" marL="533400">
              <a:lnSpc>
                <a:spcPct val="120000"/>
              </a:lnSpc>
              <a:buNone/>
            </a:pPr>
            <a:r>
              <a:rPr lang="en-US" sz="1200" dirty="0">
                <a:effectLst/>
              </a:rPr>
              <a:t>[27] Z. M. O. Rzaev, Complex-radical alternating copolymerization, Prog. Polym. Sci. 25 (2000) 163-217.</a:t>
            </a:r>
          </a:p>
          <a:p>
            <a:pPr lvl="0" indent="-285750" marL="533400">
              <a:lnSpc>
                <a:spcPct val="120000"/>
              </a:lnSpc>
              <a:buNone/>
            </a:pPr>
            <a:r>
              <a:rPr lang="en-US" sz="1200" dirty="0">
                <a:effectLst/>
              </a:rPr>
              <a:t>[28] B. K. Denizli, H. K. Can, Z. M. O. Rzaev, A. Güner, Synthesis of copolymers of tert-butyl vinyl ether with maleic and citraconic anhydrides, J. Appl. Polym. Sci. 100 (2006) 2453-2463.</a:t>
            </a:r>
          </a:p>
          <a:p>
            <a:pPr lvl="0" indent="-285750" marL="533400">
              <a:lnSpc>
                <a:spcPct val="120000"/>
              </a:lnSpc>
              <a:buNone/>
            </a:pPr>
            <a:r>
              <a:rPr lang="en-US" sz="1200" dirty="0">
                <a:effectLst/>
              </a:rPr>
              <a:t>[29] Z. M. Rzayev, R. V. Dzhafarov, D. S. Ibrahimova, M. N. Masterova, V. P. Zubov, Some peculiarities of radical copolymerization of allyl monomers with maleic anhydride, Polym. Sci. USSR B24 (1982) 728-731.</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5943600"/>
              </a:xfrm>
              <a:prstGeom prst="rect">
                <a:avLst/>
              </a:prstGeom>
            </p:spPr>
            <p:txBody>
              <a:bodyPr anchor="t" lIns="0" tIns="0" rIns="0" bIns="0">
                <a:noAutofit/>
              </a:bodyPr>
              <a:lstStyle/>
              <a:p>
                <a:pPr lvl="0" indent="-285750" marL="533400">
                  <a:lnSpc>
                    <a:spcPct val="120000"/>
                  </a:lnSpc>
                  <a:buNone/>
                </a:pPr>
                <a:r>
                  <a:rPr lang="en-US" sz="1200" dirty="0">
                    <a:effectLst/>
                  </a:rPr>
                  <a:t>[30] G. Gülden, Z. M. O. Rzaev, Synthesis and characterization of copolymers of </a:t>
                </a:r>
                <a:r>
                  <a:rPr lang="en-US" sz="1200" dirty="0">
                    <a:effectLst/>
                  </a:rPr>
                  <a:t>​</a:t>
                </a:r>
                <a14:m>
                  <m:oMath>
                    <m:r>
                      <m:rPr>
                        <m:sty m:val="i"/>
                      </m:rPr>
                      <a:rPr lang="en-US" sz="1200" dirty="0">
                        <a:solidFill>
                          <a:srgbClr val="000000"/>
                        </a:solidFill>
                        <a:effectLst/>
                      </a:rPr>
                      <m:t>N</m:t>
                    </m:r>
                  </m:oMath>
                </a14:m>
                <a:r>
                  <a:rPr lang="en-US" sz="1200" dirty="0">
                    <a:effectLst/>
                  </a:rPr>
                  <a:t>-vinyl-2pyrrolidone with isotructural analogues of maleic anhydride. Polym. Bull. 60 (2008) 741-752.</a:t>
                </a:r>
              </a:p>
              <a:p>
                <a:pPr lvl="0" indent="-285750" marL="533400">
                  <a:lnSpc>
                    <a:spcPct val="120000"/>
                  </a:lnSpc>
                  <a:buNone/>
                </a:pPr>
                <a:r>
                  <a:rPr lang="en-US" sz="1200" dirty="0">
                    <a:effectLst/>
                  </a:rPr>
                  <a:t>[31] V. A. Kabanov, V. P. Zubov, Y. D. Semchikov, Complex-Radical Polymerization (Russian) (Chemistry, 1987).</a:t>
                </a:r>
              </a:p>
              <a:p>
                <a:pPr lvl="0" indent="-285750" marL="533400">
                  <a:lnSpc>
                    <a:spcPct val="120000"/>
                  </a:lnSpc>
                  <a:buNone/>
                </a:pPr>
                <a:r>
                  <a:rPr lang="en-US" sz="1200" dirty="0">
                    <a:effectLst/>
                  </a:rPr>
                  <a:t>[32] H. A. A. El-Rehim, T. B. Mostafa, A. El-Monem Bashindy, Radiation synthesis and charcterization of maleic anhydride/acrylic acid copolymers and their heterocyclic compound derivatives for possible uses as antibacterial agents, J. Macromol. Sci. Part A: Pure Appl. Chem. 42 (2005) 853-867.</a:t>
                </a:r>
              </a:p>
              <a:p>
                <a:pPr lvl="0" indent="-285750" marL="533400">
                  <a:lnSpc>
                    <a:spcPct val="120000"/>
                  </a:lnSpc>
                  <a:buNone/>
                </a:pPr>
                <a:r>
                  <a:rPr lang="en-US" sz="1200" dirty="0">
                    <a:effectLst/>
                  </a:rPr>
                  <a:t>[33] H. K. Can, Z. M. O. Rzaev, A. Güner, Hydrogen (H)-complex ormation of maleic anhydride-acrylic acid (methyl acrylate) monomer system, J. Molecul. Liq. 111(2004) 77-84.</a:t>
                </a:r>
              </a:p>
              <a:p>
                <a:pPr lvl="0" indent="-285750" marL="533400">
                  <a:lnSpc>
                    <a:spcPct val="120000"/>
                  </a:lnSpc>
                  <a:buNone/>
                </a:pPr>
                <a:r>
                  <a:rPr lang="en-US" sz="1200" dirty="0">
                    <a:effectLst/>
                  </a:rPr>
                  <a:t>[34] S. Şenel, Z. M. O. Rzaev, E. Pişkin, Copolymerization of </a:t>
                </a:r>
                <a:r>
                  <a:rPr lang="en-US" sz="1200" dirty="0">
                    <a:effectLst/>
                  </a:rPr>
                  <a:t>​</a:t>
                </a:r>
                <a14:m>
                  <m:oMath>
                    <m:r>
                      <m:rPr>
                        <m:sty m:val="i"/>
                      </m:rPr>
                      <a:rPr lang="en-US" sz="1200" dirty="0">
                        <a:solidFill>
                          <a:srgbClr val="000000"/>
                        </a:solidFill>
                        <a:effectLst/>
                      </a:rPr>
                      <m:t>N</m:t>
                    </m:r>
                  </m:oMath>
                </a14:m>
                <a:r>
                  <a:rPr lang="en-US" sz="1200" dirty="0">
                    <a:effectLst/>
                  </a:rPr>
                  <a:t> phenylmaleimide with 2-hydroxyethyl- and ethyl methacrylates, Polym. Int. 52 (2003) 713-721.</a:t>
                </a:r>
              </a:p>
              <a:p>
                <a:pPr lvl="0" indent="-285750" marL="533400">
                  <a:lnSpc>
                    <a:spcPct val="120000"/>
                  </a:lnSpc>
                  <a:buNone/>
                </a:pPr>
                <a:r>
                  <a:rPr lang="en-US" sz="1200" dirty="0">
                    <a:effectLst/>
                  </a:rPr>
                  <a:t>[35] Z. M. Rzayev, I. P. Zeynalov, L. V. Medyakova, A. I. Babaev, M. M. Agaev, On the mechanism of radical copolymerization of maleic anhydride with trans-stilbene, Polym. Sci. USSR A23 (1981) 689-695.</a:t>
                </a:r>
              </a:p>
              <a:p>
                <a:pPr lvl="0" indent="-285750" marL="533400">
                  <a:lnSpc>
                    <a:spcPct val="120000"/>
                  </a:lnSpc>
                  <a:buNone/>
                </a:pPr>
                <a:r>
                  <a:rPr lang="en-US" sz="1200" dirty="0">
                    <a:effectLst/>
                  </a:rPr>
                  <a:t>[36] N. Sh. Rasulov, Z. M. Rzaev, V. P. Zubov, Effect of complexformation in the radical copolymerization of some vinyl ketones with maleic anhydride, Polym. Sci. USSR A25 (1983) 723-1730.</a:t>
                </a:r>
              </a:p>
              <a:p>
                <a:pPr lvl="0" indent="-285750" marL="533400">
                  <a:lnSpc>
                    <a:spcPct val="120000"/>
                  </a:lnSpc>
                  <a:buNone/>
                </a:pPr>
                <a:r>
                  <a:rPr lang="en-US" sz="1200" dirty="0">
                    <a:effectLst/>
                  </a:rPr>
                  <a:t>[37] Z. M. O. Rzaev, N. Sh. Rasulov, L. V. Medyakova, N. Y. Lezgiev, E. Y. Kuliyeva, V. P. Zubov, Effect of keto-enol tautomerizm in complexation and radical copolymerization of vinyl-cyclohexyl ketones with maleic acid derivatives, Polym. Sci. USSR A29 (1987) 540-549.</a:t>
                </a:r>
              </a:p>
              <a:p>
                <a:pPr lvl="0" indent="-285750" marL="533400">
                  <a:lnSpc>
                    <a:spcPct val="120000"/>
                  </a:lnSpc>
                  <a:buNone/>
                </a:pPr>
                <a:r>
                  <a:rPr lang="en-US" sz="1200" dirty="0">
                    <a:effectLst/>
                  </a:rPr>
                  <a:t>[38] S. G. Mamedova, N. S. Rasulov, Z. M. Rzaev, Alternating copolymeri- zation of maleic anhydride with allyl chloroacetate, J. Polym. Sci. Part A: Polym.Chem. 25 (1987) 711-717.</a:t>
                </a:r>
              </a:p>
              <a:p>
                <a:pPr lvl="0" indent="-285750" marL="533400">
                  <a:lnSpc>
                    <a:spcPct val="120000"/>
                  </a:lnSpc>
                  <a:buNone/>
                </a:pPr>
                <a:r>
                  <a:rPr lang="en-US" sz="1200" dirty="0">
                    <a:effectLst/>
                  </a:rPr>
                  <a:t>[39] Z. M. O. Rzaev, H. Milli, G. Akovalı, Complex-radical alternating copolymer of trans-stilbene with </a:t>
                </a:r>
                <a:r>
                  <a:rPr lang="en-US" sz="1200" dirty="0">
                    <a:effectLst/>
                  </a:rPr>
                  <a:t>​</a:t>
                </a:r>
                <a14:m>
                  <m:oMath>
                    <m:r>
                      <m:rPr>
                        <m:sty m:val="i"/>
                      </m:rPr>
                      <a:rPr lang="en-US" sz="1200" dirty="0">
                        <a:solidFill>
                          <a:srgbClr val="000000"/>
                        </a:solidFill>
                        <a:effectLst/>
                      </a:rPr>
                      <m:t>N</m:t>
                    </m:r>
                  </m:oMath>
                </a14:m>
                <a:r>
                  <a:rPr lang="en-US" sz="1200" dirty="0">
                    <a:effectLst/>
                  </a:rPr>
                  <a:t>-substituted maleimides, Polym. Int. 41 (1996) 259-265.</a:t>
                </a:r>
              </a:p>
              <a:p>
                <a:pPr lvl="0" indent="-285750" marL="533400">
                  <a:lnSpc>
                    <a:spcPct val="120000"/>
                  </a:lnSpc>
                  <a:buNone/>
                </a:pPr>
                <a:r>
                  <a:rPr lang="en-US" sz="1200" dirty="0">
                    <a:effectLst/>
                  </a:rPr>
                  <a:t>[40] Z. M. O. Rzaev, U. Salamova, G. Akovalı, Complex-radical copolymerization of 2,4,4-trimethyl-pentene-1 with maleic anhydride, Eur. Polym. J. 34 (1998) 981-985.</a:t>
                </a:r>
              </a:p>
              <a:p>
                <a:pPr lvl="0" indent="-285750" marL="533400">
                  <a:lnSpc>
                    <a:spcPct val="120000"/>
                  </a:lnSpc>
                  <a:buNone/>
                </a:pPr>
                <a:r>
                  <a:rPr lang="en-US" sz="1200" dirty="0">
                    <a:effectLst/>
                  </a:rPr>
                  <a:t>[41] G. E. Ham, Copolymerization (Interpublishers Science, John Wiley, 1964).</a:t>
                </a:r>
              </a:p>
              <a:p>
                <a:pPr lvl="0" indent="-285750" marL="533400">
                  <a:lnSpc>
                    <a:spcPct val="120000"/>
                  </a:lnSpc>
                  <a:buNone/>
                </a:pPr>
                <a:r>
                  <a:rPr lang="en-US" sz="1200" dirty="0">
                    <a:effectLst/>
                  </a:rPr>
                  <a:t>[42] G. E. Ham, Terpolymer relationships and azeotropes, J. Macromol. Sci.. Part A : Pure Appl. Chem. 28 (1991), 733-742.</a:t>
                </a:r>
              </a:p>
              <a:p>
                <a:pPr lvl="0" indent="-285750" marL="533400">
                  <a:lnSpc>
                    <a:spcPct val="120000"/>
                  </a:lnSpc>
                  <a:buNone/>
                </a:pPr>
                <a:r>
                  <a:rPr lang="en-US" sz="1200" dirty="0">
                    <a:effectLst/>
                  </a:rPr>
                  <a:t>[43] M. Ratzsch, O. Vogl, Radical copolymerization of donor-acceptor monommers, Prog. Polym. Sci, 16 (1991) 279-301.</a:t>
                </a:r>
              </a:p>
            </p:txBody>
          </p:sp>
        </mc:Choice>
        <mc:Fallback/>
      </mc:AlternateContent>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cNvSpPr/>
              <p:nvPr/>
            </p:nvSpPr>
            <p:spPr>
              <a:xfrm>
                <a:off x="1524000" y="457200"/>
                <a:ext cx="9144000" cy="5943600"/>
              </a:xfrm>
              <a:prstGeom prst="rect">
                <a:avLst/>
              </a:prstGeom>
            </p:spPr>
            <p:txBody>
              <a:bodyPr anchor="t" lIns="0" tIns="0" rIns="0" bIns="0">
                <a:noAutofit/>
              </a:bodyPr>
              <a:lstStyle/>
              <a:p>
                <a:pPr lvl="0" indent="-285750" marL="533400">
                  <a:lnSpc>
                    <a:spcPct val="120000"/>
                  </a:lnSpc>
                  <a:buNone/>
                </a:pPr>
                <a:r>
                  <a:rPr lang="en-US" sz="1200" dirty="0">
                    <a:effectLst/>
                  </a:rPr>
                  <a:t>[44] M. Baştürkmen, Z. M. O. Rzaev, G. Akovalı, D. Kısakürek, Complex-radical terpolymerization of phenanthrene, maleic anhydride, and trans- stilbene, J. Polym. Sci. Part A: Polym. Chem. 33 (1995) 7-13.</a:t>
                </a:r>
              </a:p>
              <a:p>
                <a:pPr lvl="0" indent="-285750" marL="533400">
                  <a:lnSpc>
                    <a:spcPct val="120000"/>
                  </a:lnSpc>
                  <a:buNone/>
                </a:pPr>
                <a:r>
                  <a:rPr lang="en-US" sz="1200" dirty="0">
                    <a:effectLst/>
                  </a:rPr>
                  <a:t>[45] Z. M. O. Rzaev, L. V. Medyakova M. A. Mamedova, G. Akovali, Complex-radical terpolymerization of maleic anhydride, transstilbene and N-phenylmaleimide, Macromol. Chem. Phys. 196 (1995) 1999-2009.</a:t>
                </a:r>
              </a:p>
              <a:p>
                <a:pPr lvl="0" indent="-285750" marL="533400">
                  <a:lnSpc>
                    <a:spcPct val="120000"/>
                  </a:lnSpc>
                  <a:buNone/>
                </a:pPr>
                <a:r>
                  <a:rPr lang="en-US" sz="1200" dirty="0">
                    <a:effectLst/>
                  </a:rPr>
                  <a:t>[46] H. Yürük, Z. M.O. Rzaev, G.Akovalı, Complex-radical terpolymeri za-tion of allylglycidyl ether, maleic anhydride and methyl methacrylate. Design of self-crosslinking macromolecules, J. Polym.. Sci. Part A: Polym.. Chem. 33 (1995) 1447-1454.</a:t>
                </a:r>
              </a:p>
              <a:p>
                <a:pPr lvl="0" indent="-285750" marL="533400">
                  <a:lnSpc>
                    <a:spcPct val="120000"/>
                  </a:lnSpc>
                  <a:buNone/>
                </a:pPr>
                <a:r>
                  <a:rPr lang="en-US" sz="1200" dirty="0">
                    <a:effectLst/>
                  </a:rPr>
                  <a:t>[47] Medyakova LV, Rzaev ZMO, Mamedova MA, Mamedov SM. Ternary copolymerization of maleic anhydride, trans-stilbene and hexene-1, Polym. Sci. 41 (1999) 2339-2345.</a:t>
                </a:r>
              </a:p>
              <a:p>
                <a:pPr lvl="0" indent="-285750" marL="533400">
                  <a:lnSpc>
                    <a:spcPct val="120000"/>
                  </a:lnSpc>
                  <a:buNone/>
                </a:pPr>
                <a:r>
                  <a:rPr lang="en-US" sz="1200" dirty="0">
                    <a:effectLst/>
                  </a:rPr>
                  <a:t>[48] L. V. Medyakova, S. M. Mamedov, A. M. Garamanov, Z. M. Rzaev, Radical copolymerization of trans-stilbene, maleic anhydride and 1-heptene, Polym. Sci. B41 (1999) 6-11.</a:t>
                </a:r>
              </a:p>
              <a:p>
                <a:pPr lvl="0" indent="-285750" marL="533400">
                  <a:lnSpc>
                    <a:spcPct val="120000"/>
                  </a:lnSpc>
                  <a:buNone/>
                </a:pPr>
                <a:r>
                  <a:rPr lang="en-US" sz="1200" dirty="0">
                    <a:effectLst/>
                  </a:rPr>
                  <a:t>[49] Z. M. O. Rzaev, Complex-radical terpolymerization of glycidyl (methyl) methacrylates, styrene and maleic anhydride. Journal of J. Polym. Sci. Part A: Polym. Chem. 37 (1999) 1095-1102.</a:t>
                </a:r>
              </a:p>
              <a:p>
                <a:pPr lvl="0" indent="-285750" marL="533400">
                  <a:lnSpc>
                    <a:spcPct val="120000"/>
                  </a:lnSpc>
                  <a:buNone/>
                </a:pPr>
                <a:r>
                  <a:rPr lang="en-US" sz="1200" dirty="0">
                    <a:effectLst/>
                  </a:rPr>
                  <a:t>[50] L. V. Medyakova, Z. M. O. Rzaev, A. Güner, G. Kibarer, Complex-radical terpolymerization of acceptor-donor-acceptor systems: maleic anhydride ( </a:t>
                </a:r>
                <a:r>
                  <a:rPr lang="en-US" sz="1200" dirty="0">
                    <a:effectLst/>
                  </a:rPr>
                  <a:t>​</a:t>
                </a:r>
                <a14:m>
                  <m:oMath>
                    <m:r>
                      <m:rPr>
                        <m:sty m:val="i"/>
                      </m:rPr>
                      <a:rPr lang="en-US" sz="1200" dirty="0">
                        <a:solidFill>
                          <a:srgbClr val="000000"/>
                        </a:solidFill>
                        <a:effectLst/>
                      </a:rPr>
                      <m:t>n</m:t>
                    </m:r>
                  </m:oMath>
                </a14:m>
                <a:r>
                  <a:rPr lang="en-US" sz="1200" dirty="0">
                    <a:effectLst/>
                  </a:rPr>
                  <a:t>-butyl methacrylate)-styreneacrylonitrile, J. Polym. Sci. Part A: Polym..Chem. 38 (2000) 2652-2662.</a:t>
                </a:r>
              </a:p>
              <a:p>
                <a:pPr lvl="0" indent="-285750" marL="533400">
                  <a:lnSpc>
                    <a:spcPct val="120000"/>
                  </a:lnSpc>
                  <a:buNone/>
                </a:pPr>
                <a:r>
                  <a:rPr lang="en-US" sz="1200" dirty="0">
                    <a:effectLst/>
                  </a:rPr>
                  <a:t>[51] A. Keramopoulos, C. Kiparissides, Mathematical modelling of diffusion-controlled free-radical terpolymerization reactions, J. Appl. Polym. Sci., 88 (2003) 161-176.</a:t>
                </a:r>
              </a:p>
              <a:p>
                <a:pPr lvl="0" indent="-285750" marL="533400">
                  <a:lnSpc>
                    <a:spcPct val="120000"/>
                  </a:lnSpc>
                  <a:buNone/>
                </a:pPr>
                <a:r>
                  <a:rPr lang="en-US" sz="1200" dirty="0">
                    <a:effectLst/>
                  </a:rPr>
                  <a:t>[52] J. R. Ebdon, C. R. Towns, On the role of monomer-monomer complexes in alternating radical copolymerizations: the case of styrene and maleic anhydride, Polym. Rev. 26 (1986) 523-550.</a:t>
                </a:r>
              </a:p>
              <a:p>
                <a:pPr lvl="0" indent="-285750" marL="533400">
                  <a:lnSpc>
                    <a:spcPct val="120000"/>
                  </a:lnSpc>
                  <a:buNone/>
                </a:pPr>
                <a:r>
                  <a:rPr lang="en-US" sz="1200" dirty="0">
                    <a:effectLst/>
                  </a:rPr>
                  <a:t>[53] D. Braun, H. Elsasser, Free radical terpolymerization of three nonhomopolymerizable monomers. 2. Terpolymerization of </a:t>
                </a:r>
                <a:r>
                  <a:rPr lang="en-US" sz="1200" dirty="0">
                    <a:effectLst/>
                  </a:rPr>
                  <a:t>​</a:t>
                </a:r>
                <a14:m>
                  <m:oMath>
                    <m:r>
                      <m:rPr>
                        <m:sty m:val="i"/>
                      </m:rPr>
                      <a:rPr lang="en-US" sz="1200" dirty="0">
                        <a:solidFill>
                          <a:srgbClr val="000000"/>
                        </a:solidFill>
                        <a:effectLst/>
                      </a:rPr>
                      <m:t>N</m:t>
                    </m:r>
                  </m:oMath>
                </a14:m>
                <a:r>
                  <a:rPr lang="en-US" sz="1200" dirty="0">
                    <a:effectLst/>
                  </a:rPr>
                  <a:t> -ethylmaleimide, anethol and trans-stilbene, Macromol. Chem. Phys, 201(2000) 2103-2219.</a:t>
                </a:r>
              </a:p>
              <a:p>
                <a:pPr lvl="0" indent="-285750" marL="533400">
                  <a:lnSpc>
                    <a:spcPct val="120000"/>
                  </a:lnSpc>
                  <a:buNone/>
                </a:pPr>
                <a:r>
                  <a:rPr lang="en-US" sz="1200" dirty="0">
                    <a:effectLst/>
                  </a:rPr>
                  <a:t>[54] Z. M. O. Rzaev, A. Güner, Synthesis and reactions of selfcrosslinkable epoxy- and anhydride-containing macromolecules. Polym. Int. 50 (2001) 185-193.</a:t>
                </a:r>
              </a:p>
              <a:p>
                <a:pPr lvl="0" indent="-285750" marL="533400">
                  <a:lnSpc>
                    <a:spcPct val="120000"/>
                  </a:lnSpc>
                  <a:buNone/>
                </a:pPr>
                <a:r>
                  <a:rPr lang="en-US" sz="1200" dirty="0">
                    <a:effectLst/>
                  </a:rPr>
                  <a:t>[55] M. Türk, Z. M. O. Rzayev, A. S. Khalilova, Bioengineering functional copolymers. XIV. Synthesis and interaction of </a:t>
                </a:r>
                <a:r>
                  <a:rPr lang="en-US" sz="1200" dirty="0">
                    <a:effectLst/>
                  </a:rPr>
                  <a:t>​</a:t>
                </a:r>
                <a14:m>
                  <m:oMath>
                    <m:r>
                      <m:rPr>
                        <m:sty m:val="p"/>
                      </m:rPr>
                      <a:rPr lang="en-US" sz="1200" dirty="0">
                        <a:solidFill>
                          <a:srgbClr val="000000"/>
                        </a:solidFill>
                        <a:effectLst/>
                      </a:rPr>
                      <m:t>poly</m:t>
                    </m:r>
                    <m:r>
                      <m:rPr>
                        <m:sty m:val="p"/>
                      </m:rPr>
                      <a:rPr lang="en-US" sz="1200" dirty="0">
                        <a:solidFill>
                          <a:srgbClr val="000000"/>
                        </a:solidFill>
                        <a:effectLst/>
                      </a:rPr>
                      <m:t>(</m:t>
                    </m:r>
                    <m:r>
                      <m:rPr>
                        <m:sty m:val="i"/>
                      </m:rPr>
                      <a:rPr lang="en-US" sz="1200" dirty="0">
                        <a:solidFill>
                          <a:srgbClr val="000000"/>
                        </a:solidFill>
                        <a:effectLst/>
                      </a:rPr>
                      <m:t>N</m:t>
                    </m:r>
                    <m:r>
                      <m:rPr>
                        <m:sty m:val="p"/>
                      </m:rPr>
                      <a:rPr lang="en-US" sz="1200" dirty="0">
                        <a:solidFill>
                          <a:srgbClr val="000000"/>
                        </a:solidFill>
                        <a:effectLst/>
                      </a:rPr>
                      <m:t>−</m:t>
                    </m:r>
                  </m:oMath>
                </a14:m>
                <a:r>
                  <a:rPr lang="en-US" sz="1200" dirty="0">
                    <a:effectLst/>
                  </a:rPr>
                  <a:t> isopropyl acryl-mide-co-3,4-dihydro-2H-pyran-alt-maleic anhydride)s with SCLC cancer cells. Bioorg. Med. Chem. 18 (2010) 7975-7984.</a:t>
                </a:r>
              </a:p>
            </p:txBody>
          </p:sp>
        </mc:Choice>
        <mc:Fallback/>
      </mc:AlternateContent>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
              <p:cNvSpPr/>
              <p:nvPr/>
            </p:nvSpPr>
            <p:spPr>
              <a:xfrm>
                <a:off x="1524000" y="457200"/>
                <a:ext cx="9144000" cy="5715000"/>
              </a:xfrm>
              <a:prstGeom prst="rect">
                <a:avLst/>
              </a:prstGeom>
            </p:spPr>
            <p:txBody>
              <a:bodyPr anchor="t" lIns="0" tIns="0" rIns="0" bIns="0">
                <a:noAutofit/>
              </a:bodyPr>
              <a:lstStyle/>
              <a:p>
                <a:pPr lvl="0" indent="-285750" marL="533400">
                  <a:lnSpc>
                    <a:spcPct val="120000"/>
                  </a:lnSpc>
                  <a:buNone/>
                </a:pPr>
                <a:r>
                  <a:rPr lang="en-US" sz="1200" dirty="0">
                    <a:effectLst/>
                  </a:rPr>
                  <a:t>[56] Z. M.O. Rzayev, M. Türk, A. Uzgören, Bioengineering functional copolymers. XV. Synthesis and characterization of </a:t>
                </a:r>
                <a:r>
                  <a:rPr lang="en-US" sz="1200" dirty="0">
                    <a:effectLst/>
                  </a:rPr>
                  <a:t>​</a:t>
                </a:r>
                <a14:m>
                  <m:oMath>
                    <m:r>
                      <m:rPr>
                        <m:sty m:val="p"/>
                      </m:rPr>
                      <a:rPr lang="en-US" sz="1200" dirty="0">
                        <a:solidFill>
                          <a:srgbClr val="000000"/>
                        </a:solidFill>
                        <a:effectLst/>
                      </a:rPr>
                      <m:t>poly</m:t>
                    </m:r>
                    <m:r>
                      <m:rPr>
                        <m:sty m:val="p"/>
                      </m:rPr>
                      <a:rPr lang="en-US" sz="1200" dirty="0">
                        <a:solidFill>
                          <a:srgbClr val="000000"/>
                        </a:solidFill>
                        <a:effectLst/>
                      </a:rPr>
                      <m:t>(</m:t>
                    </m:r>
                    <m:r>
                      <m:rPr>
                        <m:sty m:val="i"/>
                      </m:rPr>
                      <a:rPr lang="en-US" sz="1200" dirty="0">
                        <a:solidFill>
                          <a:srgbClr val="000000"/>
                        </a:solidFill>
                        <a:effectLst/>
                      </a:rPr>
                      <m:t>N</m:t>
                    </m:r>
                    <m:r>
                      <m:rPr>
                        <m:sty m:val="p"/>
                      </m:rPr>
                      <a:rPr lang="en-US" sz="1200" dirty="0">
                        <a:solidFill>
                          <a:srgbClr val="000000"/>
                        </a:solidFill>
                        <a:effectLst/>
                      </a:rPr>
                      <m:t>−</m:t>
                    </m:r>
                  </m:oMath>
                </a14:m>
                <a:r>
                  <a:rPr lang="en-US" sz="1200" dirty="0">
                    <a:effectLst/>
                  </a:rPr>
                  <a:t> isopropyl acrylamide-co-3,4-dihydro-2H-pyran-alt-maleic anhydrides)s and their PEO branched derivatives, J. Polym. Sci. Part A: Polym. Chem. 48 (2010) 4285-4295.</a:t>
                </a:r>
              </a:p>
              <a:p>
                <a:pPr lvl="0" indent="-285750" marL="533400">
                  <a:lnSpc>
                    <a:spcPct val="120000"/>
                  </a:lnSpc>
                  <a:buNone/>
                </a:pPr>
                <a:r>
                  <a:rPr lang="en-US" sz="1200" dirty="0">
                    <a:effectLst/>
                  </a:rPr>
                  <a:t>[57] Y. Devrim , Z. M. O. Rzaev, E. Pişkin, Physically and chemically cross-linkedpoly{[(maleic anhydride-alt-styrene)]-co-(2-acrylamido-2-methyl-1 propanesulfonic acid)/poly(ethylene glycol) protonexchange membranes, Macromol. Chem. Phys. 208 (2007) 175-187.</a:t>
                </a:r>
              </a:p>
              <a:p>
                <a:pPr lvl="0" indent="-285750" marL="533400">
                  <a:lnSpc>
                    <a:spcPct val="120000"/>
                  </a:lnSpc>
                  <a:buNone/>
                </a:pPr>
                <a:r>
                  <a:rPr lang="en-US" sz="1200" dirty="0">
                    <a:effectLst/>
                  </a:rPr>
                  <a:t>[58] Y. Devrim , Z. M. O. Rzaev, E. Pişkin, Synthesis and characterization of poly[(maleic anhydride-alt-styrene)-co-2-acrylamido-2-methyl-1-propanesulfonic acid], Macromol. Chem. Phys. 207 (2006) 111-121.</a:t>
                </a:r>
              </a:p>
              <a:p>
                <a:pPr lvl="0" indent="-285750" marL="533400">
                  <a:lnSpc>
                    <a:spcPct val="120000"/>
                  </a:lnSpc>
                  <a:buNone/>
                </a:pPr>
                <a:r>
                  <a:rPr lang="en-US" sz="1200" dirty="0">
                    <a:effectLst/>
                  </a:rPr>
                  <a:t>[59] H. K. Can , A. L. Doğan, Z. M. O. Rzaev, A. H. Uner, A. Güner, Synthesis, characterization, and antitumor activity of poly(maleic anhydride-co-vinylacetate-co-acrylic acid), J. Appl. Polym. Sci. 100 (2006) 3425-3432.</a:t>
                </a:r>
              </a:p>
              <a:p>
                <a:pPr lvl="0" indent="-285750" marL="533400">
                  <a:lnSpc>
                    <a:spcPct val="120000"/>
                  </a:lnSpc>
                  <a:buNone/>
                </a:pPr>
                <a:r>
                  <a:rPr lang="en-US" sz="1200" dirty="0">
                    <a:effectLst/>
                  </a:rPr>
                  <a:t>[60] D. Braun, F. Hu, Polymers from non-homopolymerizble monomers by free radical processes, Prog. Polym. Sci. 31 (2006) 239-276.</a:t>
                </a:r>
              </a:p>
              <a:p>
                <a:pPr lvl="0" indent="-285750" marL="533400">
                  <a:lnSpc>
                    <a:spcPct val="120000"/>
                  </a:lnSpc>
                  <a:buNone/>
                </a:pPr>
                <a:r>
                  <a:rPr lang="en-US" sz="1200" dirty="0">
                    <a:effectLst/>
                  </a:rPr>
                  <a:t>[61] Z. M. O. Rzaev, A. Güner, G. Kibarer, H. K. Can, A. Aşıcı, Terpoly- merization of maleic anhydride, trans-stilbene and acrylic monomers, Eur. Polym. J. 38 (2002) 1245-1254.</a:t>
                </a:r>
              </a:p>
              <a:p>
                <a:pPr lvl="0" indent="-285750" marL="533400">
                  <a:lnSpc>
                    <a:spcPct val="120000"/>
                  </a:lnSpc>
                  <a:buNone/>
                </a:pPr>
                <a:r>
                  <a:rPr lang="en-US" sz="1200" dirty="0">
                    <a:effectLst/>
                  </a:rPr>
                  <a:t>[62] Z. M. O. Rzaev, Complex-radical terpolymerization of glycidyl (methyl) methacrylates, styrene and maleic anhydride. J. Polym. Sci. Part A: Polym.. Chem. 37( 1999) 1095-1102.</a:t>
                </a:r>
              </a:p>
              <a:p>
                <a:pPr lvl="0" indent="-285750" marL="533400">
                  <a:lnSpc>
                    <a:spcPct val="120000"/>
                  </a:lnSpc>
                  <a:buNone/>
                </a:pPr>
                <a:r>
                  <a:rPr lang="en-US" sz="1200" dirty="0">
                    <a:effectLst/>
                  </a:rPr>
                  <a:t>[63] Z. M. O. Rzayev, M. Turk, A. Uzgoren,. Bioengineering functional copolymers.XV. Synthesis and characterization of poly(Nisopropyl acrylamide-co-3,4-dihydro-2H-pyran-alt-maleic anhydride)s and their PEO branched derivatives, J. Polym. Sci. Part A: Polym. Chem. 48 (2010) 4285-4295.</a:t>
                </a:r>
              </a:p>
              <a:p>
                <a:pPr lvl="0" indent="-285750" marL="533400">
                  <a:lnSpc>
                    <a:spcPct val="120000"/>
                  </a:lnSpc>
                  <a:buNone/>
                </a:pPr>
                <a:r>
                  <a:rPr lang="en-US" sz="1200" dirty="0">
                    <a:effectLst/>
                  </a:rPr>
                  <a:t>[64] J. Gao, A. Penlidis, A comprehensive simulator/database package for bulk/solution free-radical terpolymerizations, Macromol. Chem. Phys. 201 (2000) 1176-1184.</a:t>
                </a:r>
              </a:p>
              <a:p>
                <a:pPr lvl="0" indent="-285750" marL="533400">
                  <a:lnSpc>
                    <a:spcPct val="120000"/>
                  </a:lnSpc>
                  <a:buNone/>
                </a:pPr>
                <a:r>
                  <a:rPr lang="en-US" sz="1200" dirty="0">
                    <a:effectLst/>
                  </a:rPr>
                  <a:t>[65] S. Iwatsuki, T. Itoh, T. Sato, Terpolymerization of two acceptor monomers and a common donor monomer: reactivity of alternating copolymerization, Macromolecules 19 (1986) 1800-1803.</a:t>
                </a:r>
              </a:p>
              <a:p>
                <a:pPr lvl="0" indent="-285750" marL="533400">
                  <a:lnSpc>
                    <a:spcPct val="120000"/>
                  </a:lnSpc>
                  <a:buNone/>
                </a:pPr>
                <a:r>
                  <a:rPr lang="en-US" sz="1200" dirty="0">
                    <a:effectLst/>
                  </a:rPr>
                  <a:t>[65] D. Braun, F. Hu, Free radical terpolymerization of three non-homopolymerizable monomers. Part IV. Terpolymerization of maleic anhydride, trans-anethole and vinyl-iso-butylether, Polymer 45 (2004) 61-70.</a:t>
                </a:r>
              </a:p>
            </p:txBody>
          </p:sp>
        </mc:Choice>
        <mc:Fallback/>
      </mc:AlternateContent>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6" name="Text"/>
          <p:cNvSpPr/>
          <p:nvPr/>
        </p:nvSpPr>
        <p:spPr>
          <a:xfrm>
            <a:off x="1524000" y="457200"/>
            <a:ext cx="9144000" cy="457200"/>
          </a:xfrm>
          <a:prstGeom prst="rect">
            <a:avLst/>
          </a:prstGeom>
        </p:spPr>
        <p:txBody>
          <a:bodyPr anchor="t" lIns="0" tIns="0" rIns="0" bIns="0">
            <a:noAutofit/>
          </a:bodyPr>
          <a:lstStyle/>
          <a:p>
            <a:pPr lvl="0" indent="-285750" marL="533400">
              <a:lnSpc>
                <a:spcPct val="120000"/>
              </a:lnSpc>
              <a:buNone/>
            </a:pPr>
            <a:r>
              <a:rPr lang="en-US" sz="1200" dirty="0">
                <a:effectLst/>
              </a:rPr>
              <a:t>[67] A. K. Srivastava, M. Kamal, M. Kaur, S. Pandey, N. Daniel, A. K. Chaurasia, P. Pandey, Terpolymerization: A Review, J. Polym.</a:t>
            </a:r>
          </a:p>
        </p:txBody>
      </p:sp>
      <p:sp>
        <p:nvSpPr>
          <p:cNvPr id="2" name="Text"/>
          <p:cNvSpPr/>
          <p:nvPr/>
        </p:nvSpPr>
        <p:spPr>
          <a:xfrm>
            <a:off x="1524000" y="1066800"/>
            <a:ext cx="9144000" cy="685800"/>
          </a:xfrm>
          <a:prstGeom prst="rect">
            <a:avLst/>
          </a:prstGeom>
        </p:spPr>
        <p:txBody>
          <a:bodyPr anchor="t" lIns="0" tIns="0" rIns="0" bIns="0">
            <a:noAutofit/>
          </a:bodyPr>
          <a:lstStyle/>
          <a:p>
            <a:pPr>
              <a:lnSpc>
                <a:spcPct val="120000"/>
              </a:lnSpc>
            </a:pPr>
            <a:r>
              <a:rPr lang="en-US" sz="1800" dirty="0" b="1">
                <a:effectLst/>
              </a:rPr>
              <a:t>International Review of Chemical Engineering, volume 3, No 2, March, 2011 Int. Rev.Chem. Eng., 3(2011) 153-215</a:t>
            </a:r>
          </a:p>
        </p:txBody>
      </p:sp>
      <mc:AlternateContent xmlns:mc="http://schemas.openxmlformats.org/markup-compatibility/2006">
        <mc:Choice xmlns:a14="http://schemas.microsoft.com/office/drawing/2010/main" Requires="a14">
          <p:sp>
            <p:nvSpPr>
              <p:cNvPr id="2" name="Text"/>
              <p:cNvSpPr/>
              <p:nvPr/>
            </p:nvSpPr>
            <p:spPr>
              <a:xfrm>
                <a:off x="1524000" y="1942339"/>
                <a:ext cx="9144000" cy="4114800"/>
              </a:xfrm>
              <a:prstGeom prst="rect">
                <a:avLst/>
              </a:prstGeom>
            </p:spPr>
            <p:txBody>
              <a:bodyPr anchor="t" lIns="0" tIns="0" rIns="0" bIns="0">
                <a:noAutofit/>
              </a:bodyPr>
              <a:lstStyle/>
              <a:p>
                <a:pPr>
                  <a:lnSpc>
                    <a:spcPct val="120000"/>
                  </a:lnSpc>
                </a:pPr>
                <a:r>
                  <a:rPr lang="en-US" sz="1200" dirty="0">
                    <a:effectLst/>
                  </a:rPr>
                  <a:t>Res. 9 (2002) 213-220.</a:t>
                </a:r>
                <a:br>
                  <a:rPr lang="en-US" sz="1200" dirty="0"/>
                </a:br>
                <a:r>
                  <a:rPr lang="en-US" sz="1200" dirty="0">
                    <a:effectLst/>
                  </a:rPr>
                  <a:t> [68] G. Butler, Cyclopolymerization and Cyclocopolymerization (Marcel Dekker Inc., 1992).</a:t>
                </a:r>
                <a:br>
                  <a:rPr lang="en-US" sz="1200" dirty="0"/>
                </a:br>
                <a:r>
                  <a:rPr lang="en-US" sz="1200" dirty="0">
                    <a:effectLst/>
                  </a:rPr>
                  <a:t> [69] Z. M. Rzaev, K. I. Gurbanov, S. G. Mamedova, M/ M/ Guseinov, G. S. Sharifov, Principles of radical copolymerization of tri- </a:t>
                </a:r>
                <a:r>
                  <a:rPr lang="en-US" sz="1200" dirty="0">
                    <a:effectLst/>
                  </a:rPr>
                  <a:t>​</a:t>
                </a:r>
                <a14:m>
                  <m:oMath>
                    <m:r>
                      <m:rPr>
                        <m:sty m:val="i"/>
                      </m:rPr>
                      <a:rPr lang="en-US" sz="1200" dirty="0">
                        <a:solidFill>
                          <a:srgbClr val="000000"/>
                        </a:solidFill>
                        <a:effectLst/>
                      </a:rPr>
                      <m:t>n</m:t>
                    </m:r>
                  </m:oMath>
                </a14:m>
                <a:r>
                  <a:rPr lang="en-US" sz="1200" dirty="0">
                    <a:effectLst/>
                  </a:rPr>
                  <a:t> butylstannyl- allyl maleate and monoallyl maleate with styrene, Polym. Sci. USSR A26 (1984) 818-825.</a:t>
                </a:r>
                <a:br>
                  <a:rPr lang="en-US" sz="1200" dirty="0"/>
                </a:br>
                <a:r>
                  <a:rPr lang="en-US" sz="1200" dirty="0">
                    <a:effectLst/>
                  </a:rPr>
                  <a:t> [70] S. G. Mamedova, Z. M. Rzaev, K. I. Gurbanov, Mechanism of complex-radical copolymerization of maleic anhydride with monoallyl- and tri- </a:t>
                </a:r>
                <a:r>
                  <a:rPr lang="en-US" sz="1200" dirty="0">
                    <a:effectLst/>
                  </a:rPr>
                  <a:t>​</a:t>
                </a:r>
                <a14:m>
                  <m:oMath>
                    <m:r>
                      <m:rPr>
                        <m:sty m:val="i"/>
                      </m:rPr>
                      <a:rPr lang="en-US" sz="1200" dirty="0">
                        <a:solidFill>
                          <a:srgbClr val="000000"/>
                        </a:solidFill>
                        <a:effectLst/>
                      </a:rPr>
                      <m:t>n</m:t>
                    </m:r>
                  </m:oMath>
                </a14:m>
                <a:r>
                  <a:rPr lang="en-US" sz="1200" dirty="0">
                    <a:effectLst/>
                  </a:rPr>
                  <a:t>-butylstannylallyl maleates, Polym. Sci. USSR A28 (1986) 843-851.</a:t>
                </a:r>
                <a:br>
                  <a:rPr lang="en-US" sz="1200" dirty="0"/>
                </a:br>
                <a:r>
                  <a:rPr lang="en-US" sz="1200" dirty="0">
                    <a:effectLst/>
                  </a:rPr>
                  <a:t> [71] Z. M. O. Rzaev, G. Akovalı, E. Y. Kuliyeva, N. Y. Lezgiev, Complex-radical copolymerization of vinylcyclohexyl ketones with maleic anhydride and </a:t>
                </a:r>
                <a:r>
                  <a:rPr lang="en-US" sz="1200" dirty="0">
                    <a:effectLst/>
                  </a:rPr>
                  <a:t>​</a:t>
                </a:r>
                <a14:m>
                  <m:oMath>
                    <m:r>
                      <m:rPr>
                        <m:sty m:val="i"/>
                      </m:rPr>
                      <a:rPr lang="en-US" sz="1200" dirty="0">
                        <a:solidFill>
                          <a:srgbClr val="000000"/>
                        </a:solidFill>
                        <a:effectLst/>
                      </a:rPr>
                      <m:t>N</m:t>
                    </m:r>
                  </m:oMath>
                </a14:m>
                <a:r>
                  <a:rPr lang="en-US" sz="1200" dirty="0">
                    <a:effectLst/>
                  </a:rPr>
                  <a:t> - </a:t>
                </a:r>
                <a:r>
                  <a:rPr lang="en-US" sz="1200" dirty="0">
                    <a:effectLst/>
                  </a:rPr>
                  <a:t>​</a:t>
                </a:r>
                <a14:m>
                  <m:oMath>
                    <m:r>
                      <m:rPr>
                        <m:sty m:val="i"/>
                      </m:rPr>
                      <a:rPr lang="en-US" sz="1200" dirty="0">
                        <a:solidFill>
                          <a:srgbClr val="000000"/>
                        </a:solidFill>
                        <a:effectLst/>
                      </a:rPr>
                      <m:t>p</m:t>
                    </m:r>
                  </m:oMath>
                </a14:m>
                <a:r>
                  <a:rPr lang="en-US" sz="1200" dirty="0">
                    <a:effectLst/>
                  </a:rPr>
                  <a:t>-tolylmaleimide, Eurasian Chem. Technol. J. 1 (1999) 17-31.</a:t>
                </a:r>
                <a:br>
                  <a:rPr lang="en-US" sz="1200" dirty="0"/>
                </a:br>
                <a:r>
                  <a:rPr lang="en-US" sz="1200" dirty="0">
                    <a:effectLst/>
                  </a:rPr>
                  <a:t> [72] S. G. Mamedova, Z. M. Rzaev, G. A. Yusifov, F. B. Rustamov, Effect of intermolecular coordination in radical alternating cyclocopolymerization of di- </a:t>
                </a:r>
                <a:r>
                  <a:rPr lang="en-US" sz="1200" dirty="0">
                    <a:effectLst/>
                  </a:rPr>
                  <a:t>​</a:t>
                </a:r>
                <a14:m>
                  <m:oMath>
                    <m:r>
                      <m:rPr>
                        <m:sty m:val="i"/>
                      </m:rPr>
                      <a:rPr lang="en-US" sz="1200" dirty="0">
                        <a:solidFill>
                          <a:srgbClr val="000000"/>
                        </a:solidFill>
                        <a:effectLst/>
                      </a:rPr>
                      <m:t>n</m:t>
                    </m:r>
                  </m:oMath>
                </a14:m>
                <a:r>
                  <a:rPr lang="en-US" sz="1200" dirty="0">
                    <a:effectLst/>
                  </a:rPr>
                  <a:t>-butylstannyldimethacrylate with vinyl acetate, Polym. Sci. USSR A30 (1988) 282-288.</a:t>
                </a:r>
                <a:br>
                  <a:rPr lang="en-US" sz="1200" dirty="0"/>
                </a:br>
                <a:r>
                  <a:rPr lang="en-US" sz="1200" dirty="0">
                    <a:effectLst/>
                  </a:rPr>
                  <a:t> [73] Z. M. Rzaev, S. G. Mamedova, G. A. Yusifov, F. B. Rustamov, Complex radical copolymerization of di- </a:t>
                </a:r>
                <a:r>
                  <a:rPr lang="en-US" sz="1200" dirty="0">
                    <a:effectLst/>
                  </a:rPr>
                  <a:t>​</a:t>
                </a:r>
                <a14:m>
                  <m:oMath>
                    <m:r>
                      <m:rPr>
                        <m:sty m:val="i"/>
                      </m:rPr>
                      <a:rPr lang="en-US" sz="1200" dirty="0">
                        <a:solidFill>
                          <a:srgbClr val="000000"/>
                        </a:solidFill>
                        <a:effectLst/>
                      </a:rPr>
                      <m:t>n</m:t>
                    </m:r>
                  </m:oMath>
                </a14:m>
                <a:r>
                  <a:rPr lang="en-US" sz="1200" dirty="0">
                    <a:effectLst/>
                  </a:rPr>
                  <a:t>-butylstannyl dimethacrylate with maleic anhydride, Polym.. Sci. Part A: Polym.. Chem. 26 (1988) 849-857.</a:t>
                </a:r>
                <a:br>
                  <a:rPr lang="en-US" sz="1200" dirty="0"/>
                </a:br>
                <a:r>
                  <a:rPr lang="en-US" sz="1200" dirty="0">
                    <a:effectLst/>
                  </a:rPr>
                  <a:t> [74] S. G. Mamedova, S. A. Rzayeva, L. V. Medyakova, Z. M. O. Rzayev, Cis-trans isomeric effect in complex-radical copolymerization of methylallyl maleates (fumarates), Polym. Sci. USSR A33 (1991) 1959-1966.</a:t>
                </a:r>
                <a:br>
                  <a:rPr lang="en-US" sz="1200" dirty="0"/>
                </a:br>
                <a:r>
                  <a:rPr lang="en-US" sz="1200" dirty="0">
                    <a:effectLst/>
                  </a:rPr>
                  <a:t> [75] S. G. Mamedova, A. S. Mamedov, L. V. Medyakova, Z. M. O. Rzayev, Complex-radical cyclocopolymerization of allyl (metha)-acrylates with donor-acceptor comonomers, Polym. Sci. USSR A33 (1991) 1945-1951.</a:t>
                </a:r>
                <a:br>
                  <a:rPr lang="en-US" sz="1200" dirty="0"/>
                </a:br>
                <a:r>
                  <a:rPr lang="en-US" sz="1200" dirty="0">
                    <a:effectLst/>
                  </a:rPr>
                  <a:t> [76] Z. M. Rzaev, L. V. Medyakova, G. Kibarer, G. Akovali, Complexradicalcopolymerization of allyl cinnamate with styrene, Macromolecules 27 (1994) 6292-6296.</a:t>
                </a:r>
              </a:p>
            </p:txBody>
          </p:sp>
        </mc:Choice>
        <mc:Fallback/>
      </mc:AlternateContent>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5943600"/>
              </a:xfrm>
              <a:prstGeom prst="rect">
                <a:avLst/>
              </a:prstGeom>
            </p:spPr>
            <p:txBody>
              <a:bodyPr anchor="t" lIns="0" tIns="0" rIns="0" bIns="0">
                <a:noAutofit/>
              </a:bodyPr>
              <a:lstStyle/>
              <a:p>
                <a:pPr>
                  <a:lnSpc>
                    <a:spcPct val="120000"/>
                  </a:lnSpc>
                </a:pPr>
                <a:r>
                  <a:rPr lang="en-US" sz="1200" dirty="0">
                    <a:effectLst/>
                  </a:rPr>
                  <a:t> [77] Z. M. Rzaev, G. Akovali , L. V. Medyakova, Alternating copolymerization of allyl trans-cinnamate and maleic anhydride, Polymer 35 (1994) 5349-5354.</a:t>
                </a:r>
                <a:br>
                  <a:rPr lang="en-US" sz="1200" dirty="0"/>
                </a:br>
                <a:r>
                  <a:rPr lang="en-US" sz="1200" dirty="0">
                    <a:effectLst/>
                  </a:rPr>
                  <a:t> [78] Z. M. O. Rzaev, U. Salamova, Complex-radical cyclocopoly merization of allyl- </a:t>
                </a:r>
                <a:r>
                  <a:rPr lang="en-US" sz="1200" dirty="0">
                    <a:effectLst/>
                  </a:rPr>
                  <a:t>​</a:t>
                </a:r>
                <a14:m>
                  <m:oMath>
                    <m:r>
                      <m:rPr>
                        <m:sty m:val="i"/>
                      </m:rPr>
                      <a:rPr lang="en-US" sz="1200" dirty="0">
                        <a:solidFill>
                          <a:srgbClr val="000000"/>
                        </a:solidFill>
                        <a:effectLst/>
                      </a:rPr>
                      <m:t>α</m:t>
                    </m:r>
                  </m:oMath>
                </a14:m>
                <a:r>
                  <a:rPr lang="en-US" sz="1200" dirty="0">
                    <a:effectLst/>
                  </a:rPr>
                  <a:t>-( </a:t>
                </a:r>
                <a:r>
                  <a:rPr lang="en-US" sz="1200" dirty="0">
                    <a:effectLst/>
                  </a:rPr>
                  <a:t>​</a:t>
                </a:r>
                <a14:m>
                  <m:oMath>
                    <m:r>
                      <m:rPr>
                        <m:sty m:val="i"/>
                      </m:rPr>
                      <a:rPr lang="en-US" sz="1200" dirty="0">
                        <a:solidFill>
                          <a:srgbClr val="000000"/>
                        </a:solidFill>
                        <a:effectLst/>
                      </a:rPr>
                      <m:t>N</m:t>
                    </m:r>
                  </m:oMath>
                </a14:m>
                <a:r>
                  <a:rPr lang="en-US" sz="1200" dirty="0">
                    <a:effectLst/>
                  </a:rPr>
                  <a:t>-maleimido)-acetate with styrene and maleic anhydride, Macromol. Chem. Phys. 198 (1997) 2475-2487.</a:t>
                </a:r>
                <a:br>
                  <a:rPr lang="en-US" sz="1200" dirty="0"/>
                </a:br>
                <a:r>
                  <a:rPr lang="en-US" sz="1200" dirty="0">
                    <a:effectLst/>
                  </a:rPr>
                  <a:t> [79] Z. M.O. Rzaev, G. Akovalı, U. Salamova, Effect of complexformation and cyclization in radical copolymerization of allyl (metha)acrylates with maleic anhydride, Polym. Sci. Part A: Polym.. Chem. 36 (1998) 1501-1508.</a:t>
                </a:r>
                <a:br>
                  <a:rPr lang="en-US" sz="1200" dirty="0"/>
                </a:br>
                <a:r>
                  <a:rPr lang="en-US" sz="1200" dirty="0">
                    <a:effectLst/>
                  </a:rPr>
                  <a:t> [80] S. Jönsson, D. Yang, K. Viswanathan, E. Shier, K. D. Belfield, Photoinitiated photopolymerization (ACS Symposium Ser. Vol. 847, 2003, p.76).</a:t>
                </a:r>
                <a:br>
                  <a:rPr lang="en-US" sz="1200" dirty="0"/>
                </a:br>
                <a:r>
                  <a:rPr lang="en-US" sz="1200" dirty="0">
                    <a:effectLst/>
                  </a:rPr>
                  <a:t> [81] C. Decker, C. Bianchi, Photocrosslinking a maleimide functionalized polymethacrylate, Polym. Int. 52 (2003) 722-732.</a:t>
                </a:r>
                <a:br>
                  <a:rPr lang="en-US" sz="1200" dirty="0"/>
                </a:br>
                <a:r>
                  <a:rPr lang="en-US" sz="1200" dirty="0">
                    <a:effectLst/>
                  </a:rPr>
                  <a:t> [82] C. Decker, C. Bianchi, F. Morel, S. Jönsson, S. C. Clark, C. E. Hoyle, Mechanistic study of the light-induced copolymerization of maleimide/vinyl ether systems, Macromol.Chem. Phys. 201 (2000) 1493-1503.</a:t>
                </a:r>
                <a:br>
                  <a:rPr lang="en-US" sz="1200" dirty="0"/>
                </a:br>
                <a:r>
                  <a:rPr lang="en-US" sz="1200" dirty="0">
                    <a:effectLst/>
                  </a:rPr>
                  <a:t> [83] C. Decker, C. Bianchi, S. Jönsson, Light-induced crosslinking polymerization of a novel N-substituted bis-maleimide monomers, Polymer 45 (2004) 5803-5811. olym.</a:t>
                </a:r>
                <a:br>
                  <a:rPr lang="en-US" sz="1200" dirty="0"/>
                </a:br>
                <a:r>
                  <a:rPr lang="en-US" sz="1200" dirty="0">
                    <a:effectLst/>
                  </a:rPr>
                  <a:t> [84] C. E. Hoyle, S. C. Clark, S. Jönsson, M. Shimose, Phothopolymerization using maleimides as phothoinitiators, Polymer 38 (1997) 5695-5697.</a:t>
                </a:r>
                <a:br>
                  <a:rPr lang="en-US" sz="1200" dirty="0"/>
                </a:br>
                <a:r>
                  <a:rPr lang="en-US" sz="1200" dirty="0">
                    <a:effectLst/>
                  </a:rPr>
                  <a:t> [85] H. Aida, I. Takase, T. Nozi, UV-indused polymerization of maleimides in solution, Makromol. Chem. 190 (1989) 2821-2831.</a:t>
                </a:r>
                <a:br>
                  <a:rPr lang="en-US" sz="1200" dirty="0"/>
                </a:br>
                <a:r>
                  <a:rPr lang="en-US" sz="1200" dirty="0">
                    <a:effectLst/>
                  </a:rPr>
                  <a:t> [86] A. Matsumoto, T. Kubota, T. Otsu, Radical polymerization of </a:t>
                </a:r>
                <a:r>
                  <a:rPr lang="en-US" sz="1200" dirty="0">
                    <a:effectLst/>
                  </a:rPr>
                  <a:t>​</a:t>
                </a:r>
                <a14:m>
                  <m:oMath>
                    <m:r>
                      <m:rPr>
                        <m:sty m:val="i"/>
                      </m:rPr>
                      <a:rPr lang="en-US" sz="1200" dirty="0">
                        <a:solidFill>
                          <a:srgbClr val="000000"/>
                        </a:solidFill>
                        <a:effectLst/>
                      </a:rPr>
                      <m:t>N</m:t>
                    </m:r>
                  </m:oMath>
                </a14:m>
                <a:r>
                  <a:rPr lang="en-US" sz="1200" dirty="0">
                    <a:effectLst/>
                  </a:rPr>
                  <a:t> (alkyl-substituted phenyl) maleimides: Synthesis of thermally stable polymers soluble in nonpolar solvents, Macromolecules 23 (1990) 4508-4513.</a:t>
                </a:r>
                <a:br>
                  <a:rPr lang="en-US" sz="1200" dirty="0"/>
                </a:br>
                <a:r>
                  <a:rPr lang="en-US" sz="1200" dirty="0">
                    <a:effectLst/>
                  </a:rPr>
                  <a:t> [87] H. Anderson., U. W. Gedde, A. Hult, Synthesis and polymerization of liquid crystalline donor-acceptor monomers, Macromolecules 29 (1996) 1649-1654.</a:t>
                </a:r>
                <a:br>
                  <a:rPr lang="en-US" sz="1200" dirty="0"/>
                </a:br>
                <a:r>
                  <a:rPr lang="en-US" sz="1200" dirty="0">
                    <a:effectLst/>
                  </a:rPr>
                  <a:t> [88] C. E. Hoyle, K.Visvanathan., S. C. Clark, C. W. Miller, C. Nguyen, E. S. Jonsson, L. Shao, Sensitized polymerization of an acrylate/maleimide system, Macromolecules 32 (1999) 2793-2795.</a:t>
                </a:r>
                <a:br>
                  <a:rPr lang="en-US" sz="1200" dirty="0"/>
                </a:br>
                <a:r>
                  <a:rPr lang="en-US" sz="1200" dirty="0">
                    <a:effectLst/>
                  </a:rPr>
                  <a:t> [89] T. Y. Lee, C. A. Guymon, E. S. Jonsson, S. Hait, C. E. Hoyle, Synthesis, initiation, and polymerization of photoinitiating monomers; Sensitized polymerization of an acrylate/maleimide system, Macromolecules 38 (2005) 7529-7531.</a:t>
                </a:r>
                <a:br>
                  <a:rPr lang="en-US" sz="1200" dirty="0"/>
                </a:br>
                <a:r>
                  <a:rPr lang="en-US" sz="1200" dirty="0">
                    <a:effectLst/>
                  </a:rPr>
                  <a:t> [90] L. Cianga, Y. Yağcı, Synthesis and characterization of thiophenesubstituted </a:t>
                </a:r>
                <a:r>
                  <a:rPr lang="en-US" sz="1200" dirty="0">
                    <a:effectLst/>
                  </a:rPr>
                  <a:t>​</a:t>
                </a:r>
                <a14:m>
                  <m:oMath>
                    <m:r>
                      <m:rPr>
                        <m:sty m:val="i"/>
                      </m:rPr>
                      <a:rPr lang="en-US" sz="1200" dirty="0">
                        <a:solidFill>
                          <a:srgbClr val="000000"/>
                        </a:solidFill>
                        <a:effectLst/>
                      </a:rPr>
                      <m:t>N</m:t>
                    </m:r>
                  </m:oMath>
                </a14:m>
                <a:r>
                  <a:rPr lang="en-US" sz="1200" dirty="0">
                    <a:effectLst/>
                  </a:rPr>
                  <a:t>-phenyl maleimide polymers by photoinduced radical polymerization, J. Polym. Sci. A: Polym. Chem. 40 (2002) 995-1004.</a:t>
                </a:r>
              </a:p>
            </p:txBody>
          </p:sp>
        </mc:Choice>
        <mc:Fallback/>
      </mc:AlternateContent>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cNvSpPr/>
              <p:nvPr/>
            </p:nvSpPr>
            <p:spPr>
              <a:xfrm>
                <a:off x="1524000" y="457200"/>
                <a:ext cx="9144000" cy="5943600"/>
              </a:xfrm>
              <a:prstGeom prst="rect">
                <a:avLst/>
              </a:prstGeom>
            </p:spPr>
            <p:txBody>
              <a:bodyPr anchor="t" lIns="0" tIns="0" rIns="0" bIns="0">
                <a:noAutofit/>
              </a:bodyPr>
              <a:lstStyle/>
              <a:p>
                <a:pPr>
                  <a:lnSpc>
                    <a:spcPct val="120000"/>
                  </a:lnSpc>
                </a:pPr>
                <a:r>
                  <a:rPr lang="en-US" sz="1200" dirty="0">
                    <a:effectLst/>
                  </a:rPr>
                  <a:t> [91] E. Söylemez, N. Çaylak, Z. M. O. Rzayev, Synthesis and characterization of functional copolymer/organo-silicate nanoarchitectures through interlamellar (co)terpolymerization, eXPRESS Polym. Lett. 2 (2008) 639-654.</a:t>
                </a:r>
                <a:br>
                  <a:rPr lang="en-US" sz="1200" dirty="0"/>
                </a:br>
                <a:r>
                  <a:rPr lang="en-US" sz="1200" dirty="0">
                    <a:effectLst/>
                  </a:rPr>
                  <a:t> [92] Z. M. O. Rzayev, A. Güner, E. A. Söylemez, S. Kavlak, Functional copolymer/organo-MMT nanoarchitectures. II. Dynamic mechanical behaviour of poly(maleic anhydride-co-BMA)-organo-MMT clay nanocomposites, J. Appl. Polym. Sci. 118 (2010) 2904-2913.</a:t>
                </a:r>
                <a:br>
                  <a:rPr lang="en-US" sz="1200" dirty="0"/>
                </a:br>
                <a:r>
                  <a:rPr lang="en-US" sz="1200" dirty="0">
                    <a:effectLst/>
                  </a:rPr>
                  <a:t> [93] Z. M. O. Rzayev, A. Güner, E. A.Söylemez, S. Kavlak, Functional copolymer/organo-MMT nanoarchitectures. III. Dynamic mechanical behaviour of poly(itaconic acid-co-BMA)-organo-MMT clay nano- composites, Polym. Adv. Technol. (ASAP article) 2011. DOI: 10. 1002/pat.1618.</a:t>
                </a:r>
                <a:br>
                  <a:rPr lang="en-US" sz="1200" dirty="0"/>
                </a:br>
                <a:r>
                  <a:rPr lang="en-US" sz="1200" dirty="0">
                    <a:effectLst/>
                  </a:rPr>
                  <a:t> [94] Z. M. O. Rzayev, B. Şenol, Functional copolymer/organo-MMT nanoarchitectures. IX. Synthesis and nanostructure-morphology-thermal behavior relationships of poly(maleic anhydride-alt-acrylic acid)-organo-MMT nanocompsites, Polym. Int. 2011 (ASAP article).</a:t>
                </a:r>
                <a:br>
                  <a:rPr lang="en-US" sz="1200" dirty="0"/>
                </a:br>
                <a:r>
                  <a:rPr lang="en-US" sz="1200" dirty="0">
                    <a:effectLst/>
                  </a:rPr>
                  <a:t> [95] Z. M. O. Rzayev, B. Senol, E. A. Söylemez, Functional copolymer/ organo-MMT nanoarchitectures. VIII. Synthesis, morphology and thermal behavior of poly(maleic anhydride-alt-acrylamide)-organo-MMT clays nanohybrids, Engineering, 3 (2011) 73-82.</a:t>
                </a:r>
                <a:br>
                  <a:rPr lang="en-US" sz="1200" dirty="0"/>
                </a:br>
                <a:r>
                  <a:rPr lang="en-US" sz="1200" dirty="0">
                    <a:effectLst/>
                  </a:rPr>
                  <a:t> [96] H. M. Li, H. B. Chen, Synthesis and characterization of poly </a:t>
                </a:r>
                <a:r>
                  <a:rPr lang="en-US" sz="1200" dirty="0">
                    <a:effectLst/>
                  </a:rPr>
                  <a:t>​</a:t>
                </a:r>
                <a14:m>
                  <m:oMath>
                    <m:r>
                      <m:rPr>
                        <m:sty m:val="p"/>
                      </m:rPr>
                      <a:rPr lang="en-US" sz="1200" dirty="0">
                        <a:solidFill>
                          <a:srgbClr val="000000"/>
                        </a:solidFill>
                        <a:effectLst/>
                      </a:rPr>
                      <m:t>(</m:t>
                    </m:r>
                    <m:r>
                      <m:rPr>
                        <m:sty m:val="i"/>
                      </m:rPr>
                      <a:rPr lang="en-US" sz="1200" dirty="0">
                        <a:solidFill>
                          <a:srgbClr val="000000"/>
                        </a:solidFill>
                        <a:effectLst/>
                      </a:rPr>
                      <m:t>N</m:t>
                    </m:r>
                    <m:r>
                      <m:rPr>
                        <m:sty m:val="p"/>
                      </m:rPr>
                      <a:rPr lang="en-US" sz="1200" dirty="0">
                        <a:solidFill>
                          <a:srgbClr val="000000"/>
                        </a:solidFill>
                        <a:effectLst/>
                      </a:rPr>
                      <m:t>−</m:t>
                    </m:r>
                    <m:r>
                      <m:rPr>
                        <m:sty m:val="i"/>
                      </m:rPr>
                      <a:rPr lang="en-US" sz="1200" dirty="0">
                        <a:solidFill>
                          <a:srgbClr val="000000"/>
                        </a:solidFill>
                        <a:effectLst/>
                      </a:rPr>
                      <m:t>n</m:t>
                    </m:r>
                    <m:r>
                      <m:rPr>
                        <m:sty m:val="p"/>
                      </m:rPr>
                      <a:rPr lang="en-US" sz="1200" dirty="0">
                        <a:solidFill>
                          <a:srgbClr val="000000"/>
                        </a:solidFill>
                        <a:effectLst/>
                      </a:rPr>
                      <m:t>−</m:t>
                    </m:r>
                  </m:oMath>
                </a14:m>
                <a:r>
                  <a:rPr lang="en-US" sz="1200" dirty="0">
                    <a:effectLst/>
                  </a:rPr>
                  <a:t> butyl maleimide)-clay nanocomposites, Mater. Lett. 57 (2003) 3000-3004.</a:t>
                </a:r>
                <a:br>
                  <a:rPr lang="en-US" sz="1200" dirty="0"/>
                </a:br>
                <a:r>
                  <a:rPr lang="en-US" sz="1200" dirty="0">
                    <a:effectLst/>
                  </a:rPr>
                  <a:t> [97] G.-D. Liu, L.-C. Zhang, C.-H. Gao, X.-G. Qu, Copolymerization of styrene with </a:t>
                </a:r>
                <a:r>
                  <a:rPr lang="en-US" sz="1200" dirty="0">
                    <a:effectLst/>
                  </a:rPr>
                  <a:t>​</a:t>
                </a:r>
                <a14:m>
                  <m:oMath>
                    <m:r>
                      <m:rPr>
                        <m:sty m:val="i"/>
                      </m:rPr>
                      <a:rPr lang="en-US" sz="1200" dirty="0">
                        <a:solidFill>
                          <a:srgbClr val="000000"/>
                        </a:solidFill>
                        <a:effectLst/>
                      </a:rPr>
                      <m:t>N</m:t>
                    </m:r>
                  </m:oMath>
                </a14:m>
                <a:r>
                  <a:rPr lang="en-US" sz="1200" dirty="0">
                    <a:effectLst/>
                  </a:rPr>
                  <a:t>-phenyl maleimide in the presence of montmorillonite, J.Appl. Polym. Sci. 98 (2005) 1932-1937.</a:t>
                </a:r>
                <a:br>
                  <a:rPr lang="en-US" sz="1200" dirty="0"/>
                </a:br>
                <a:r>
                  <a:rPr lang="en-US" sz="1200" dirty="0">
                    <a:effectLst/>
                  </a:rPr>
                  <a:t> [98] S. Butz, H. Baethge, G. Schmidt-Naake, N-oxyl mediated free radical donor-acceptor co- and terpolymerization of styrene, cyclic maleimide monomers and </a:t>
                </a:r>
                <a:r>
                  <a:rPr lang="en-US" sz="1200" dirty="0">
                    <a:effectLst/>
                  </a:rPr>
                  <a:t>​</a:t>
                </a:r>
                <a14:m>
                  <m:oMath>
                    <m:r>
                      <m:rPr>
                        <m:sty m:val="i"/>
                      </m:rPr>
                      <a:rPr lang="en-US" sz="1200" dirty="0">
                        <a:solidFill>
                          <a:srgbClr val="000000"/>
                        </a:solidFill>
                        <a:effectLst/>
                      </a:rPr>
                      <m:t>n</m:t>
                    </m:r>
                  </m:oMath>
                </a14:m>
                <a:r>
                  <a:rPr lang="en-US" sz="1200" dirty="0">
                    <a:effectLst/>
                  </a:rPr>
                  <a:t>-butyl methacrylate, Macromol.Chem. Phys. 201 (2000) 2143-2151.</a:t>
                </a:r>
                <a:br>
                  <a:rPr lang="en-US" sz="1200" dirty="0"/>
                </a:br>
                <a:r>
                  <a:rPr lang="en-US" sz="1200" dirty="0">
                    <a:effectLst/>
                  </a:rPr>
                  <a:t> [99] G. Schmidt-Naake, S. Butz, Living free radical donor-acceptor copolymization of styrene and </a:t>
                </a:r>
                <a:r>
                  <a:rPr lang="en-US" sz="1200" dirty="0">
                    <a:effectLst/>
                  </a:rPr>
                  <a:t>​</a:t>
                </a:r>
                <a14:m>
                  <m:oMath>
                    <m:r>
                      <m:rPr>
                        <m:sty m:val="i"/>
                      </m:rPr>
                      <a:rPr lang="en-US" sz="1200" dirty="0">
                        <a:solidFill>
                          <a:srgbClr val="000000"/>
                        </a:solidFill>
                        <a:effectLst/>
                      </a:rPr>
                      <m:t>N</m:t>
                    </m:r>
                  </m:oMath>
                </a14:m>
                <a:r>
                  <a:rPr lang="en-US" sz="1200" dirty="0">
                    <a:effectLst/>
                  </a:rPr>
                  <a:t>-cyclohexylmaleimide and the synthesis of poly[styrene-co-( </a:t>
                </a:r>
                <a:r>
                  <a:rPr lang="en-US" sz="1200" dirty="0">
                    <a:effectLst/>
                  </a:rPr>
                  <a:t>​</a:t>
                </a:r>
                <a14:m>
                  <m:oMath>
                    <m:r>
                      <m:rPr>
                        <m:sty m:val="i"/>
                      </m:rPr>
                      <a:rPr lang="en-US" sz="1200" dirty="0">
                        <a:solidFill>
                          <a:srgbClr val="000000"/>
                        </a:solidFill>
                        <a:effectLst/>
                      </a:rPr>
                      <m:t>N</m:t>
                    </m:r>
                  </m:oMath>
                </a14:m>
                <a:r>
                  <a:rPr lang="en-US" sz="1200" dirty="0">
                    <a:effectLst/>
                  </a:rPr>
                  <a:t>-cyclohexylmaleimide)]/polystyrene block copoly-mers, Macromol. Rapid Commun. 17 (1996) 661-665.</a:t>
                </a:r>
                <a:br>
                  <a:rPr lang="en-US" sz="1200" dirty="0"/>
                </a:br>
                <a:r>
                  <a:rPr lang="en-US" sz="1200" dirty="0">
                    <a:effectLst/>
                  </a:rPr>
                  <a:t> [100] J. Lokaj, P. Holler, J. Kriz, Copolymerization and addition of styrene and </a:t>
                </a:r>
                <a:r>
                  <a:rPr lang="en-US" sz="1200" dirty="0">
                    <a:effectLst/>
                  </a:rPr>
                  <a:t>​</a:t>
                </a:r>
                <a14:m>
                  <m:oMath>
                    <m:r>
                      <m:rPr>
                        <m:sty m:val="i"/>
                      </m:rPr>
                      <a:rPr lang="en-US" sz="1200" dirty="0">
                        <a:solidFill>
                          <a:srgbClr val="000000"/>
                        </a:solidFill>
                        <a:effectLst/>
                      </a:rPr>
                      <m:t>N</m:t>
                    </m:r>
                  </m:oMath>
                </a14:m>
                <a:r>
                  <a:rPr lang="en-US" sz="1200" dirty="0">
                    <a:effectLst/>
                  </a:rPr>
                  <a:t>-phenylmaleimide in the presence of nitroxide, </a:t>
                </a:r>
                <a:r>
                  <a:rPr lang="en-US" sz="1200" dirty="0">
                    <a:effectLst/>
                  </a:rPr>
                  <a:t>​</a:t>
                </a:r>
                <a14:m>
                  <m:oMath>
                    <m:r>
                      <m:rPr>
                        <m:sty m:val="i"/>
                      </m:rPr>
                      <a:rPr lang="en-US" sz="1200" dirty="0">
                        <a:solidFill>
                          <a:srgbClr val="000000"/>
                        </a:solidFill>
                        <a:effectLst/>
                      </a:rPr>
                      <m:t>J</m:t>
                    </m:r>
                  </m:oMath>
                </a14:m>
                <a:r>
                  <a:rPr lang="en-US" sz="1200" dirty="0">
                    <a:effectLst/>
                  </a:rPr>
                  <a:t>. Appl. Polym. Sci. 76 (2000) 1093-1099.</a:t>
                </a:r>
                <a:br>
                  <a:rPr lang="en-US" sz="1200" dirty="0"/>
                </a:br>
                <a:r>
                  <a:rPr lang="en-US" sz="1200" dirty="0">
                    <a:effectLst/>
                  </a:rPr>
                  <a:t> [101] E.-S..Park, M.-N. Kim, I.-M. Lee, H.-S. Lee, J.-S. Yoon, Living radical copolymerization of styrene/maleic anhydride, J. Polym. Sci. Part A: Polym.Chem. 38 (2000) 2239-2244.</a:t>
                </a:r>
                <a:br>
                  <a:rPr lang="en-US" sz="1200" dirty="0"/>
                </a:br>
                <a:r>
                  <a:rPr lang="en-US" sz="1200" dirty="0">
                    <a:effectLst/>
                  </a:rPr>
                  <a:t> [102] L. Shi, D. Wan, J. Huang, Controllability of radical copolymerization of maleimide and ethyl </a:t>
                </a:r>
                <a:r>
                  <a:rPr lang="en-US" sz="1200" dirty="0">
                    <a:effectLst/>
                  </a:rPr>
                  <a:t>​</a:t>
                </a:r>
                <a14:m>
                  <m:oMath>
                    <m:r>
                      <m:rPr>
                        <m:sty m:val="i"/>
                      </m:rPr>
                      <a:rPr lang="en-US" sz="1200" dirty="0">
                        <a:solidFill>
                          <a:srgbClr val="000000"/>
                        </a:solidFill>
                        <a:effectLst/>
                      </a:rPr>
                      <m:t>α</m:t>
                    </m:r>
                  </m:oMath>
                </a14:m>
                <a:r>
                  <a:rPr lang="en-US" sz="1200" dirty="0">
                    <a:effectLst/>
                  </a:rPr>
                  <a:t>-( </a:t>
                </a:r>
                <a:r>
                  <a:rPr lang="en-US" sz="1200" dirty="0">
                    <a:effectLst/>
                  </a:rPr>
                  <a:t>​</a:t>
                </a:r>
                <a14:m>
                  <m:oMath>
                    <m:r>
                      <m:rPr>
                        <m:sty m:val="i"/>
                      </m:rPr>
                      <a:rPr lang="en-US" sz="1200" dirty="0">
                        <a:solidFill>
                          <a:srgbClr val="000000"/>
                        </a:solidFill>
                        <a:effectLst/>
                      </a:rPr>
                      <m:t>n</m:t>
                    </m:r>
                  </m:oMath>
                </a14:m>
                <a:r>
                  <a:rPr lang="en-US" sz="1200" dirty="0">
                    <a:effectLst/>
                  </a:rPr>
                  <a:t>-propyl) acrylate using 1,1,2,2-tetraphenyl-1,2-bis(trimethylsilyloxy) ethane as initiator, </a:t>
                </a:r>
                <a:r>
                  <a:rPr lang="en-US" sz="1200" dirty="0">
                    <a:effectLst/>
                  </a:rPr>
                  <a:t>​</a:t>
                </a:r>
                <a14:m>
                  <m:oMath>
                    <m:r>
                      <m:rPr>
                        <m:sty m:val="i"/>
                      </m:rPr>
                      <a:rPr lang="en-US" sz="1200" dirty="0">
                        <a:solidFill>
                          <a:srgbClr val="000000"/>
                        </a:solidFill>
                        <a:effectLst/>
                      </a:rPr>
                      <m:t>J</m:t>
                    </m:r>
                  </m:oMath>
                </a14:m>
                <a:r>
                  <a:rPr lang="en-US" sz="1200" dirty="0">
                    <a:effectLst/>
                  </a:rPr>
                  <a:t>. Polym. Sci. Part A: Polym.Chem. 38 (2000) 2872-2878.</a:t>
                </a:r>
              </a:p>
            </p:txBody>
          </p:sp>
        </mc:Choice>
        <mc:Fallback/>
      </mc:AlternateContent>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
              <p:cNvSpPr/>
              <p:nvPr/>
            </p:nvSpPr>
            <p:spPr>
              <a:xfrm>
                <a:off x="1524000" y="457200"/>
                <a:ext cx="9144000" cy="2057400"/>
              </a:xfrm>
              <a:prstGeom prst="rect">
                <a:avLst/>
              </a:prstGeom>
            </p:spPr>
            <p:txBody>
              <a:bodyPr anchor="t" lIns="0" tIns="0" rIns="0" bIns="0">
                <a:noAutofit/>
              </a:bodyPr>
              <a:lstStyle/>
              <a:p>
                <a:pPr>
                  <a:lnSpc>
                    <a:spcPct val="120000"/>
                  </a:lnSpc>
                </a:pPr>
                <a:r>
                  <a:rPr lang="en-US" sz="1200" dirty="0">
                    <a:effectLst/>
                  </a:rPr>
                  <a:t> [103] E.-S. Park, J.-S. Yoon, Synthesis of polyethylene-graft-poly-(styrene-co-maleic anhydride) and its compatibilizing effects on polyethylene starch blends, J. Appl. Polym. Sci. 88 (2003) 2434-2438.</a:t>
                </a:r>
                <a:br>
                  <a:rPr lang="en-US" sz="1200" dirty="0"/>
                </a:br>
                <a:r>
                  <a:rPr lang="en-US" sz="1200" dirty="0">
                    <a:effectLst/>
                  </a:rPr>
                  <a:t> [104] X. Jiang, P. Xia, W. Liu, D.Yan, Atom transfer radical copolymerization of styrene and </a:t>
                </a:r>
                <a:r>
                  <a:rPr lang="en-US" sz="1200" dirty="0">
                    <a:effectLst/>
                  </a:rPr>
                  <a:t>​</a:t>
                </a:r>
                <a14:m>
                  <m:oMath>
                    <m:r>
                      <m:rPr>
                        <m:sty m:val="i"/>
                      </m:rPr>
                      <a:rPr lang="en-US" sz="1200" dirty="0">
                        <a:solidFill>
                          <a:srgbClr val="000000"/>
                        </a:solidFill>
                        <a:effectLst/>
                      </a:rPr>
                      <m:t>N</m:t>
                    </m:r>
                  </m:oMath>
                </a14:m>
                <a:r>
                  <a:rPr lang="en-US" sz="1200" dirty="0">
                    <a:effectLst/>
                  </a:rPr>
                  <a:t>-cyclohexylmaleimide, J. Polym. Sci., Part A:Polym Chem. 38 (2000) 1203-1209.</a:t>
                </a:r>
                <a:br>
                  <a:rPr lang="en-US" sz="1200" dirty="0"/>
                </a:br>
                <a:r>
                  <a:rPr lang="en-US" sz="1200" dirty="0">
                    <a:effectLst/>
                  </a:rPr>
                  <a:t> [105] G. Deng, Y. Chen, A novel way to synthesize star polymers in one pot by ATRP of [N-(2-(2-bromoisobutyryloxy)ethyl]maleimide and styrene, Macromolecules 37 (2004) 18-26.</a:t>
                </a:r>
                <a:br>
                  <a:rPr lang="en-US" sz="1200" dirty="0"/>
                </a:br>
                <a:r>
                  <a:rPr lang="en-US" sz="1200" dirty="0">
                    <a:effectLst/>
                  </a:rPr>
                  <a:t> [106] X. Jiang, Y. Zhong, D. Yan, H. Yu, D. Zhang, Hyper- branched copolymers of </a:t>
                </a:r>
                <a:r>
                  <a:rPr lang="en-US" sz="1200" dirty="0">
                    <a:effectLst/>
                  </a:rPr>
                  <a:t>​</a:t>
                </a:r>
                <a14:m>
                  <m:oMath>
                    <m:r>
                      <m:rPr>
                        <m:sty m:val="i"/>
                      </m:rPr>
                      <a:rPr lang="en-US" sz="1200" dirty="0">
                        <a:solidFill>
                          <a:srgbClr val="000000"/>
                        </a:solidFill>
                        <a:effectLst/>
                      </a:rPr>
                      <m:t>p</m:t>
                    </m:r>
                  </m:oMath>
                </a14:m>
                <a:r>
                  <a:rPr lang="en-US" sz="1200" dirty="0">
                    <a:effectLst/>
                  </a:rPr>
                  <a:t>-(chloromethyl) styrene and </a:t>
                </a:r>
                <a:r>
                  <a:rPr lang="en-US" sz="1200" dirty="0">
                    <a:effectLst/>
                  </a:rPr>
                  <a:t>​</a:t>
                </a:r>
                <a14:m>
                  <m:oMath>
                    <m:r>
                      <m:rPr>
                        <m:sty m:val="i"/>
                      </m:rPr>
                      <a:rPr lang="en-US" sz="1200" dirty="0">
                        <a:solidFill>
                          <a:srgbClr val="000000"/>
                        </a:solidFill>
                        <a:effectLst/>
                      </a:rPr>
                      <m:t>N</m:t>
                    </m:r>
                  </m:oMath>
                </a14:m>
                <a:r>
                  <a:rPr lang="en-US" sz="1200" dirty="0">
                    <a:effectLst/>
                  </a:rPr>
                  <a:t>-cyclohexyl maleimide synthesized by atom transfer radical polymerization, J. Appl. Polym. Sci. 78 (2000) 1992-1997.</a:t>
                </a:r>
                <a:br>
                  <a:rPr lang="en-US" sz="1200" dirty="0"/>
                </a:br>
                <a:r>
                  <a:rPr lang="en-US" sz="1200" dirty="0">
                    <a:effectLst/>
                  </a:rPr>
                  <a:t> [107] K. Ishizu, Y. Ohta, S. Kawauchi, Kinetics of hyperbranched polystyrenes by free radical polymerization of photofunctional</a:t>
                </a:r>
              </a:p>
            </p:txBody>
          </p:sp>
        </mc:Choice>
        <mc:Fallback/>
      </mc:AlternateContent>
      <p:sp>
        <p:nvSpPr>
          <p:cNvPr id="2" name="Text"/>
          <p:cNvSpPr/>
          <p:nvPr/>
        </p:nvSpPr>
        <p:spPr>
          <a:xfrm>
            <a:off x="1524000" y="2667000"/>
            <a:ext cx="9144000" cy="685800"/>
          </a:xfrm>
          <a:prstGeom prst="rect">
            <a:avLst/>
          </a:prstGeom>
        </p:spPr>
        <p:txBody>
          <a:bodyPr anchor="t" lIns="0" tIns="0" rIns="0" bIns="0">
            <a:noAutofit/>
          </a:bodyPr>
          <a:lstStyle/>
          <a:p>
            <a:pPr>
              <a:lnSpc>
                <a:spcPct val="120000"/>
              </a:lnSpc>
            </a:pPr>
            <a:r>
              <a:rPr lang="en-US" sz="1800" dirty="0" b="1">
                <a:effectLst/>
              </a:rPr>
              <a:t>International Review of Chemical Engineering, volume 3, No 2, March, 2011 Int. Rev.Chem. Eng., 3(2011) 153-215</a:t>
            </a:r>
          </a:p>
        </p:txBody>
      </p:sp>
      <mc:AlternateContent xmlns:mc="http://schemas.openxmlformats.org/markup-compatibility/2006">
        <mc:Choice xmlns:a14="http://schemas.microsoft.com/office/drawing/2010/main" Requires="a14">
          <p:sp>
            <p:nvSpPr>
              <p:cNvPr id="2" name="Text"/>
              <p:cNvSpPr/>
              <p:nvPr/>
            </p:nvSpPr>
            <p:spPr>
              <a:xfrm>
                <a:off x="1524000" y="3542539"/>
                <a:ext cx="9144000" cy="2514600"/>
              </a:xfrm>
              <a:prstGeom prst="rect">
                <a:avLst/>
              </a:prstGeom>
            </p:spPr>
            <p:txBody>
              <a:bodyPr anchor="t" lIns="0" tIns="0" rIns="0" bIns="0">
                <a:noAutofit/>
              </a:bodyPr>
              <a:lstStyle/>
              <a:p>
                <a:pPr>
                  <a:lnSpc>
                    <a:spcPct val="120000"/>
                  </a:lnSpc>
                </a:pPr>
                <a:r>
                  <a:rPr lang="en-US" sz="1200" dirty="0">
                    <a:effectLst/>
                  </a:rPr>
                  <a:t>inimer, Macromolecules 35 (2002) 3781-3784.</a:t>
                </a:r>
                <a:br>
                  <a:rPr lang="en-US" sz="1200" dirty="0"/>
                </a:br>
                <a:r>
                  <a:rPr lang="en-US" sz="1200" dirty="0">
                    <a:effectLst/>
                  </a:rPr>
                  <a:t> [108] K. Ishizu, C. Takashimizu, T. Shibuya, S. Uchida, Synthesis and solution properties of alternating maleimide/styrene hyperbranched copolymers via controlled radical mechanism, Polym. Int. 52 (2003)1010-1015.</a:t>
                </a:r>
                <a:br>
                  <a:rPr lang="en-US" sz="1200" dirty="0"/>
                </a:br>
                <a:r>
                  <a:rPr lang="en-US" sz="1200" dirty="0">
                    <a:effectLst/>
                  </a:rPr>
                  <a:t> [109] Y.-L. Zhao, J. Jiang, H.-W. Liu, C.-F. Chen, F. Xi, Atom transfer radical copolymerization of </a:t>
                </a:r>
                <a:r>
                  <a:rPr lang="en-US" sz="1200" dirty="0">
                    <a:effectLst/>
                  </a:rPr>
                  <a:t>​</a:t>
                </a:r>
                <a14:m>
                  <m:oMath>
                    <m:r>
                      <m:rPr>
                        <m:sty m:val="i"/>
                      </m:rPr>
                      <a:rPr lang="en-US" sz="1200" dirty="0">
                        <a:solidFill>
                          <a:srgbClr val="000000"/>
                        </a:solidFill>
                        <a:effectLst/>
                      </a:rPr>
                      <m:t>N</m:t>
                    </m:r>
                  </m:oMath>
                </a14:m>
                <a:r>
                  <a:rPr lang="en-US" sz="1200" dirty="0">
                    <a:effectLst/>
                  </a:rPr>
                  <a:t>-phenylmaleimide and styrene initiated with dentritic polyarylether 2-bromoisobutyrate, J. Polym. Sci., Part A: Polym. Chem. 39 (2001) 3960-3966.</a:t>
                </a:r>
                <a:br>
                  <a:rPr lang="en-US" sz="1200" dirty="0"/>
                </a:br>
                <a:r>
                  <a:rPr lang="en-US" sz="1200" dirty="0">
                    <a:effectLst/>
                  </a:rPr>
                  <a:t> [110] Y.-L. Zhao, J.-M. Zhang, J. Jiang, C.-F. Chen, F. Xi, Atom transfer radical copolymerization of </a:t>
                </a:r>
                <a:r>
                  <a:rPr lang="en-US" sz="1200" dirty="0">
                    <a:effectLst/>
                  </a:rPr>
                  <a:t>​</a:t>
                </a:r>
                <a14:m>
                  <m:oMath>
                    <m:r>
                      <m:rPr>
                        <m:sty m:val="i"/>
                      </m:rPr>
                      <a:rPr lang="en-US" sz="1200" dirty="0">
                        <a:solidFill>
                          <a:srgbClr val="000000"/>
                        </a:solidFill>
                        <a:effectLst/>
                      </a:rPr>
                      <m:t>n</m:t>
                    </m:r>
                  </m:oMath>
                </a14:m>
                <a:r>
                  <a:rPr lang="en-US" sz="1200" dirty="0">
                    <a:effectLst/>
                  </a:rPr>
                  <a:t>-hexylmaleimide and styrene in an ionic liquid, J. Polym. Sci., Part A: Polym. Chem. 40 (2002) 3360-3366.</a:t>
                </a:r>
                <a:br>
                  <a:rPr lang="en-US" sz="1200" dirty="0"/>
                </a:br>
                <a:r>
                  <a:rPr lang="en-US" sz="1200" dirty="0">
                    <a:effectLst/>
                  </a:rPr>
                  <a:t> [111] Y.-L. Zhao, C.-F. Chen, F. Xi, Living/controlled radical copoly-meriza tion of N-substituted maleimides with styrene in 1-butyl-3-methylimidazolium hexafluorophosphate and anisole, J. Polym. Sci., Part A: Polym. Chem. 41 (2003) 2156-2165.</a:t>
                </a:r>
                <a:br>
                  <a:rPr lang="en-US" sz="1200" dirty="0"/>
                </a:br>
                <a:r>
                  <a:rPr lang="en-US" sz="1200" dirty="0">
                    <a:effectLst/>
                  </a:rPr>
                  <a:t> [112] D. Benoit, C. J. Hawker, E. E. Huang, Z. Lin, T. R. Russell, One step Formation of functionalized block copolymers, Macromolecules 33 (2000) 1505-1507.</a:t>
                </a:r>
              </a:p>
            </p:txBody>
          </p:sp>
        </mc:Choice>
        <mc:Fallback/>
      </mc:AlternateContent>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5943600"/>
              </a:xfrm>
              <a:prstGeom prst="rect">
                <a:avLst/>
              </a:prstGeom>
            </p:spPr>
            <p:txBody>
              <a:bodyPr anchor="t" lIns="0" tIns="0" rIns="0" bIns="0">
                <a:noAutofit/>
              </a:bodyPr>
              <a:lstStyle/>
              <a:p>
                <a:pPr>
                  <a:lnSpc>
                    <a:spcPct val="120000"/>
                  </a:lnSpc>
                </a:pPr>
                <a:r>
                  <a:rPr lang="en-US" sz="1200" dirty="0">
                    <a:effectLst/>
                  </a:rPr>
                  <a:t> [113] H. De Brouwer, M. A. J. Schellekens, B. Klumperman, M. J. Monteiro, A. L. German, Controlled radcl copolymerization of styrene and maleic anhydrid and the synthesis of novel polyolefin-based block copolymers by reversible additin-fragmenttion chain-transfer (RAFT) polymerization, J.Polym. Sci. Part A: Polym. Chem. 38 (2000) 3596-3603.</a:t>
                </a:r>
                <a:br>
                  <a:rPr lang="en-US" sz="1200" dirty="0"/>
                </a:br>
                <a:r>
                  <a:rPr lang="en-US" sz="1200" dirty="0">
                    <a:effectLst/>
                  </a:rPr>
                  <a:t> [114] F.-S. Du, M.-Q. Zhu, H-Q. Guo, Z.-C. Li, F.-M. Li, M. Kamachi, A.Kajiwara, An ESR study of reversible addition-fragmentation chain transfer copolymerization of styrene and maleic anhydride, Macromolecules35 (2002) 6739-6741.</a:t>
                </a:r>
                <a:br>
                  <a:rPr lang="en-US" sz="1200" dirty="0"/>
                </a:br>
                <a:r>
                  <a:rPr lang="en-US" sz="1200" dirty="0">
                    <a:effectLst/>
                  </a:rPr>
                  <a:t> [115] D.-C. Wu, C.-Y Hong, C. Y. Pan, W.-D. He, Study of controlled radical alternating copolymerization of styrene with maleic anhydride under UV irradiation, Polym. Int. 52 (2003) 98-103.</a:t>
                </a:r>
                <a:br>
                  <a:rPr lang="en-US" sz="1200" dirty="0"/>
                </a:br>
                <a:r>
                  <a:rPr lang="en-US" sz="1200" dirty="0">
                    <a:effectLst/>
                  </a:rPr>
                  <a:t> [116] X. Hao, M. H. Stenzel, C. Barner-Kowollik, T. R. Davis, E. Evans, Polymer Molecular composite materials formed from lock copolymers containing a side-chain liquid segment and an amorphous styrene-maleic anhydride segment, 45 (2004) 7401-7415.</a:t>
                </a:r>
                <a:br>
                  <a:rPr lang="en-US" sz="1200" dirty="0"/>
                </a:br>
                <a:r>
                  <a:rPr lang="en-US" sz="1200" dirty="0">
                    <a:effectLst/>
                  </a:rPr>
                  <a:t> [117] Z. M. O. Rzayev, E. A. Söylemez, Functional copolymer/organo-MMT nanoarchitectures. VI. Synthesis and characterization of novel nanocomposites by interlammelar controlled/living radical copolymerization via preintercalated RAFT-agent/organoclay complexes, J. Nanosci. Nanotechnol. (ASAP article) 2011.</a:t>
                </a:r>
                <a:br>
                  <a:rPr lang="en-US" sz="1200" dirty="0"/>
                </a:br>
                <a:r>
                  <a:rPr lang="en-US" sz="1200" dirty="0">
                    <a:effectLst/>
                  </a:rPr>
                  <a:t> [118] Z. M. O. Rzayev, Ernur A. Söylemez, Burhan Davarcioğlu, Functional copolymer/organo-MMT nanoarchitectures. VII. Interlamellar controlled/living radical copolymerization of maleic anhydride with butyl methacrylate via preintercalated RAFT agent-organoclay complexes, Polym. Adv. Technol. 2011. DOI: 10.1002/ pat. 1867.</a:t>
                </a:r>
                <a:br>
                  <a:rPr lang="en-US" sz="1200" dirty="0"/>
                </a:br>
                <a:r>
                  <a:rPr lang="en-US" sz="1200" dirty="0">
                    <a:effectLst/>
                  </a:rPr>
                  <a:t> [119] Z. Hu, Z. Zhang, "Gradient" polymer prepared by complex-radical terpolymerization of styrene, maleic anhydride, and </a:t>
                </a:r>
                <a:r>
                  <a:rPr lang="en-US" sz="1200" dirty="0">
                    <a:effectLst/>
                  </a:rPr>
                  <a:t>​</a:t>
                </a:r>
                <a14:m>
                  <m:oMath>
                    <m:r>
                      <m:rPr>
                        <m:sty m:val="i"/>
                      </m:rPr>
                      <a:rPr lang="en-US" sz="1200" dirty="0">
                        <a:solidFill>
                          <a:srgbClr val="000000"/>
                        </a:solidFill>
                        <a:effectLst/>
                      </a:rPr>
                      <m:t>N</m:t>
                    </m:r>
                  </m:oMath>
                </a14:m>
                <a:r>
                  <a:rPr lang="en-US" sz="1200" dirty="0">
                    <a:effectLst/>
                  </a:rPr>
                  <a:t> -vinylpyrrolidone via </a:t>
                </a:r>
                <a:r>
                  <a:rPr lang="en-US" sz="1200" dirty="0">
                    <a:effectLst/>
                  </a:rPr>
                  <a:t>​</a:t>
                </a:r>
                <a14:m>
                  <m:oMath>
                    <m:r>
                      <m:rPr>
                        <m:sty m:val="i"/>
                      </m:rPr>
                      <a:rPr lang="en-US" sz="1200" dirty="0">
                        <a:solidFill>
                          <a:srgbClr val="000000"/>
                        </a:solidFill>
                        <a:effectLst/>
                      </a:rPr>
                      <m:t>γ</m:t>
                    </m:r>
                  </m:oMath>
                </a14:m>
                <a:r>
                  <a:rPr lang="en-US" sz="1200" dirty="0">
                    <a:effectLst/>
                  </a:rPr>
                  <a:t>-ray irradiation by use of a RAFT process: Synthesis, mechanism, and charcterization, Macromolecules 39 (2006) 1384-1390.</a:t>
                </a:r>
                <a:br>
                  <a:rPr lang="en-US" sz="1200" dirty="0"/>
                </a:br>
                <a:r>
                  <a:rPr lang="en-US" sz="1200" dirty="0">
                    <a:effectLst/>
                  </a:rPr>
                  <a:t> [120] Fenouillot F, Cassagnau P, Bounor-Legaré V. Reactive processing of thermoplastic polymers: A review of the fundamental aspects, Int. Polym. Processing 3 (2007) 218-258.</a:t>
                </a:r>
                <a:br>
                  <a:rPr lang="en-US" sz="1200" dirty="0"/>
                </a:br>
                <a:r>
                  <a:rPr lang="en-US" sz="1200" dirty="0">
                    <a:effectLst/>
                  </a:rPr>
                  <a:t> [121] A. Bhattacharya, B. N. Misra, Grafting: a versatile means to modify polymers: Techniques, factors and applications, Prog. Polym. Sci. 29 (2004) 767-814.</a:t>
                </a:r>
                <a:br>
                  <a:rPr lang="en-US" sz="1200" dirty="0"/>
                </a:br>
                <a:r>
                  <a:rPr lang="en-US" sz="1200" dirty="0">
                    <a:effectLst/>
                  </a:rPr>
                  <a:t> [122] Y. Minoura, M. Ueda, S. Mizunuma, M. Oba, The reaction of polypropylene with maleic anhydride, J. Appl. Polym. Sci. 13 (1969) 1625-1640.</a:t>
                </a:r>
                <a:br>
                  <a:rPr lang="en-US" sz="1200" dirty="0"/>
                </a:br>
                <a:r>
                  <a:rPr lang="en-US" sz="1200" dirty="0">
                    <a:effectLst/>
                  </a:rPr>
                  <a:t> [123] R. M. Nowak, G. D. Jones (Dow Chemical Co.), Extruding process for preparing functionalized polyolefin polymers, US Pat 3,177,269 (1965).</a:t>
                </a:r>
              </a:p>
            </p:txBody>
          </p:sp>
        </mc:Choice>
        <mc:Fallback/>
      </mc:AlternateContent>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4" name="Text"/>
          <p:cNvSpPr/>
          <p:nvPr/>
        </p:nvSpPr>
        <p:spPr>
          <a:xfrm>
            <a:off x="1524000" y="457200"/>
            <a:ext cx="9144000" cy="5715000"/>
          </a:xfrm>
          <a:prstGeom prst="rect">
            <a:avLst/>
          </a:prstGeom>
        </p:spPr>
        <p:txBody>
          <a:bodyPr anchor="t" lIns="0" tIns="0" rIns="0" bIns="0">
            <a:noAutofit/>
          </a:bodyPr>
          <a:lstStyle/>
          <a:p>
            <a:pPr>
              <a:lnSpc>
                <a:spcPct val="120000"/>
              </a:lnSpc>
            </a:pPr>
            <a:r>
              <a:rPr lang="en-US" sz="1200" dirty="0">
                <a:effectLst/>
              </a:rPr>
              <a:t> [124] Ide F, Kamada K, Hasegawa A. Kobinshi Kagaku 1968;25:107-115; Chem. Abst. 69 (1968) 11031.</a:t>
            </a:r>
            <a:br>
              <a:rPr lang="en-US" sz="1200" dirty="0"/>
            </a:br>
            <a:r>
              <a:rPr lang="en-US" sz="1200" dirty="0">
                <a:effectLst/>
              </a:rPr>
              <a:t> [125] F. Ide, A. Hasegawa, Studies on polymer blend of nylon 6 and polypropylene or nylon 6 and polystyrene using the reaction of polymer, J. Appl. Polym. Sci. 18 (1974) 963-974.</a:t>
            </a:r>
            <a:br>
              <a:rPr lang="en-US" sz="1200" dirty="0"/>
            </a:br>
            <a:r>
              <a:rPr lang="en-US" sz="1200" dirty="0">
                <a:effectLst/>
              </a:rPr>
              <a:t> [126] R. T. Swiger, L. A. .Mango, Polyamide and modified polyethylene binary mixtures with high melt viscosity, DE Pat 2,722,270 A1 (1977).</a:t>
            </a:r>
            <a:br>
              <a:rPr lang="en-US" sz="1200" dirty="0"/>
            </a:br>
            <a:r>
              <a:rPr lang="en-US" sz="1200" dirty="0">
                <a:effectLst/>
              </a:rPr>
              <a:t> [127] J. Cha, J. L. White, Maleic anhydride modification of polyolefin in an internal mixer and a twin-screw extruder: Experiment and kinetic model, Polym. Eng. Sci. 41 (2001) 1227-1237.</a:t>
            </a:r>
            <a:br>
              <a:rPr lang="en-US" sz="1200" dirty="0"/>
            </a:br>
            <a:r>
              <a:rPr lang="en-US" sz="1200" dirty="0">
                <a:effectLst/>
              </a:rPr>
              <a:t> [128] J. L. White, A. Sasaki, Free Radical Graft Polymerization, Polym.-Plast. Technol. Eng. 42 (2003) 711-735.</a:t>
            </a:r>
            <a:br>
              <a:rPr lang="en-US" sz="1200" dirty="0"/>
            </a:br>
            <a:r>
              <a:rPr lang="en-US" sz="1200" dirty="0">
                <a:effectLst/>
              </a:rPr>
              <a:t> [129] A. J. Oostenbrink, R. J. M. Borggreve, R. J. Gaymans, Integration of Fundamental Polymer Science and Technology (Elsevier Applied Science, 1989).</a:t>
            </a:r>
            <a:br>
              <a:rPr lang="en-US" sz="1200" dirty="0"/>
            </a:br>
            <a:r>
              <a:rPr lang="en-US" sz="1200" dirty="0">
                <a:effectLst/>
              </a:rPr>
              <a:t> [130] S. N. Sathe, G. S. Srinivasa Rao, S. Devi, Grafting of maleic anhydride onto polypropylene: Synthesis and characterization, J. Appl. Polym. Sci. 53 (1994) 239-245.</a:t>
            </a:r>
            <a:br>
              <a:rPr lang="en-US" sz="1200" dirty="0"/>
            </a:br>
            <a:r>
              <a:rPr lang="en-US" sz="1200" dirty="0">
                <a:effectLst/>
              </a:rPr>
              <a:t> [131] J. M. G. Martinez, O. Laguna, E. P. Collar, Chemical modification of polypropylenes by maleic anhydride: Influence of stereospecificity and process conditions, J. Appl. Polym. Sci. 68 (1998) 483-495.</a:t>
            </a:r>
            <a:br>
              <a:rPr lang="en-US" sz="1200" dirty="0"/>
            </a:br>
            <a:r>
              <a:rPr lang="en-US" sz="1200" dirty="0">
                <a:effectLst/>
              </a:rPr>
              <a:t> [132] N. G. Gaylord, M. K. Mishra, Nondegradative reaction of maleic anhydride and molten polypropylene in the presence of peroxides, J. Polym. Sci. Polym. Lett. 21 (1983) 23-30.</a:t>
            </a:r>
            <a:br>
              <a:rPr lang="en-US" sz="1200" dirty="0"/>
            </a:br>
            <a:r>
              <a:rPr lang="en-US" sz="1200" dirty="0">
                <a:effectLst/>
              </a:rPr>
              <a:t> [133] N. G. Gaylord, R. Mehta, Peroxide-catalyzed grafting of maleic anhydride onto molten polyethylene in the presence of polar organic compounds, J. Polym. Sci. Part A: Polym. Chem. 26 (1988) 1189-1198.</a:t>
            </a:r>
            <a:br>
              <a:rPr lang="en-US" sz="1200" dirty="0"/>
            </a:br>
            <a:r>
              <a:rPr lang="en-US" sz="1200" dirty="0">
                <a:effectLst/>
              </a:rPr>
              <a:t> [134] A. Simmons, W. E. Baker, Basic functionalization of poly ethylene in the melt, Polym. Eng. Sci. 29 (1989) 1117-1123.</a:t>
            </a:r>
            <a:br>
              <a:rPr lang="en-US" sz="1200" dirty="0"/>
            </a:br>
            <a:r>
              <a:rPr lang="en-US" sz="1200" dirty="0">
                <a:effectLst/>
              </a:rPr>
              <a:t> [135] R. P. Singh, Surface grafting onto polypropylene - a survey of recent developments, Prog. Polym. Sci. 17 (1992) 251-281.</a:t>
            </a:r>
            <a:br>
              <a:rPr lang="en-US" sz="1200" dirty="0"/>
            </a:br>
            <a:r>
              <a:rPr lang="en-US" sz="1200" dirty="0">
                <a:effectLst/>
              </a:rPr>
              <a:t> [136] S. H. P. Bettini, J. A. M. Agnelli, Grafting of maleic anhydride onto polypropylene by reactive processing. I. Effect of maleic anhydride and peroxide concentrations on the reaction, J. Appl. Polym. Sci. 74 (1999) 247-255.</a:t>
            </a:r>
            <a:br>
              <a:rPr lang="en-US" sz="1200" dirty="0"/>
            </a:br>
            <a:r>
              <a:rPr lang="en-US" sz="1200" dirty="0">
                <a:effectLst/>
              </a:rPr>
              <a:t> [137] S. H. P. Bettini, J. A. M. Agnelli, Grafting of maleic anhydride onto polypropylene by reactive processing. II. Effect of rotor speed and reaction time, J. Appl. Polym. Sci. 74 (1999) 256-263.</a:t>
            </a:r>
            <a:br>
              <a:rPr lang="en-US" sz="1200" dirty="0"/>
            </a:br>
            <a:r>
              <a:rPr lang="en-US" sz="1200" dirty="0">
                <a:effectLst/>
              </a:rPr>
              <a:t> [138] R. Rengarajan, M. Vicic, S. Lee, Solid phase graft copoly-merization: 2. Effect of toluene, Polymer 30 (1989) 933-935.</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
              <p:cNvSpPr/>
              <p:nvPr/>
            </p:nvSpPr>
            <p:spPr>
              <a:xfrm>
                <a:off x="1524000" y="457200"/>
                <a:ext cx="9144000" cy="4114800"/>
              </a:xfrm>
              <a:prstGeom prst="rect">
                <a:avLst/>
              </a:prstGeom>
            </p:spPr>
            <p:txBody>
              <a:bodyPr anchor="t" lIns="0" tIns="0" rIns="0" bIns="0">
                <a:noAutofit/>
              </a:bodyPr>
              <a:lstStyle/>
              <a:p>
                <a:pPr>
                  <a:lnSpc>
                    <a:spcPct val="120000"/>
                  </a:lnSpc>
                </a:pPr>
                <a:r>
                  <a:rPr lang="en-US" sz="1200" dirty="0">
                    <a:effectLst/>
                  </a:rPr>
                  <a:t> [139] E. Borsig, L. Hrckova, Solid phase functionalization of isotactic polypropylene with maleic anhydride. Influence of solvents and additives on the level of the reaction, J. Macromol. Sci.-Pure Appl. Chem. A31 (1994) 1447-1454.</a:t>
                </a:r>
                <a:br>
                  <a:rPr lang="en-US" sz="1200" dirty="0"/>
                </a:br>
                <a:r>
                  <a:rPr lang="en-US" sz="1200" dirty="0">
                    <a:effectLst/>
                  </a:rPr>
                  <a:t> [140] C.-J. Wu, C.-Y. Chen, E. Woo, J.-F. Kuo, A kinetic study on grafting of maleic anhydride onto a thermoplastic elastomers, J. Polym. Sci. Part A: Polym. Chem. 31 (1993) 3405-3415.</a:t>
                </a:r>
                <a:br>
                  <a:rPr lang="en-US" sz="1200" dirty="0"/>
                </a:br>
                <a:r>
                  <a:rPr lang="en-US" sz="1200" dirty="0">
                    <a:effectLst/>
                  </a:rPr>
                  <a:t> [141] A. Sipos, J. McCarthy, K. E. Russell, Kinetic studies of grafting of maleic anhydride to hydrocarbon substrates, J. Polym. Sci. Part A: Polym. Chem. 27 (1989) 3353-3362.</a:t>
                </a:r>
                <a:br>
                  <a:rPr lang="en-US" sz="1200" dirty="0"/>
                </a:br>
                <a:r>
                  <a:rPr lang="en-US" sz="1200" dirty="0">
                    <a:effectLst/>
                  </a:rPr>
                  <a:t> [142] W. Marconi, A. Piozzi, R. Marcone, Synthesis and characteriza-tion of novel carboxylated ethylene-vinyl alcohol polymers, Eur. Polym. J. 37 (2001) 1021-1025.</a:t>
                </a:r>
                <a:br>
                  <a:rPr lang="en-US" sz="1200" dirty="0"/>
                </a:br>
                <a:r>
                  <a:rPr lang="en-US" sz="1200" dirty="0">
                    <a:effectLst/>
                  </a:rPr>
                  <a:t> [143] W. Marconi, R. Marcone, A. Piozzi, Sulfation and preliminary biological evaluation of ethylene-vinyl alcohol copolymers, Macromol. Chem. Phys. 201 (2000) 715-721.</a:t>
                </a:r>
                <a:br>
                  <a:rPr lang="en-US" sz="1200" dirty="0"/>
                </a:br>
                <a:r>
                  <a:rPr lang="en-US" sz="1200" dirty="0">
                    <a:effectLst/>
                  </a:rPr>
                  <a:t> [144] E. Passaglia, M. Algietto, G. Ruggeri, F. Picchioni, Formation and compatibilizing effect of the grafted copolymer in the reactive blending of 2-diethylsuccinate containing polyolefins with poly- </a:t>
                </a:r>
                <a:r>
                  <a:rPr lang="en-US" sz="1200" dirty="0">
                    <a:effectLst/>
                  </a:rPr>
                  <a:t>​</a:t>
                </a:r>
                <a14:m>
                  <m:oMath>
                    <m:r>
                      <m:rPr>
                        <m:sty m:val="i"/>
                      </m:rPr>
                      <a:rPr lang="en-US" sz="1200" dirty="0">
                        <a:solidFill>
                          <a:srgbClr val="000000"/>
                        </a:solidFill>
                        <a:effectLst/>
                      </a:rPr>
                      <m:t>ε</m:t>
                    </m:r>
                  </m:oMath>
                </a14:m>
                <a:r>
                  <a:rPr lang="en-US" sz="1200" dirty="0">
                    <a:effectLst/>
                  </a:rPr>
                  <a:t>-caprolactam (nylon-6), Polym. Adv.Technol. 9 (1998) 273-281.</a:t>
                </a:r>
                <a:br>
                  <a:rPr lang="en-US" sz="1200" dirty="0"/>
                </a:br>
                <a:r>
                  <a:rPr lang="en-US" sz="1200" dirty="0">
                    <a:effectLst/>
                  </a:rPr>
                  <a:t> [145] M. Yazdani-Pedram, H. Vega, R. Quijada, Modification of poly(propylene) through grafting with dimethyl itaconate in solution, Macromol. Chem. Phys. 199 (1998) 2495-2500.</a:t>
                </a:r>
                <a:br>
                  <a:rPr lang="en-US" sz="1200" dirty="0"/>
                </a:br>
                <a:r>
                  <a:rPr lang="en-US" sz="1200" dirty="0">
                    <a:effectLst/>
                  </a:rPr>
                  <a:t> [146] R. M. Ho, A. C. Su, C. H. Wu, S. Chen, Functionalization of polypropylene via melt mixing, Polymer 34 (1993) 3264-3269.</a:t>
                </a:r>
                <a:br>
                  <a:rPr lang="en-US" sz="1200" dirty="0"/>
                </a:br>
                <a:r>
                  <a:rPr lang="en-US" sz="1200" dirty="0">
                    <a:effectLst/>
                  </a:rPr>
                  <a:t> [147] R. L. Cushing, V. L. Kolesnichenko, C. J. O'Connor, Recent advances in the liquid-phase syntheses of inorganic nanoparticles, Chem. Rev. 104 (2004) 3893-3946.</a:t>
                </a:r>
                <a:br>
                  <a:rPr lang="en-US" sz="1200" dirty="0"/>
                </a:br>
                <a:r>
                  <a:rPr lang="en-US" sz="1200" dirty="0">
                    <a:effectLst/>
                  </a:rPr>
                  <a:t> [148] R. R. Qi, J. L. Qian, C. X. Zhou, Modification of acrylonitrilebutadiene-styrene terpolymer by grafting with maleic</a:t>
                </a:r>
              </a:p>
            </p:txBody>
          </p:sp>
        </mc:Choice>
        <mc:Fallback/>
      </mc:AlternateContent>
      <p:sp>
        <p:nvSpPr>
          <p:cNvPr id="2" name="Text"/>
          <p:cNvSpPr/>
          <p:nvPr/>
        </p:nvSpPr>
        <p:spPr>
          <a:xfrm>
            <a:off x="1524000" y="4724400"/>
            <a:ext cx="9144000" cy="685800"/>
          </a:xfrm>
          <a:prstGeom prst="rect">
            <a:avLst/>
          </a:prstGeom>
        </p:spPr>
        <p:txBody>
          <a:bodyPr anchor="t" lIns="0" tIns="0" rIns="0" bIns="0">
            <a:noAutofit/>
          </a:bodyPr>
          <a:lstStyle/>
          <a:p>
            <a:pPr>
              <a:lnSpc>
                <a:spcPct val="120000"/>
              </a:lnSpc>
            </a:pPr>
            <a:r>
              <a:rPr lang="en-US" sz="1800" dirty="0" b="1">
                <a:effectLst/>
              </a:rPr>
              <a:t>International Review of Chemical Engineering, volume 3, No 2, March, 2011 Int. Rev.Chem. Eng., 3(2011) 153-215</a:t>
            </a:r>
          </a:p>
        </p:txBody>
      </p:sp>
      <p:sp>
        <p:nvSpPr>
          <p:cNvPr id="2" name="Text"/>
          <p:cNvSpPr/>
          <p:nvPr/>
        </p:nvSpPr>
        <p:spPr>
          <a:xfrm>
            <a:off x="1524000" y="5599939"/>
            <a:ext cx="9144000" cy="685800"/>
          </a:xfrm>
          <a:prstGeom prst="rect">
            <a:avLst/>
          </a:prstGeom>
        </p:spPr>
        <p:txBody>
          <a:bodyPr anchor="t" lIns="0" tIns="0" rIns="0" bIns="0">
            <a:noAutofit/>
          </a:bodyPr>
          <a:lstStyle/>
          <a:p>
            <a:pPr lvl="0" indent="-285750" marL="533400">
              <a:lnSpc>
                <a:spcPct val="120000"/>
              </a:lnSpc>
              <a:buNone/>
            </a:pPr>
            <a:r>
              <a:rPr lang="en-US" sz="1200" dirty="0">
                <a:effectLst/>
              </a:rPr>
              <a:t>anhydride in the melt. I. Preparation and characterization, J. Appl. Polym. Sci. 90 (2003) 1249-1254.</a:t>
            </a:r>
          </a:p>
          <a:p>
            <a:pPr lvl="0" indent="-285750" marL="533400">
              <a:lnSpc>
                <a:spcPct val="120000"/>
              </a:lnSpc>
              <a:buNone/>
            </a:pPr>
            <a:r>
              <a:rPr lang="en-US" sz="1200" dirty="0">
                <a:effectLst/>
              </a:rPr>
              <a:t>[149] R. R. Qi, Z. F. Chen, C. X. Zhou, Solvothermal preparation of maleic anhydride grafted onto acrylonitrile-butadiene-styrene terpolyrmer (ABS), Polymer 46 (2005) 4098-4104.</a:t>
            </a: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5943600"/>
              </a:xfrm>
              <a:prstGeom prst="rect">
                <a:avLst/>
              </a:prstGeom>
            </p:spPr>
            <p:txBody>
              <a:bodyPr anchor="t" lIns="0" tIns="0" rIns="0" bIns="0">
                <a:noAutofit/>
              </a:bodyPr>
              <a:lstStyle/>
              <a:p>
                <a:pPr lvl="0" indent="-285750" marL="533400">
                  <a:lnSpc>
                    <a:spcPct val="120000"/>
                  </a:lnSpc>
                  <a:buNone/>
                </a:pPr>
                <a:r>
                  <a:rPr lang="en-US" sz="1200" dirty="0">
                    <a:effectLst/>
                  </a:rPr>
                  <a:t>[150] G. Moad, The synthesis of polyolefin graft copolymers by reactive extrusion, Prog. Polym. Sci. 24 (1999) 81-142.</a:t>
                </a:r>
              </a:p>
              <a:p>
                <a:pPr lvl="0" indent="-285750" marL="533400">
                  <a:lnSpc>
                    <a:spcPct val="120000"/>
                  </a:lnSpc>
                  <a:buNone/>
                </a:pPr>
                <a:r>
                  <a:rPr lang="en-US" sz="1200" dirty="0">
                    <a:effectLst/>
                  </a:rPr>
                  <a:t>[151] Y. G. Devrim, S. Eğri, Z. M. O. Rzaev, E. Pişkin, Grafting of powder and granular polypropylene in melt using reactive extrusion, </a:t>
                </a:r>
                <a:r>
                  <a:rPr lang="en-US" sz="1200" dirty="0">
                    <a:effectLst/>
                  </a:rPr>
                  <a:t>​</a:t>
                </a:r>
                <a14:m>
                  <m:oMath>
                    <m:r>
                      <m:rPr>
                        <m:sty m:val="p"/>
                      </m:rPr>
                      <a:rPr lang="en-US" sz="1200" dirty="0">
                        <a:solidFill>
                          <a:srgbClr val="000000"/>
                        </a:solidFill>
                        <a:effectLst/>
                      </a:rPr>
                      <m:t>40</m:t>
                    </m:r>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th </m:t>
                        </m:r>
                      </m:sup>
                    </m:sSup>
                  </m:oMath>
                </a14:m>
                <a:r>
                  <a:rPr lang="en-US" sz="1200" dirty="0">
                    <a:effectLst/>
                  </a:rPr>
                  <a:t> IUPAC World Polymer Congress. Paris, France, July 4-9 (2004).</a:t>
                </a:r>
              </a:p>
              <a:p>
                <a:pPr lvl="0" indent="-285750" marL="533400">
                  <a:lnSpc>
                    <a:spcPct val="120000"/>
                  </a:lnSpc>
                  <a:buNone/>
                </a:pPr>
                <a:r>
                  <a:rPr lang="en-US" sz="1200" dirty="0">
                    <a:effectLst/>
                  </a:rPr>
                  <a:t>[152] Y. G. Devrim, S. Eğri, Z. M. O. Rzaev, E. Pişkin, Grafting and graft (co)polymerization of polypropylene. </a:t>
                </a:r>
                <a:r>
                  <a:rPr lang="en-US" sz="1200" dirty="0">
                    <a:effectLst/>
                  </a:rPr>
                  <a:t>​</a:t>
                </a:r>
                <a14:m>
                  <m:oMath>
                    <m:r>
                      <m:rPr>
                        <m:sty m:val="p"/>
                      </m:rPr>
                      <a:rPr lang="en-US" sz="1200" dirty="0">
                        <a:solidFill>
                          <a:srgbClr val="000000"/>
                        </a:solidFill>
                        <a:effectLst/>
                      </a:rPr>
                      <m:t>40</m:t>
                    </m:r>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th </m:t>
                        </m:r>
                      </m:sup>
                    </m:sSup>
                  </m:oMath>
                </a14:m>
                <a:r>
                  <a:rPr lang="en-US" sz="1200" dirty="0">
                    <a:effectLst/>
                  </a:rPr>
                  <a:t> IUPAC World Polymer Congress. Paris, France, July 4-9 ( 2004).</a:t>
                </a:r>
              </a:p>
              <a:p>
                <a:pPr lvl="0" indent="-285750" marL="533400">
                  <a:lnSpc>
                    <a:spcPct val="120000"/>
                  </a:lnSpc>
                  <a:buNone/>
                </a:pPr>
                <a:r>
                  <a:rPr lang="en-US" sz="1200" dirty="0">
                    <a:effectLst/>
                  </a:rPr>
                  <a:t>[153] Y. Güldoğan, Z. M. O. Rzaev, E. Pişkin, Polypropylene functionalization in solution and in melt by reactive extrusion, 11th International Conference on Polymers and Organic Chemistry. Praque, Czech., July 12-15 (2004).</a:t>
                </a:r>
              </a:p>
              <a:p>
                <a:pPr lvl="0" indent="-285750" marL="533400">
                  <a:lnSpc>
                    <a:spcPct val="120000"/>
                  </a:lnSpc>
                  <a:buNone/>
                </a:pPr>
                <a:r>
                  <a:rPr lang="en-US" sz="1200" dirty="0">
                    <a:effectLst/>
                  </a:rPr>
                  <a:t>[154] Y. Güldoğan, , S. Eğri, Z. M. O. Rzaev, E. Pişkin, Comparison of maleic anhydride grafting onto powder and granular polypropylene in the melt by reactive extrusion. J. Appl. Polym. Sci. 92 (2004) 3675-3684.</a:t>
                </a:r>
              </a:p>
              <a:p>
                <a:pPr lvl="0" indent="-285750" marL="533400">
                  <a:lnSpc>
                    <a:spcPct val="120000"/>
                  </a:lnSpc>
                  <a:buNone/>
                </a:pPr>
                <a:r>
                  <a:rPr lang="en-US" sz="1200" dirty="0">
                    <a:effectLst/>
                  </a:rPr>
                  <a:t>[155] Y. Devrim, Z. M. O. Rzaev, E. Pişkin, Anhydrido-carboxylation of polypropylene: Synthesis and characterization of poly(PP- </a:t>
                </a:r>
                <a:r>
                  <a:rPr lang="en-US" sz="1200" dirty="0">
                    <a:effectLst/>
                  </a:rPr>
                  <a:t>​</a:t>
                </a:r>
                <a14:m>
                  <m:oMath>
                    <m:r>
                      <m:rPr>
                        <m:sty m:val="i"/>
                      </m:rPr>
                      <a:rPr lang="en-US" sz="1200" dirty="0">
                        <a:solidFill>
                          <a:srgbClr val="000000"/>
                        </a:solidFill>
                        <a:effectLst/>
                      </a:rPr>
                      <m:t>g</m:t>
                    </m:r>
                  </m:oMath>
                </a14:m>
                <a:r>
                  <a:rPr lang="en-US" sz="1200" dirty="0">
                    <a:effectLst/>
                  </a:rPr>
                  <a:t> -MA), poly(PP- </a:t>
                </a:r>
                <a:r>
                  <a:rPr lang="en-US" sz="1200" dirty="0">
                    <a:effectLst/>
                  </a:rPr>
                  <a:t>​</a:t>
                </a:r>
                <a14:m>
                  <m:oMath>
                    <m:r>
                      <m:rPr>
                        <m:sty m:val="i"/>
                      </m:rPr>
                      <a:rPr lang="en-US" sz="1200" dirty="0">
                        <a:solidFill>
                          <a:srgbClr val="000000"/>
                        </a:solidFill>
                        <a:effectLst/>
                      </a:rPr>
                      <m:t>g</m:t>
                    </m:r>
                  </m:oMath>
                </a14:m>
                <a:r>
                  <a:rPr lang="en-US" sz="1200" dirty="0">
                    <a:effectLst/>
                  </a:rPr>
                  <a:t>-CA) and poly(PP- </a:t>
                </a:r>
                <a:r>
                  <a:rPr lang="en-US" sz="1200" dirty="0">
                    <a:effectLst/>
                  </a:rPr>
                  <a:t>​</a:t>
                </a:r>
                <a14:m>
                  <m:oMath>
                    <m:r>
                      <m:rPr>
                        <m:sty m:val="i"/>
                      </m:rPr>
                      <a:rPr lang="en-US" sz="1200" dirty="0">
                        <a:solidFill>
                          <a:srgbClr val="000000"/>
                        </a:solidFill>
                        <a:effectLst/>
                      </a:rPr>
                      <m:t>g</m:t>
                    </m:r>
                  </m:oMath>
                </a14:m>
                <a:r>
                  <a:rPr lang="en-US" sz="1200" dirty="0">
                    <a:effectLst/>
                  </a:rPr>
                  <a:t>-AA), 15th International Conference on Organic Synthesis, JUPAC ICOS-15. Nagoya, Japan, Aug. 1-6 (2004).</a:t>
                </a:r>
              </a:p>
              <a:p>
                <a:pPr lvl="0" indent="-285750" marL="533400">
                  <a:lnSpc>
                    <a:spcPct val="120000"/>
                  </a:lnSpc>
                  <a:buNone/>
                </a:pPr>
                <a:r>
                  <a:rPr lang="en-US" sz="1200" dirty="0">
                    <a:effectLst/>
                  </a:rPr>
                  <a:t>[156] Y. Devrim, Z. M. O. Rzaev, E. Pişkin, Functionalization of isotactic polypropylene with citraconic anhydride, Polym. Bull. 59 (2007) 447-456.</a:t>
                </a:r>
              </a:p>
              <a:p>
                <a:pPr lvl="0" indent="-285750" marL="533400">
                  <a:lnSpc>
                    <a:spcPct val="120000"/>
                  </a:lnSpc>
                  <a:buNone/>
                </a:pPr>
                <a:r>
                  <a:rPr lang="en-US" sz="1200" dirty="0">
                    <a:effectLst/>
                  </a:rPr>
                  <a:t>[157] H. Huang, C. Y. Zhu, Z. F. Zhou, N. C. Liu, Melt grafting of a long-chain unsaturated carboxylic acid onto polypropylene. React. Funct. Polym. 50 (2001) 49-55.</a:t>
                </a:r>
              </a:p>
              <a:p>
                <a:pPr lvl="0" indent="-285750" marL="533400">
                  <a:lnSpc>
                    <a:spcPct val="120000"/>
                  </a:lnSpc>
                  <a:buNone/>
                </a:pPr>
                <a:r>
                  <a:rPr lang="en-US" sz="1200" dirty="0">
                    <a:effectLst/>
                  </a:rPr>
                  <a:t>[158] S. Ranganathan, W. F. Baker, K. E. Russel, B. A. Whitney, Peroxide initiated maleic anhydride grafting: Structural studies on an ester-containing copolymer and related substrates. J. Polym. Sci. Part A: Polym. Chem. 37 (1999) 1609-1618.</a:t>
                </a:r>
              </a:p>
              <a:p>
                <a:pPr lvl="0" indent="-285750" marL="533400">
                  <a:lnSpc>
                    <a:spcPct val="120000"/>
                  </a:lnSpc>
                  <a:buNone/>
                </a:pPr>
                <a:r>
                  <a:rPr lang="en-US" sz="1200" dirty="0">
                    <a:effectLst/>
                  </a:rPr>
                  <a:t>[159] W. Heinen, M. van Duin, C. B. Wenzel, H. C. Rosenmöller, M. de Groot, L. Lugtenburg,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13</m:t>
                        </m:r>
                      </m:sup>
                    </m:sSup>
                    <m:r>
                      <m:rPr>
                        <m:sty m:val="p"/>
                      </m:rPr>
                      <a:rPr lang="en-US" sz="1200" dirty="0">
                        <a:solidFill>
                          <a:srgbClr val="000000"/>
                        </a:solidFill>
                        <a:effectLst/>
                      </a:rPr>
                      <m:t>C</m:t>
                    </m:r>
                    <m:r>
                      <m:rPr>
                        <m:sty m:val="p"/>
                      </m:rPr>
                      <a:rPr lang="en-US" sz="1200" dirty="0">
                        <a:solidFill>
                          <a:srgbClr val="000000"/>
                        </a:solidFill>
                        <a:effectLst/>
                      </a:rPr>
                      <m:t>NMR</m:t>
                    </m:r>
                  </m:oMath>
                </a14:m>
                <a:r>
                  <a:rPr lang="en-US" sz="1200" dirty="0">
                    <a:effectLst/>
                  </a:rPr>
                  <a:t> study of the grafting of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13</m:t>
                        </m:r>
                      </m:sup>
                    </m:sSup>
                    <m:r>
                      <m:rPr>
                        <m:sty m:val="p"/>
                      </m:rPr>
                      <a:rPr lang="en-US" sz="1200" dirty="0">
                        <a:solidFill>
                          <a:srgbClr val="000000"/>
                        </a:solidFill>
                        <a:effectLst/>
                      </a:rPr>
                      <m:t>C</m:t>
                    </m:r>
                  </m:oMath>
                </a14:m>
                <a:r>
                  <a:rPr lang="en-US" sz="1200" dirty="0">
                    <a:effectLst/>
                  </a:rPr>
                  <a:t> labelled maleic anhydride onto PE, PP and EPM. Macromol. Symp. 129 (1998) 119-125.</a:t>
                </a:r>
              </a:p>
              <a:p>
                <a:pPr lvl="0" indent="-285750" marL="533400">
                  <a:lnSpc>
                    <a:spcPct val="120000"/>
                  </a:lnSpc>
                  <a:buNone/>
                </a:pPr>
                <a:r>
                  <a:rPr lang="en-US" sz="1200" dirty="0">
                    <a:effectLst/>
                  </a:rPr>
                  <a:t>[160] L. Yong, F. Zhang, T. Endo, T. Hirotsu, Structural characterization of maleic anhydride grafted polyethylene by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13</m:t>
                        </m:r>
                      </m:sup>
                    </m:sSup>
                    <m:r>
                      <m:rPr>
                        <m:sty m:val="p"/>
                      </m:rPr>
                      <a:rPr lang="en-US" sz="1200" dirty="0">
                        <a:solidFill>
                          <a:srgbClr val="000000"/>
                        </a:solidFill>
                        <a:effectLst/>
                      </a:rPr>
                      <m:t>C</m:t>
                    </m:r>
                  </m:oMath>
                </a14:m>
                <a:r>
                  <a:rPr lang="en-US" sz="1200" dirty="0">
                    <a:effectLst/>
                  </a:rPr>
                  <a:t> NMR spectroscopy, Polymer 43 (2002) 2591-2594.</a:t>
                </a:r>
              </a:p>
              <a:p>
                <a:pPr lvl="0" indent="-285750" marL="533400">
                  <a:lnSpc>
                    <a:spcPct val="120000"/>
                  </a:lnSpc>
                  <a:buNone/>
                </a:pPr>
                <a:r>
                  <a:rPr lang="en-US" sz="1200" dirty="0">
                    <a:effectLst/>
                  </a:rPr>
                  <a:t>[161] B. M. Dorscht, C. Tzoganakis, Reactive extrusion of polypropylene with supercritical carbon dioxide: Free radical grafting of maleic anhydride, J.Appl. Polym. Sci. 87 (2003) 1116-22.</a:t>
                </a:r>
              </a:p>
              <a:p>
                <a:pPr lvl="0" indent="-285750" marL="533400">
                  <a:lnSpc>
                    <a:spcPct val="120000"/>
                  </a:lnSpc>
                  <a:buNone/>
                </a:pPr>
                <a:r>
                  <a:rPr lang="en-US" sz="1200" dirty="0">
                    <a:effectLst/>
                  </a:rPr>
                  <a:t>[162] D. Chang, J. L. White, Experimental study of maleation of polypropylene in various twin-screw extruder system systems, J. Appl. Polym. Sci. 90 (2003) 1755-1764.</a:t>
                </a:r>
              </a:p>
            </p:txBody>
          </p:sp>
        </mc:Choice>
        <mc:Fallback/>
      </mc:AlternateContent>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cNvSpPr/>
              <p:nvPr/>
            </p:nvSpPr>
            <p:spPr>
              <a:xfrm>
                <a:off x="1524000" y="457200"/>
                <a:ext cx="9144000" cy="5943600"/>
              </a:xfrm>
              <a:prstGeom prst="rect">
                <a:avLst/>
              </a:prstGeom>
            </p:spPr>
            <p:txBody>
              <a:bodyPr anchor="t" lIns="0" tIns="0" rIns="0" bIns="0">
                <a:noAutofit/>
              </a:bodyPr>
              <a:lstStyle/>
              <a:p>
                <a:pPr lvl="0" indent="-285750" marL="533400">
                  <a:lnSpc>
                    <a:spcPct val="120000"/>
                  </a:lnSpc>
                  <a:buNone/>
                </a:pPr>
                <a:r>
                  <a:rPr lang="en-US" sz="1200" dirty="0">
                    <a:effectLst/>
                  </a:rPr>
                  <a:t>[163] Q. Dong, Y. Liu, Styrene-assisted free-radical graft copolymerization of maleic anhydride onto polypropylene in supercritical carbon dioxide, J. Appl. Polym. Sci. 90 (2003) 853-860.</a:t>
                </a:r>
              </a:p>
              <a:p>
                <a:pPr lvl="0" indent="-285750" marL="533400">
                  <a:lnSpc>
                    <a:spcPct val="120000"/>
                  </a:lnSpc>
                  <a:buNone/>
                </a:pPr>
                <a:r>
                  <a:rPr lang="en-US" sz="1200" dirty="0">
                    <a:effectLst/>
                  </a:rPr>
                  <a:t>[164] X. Li, X. M. Xie, B. H. Guo, Study on styrene-assisted melt freeradical grafting of maleic anhydride onto polypropylene, Polymer 42 (2001) 3419-3425.</a:t>
                </a:r>
              </a:p>
              <a:p>
                <a:pPr lvl="0" indent="-285750" marL="533400">
                  <a:lnSpc>
                    <a:spcPct val="120000"/>
                  </a:lnSpc>
                  <a:buNone/>
                </a:pPr>
                <a:r>
                  <a:rPr lang="en-US" sz="1200" dirty="0">
                    <a:effectLst/>
                  </a:rPr>
                  <a:t>[165] G. H. Hu, J. J. Flat, M. Lambla, Modifiers for Polymers (Blackie, 1997).</a:t>
                </a:r>
              </a:p>
              <a:p>
                <a:pPr lvl="0" indent="-285750" marL="533400">
                  <a:lnSpc>
                    <a:spcPct val="120000"/>
                  </a:lnSpc>
                  <a:buNone/>
                </a:pPr>
                <a:r>
                  <a:rPr lang="en-US" sz="1200" dirty="0">
                    <a:effectLst/>
                  </a:rPr>
                  <a:t>[166] D. Braun, I. Braun, I. Kramer, Heterogeneous grafting of maleic anhydride and </a:t>
                </a:r>
                <a:r>
                  <a:rPr lang="en-US" sz="1200" dirty="0">
                    <a:effectLst/>
                  </a:rPr>
                  <a:t>​</a:t>
                </a:r>
                <a14:m>
                  <m:oMath>
                    <m:r>
                      <m:rPr>
                        <m:sty m:val="i"/>
                      </m:rPr>
                      <a:rPr lang="en-US" sz="1200" dirty="0">
                        <a:solidFill>
                          <a:srgbClr val="000000"/>
                        </a:solidFill>
                        <a:effectLst/>
                      </a:rPr>
                      <m:t>α</m:t>
                    </m:r>
                  </m:oMath>
                </a14:m>
                <a:r>
                  <a:rPr lang="en-US" sz="1200" dirty="0">
                    <a:effectLst/>
                  </a:rPr>
                  <a:t>-methylstyrene from atactic polypropylene, Angew. Makromol. Chem. 251(1997) 37-48.</a:t>
                </a:r>
              </a:p>
              <a:p>
                <a:pPr lvl="0" indent="-285750" marL="533400">
                  <a:lnSpc>
                    <a:spcPct val="120000"/>
                  </a:lnSpc>
                  <a:buNone/>
                </a:pPr>
                <a:r>
                  <a:rPr lang="en-US" sz="1200" dirty="0">
                    <a:effectLst/>
                  </a:rPr>
                  <a:t>[167] D. De Roover, J. Devaux, R. Legras, Maleic anhydride homopoly-merization during melt functionalization of isotactic polypropylene, J. Polym. Sci. Part A: Polym. Chem. 34 (1996) 1195-1202.</a:t>
                </a:r>
              </a:p>
              <a:p>
                <a:pPr lvl="0" indent="-285750" marL="533400">
                  <a:lnSpc>
                    <a:spcPct val="120000"/>
                  </a:lnSpc>
                  <a:buNone/>
                </a:pPr>
                <a:r>
                  <a:rPr lang="en-US" sz="1200" dirty="0">
                    <a:effectLst/>
                  </a:rPr>
                  <a:t>[168] D. De Roover, M. Sclavons, V. Carlier, J. Devaux,R. Legras, A. Momtaz, Molecular characterization of maleic anhydridefunctionalized polypropylene, J. Polym. Sci. Part A: Polym. Chem. 33 (1995) 829-842.</a:t>
                </a:r>
              </a:p>
              <a:p>
                <a:pPr lvl="0" indent="-285750" marL="533400">
                  <a:lnSpc>
                    <a:spcPct val="120000"/>
                  </a:lnSpc>
                  <a:buNone/>
                </a:pPr>
                <a:r>
                  <a:rPr lang="en-US" sz="1200" dirty="0">
                    <a:effectLst/>
                  </a:rPr>
                  <a:t>[169] B. Schulz, M. Hartmann, Radical grafting of maleic anhydride copolymers to atactic polypropylene. Plaste und Kautschuk 32 (1985) 84-86.</a:t>
                </a:r>
              </a:p>
              <a:p>
                <a:pPr lvl="0" indent="-285750" marL="533400">
                  <a:lnSpc>
                    <a:spcPct val="120000"/>
                  </a:lnSpc>
                  <a:buNone/>
                </a:pPr>
                <a:r>
                  <a:rPr lang="en-US" sz="1200" dirty="0">
                    <a:effectLst/>
                  </a:rPr>
                  <a:t>[170] K. H. Wang, M. H. Choi, C. M. Koo, C. M. Choi, I. J. Chung, Synthesis and characterization of maleated polyethylene/clay nanocomposites. Polymer 42 (2001) 9819-9826.</a:t>
                </a:r>
              </a:p>
              <a:p>
                <a:pPr lvl="0" indent="-285750" marL="533400">
                  <a:lnSpc>
                    <a:spcPct val="120000"/>
                  </a:lnSpc>
                  <a:buNone/>
                </a:pPr>
                <a:r>
                  <a:rPr lang="en-US" sz="1200" dirty="0">
                    <a:effectLst/>
                  </a:rPr>
                  <a:t>[171] B. E. Wong, W. E. Baker , Melt rheology of graft modified polypropylene, Polymer 38 (1997) 2781-2789.</a:t>
                </a:r>
              </a:p>
              <a:p>
                <a:pPr lvl="0" indent="-285750" marL="533400">
                  <a:lnSpc>
                    <a:spcPct val="120000"/>
                  </a:lnSpc>
                  <a:buNone/>
                </a:pPr>
                <a:r>
                  <a:rPr lang="en-US" sz="1200" dirty="0">
                    <a:effectLst/>
                  </a:rPr>
                  <a:t>[172] W. Han, Z. Li, Z.-Q. Wang, H.-Q. Yang, Preparation and mechanical properties of polypropylene/ maleic anhydride compatibilized polypropylene/ organo-vermiculite nanocomposites, Polym.-Plast. Technol . Eng. 48 (2009) 374-378.</a:t>
                </a:r>
              </a:p>
              <a:p>
                <a:pPr lvl="0" indent="-285750" marL="533400">
                  <a:lnSpc>
                    <a:spcPct val="120000"/>
                  </a:lnSpc>
                  <a:buNone/>
                </a:pPr>
                <a:r>
                  <a:rPr lang="en-US" sz="1200" dirty="0">
                    <a:effectLst/>
                  </a:rPr>
                  <a:t>[173] F. R. Zhang, W. L. Qiu, L. Q. Lang, T. Endo, T. Hirotsu, Mechano- chemical preparation and properties of a cellulosepolyethylene composite, Mater. Chem. 12 (2002) 4-26.</a:t>
                </a:r>
              </a:p>
              <a:p>
                <a:pPr lvl="0" indent="-285750" marL="533400">
                  <a:lnSpc>
                    <a:spcPct val="120000"/>
                  </a:lnSpc>
                  <a:buNone/>
                </a:pPr>
                <a:r>
                  <a:rPr lang="en-US" sz="1200" dirty="0">
                    <a:effectLst/>
                  </a:rPr>
                  <a:t>[174] F. R. Zhang, T. Endo, R. Kitagawa, H. Kabeya, T. Hirotsu, Synthesis and characterization of a novel blend of polypropylene with Chlorella, J. Mater. Chem. 10 (200) 2666-2672.</a:t>
                </a:r>
              </a:p>
              <a:p>
                <a:pPr lvl="0" indent="-285750" marL="533400">
                  <a:lnSpc>
                    <a:spcPct val="120000"/>
                  </a:lnSpc>
                  <a:buNone/>
                </a:pPr>
                <a:r>
                  <a:rPr lang="en-US" sz="1200" dirty="0">
                    <a:effectLst/>
                  </a:rPr>
                  <a:t>[175] F. R. Zhang, H. Kabeya, R. Kitagawa, T. Hirotsu, M. Yamashita, T. Otsuki,. A novel polyethylene-chlorella composite. I. Characterization of chlorella biologically fixing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CO</m:t>
                        </m:r>
                      </m:e>
                      <m:sub>
                        <m:r>
                          <m:rPr>
                            <m:sty m:val="p"/>
                          </m:rPr>
                          <a:rPr lang="en-US" sz="1200" dirty="0">
                            <a:solidFill>
                              <a:srgbClr val="000000"/>
                            </a:solidFill>
                            <a:effectLst/>
                          </a:rPr>
                          <m:t>2</m:t>
                        </m:r>
                      </m:sub>
                    </m:sSub>
                  </m:oMath>
                </a14:m>
                <a:r>
                  <a:rPr lang="en-US" sz="1200" dirty="0">
                    <a:effectLst/>
                  </a:rPr>
                  <a:t>. J. Appl. Polym. Sci. 77 (2000) 2278-2284.</a:t>
                </a:r>
              </a:p>
              <a:p>
                <a:pPr lvl="0" indent="-285750" marL="533400">
                  <a:lnSpc>
                    <a:spcPct val="120000"/>
                  </a:lnSpc>
                  <a:buNone/>
                </a:pPr>
                <a:r>
                  <a:rPr lang="en-US" sz="1200" dirty="0">
                    <a:effectLst/>
                  </a:rPr>
                  <a:t>[176] F. R. Zhang, T. Endo, W. L. Qiu, L. Q. Yang, T. Hirotsu, Preparation and mechanical properties of composite of fibrous cellulose and maleated polyethylene, J. Appl. Polym. Sci. 84 (2002) 1971-1980.</a:t>
                </a:r>
              </a:p>
            </p:txBody>
          </p:sp>
        </mc:Choice>
        <mc:Fallback/>
      </mc:AlternateContent>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
              <p:cNvSpPr/>
              <p:nvPr/>
            </p:nvSpPr>
            <p:spPr>
              <a:xfrm>
                <a:off x="1524000" y="457200"/>
                <a:ext cx="9144000" cy="5943600"/>
              </a:xfrm>
              <a:prstGeom prst="rect">
                <a:avLst/>
              </a:prstGeom>
            </p:spPr>
            <p:txBody>
              <a:bodyPr anchor="t" lIns="0" tIns="0" rIns="0" bIns="0">
                <a:noAutofit/>
              </a:bodyPr>
              <a:lstStyle/>
              <a:p>
                <a:pPr lvl="0" indent="-285750" marL="533400">
                  <a:lnSpc>
                    <a:spcPct val="120000"/>
                  </a:lnSpc>
                  <a:buNone/>
                </a:pPr>
                <a:r>
                  <a:rPr lang="en-US" sz="1200" dirty="0">
                    <a:effectLst/>
                  </a:rPr>
                  <a:t>[177] N. G. Gaylord, R. Mehta, D. R. Mohan, V. Kumar, Maleation of linear low-density polyethylene by reactive processing, J. Appl. Polym. Sci. 44 (1992) 1941-1949.</a:t>
                </a:r>
              </a:p>
              <a:p>
                <a:pPr lvl="0" indent="-285750" marL="533400">
                  <a:lnSpc>
                    <a:spcPct val="120000"/>
                  </a:lnSpc>
                  <a:buNone/>
                </a:pPr>
                <a:r>
                  <a:rPr lang="en-US" sz="1200" dirty="0">
                    <a:effectLst/>
                  </a:rPr>
                  <a:t>[178] N. C. Liu, W. E. Baker, K. E. Russell. Functionalization of polyethylenes and their use in reactive blending, J. Appl. Polym. Sci. 41 (1990) 2285-2300.</a:t>
                </a:r>
              </a:p>
              <a:p>
                <a:pPr lvl="0" indent="-285750" marL="533400">
                  <a:lnSpc>
                    <a:spcPct val="120000"/>
                  </a:lnSpc>
                  <a:buNone/>
                </a:pPr>
                <a:r>
                  <a:rPr lang="en-US" sz="1200" dirty="0">
                    <a:effectLst/>
                  </a:rPr>
                  <a:t>[179] G. Samay, T. Nagy, J. L. White, Grafting maleic anhydride and comonomers onto polyethylene., J. Appl. Polym. Sci. 56 (1995) 1423-1433.</a:t>
                </a:r>
              </a:p>
              <a:p>
                <a:pPr lvl="0" indent="-285750" marL="533400">
                  <a:lnSpc>
                    <a:spcPct val="120000"/>
                  </a:lnSpc>
                  <a:buNone/>
                </a:pPr>
                <a:r>
                  <a:rPr lang="en-US" sz="1200" dirty="0">
                    <a:effectLst/>
                  </a:rPr>
                  <a:t>[180] G. D. Vito, N. Lanzetta, G. Maglio, M. Malinconico, P. Musto, R. Palumbo, Functionalization of an amorphous ethylenepropylene copolymer by free radical initiated grafting of unsaturated molecules, J. Polym. Sci. Polym. Chem. Ed. 22 (1984) 1335-1347.</a:t>
                </a:r>
              </a:p>
              <a:p>
                <a:pPr lvl="0" indent="-285750" marL="533400">
                  <a:lnSpc>
                    <a:spcPct val="120000"/>
                  </a:lnSpc>
                  <a:buNone/>
                </a:pPr>
                <a:r>
                  <a:rPr lang="en-US" sz="1200" dirty="0">
                    <a:effectLst/>
                  </a:rPr>
                  <a:t>[181] S. A. Malaika, Reactive Modifiers for Polymers, (Blakie Academic &amp; Professional, 1997).</a:t>
                </a:r>
              </a:p>
              <a:p>
                <a:pPr lvl="0" indent="-285750" marL="533400">
                  <a:lnSpc>
                    <a:spcPct val="120000"/>
                  </a:lnSpc>
                  <a:buNone/>
                </a:pPr>
                <a:r>
                  <a:rPr lang="en-US" sz="1200" dirty="0">
                    <a:effectLst/>
                  </a:rPr>
                  <a:t>[182] L. Q. Yang, F. R. Zhang, T. Endo, T. Hirotsu, Microstructure of maleic anhydride grafted polyethylene by high-resolution solution-state NMR and FTIR spectroscopy, Macromolecules 36 (2003) 4709-4718.</a:t>
                </a:r>
              </a:p>
              <a:p>
                <a:pPr lvl="0" indent="-285750" marL="533400">
                  <a:lnSpc>
                    <a:spcPct val="120000"/>
                  </a:lnSpc>
                  <a:buNone/>
                </a:pPr>
                <a:r>
                  <a:rPr lang="en-US" sz="1200" dirty="0">
                    <a:effectLst/>
                  </a:rPr>
                  <a:t>[183] D. Shi, J. Yang, Z. Yao,Y. Wang, H. Huang, W. Jing, J. Yin, G. Costa, Functionalization of isotactic polypropylene with maleic anhydride by reactive extrusion: mechanism of melt grafting, Polymer 42 (2001) 5549-5557.</a:t>
                </a:r>
              </a:p>
              <a:p>
                <a:pPr lvl="0" indent="-285750" marL="533400">
                  <a:lnSpc>
                    <a:spcPct val="120000"/>
                  </a:lnSpc>
                  <a:buNone/>
                </a:pPr>
                <a:r>
                  <a:rPr lang="en-US" sz="1200" dirty="0">
                    <a:effectLst/>
                  </a:rPr>
                  <a:t>[184] Y. Zhu, L. An, W. Jiang, Monte Carlo simulation of the grafting of maleic anhydride onto polypropylene at hgher temperature, Macromolecules 36 (2003) 3714-3720.</a:t>
                </a:r>
              </a:p>
              <a:p>
                <a:pPr lvl="0" indent="-285750" marL="533400">
                  <a:lnSpc>
                    <a:spcPct val="120000"/>
                  </a:lnSpc>
                  <a:buNone/>
                </a:pPr>
                <a:r>
                  <a:rPr lang="en-US" sz="1200" dirty="0">
                    <a:effectLst/>
                  </a:rPr>
                  <a:t>[185] J. Cha, J. L. White, Maleic anhydride modification of polyolefin in an internal mixer and a twin-screw extruder: Experiment and kinetic model. Polym. Eng. Sci. 41(2001) 1227-1237.</a:t>
                </a:r>
              </a:p>
              <a:p>
                <a:pPr lvl="0" indent="-285750" marL="533400">
                  <a:lnSpc>
                    <a:spcPct val="120000"/>
                  </a:lnSpc>
                  <a:buNone/>
                </a:pPr>
                <a:r>
                  <a:rPr lang="en-US" sz="1200" dirty="0">
                    <a:effectLst/>
                  </a:rPr>
                  <a:t>[186] N. G. Gaylord, Polymerization Reaction and New Polymers, (ACS Adv. Chem. Ser., 129, American Chemical Society, Washington, D.C., 1973, p. 209).</a:t>
                </a:r>
              </a:p>
              <a:p>
                <a:pPr lvl="0" indent="-285750" marL="533400">
                  <a:lnSpc>
                    <a:spcPct val="120000"/>
                  </a:lnSpc>
                  <a:buNone/>
                </a:pPr>
                <a:r>
                  <a:rPr lang="en-US" sz="1200" dirty="0">
                    <a:effectLst/>
                  </a:rPr>
                  <a:t>[187] B. Schulz, M. Hartman, Synthese und charakterisierung carboxyl gruppenhaltiger ataktischer polypropylene, Acta Polymerica 36 (1985) 361-365.</a:t>
                </a:r>
              </a:p>
              <a:p>
                <a:pPr lvl="0" indent="-285750" marL="533400">
                  <a:lnSpc>
                    <a:spcPct val="120000"/>
                  </a:lnSpc>
                  <a:buNone/>
                </a:pPr>
                <a:r>
                  <a:rPr lang="en-US" sz="1200" dirty="0">
                    <a:effectLst/>
                  </a:rPr>
                  <a:t>[188] M. Zhang, J. Duhamel, M. van Duin, P. Meessen, Characterization by fluorescence of the distribution of maleic anhydride grafted onto ethylene-propylene copolymers, Macromolecules 37 (2004) 1877-1890.</a:t>
                </a:r>
              </a:p>
              <a:p>
                <a:pPr lvl="0" indent="-285750" marL="533400">
                  <a:lnSpc>
                    <a:spcPct val="120000"/>
                  </a:lnSpc>
                  <a:buNone/>
                </a:pPr>
                <a:r>
                  <a:rPr lang="en-US" sz="1200" dirty="0">
                    <a:effectLst/>
                  </a:rPr>
                  <a:t>[189] J. Yu, J. He, Crystallization kinetics of maleic anhydride grafted polypropylene ionomers, Polymer 41 (2004) 891-898.</a:t>
                </a:r>
              </a:p>
              <a:p>
                <a:pPr lvl="0" indent="-285750" marL="533400">
                  <a:lnSpc>
                    <a:spcPct val="120000"/>
                  </a:lnSpc>
                  <a:buNone/>
                </a:pPr>
                <a:r>
                  <a:rPr lang="en-US" sz="1200" dirty="0">
                    <a:effectLst/>
                  </a:rPr>
                  <a:t>[190] M. Tessier, E. Marechal, Synthesis of mono and difunctional oligoisobutylenes-III. Modification of </a:t>
                </a:r>
                <a:r>
                  <a:rPr lang="en-US" sz="1200" dirty="0">
                    <a:effectLst/>
                  </a:rPr>
                  <a:t>​</a:t>
                </a:r>
                <a14:m>
                  <m:oMath>
                    <m:r>
                      <m:rPr>
                        <m:sty m:val="i"/>
                      </m:rPr>
                      <a:rPr lang="en-US" sz="1200" dirty="0">
                        <a:solidFill>
                          <a:srgbClr val="000000"/>
                        </a:solidFill>
                        <a:effectLst/>
                      </a:rPr>
                      <m:t>α</m:t>
                    </m:r>
                  </m:oMath>
                </a14:m>
                <a:r>
                  <a:rPr lang="en-US" sz="1200" dirty="0">
                    <a:effectLst/>
                  </a:rPr>
                  <a:t>-chloro-oligoiso-</a:t>
                </a:r>
              </a:p>
            </p:txBody>
          </p:sp>
        </mc:Choice>
        <mc:Fallback/>
      </mc:AlternateContent>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685800"/>
          </a:xfrm>
          <a:prstGeom prst="rect">
            <a:avLst/>
          </a:prstGeom>
        </p:spPr>
        <p:txBody>
          <a:bodyPr anchor="t" lIns="0" tIns="0" rIns="0" bIns="0">
            <a:noAutofit/>
          </a:bodyPr>
          <a:lstStyle/>
          <a:p>
            <a:pPr>
              <a:lnSpc>
                <a:spcPct val="120000"/>
              </a:lnSpc>
            </a:pPr>
            <a:r>
              <a:rPr lang="en-US" sz="1800" dirty="0" b="1">
                <a:effectLst/>
              </a:rPr>
              <a:t>International Review of Chemical Engineering, volume 3, No 2, March, 2011 Int. Rev.Chem. Eng., 3(2011) 153-215</a:t>
            </a:r>
          </a:p>
        </p:txBody>
      </p:sp>
      <mc:AlternateContent xmlns:mc="http://schemas.openxmlformats.org/markup-compatibility/2006">
        <mc:Choice xmlns:a14="http://schemas.microsoft.com/office/drawing/2010/main" Requires="a14">
          <p:sp>
            <p:nvSpPr>
              <p:cNvPr id="2" name="Text"/>
              <p:cNvSpPr/>
              <p:nvPr/>
            </p:nvSpPr>
            <p:spPr>
              <a:xfrm>
                <a:off x="1524000" y="1332739"/>
                <a:ext cx="9144000" cy="5029200"/>
              </a:xfrm>
              <a:prstGeom prst="rect">
                <a:avLst/>
              </a:prstGeom>
            </p:spPr>
            <p:txBody>
              <a:bodyPr anchor="t" lIns="0" tIns="0" rIns="0" bIns="0">
                <a:noAutofit/>
              </a:bodyPr>
              <a:lstStyle/>
              <a:p>
                <a:pPr>
                  <a:lnSpc>
                    <a:spcPct val="120000"/>
                  </a:lnSpc>
                </a:pPr>
                <a:r>
                  <a:rPr lang="en-US" sz="1200" dirty="0">
                    <a:effectLst/>
                  </a:rPr>
                  <a:t>butylene by reaction with maleic anhydride, Eur. Polym. J. 20 (1984) 269-280.</a:t>
                </a:r>
                <a:br>
                  <a:rPr lang="en-US" sz="1200" dirty="0"/>
                </a:br>
                <a:r>
                  <a:rPr lang="en-US" sz="1200" dirty="0">
                    <a:effectLst/>
                  </a:rPr>
                  <a:t> [191] K. E. Russell, E. C. Kelusky, Grafting of maleic anhydride to </a:t>
                </a:r>
                <a:r>
                  <a:rPr lang="en-US" sz="1200" dirty="0">
                    <a:effectLst/>
                  </a:rPr>
                  <a:t>​</a:t>
                </a:r>
                <a14:m>
                  <m:oMath>
                    <m:r>
                      <m:rPr>
                        <m:sty m:val="i"/>
                      </m:rPr>
                      <a:rPr lang="en-US" sz="1200" dirty="0">
                        <a:solidFill>
                          <a:srgbClr val="000000"/>
                        </a:solidFill>
                        <a:effectLst/>
                      </a:rPr>
                      <m:t>n</m:t>
                    </m:r>
                  </m:oMath>
                </a14:m>
                <a:r>
                  <a:rPr lang="en-US" sz="1200" dirty="0">
                    <a:effectLst/>
                  </a:rPr>
                  <a:t> eicosane, J. Polym. Sci. Part A: Polym. Chem. 26 (1988) 2273-2280.</a:t>
                </a:r>
                <a:br>
                  <a:rPr lang="en-US" sz="1200" dirty="0"/>
                </a:br>
                <a:r>
                  <a:rPr lang="en-US" sz="1200" dirty="0">
                    <a:effectLst/>
                  </a:rPr>
                  <a:t> [192] N. G. Gaylord, M. Mehta, Role of homopolymerization in the peroxide-catalyzed reaction of maleic anhydride and polyethylene in the absence of solvent, J. Polym. Sci. Polym. Lett. Ed. 20 (1982) 481-486.</a:t>
                </a:r>
                <a:br>
                  <a:rPr lang="en-US" sz="1200" dirty="0"/>
                </a:br>
                <a:r>
                  <a:rPr lang="en-US" sz="1200" dirty="0">
                    <a:effectLst/>
                  </a:rPr>
                  <a:t> [193] E. M. B. Coutinho, M. I. P. Ferreira, Optimization of reaction conditions of bulk functionalization of EPDM rubbers with maleic anhydride, Eur. Polym. J. 30 (1994) 911-918.</a:t>
                </a:r>
                <a:br>
                  <a:rPr lang="en-US" sz="1200" dirty="0"/>
                </a:br>
                <a:r>
                  <a:rPr lang="en-US" sz="1200" dirty="0">
                    <a:effectLst/>
                  </a:rPr>
                  <a:t> [194] V. Vangani, J. Duhamel, S. Nemeth, T.-C. Jao, Study of a polymeric network by dynamic fluorescence quenching using a blob model, Macromolecules 32 (1999) 2845-2854.</a:t>
                </a:r>
                <a:br>
                  <a:rPr lang="en-US" sz="1200" dirty="0"/>
                </a:br>
                <a:r>
                  <a:rPr lang="en-US" sz="1200" dirty="0">
                    <a:effectLst/>
                  </a:rPr>
                  <a:t> [195] V. Vangani, J. Drage, J. Mehta, A. K. Mathew, J. Duhamel, Maleated ethylene-propylene random copolymers: Determination of the microstructure and association level by fluorescence spectroscopy, J. Phys. Chem. B 105 (2001) 4827-4839.</a:t>
                </a:r>
                <a:br>
                  <a:rPr lang="en-US" sz="1200" dirty="0"/>
                </a:br>
                <a:r>
                  <a:rPr lang="en-US" sz="1200" dirty="0">
                    <a:effectLst/>
                  </a:rPr>
                  <a:t> [196] S.-G. Hong, F. Cheng, Adhesion properties of a thermoplastic olefin elastomer grafted with maleic anhydride under ozone, Angew. Makromol. Chem. 259 (1998) 25-31.</a:t>
                </a:r>
                <a:br>
                  <a:rPr lang="en-US" sz="1200" dirty="0"/>
                </a:br>
                <a:r>
                  <a:rPr lang="en-US" sz="1200" dirty="0">
                    <a:effectLst/>
                  </a:rPr>
                  <a:t> [197] B. Jurkowski, S. S. Pesetskii, Y. A. Olkhov, Y. M. Krivoguz, K. Kelar, Investigation of molecular structure of LDPE modified by itaconic acid grafting, J. Appl. Polym. Sci. 71 (1999) 1771-1779.</a:t>
                </a:r>
                <a:br>
                  <a:rPr lang="en-US" sz="1200" dirty="0"/>
                </a:br>
                <a:r>
                  <a:rPr lang="en-US" sz="1200" dirty="0">
                    <a:effectLst/>
                  </a:rPr>
                  <a:t> [198] S. S. Pesetskii, B. Jurkowski, Y. M. Krivoguz, R. Urbanowicz, Itaconic acid grafting on LDPE blended in molten state, J. Appl. Polym. Sci. 65 (1997) 1493-502.</a:t>
                </a:r>
                <a:br>
                  <a:rPr lang="en-US" sz="1200" dirty="0"/>
                </a:br>
                <a:r>
                  <a:rPr lang="en-US" sz="1200" dirty="0">
                    <a:effectLst/>
                  </a:rPr>
                  <a:t> [199] Y. M. Krivoguz, S. S. Pesetskii, B. Jurkowski, Y. A. Olkhov, Solubility of additives: Grafting of itaconic acid onto LDPE by reactive extrusion. II. Effect of stabilizers, J. Appl. Polym. Sci. 81 (2001) 3439-3448.</a:t>
                </a:r>
                <a:br>
                  <a:rPr lang="en-US" sz="1200" dirty="0"/>
                </a:br>
                <a:r>
                  <a:rPr lang="en-US" sz="1200" dirty="0">
                    <a:effectLst/>
                  </a:rPr>
                  <a:t> [200] Y. M. Krivoguz, S. S. Pesetskii, B. Jurkowski, Grafting of itaconic acid onto LDPE by the reactive extrusion: Effect of neutralizing agents, J. Appl. Polym. Sci. 89 (2003) 828-836.</a:t>
                </a:r>
                <a:br>
                  <a:rPr lang="en-US" sz="1200" dirty="0"/>
                </a:br>
                <a:r>
                  <a:rPr lang="en-US" sz="1200" dirty="0">
                    <a:effectLst/>
                  </a:rPr>
                  <a:t> [201] S. S. Pesetskii, Y. M. Krivoguz, B. Jurkowski, Structure and proper-ies of polyamide 6 blends with low-density polyethylene grafted by itaconic acid and with neutralized carboxyl groups, J. Appl. Polym. Sci. 92 (2004) 1702-1708.</a:t>
                </a:r>
              </a:p>
            </p:txBody>
          </p:sp>
        </mc:Choice>
        <mc:Fallback/>
      </mc:AlternateContent>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5943600"/>
          </a:xfrm>
          <a:prstGeom prst="rect">
            <a:avLst/>
          </a:prstGeom>
        </p:spPr>
        <p:txBody>
          <a:bodyPr anchor="t" lIns="0" tIns="0" rIns="0" bIns="0">
            <a:noAutofit/>
          </a:bodyPr>
          <a:lstStyle/>
          <a:p>
            <a:pPr>
              <a:lnSpc>
                <a:spcPct val="120000"/>
              </a:lnSpc>
            </a:pPr>
            <a:r>
              <a:rPr lang="en-US" sz="1200" dirty="0">
                <a:effectLst/>
              </a:rPr>
              <a:t> [202] Y. M. Krivoguz, S. S. Pesetskii, B. Jurkowski, T. Tomczyk, Structure and properties of polypropylene/low density polyethylene blends grafted with itaconic acid in the course of reactive extrusion, J. Appl. Polym. Sci. 102 (2006) 1746-1754.</a:t>
            </a:r>
            <a:br>
              <a:rPr lang="en-US" sz="1200" dirty="0"/>
            </a:br>
            <a:r>
              <a:rPr lang="en-US" sz="1200" dirty="0">
                <a:effectLst/>
              </a:rPr>
              <a:t> [203] J. M. Willis, B. D. Favis, Processing-morphology relationships of compatibilized polyolefin/polyamide blends. Part I: The effect of an lonomer compatibilizer on blend morphology, Polym. Eng. Sci. 28 (1998) 1416-1426.</a:t>
            </a:r>
            <a:br>
              <a:rPr lang="en-US" sz="1200" dirty="0"/>
            </a:br>
            <a:r>
              <a:rPr lang="en-US" sz="1200" dirty="0">
                <a:effectLst/>
              </a:rPr>
              <a:t> [204] Y. Zhu, R. Zhang, W. Jiang , Grafting of maleic anhydride onto linear polyethylene: A Monte Carlo study, J. Polym. Sci. Part A: Polym. Chem. 42 (2004) 5714-5724.</a:t>
            </a:r>
            <a:br>
              <a:rPr lang="en-US" sz="1200" dirty="0"/>
            </a:br>
            <a:r>
              <a:rPr lang="en-US" sz="1200" dirty="0">
                <a:effectLst/>
              </a:rPr>
              <a:t> [205] E. Passaglia E, S. Coiai, M. Aglietto, G. Ruggert, M. Ruberta, F. Ciardelli, Functionalization of polyolefins by reactive processing: influence of starting reagents on content and type of grafted groups, Macromol. Symp. 198 (2003) 147-160.</a:t>
            </a:r>
            <a:br>
              <a:rPr lang="en-US" sz="1200" dirty="0"/>
            </a:br>
            <a:r>
              <a:rPr lang="en-US" sz="1200" dirty="0">
                <a:effectLst/>
              </a:rPr>
              <a:t> [206] F. Romani, R. Corrieri, V. Braga, F. Ciardelli, Monitoring the chemical crosslinking of propylene polymers through rheology, Polymer 43 (2002) 1115-1131.</a:t>
            </a:r>
            <a:br>
              <a:rPr lang="en-US" sz="1200" dirty="0"/>
            </a:br>
            <a:r>
              <a:rPr lang="en-US" sz="1200" dirty="0">
                <a:effectLst/>
              </a:rPr>
              <a:t> [207] S. Augier, S. Coiai, T. Gragnoli, E. Passaglia, J.-L. Pradel, J. J. Flat, Coagent assisted polypropylene radical functionalization: monomer grafting modulation and molecular weight conservation, Polymer 47 (2006) 5243-5252.</a:t>
            </a:r>
            <a:br>
              <a:rPr lang="en-US" sz="1200" dirty="0"/>
            </a:br>
            <a:r>
              <a:rPr lang="en-US" sz="1200" dirty="0">
                <a:effectLst/>
              </a:rPr>
              <a:t> [208] S. Coiai, E. Passaglia, M. Aglietto, F. Ciardelli, Control of degradation reactions during radical functionalization of polypropylene in the melt, Macromolecules 37 (2004) 8414-8423.</a:t>
            </a:r>
            <a:br>
              <a:rPr lang="en-US" sz="1200" dirty="0"/>
            </a:br>
            <a:r>
              <a:rPr lang="en-US" sz="1200" dirty="0">
                <a:effectLst/>
              </a:rPr>
              <a:t> [209] S. Al-Malaika, N. Suharty, Reactive processing of polymers: mechanisms of grafting reactions of functional antioxidants on polyolefins in the presence of a coagent, Polym. Degrad. Stab. 49 (1995) 77-89.</a:t>
            </a:r>
            <a:br>
              <a:rPr lang="en-US" sz="1200" dirty="0"/>
            </a:br>
            <a:r>
              <a:rPr lang="en-US" sz="1200" dirty="0">
                <a:effectLst/>
              </a:rPr>
              <a:t> [210] J. Pospisil, Macromolecular stabilizers for polymers. Angew. Makromol. Chem. 158 (1988) 221-231.</a:t>
            </a:r>
            <a:br>
              <a:rPr lang="en-US" sz="1200" dirty="0"/>
            </a:br>
            <a:r>
              <a:rPr lang="en-US" sz="1200" dirty="0">
                <a:effectLst/>
              </a:rPr>
              <a:t> [211] T. H. Kim, N. K. Kim, D. R. Oh, M. S. Lee, K. H. Chae, S. Kaang,</a:t>
            </a:r>
            <a:br>
              <a:rPr lang="en-US" sz="1200" dirty="0"/>
            </a:br>
            <a:r>
              <a:rPr lang="en-US" sz="1200" dirty="0">
                <a:effectLst/>
              </a:rPr>
              <a:t> Melt free-radical grafting of hindered phenol antioxidant onto polyethylene, J. Appl. Polym. Sci. 77 (2000) 2968-2973.</a:t>
            </a:r>
            <a:br>
              <a:rPr lang="en-US" sz="1200" dirty="0"/>
            </a:br>
            <a:r>
              <a:rPr lang="en-US" sz="1200" dirty="0">
                <a:effectLst/>
              </a:rPr>
              <a:t> [212] T. H. Kim, Melt free-radical grafting of maleimides with hindered</a:t>
            </a:r>
            <a:br>
              <a:rPr lang="en-US" sz="1200" dirty="0"/>
            </a:br>
            <a:r>
              <a:rPr lang="en-US" sz="1200" dirty="0">
                <a:effectLst/>
              </a:rPr>
              <a:t> phenol groups onto polyethylene, J. Appl. Polym. Sci. 9 (2004) 4117-2122.</a:t>
            </a:r>
            <a:br>
              <a:rPr lang="en-US" sz="1200" dirty="0"/>
            </a:br>
            <a:r>
              <a:rPr lang="en-US" sz="1200" dirty="0">
                <a:effectLst/>
              </a:rPr>
              <a:t> [213] D. R. Oh, N. K. Kim, N. Lee, K. H. Chae, S. Kaang, M. S. Lee, T. H. Kim, Synthesis of new polymeric antioxidants, Bull. Korean Chem. Soc. 22 (2001) 629-632.</a:t>
            </a:r>
            <a:br>
              <a:rPr lang="en-US" sz="1200" dirty="0"/>
            </a:br>
            <a:r>
              <a:rPr lang="en-US" sz="1200" dirty="0">
                <a:effectLst/>
              </a:rPr>
              <a:t> [214] S. Cimmino, L. d'Orazio, R. Greco, G. Maglio, M. Malinconico, C. Mancarella, E. Martuscelli, R. Palumbo, G. Ragosta, Morphology-properties relationships in binary polyamide 6/rubber blends: Influence of the addition of a functionalized rubber, Polym. Eng. Sci. 24 (1984) 48-56.</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cNvSpPr/>
              <p:nvPr/>
            </p:nvSpPr>
            <p:spPr>
              <a:xfrm>
                <a:off x="1524000" y="457200"/>
                <a:ext cx="9144000" cy="5943600"/>
              </a:xfrm>
              <a:prstGeom prst="rect">
                <a:avLst/>
              </a:prstGeom>
            </p:spPr>
            <p:txBody>
              <a:bodyPr anchor="t" lIns="0" tIns="0" rIns="0" bIns="0">
                <a:noAutofit/>
              </a:bodyPr>
              <a:lstStyle/>
              <a:p>
                <a:pPr>
                  <a:lnSpc>
                    <a:spcPct val="120000"/>
                  </a:lnSpc>
                </a:pPr>
                <a:r>
                  <a:rPr lang="en-US" sz="1200" dirty="0">
                    <a:effectLst/>
                  </a:rPr>
                  <a:t> [215] N. C. Gaylord M. Mehta, R. Mehta, Degradation and cross-linking of ethylene-propylene copolymer rubber on reaction with maleic anhydride and/or peroxides, J. Appl. Polym. Sci. 33 (1987) 2549-2558.</a:t>
                </a:r>
                <a:br>
                  <a:rPr lang="en-US" sz="1200" dirty="0"/>
                </a:br>
                <a:r>
                  <a:rPr lang="en-US" sz="1200" dirty="0">
                    <a:effectLst/>
                  </a:rPr>
                  <a:t> [216] D. Braun, U. Eisenlohr, Über die umsetzung von polyäthylen mit maleinsäureanhydrid, Angew. Makromol. Chem. 55 (1976) 43-57.</a:t>
                </a:r>
                <a:br>
                  <a:rPr lang="en-US" sz="1200" dirty="0"/>
                </a:br>
                <a:r>
                  <a:rPr lang="en-US" sz="1200" dirty="0">
                    <a:effectLst/>
                  </a:rPr>
                  <a:t> [217] K. E. Russell, Grafting of maleic anhydride to hydrocarbons below the ceiling temperature, J. Polym. Sci. Part A: Polym. Chem. 33 (1995) 555-561.</a:t>
                </a:r>
                <a:br>
                  <a:rPr lang="en-US" sz="1200" dirty="0"/>
                </a:br>
                <a:r>
                  <a:rPr lang="en-US" sz="1200" dirty="0">
                    <a:effectLst/>
                  </a:rPr>
                  <a:t> [218] M. Lambla, Comprehensive Polymer Science, First Supplement, (Pergamon Press, New York, 1982).</a:t>
                </a:r>
                <a:br>
                  <a:rPr lang="en-US" sz="1200" dirty="0"/>
                </a:br>
                <a:r>
                  <a:rPr lang="en-US" sz="1200" dirty="0">
                    <a:effectLst/>
                  </a:rPr>
                  <a:t> [219] A. Priola, R. Bongiovanni, G. Gozzelino, Solvent influence on the radical grafting of maleic anhydride on low density polyethylene, Eur. Polym. J. 30 (1994) 1047-1050.</a:t>
                </a:r>
                <a:br>
                  <a:rPr lang="en-US" sz="1200" dirty="0"/>
                </a:br>
                <a:r>
                  <a:rPr lang="en-US" sz="1200" dirty="0">
                    <a:effectLst/>
                  </a:rPr>
                  <a:t> [220] G. Ruggeri, M. Aglietto, A. Petragnani, F. Ciardelli, Some aspects of polypropylene functionalization by free radical reactions, Eur. Polym. J. 19 (1983) 863-866.</a:t>
                </a:r>
                <a:br>
                  <a:rPr lang="en-US" sz="1200" dirty="0"/>
                </a:br>
                <a:r>
                  <a:rPr lang="en-US" sz="1200" dirty="0">
                    <a:effectLst/>
                  </a:rPr>
                  <a:t> [221] B. Lu, T. C. Chung, New maleic anhydride modified PP copolymers with block structure: Synthesis and application in PP/Polyamide reactive blends, Macromolecules 32 (1999) 2525-2533.</a:t>
                </a:r>
                <a:br>
                  <a:rPr lang="en-US" sz="1200" dirty="0"/>
                </a:br>
                <a:r>
                  <a:rPr lang="en-US" sz="1200" dirty="0">
                    <a:effectLst/>
                  </a:rPr>
                  <a:t> [222] M. Xanthos, Reactive Extrusion (Hanser Publisher, 1992).</a:t>
                </a:r>
                <a:br>
                  <a:rPr lang="en-US" sz="1200" dirty="0"/>
                </a:br>
                <a:r>
                  <a:rPr lang="en-US" sz="1200" dirty="0">
                    <a:effectLst/>
                  </a:rPr>
                  <a:t> [223] W. Heinen, M. van Duin, C. B. Wenzel, H. C. J. Rosenmöller, M. de Groot, L. Lugtenburg,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13</m:t>
                        </m:r>
                      </m:sup>
                    </m:sSup>
                    <m:r>
                      <m:rPr>
                        <m:sty m:val="p"/>
                      </m:rPr>
                      <a:rPr lang="en-US" sz="1200" dirty="0">
                        <a:solidFill>
                          <a:srgbClr val="000000"/>
                        </a:solidFill>
                        <a:effectLst/>
                      </a:rPr>
                      <m:t>C</m:t>
                    </m:r>
                    <m:r>
                      <m:rPr>
                        <m:sty m:val="p"/>
                      </m:rPr>
                      <a:rPr lang="en-US" sz="1200" dirty="0">
                        <a:solidFill>
                          <a:srgbClr val="000000"/>
                        </a:solidFill>
                        <a:effectLst/>
                      </a:rPr>
                      <m:t>NMR</m:t>
                    </m:r>
                  </m:oMath>
                </a14:m>
                <a:r>
                  <a:rPr lang="en-US" sz="1200" dirty="0">
                    <a:effectLst/>
                  </a:rPr>
                  <a:t> study of the grafting of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13</m:t>
                        </m:r>
                      </m:sup>
                    </m:sSup>
                    <m:r>
                      <m:rPr>
                        <m:sty m:val="p"/>
                      </m:rPr>
                      <a:rPr lang="en-US" sz="1200" dirty="0">
                        <a:solidFill>
                          <a:srgbClr val="000000"/>
                        </a:solidFill>
                        <a:effectLst/>
                      </a:rPr>
                      <m:t>C</m:t>
                    </m:r>
                  </m:oMath>
                </a14:m>
                <a:r>
                  <a:rPr lang="en-US" sz="1200" dirty="0">
                    <a:effectLst/>
                  </a:rPr>
                  <a:t> labelled maleic anhydride onto PE, PP and EPM, Macromol. Symp. 129 (1998) 119-125.</a:t>
                </a:r>
                <a:br>
                  <a:rPr lang="en-US" sz="1200" dirty="0"/>
                </a:br>
                <a:r>
                  <a:rPr lang="en-US" sz="1200" dirty="0">
                    <a:effectLst/>
                  </a:rPr>
                  <a:t> [224] M. Sclavons, V. Carlier, B. De Roover, P. Franquinet, J. Devaux, R. Legras, The anhydride content of some commercial PP- </a:t>
                </a:r>
                <a:r>
                  <a:rPr lang="en-US" sz="1200" dirty="0">
                    <a:effectLst/>
                  </a:rPr>
                  <a:t>​</a:t>
                </a:r>
                <a14:m>
                  <m:oMath>
                    <m:r>
                      <m:rPr>
                        <m:sty m:val="i"/>
                      </m:rPr>
                      <a:rPr lang="en-US" sz="1200" dirty="0">
                        <a:solidFill>
                          <a:srgbClr val="000000"/>
                        </a:solidFill>
                        <a:effectLst/>
                      </a:rPr>
                      <m:t>g</m:t>
                    </m:r>
                  </m:oMath>
                </a14:m>
                <a:r>
                  <a:rPr lang="en-US" sz="1200" dirty="0">
                    <a:effectLst/>
                  </a:rPr>
                  <a:t> -MA: FTIR and titration, J. Appl. Polym. Sci. 62 (1996) 1205-1210.</a:t>
                </a:r>
                <a:br>
                  <a:rPr lang="en-US" sz="1200" dirty="0"/>
                </a:br>
                <a:r>
                  <a:rPr lang="en-US" sz="1200" dirty="0">
                    <a:effectLst/>
                  </a:rPr>
                  <a:t> [225] N. G. Caylord, Reactive Extrusion (Munich, Germany, 1992).</a:t>
                </a:r>
                <a:br>
                  <a:rPr lang="en-US" sz="1200" dirty="0"/>
                </a:br>
                <a:r>
                  <a:rPr lang="en-US" sz="1200" dirty="0">
                    <a:effectLst/>
                  </a:rPr>
                  <a:t> [226] S. Nemeth, T.-C. Jao, J. H. Fendler, Distribution of functional groups grafted onto an ethylene-propylene copolymer, J. Polym. Sci. Part B: Polym. Phys. 34 (1996) 1723-1732.</a:t>
                </a:r>
                <a:br>
                  <a:rPr lang="en-US" sz="1200" dirty="0"/>
                </a:br>
                <a:r>
                  <a:rPr lang="en-US" sz="1200" dirty="0">
                    <a:effectLst/>
                  </a:rPr>
                  <a:t> [227] N. C. Liu, W. E. Baker, Basic functionalization of polypropylene and the role of interfacial chemical bonding in its toughening, Polymer 35 (1994) 988-994.</a:t>
                </a:r>
                <a:br>
                  <a:rPr lang="en-US" sz="1200" dirty="0"/>
                </a:br>
                <a:r>
                  <a:rPr lang="en-US" sz="1200" dirty="0">
                    <a:effectLst/>
                  </a:rPr>
                  <a:t> [228] I. H. Gross, T. M. Bartlett (Union Carbide Co. Danbury, CT), Process for grafting diacid anhydrides, US Pat 4,857,600 (1989).</a:t>
                </a:r>
                <a:br>
                  <a:rPr lang="en-US" sz="1200" dirty="0"/>
                </a:br>
                <a:r>
                  <a:rPr lang="en-US" sz="1200" dirty="0">
                    <a:effectLst/>
                  </a:rPr>
                  <a:t> [229] I. Novak, I. Krupa, A. S. Luyt, Modification of a Fischer-Tropsch wax by grafting with maleic anhydride, J. Appl. Polym. Sci.. 93 (2004) 662-668.</a:t>
                </a:r>
              </a:p>
            </p:txBody>
          </p:sp>
        </mc:Choice>
        <mc:Fallback/>
      </mc:AlternateContent>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5" name="Text"/>
          <p:cNvSpPr/>
          <p:nvPr/>
        </p:nvSpPr>
        <p:spPr>
          <a:xfrm>
            <a:off x="1524000" y="457200"/>
            <a:ext cx="9144000" cy="914400"/>
          </a:xfrm>
          <a:prstGeom prst="rect">
            <a:avLst/>
          </a:prstGeom>
        </p:spPr>
        <p:txBody>
          <a:bodyPr anchor="t" lIns="0" tIns="0" rIns="0" bIns="0">
            <a:noAutofit/>
          </a:bodyPr>
          <a:lstStyle/>
          <a:p>
            <a:pPr>
              <a:lnSpc>
                <a:spcPct val="120000"/>
              </a:lnSpc>
            </a:pPr>
            <a:r>
              <a:rPr lang="en-US" sz="1200" dirty="0">
                <a:effectLst/>
              </a:rPr>
              <a:t> [230] I. Novak, I. Krupa, A. S. Luyt, Modification of the polarity and adhesive properties of polyolefins through blending with maleic anhydride grafted Fischer-Tropsch parafin wax, J. Appl. Polym. Sci. 100 (2006) 3069-3074.</a:t>
            </a:r>
            <a:br>
              <a:rPr lang="en-US" sz="1200" dirty="0"/>
            </a:br>
            <a:r>
              <a:rPr lang="en-US" sz="1200" dirty="0">
                <a:effectLst/>
              </a:rPr>
              <a:t> [231] T. Hagiwara, A. Matsumaru, Y. Okada, D. Sasaki, S. Yano, T. Sawaguchi, Functionalization and application of telechelic oligo-propylenes. II. Introduction of succinic anhydride units</a:t>
            </a:r>
          </a:p>
        </p:txBody>
      </p:sp>
      <p:sp>
        <p:nvSpPr>
          <p:cNvPr id="2" name="Text"/>
          <p:cNvSpPr/>
          <p:nvPr/>
        </p:nvSpPr>
        <p:spPr>
          <a:xfrm>
            <a:off x="1524000" y="1524000"/>
            <a:ext cx="9144000" cy="685800"/>
          </a:xfrm>
          <a:prstGeom prst="rect">
            <a:avLst/>
          </a:prstGeom>
        </p:spPr>
        <p:txBody>
          <a:bodyPr anchor="t" lIns="0" tIns="0" rIns="0" bIns="0">
            <a:noAutofit/>
          </a:bodyPr>
          <a:lstStyle/>
          <a:p>
            <a:pPr>
              <a:lnSpc>
                <a:spcPct val="120000"/>
              </a:lnSpc>
            </a:pPr>
            <a:r>
              <a:rPr lang="en-US" sz="1800" dirty="0" b="1">
                <a:effectLst/>
              </a:rPr>
              <a:t>International Review of Chemical Engineering, volume 3, No 2, March, 2011 Int. Rev.Chem. Eng., 3(2011) 153-215</a:t>
            </a:r>
          </a:p>
        </p:txBody>
      </p:sp>
      <mc:AlternateContent xmlns:mc="http://schemas.openxmlformats.org/markup-compatibility/2006">
        <mc:Choice xmlns:a14="http://schemas.microsoft.com/office/drawing/2010/main" Requires="a14">
          <p:sp>
            <p:nvSpPr>
              <p:cNvPr id="2" name="Text"/>
              <p:cNvSpPr/>
              <p:nvPr/>
            </p:nvSpPr>
            <p:spPr>
              <a:xfrm>
                <a:off x="1524000" y="2399539"/>
                <a:ext cx="9144000" cy="3429000"/>
              </a:xfrm>
              <a:prstGeom prst="rect">
                <a:avLst/>
              </a:prstGeom>
            </p:spPr>
            <p:txBody>
              <a:bodyPr anchor="t" lIns="0" tIns="0" rIns="0" bIns="0">
                <a:noAutofit/>
              </a:bodyPr>
              <a:lstStyle/>
              <a:p>
                <a:pPr lvl="0" indent="-285750" marL="533400">
                  <a:lnSpc>
                    <a:spcPct val="120000"/>
                  </a:lnSpc>
                  <a:buNone/>
                </a:pPr>
                <a:r>
                  <a:rPr lang="en-US" sz="1200" dirty="0">
                    <a:effectLst/>
                  </a:rPr>
                  <a:t>and preparation of multiblock copolyolefins by polycondensation, J. Polym. Sci. Part A: Poluym. Chem. 44 (2006) 406-3409.</a:t>
                </a:r>
              </a:p>
              <a:p>
                <a:pPr lvl="0" indent="-285750" marL="533400">
                  <a:lnSpc>
                    <a:spcPct val="120000"/>
                  </a:lnSpc>
                  <a:buNone/>
                </a:pPr>
                <a:r>
                  <a:rPr lang="en-US" sz="1200" dirty="0">
                    <a:effectLst/>
                  </a:rPr>
                  <a:t>[232] T. Hagiwara, H. Saitoh, A. Tobe, D. Sasaki, S. Yano, T. Sawaguchi, Functionalization and applications of telechelic oligopropylenes: preparation of </a:t>
                </a:r>
                <a:r>
                  <a:rPr lang="en-US" sz="1200" dirty="0">
                    <a:effectLst/>
                  </a:rPr>
                  <a:t>​</a:t>
                </a:r>
                <a14:m>
                  <m:oMath>
                    <m:r>
                      <m:rPr>
                        <m:sty m:val="bi"/>
                      </m:rPr>
                      <a:rPr lang="en-US" sz="1200" dirty="0">
                        <a:solidFill>
                          <a:srgbClr val="000000"/>
                        </a:solidFill>
                        <a:effectLst/>
                      </a:rPr>
                      <m:t>α</m:t>
                    </m:r>
                    <m:r>
                      <m:rPr>
                        <m:sty m:val="p"/>
                      </m:rPr>
                      <a:rPr lang="en-US" sz="1200" dirty="0">
                        <a:solidFill>
                          <a:srgbClr val="000000"/>
                        </a:solidFill>
                        <a:effectLst/>
                      </a:rPr>
                      <m:t>,</m:t>
                    </m:r>
                    <m:r>
                      <m:rPr>
                        <m:sty m:val="bi"/>
                      </m:rPr>
                      <a:rPr lang="en-US" sz="1200" dirty="0">
                        <a:solidFill>
                          <a:srgbClr val="000000"/>
                        </a:solidFill>
                        <a:effectLst/>
                      </a:rPr>
                      <m:t>ω</m:t>
                    </m:r>
                  </m:oMath>
                </a14:m>
                <a:r>
                  <a:rPr lang="en-US" sz="1200" dirty="0">
                    <a:effectLst/>
                  </a:rPr>
                  <a:t>-dihydroxy- and diaminooligopropylenes, Macromolecules 38 (2005) 10373-10378.</a:t>
                </a:r>
              </a:p>
              <a:p>
                <a:pPr lvl="0" indent="-285750" marL="533400">
                  <a:lnSpc>
                    <a:spcPct val="120000"/>
                  </a:lnSpc>
                  <a:buNone/>
                </a:pPr>
                <a:r>
                  <a:rPr lang="en-US" sz="1200" dirty="0">
                    <a:effectLst/>
                  </a:rPr>
                  <a:t>[233] C. Li, Y. Zhang, Melt grafting of maleic anhydride onto lowdensity polyethylene/ polypropylene blends, Polym. Test. 22 (2003) 191-195.</a:t>
                </a:r>
              </a:p>
              <a:p>
                <a:pPr lvl="0" indent="-285750" marL="533400">
                  <a:lnSpc>
                    <a:spcPct val="120000"/>
                  </a:lnSpc>
                  <a:buNone/>
                </a:pPr>
                <a:r>
                  <a:rPr lang="en-US" sz="1200" dirty="0">
                    <a:effectLst/>
                  </a:rPr>
                  <a:t>[234] S. S. Pesetskii, B. Jurkowski, Y. M. Krivogus, T. Tomczyk, O. A. Makarenko, PP/LDPE blends produced by reactive processing. I. Grafting efficiency and rheological and highelastic properties of [PP/LDPE]-g-IA melts., J. Appl. Polym. Sci. 102 (2006) 5095-5104.</a:t>
                </a:r>
              </a:p>
              <a:p>
                <a:pPr lvl="0" indent="-285750" marL="533400">
                  <a:lnSpc>
                    <a:spcPct val="120000"/>
                  </a:lnSpc>
                  <a:buNone/>
                </a:pPr>
                <a:r>
                  <a:rPr lang="en-US" sz="1200" dirty="0">
                    <a:effectLst/>
                  </a:rPr>
                  <a:t>[235] Y. Güldoğan, S. Eğri, Z. M. O. Rzaev, E. Pişkin, Comparison of MA grafting onto powder and granular polypropylene in the melt by reactive extrusion, J. Appl. Polym. Sci. 92 (2004) 3675-3684.</a:t>
                </a:r>
              </a:p>
              <a:p>
                <a:pPr lvl="0" indent="-285750" marL="533400">
                  <a:lnSpc>
                    <a:spcPct val="120000"/>
                  </a:lnSpc>
                  <a:buNone/>
                </a:pPr>
                <a:r>
                  <a:rPr lang="en-US" sz="1200" dirty="0">
                    <a:effectLst/>
                  </a:rPr>
                  <a:t>[236] A. Yilmazbayhan, Z. M. O. Rzaev, E. Pişkin, Preparation of poly(PP-g-MA)/organic bentonite nanocomposites by reactive extrusion in thermo-oxidative degradation conditions. Eur. Polymer Congress, Moscow, Russia, June 27-July 1 (2005).</a:t>
                </a:r>
              </a:p>
              <a:p>
                <a:pPr lvl="0" indent="-285750" marL="533400">
                  <a:lnSpc>
                    <a:spcPct val="120000"/>
                  </a:lnSpc>
                  <a:buNone/>
                </a:pPr>
                <a:r>
                  <a:rPr lang="en-US" sz="1200" dirty="0">
                    <a:effectLst/>
                  </a:rPr>
                  <a:t>[237] Z. M. O. Rzaev, A. Yilmazbayhan, Design and synthesis of intercalated polyolefin / graft oligomer / organo-silicate nanocomposite architectures by green reactive extrusion in situ processing, </a:t>
                </a:r>
                <a:r>
                  <a:rPr lang="en-US" sz="1200" dirty="0">
                    <a:effectLst/>
                  </a:rPr>
                  <a:t>​</a:t>
                </a:r>
                <a14:m>
                  <m:oMath>
                    <m:r>
                      <m:rPr>
                        <m:sty m:val="p"/>
                      </m:rPr>
                      <a:rPr lang="en-US" sz="1200" dirty="0">
                        <a:solidFill>
                          <a:srgbClr val="000000"/>
                        </a:solidFill>
                        <a:effectLst/>
                      </a:rPr>
                      <m:t>10</m:t>
                    </m:r>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th </m:t>
                        </m:r>
                      </m:sup>
                    </m:sSup>
                  </m:oMath>
                </a14:m>
                <a:r>
                  <a:rPr lang="en-US" sz="1200" dirty="0">
                    <a:effectLst/>
                  </a:rPr>
                  <a:t> Annual Green Chemistry &amp; Engineering Conference, Washington, USA, June 26-30 (2006).</a:t>
                </a:r>
              </a:p>
            </p:txBody>
          </p:sp>
        </mc:Choice>
        <mc:Fallback/>
      </mc:AlternateContent>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5943600"/>
              </a:xfrm>
              <a:prstGeom prst="rect">
                <a:avLst/>
              </a:prstGeom>
            </p:spPr>
            <p:txBody>
              <a:bodyPr anchor="t" lIns="0" tIns="0" rIns="0" bIns="0">
                <a:noAutofit/>
              </a:bodyPr>
              <a:lstStyle/>
              <a:p>
                <a:pPr lvl="0" indent="-285750" marL="533400">
                  <a:lnSpc>
                    <a:spcPct val="120000"/>
                  </a:lnSpc>
                  <a:buNone/>
                </a:pPr>
                <a:r>
                  <a:rPr lang="en-US" sz="1200" dirty="0">
                    <a:effectLst/>
                  </a:rPr>
                  <a:t>[238] Z. M. O. Rzaev, A. Yilmazbayhan, Graft copolymers of maleic anhydride and its isostructural analogues: High performance engineering materials, </a:t>
                </a:r>
                <a:r>
                  <a:rPr lang="en-US" sz="1200" dirty="0">
                    <a:effectLst/>
                  </a:rPr>
                  <a:t>​</a:t>
                </a:r>
                <a14:m>
                  <m:oMath>
                    <m:r>
                      <m:rPr>
                        <m:sty m:val="p"/>
                      </m:rPr>
                      <a:rPr lang="en-US" sz="1200" dirty="0">
                        <a:solidFill>
                          <a:srgbClr val="000000"/>
                        </a:solidFill>
                        <a:effectLst/>
                      </a:rPr>
                      <m:t>1</m:t>
                    </m:r>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th </m:t>
                        </m:r>
                      </m:sup>
                    </m:sSup>
                  </m:oMath>
                </a14:m>
                <a:r>
                  <a:rPr lang="en-US" sz="1200" dirty="0">
                    <a:effectLst/>
                  </a:rPr>
                  <a:t> European Chemistry Congress: Sympo- sium on polymer archtectures-from structure to functional control. Budapest, Hungary, Aug. 27-31 (2006).</a:t>
                </a:r>
              </a:p>
              <a:p>
                <a:pPr lvl="0" indent="-285750" marL="533400">
                  <a:lnSpc>
                    <a:spcPct val="120000"/>
                  </a:lnSpc>
                  <a:buNone/>
                </a:pPr>
                <a:r>
                  <a:rPr lang="en-US" sz="1200" dirty="0">
                    <a:effectLst/>
                  </a:rPr>
                  <a:t>[239] S. Eğri, MS Thesis, Grafting of maleic anhydride onto powder and granular polypropylene in melt by reactive extrusion, Dpt. Chem. Eng., Hacettepe Univ., Ankara, Turkey, 2004.</a:t>
                </a:r>
              </a:p>
              <a:p>
                <a:pPr lvl="0" indent="-285750" marL="533400">
                  <a:lnSpc>
                    <a:spcPct val="120000"/>
                  </a:lnSpc>
                  <a:buNone/>
                </a:pPr>
                <a:r>
                  <a:rPr lang="en-US" sz="1200" dirty="0">
                    <a:effectLst/>
                  </a:rPr>
                  <a:t>[240] A. Yilmazbayhan,. MS Thesis, Synthesis of maleic anhydride grafted oligomer and isotactic polypropylene/silicate nano composites by reactive extrusion and their characterization, Dpt. Chem. Eng., Hacettepe Univ., Ankara, Turkey, 2006.</a:t>
                </a:r>
              </a:p>
              <a:p>
                <a:pPr lvl="0" indent="-285750" marL="533400">
                  <a:lnSpc>
                    <a:spcPct val="120000"/>
                  </a:lnSpc>
                  <a:buNone/>
                </a:pPr>
                <a:r>
                  <a:rPr lang="en-US" sz="1200" dirty="0">
                    <a:effectLst/>
                  </a:rPr>
                  <a:t>[241] Z. M. O. Rzaev, A. Yilmazbayhan, E. Alper, A one step preparation of polypropylene-compatibilizer-clay nanocomposites by reactive extrusion, Adv. Polym. Technol, 26 (2007) 41-55.</a:t>
                </a:r>
              </a:p>
              <a:p>
                <a:pPr lvl="0" indent="-285750" marL="533400">
                  <a:lnSpc>
                    <a:spcPct val="120000"/>
                  </a:lnSpc>
                  <a:buNone/>
                </a:pPr>
                <a:r>
                  <a:rPr lang="en-US" sz="1200" dirty="0">
                    <a:effectLst/>
                  </a:rPr>
                  <a:t>[242] M. Ratzsch, H. Bucka, A. Hesse, M. Arnold, Basis of solidphase grafting of polypropylene, J. Macromol. Sci.-Pure and Appl. Chem. 33 (1996) 913-926.</a:t>
                </a:r>
              </a:p>
              <a:p>
                <a:pPr lvl="0" indent="-285750" marL="533400">
                  <a:lnSpc>
                    <a:spcPct val="120000"/>
                  </a:lnSpc>
                  <a:buNone/>
                </a:pPr>
                <a:r>
                  <a:rPr lang="en-US" sz="1200" dirty="0">
                    <a:effectLst/>
                  </a:rPr>
                  <a:t>[243] R. Rengarajan, M. Vicic, S. Lee, Solid phase graft copolymerization. I. Effect of initiator and catalyst, J. Appl. Polym. Sci. 39 (1990) 1783-1791.</a:t>
                </a:r>
              </a:p>
              <a:p>
                <a:pPr lvl="0" indent="-285750" marL="533400">
                  <a:lnSpc>
                    <a:spcPct val="120000"/>
                  </a:lnSpc>
                  <a:buNone/>
                </a:pPr>
                <a:r>
                  <a:rPr lang="en-US" sz="1200" dirty="0">
                    <a:effectLst/>
                  </a:rPr>
                  <a:t>[244] S. Lee, R. Rengarajan, V. R. Parameswaran, Solid phase graft copolymerization: Effect of interfacial agent, J. Appl. Polym. Sci. 41 (1990) 1891-1894.</a:t>
                </a:r>
              </a:p>
              <a:p>
                <a:pPr lvl="0" indent="-285750" marL="533400">
                  <a:lnSpc>
                    <a:spcPct val="120000"/>
                  </a:lnSpc>
                  <a:buNone/>
                </a:pPr>
                <a:r>
                  <a:rPr lang="en-US" sz="1200" dirty="0">
                    <a:effectLst/>
                  </a:rPr>
                  <a:t>[245] D. Jia, Y. Luo, Y. Li, H. Lu, W. Fu, W. L. Cheung, Synthesis and characterization of solid-phase graft copolymer of polypropylene with styrene and maleic anhydride, J. Appl. Polym. Sci. 78 (2000) 2482-2487.</a:t>
                </a:r>
              </a:p>
              <a:p>
                <a:pPr lvl="0" indent="-285750" marL="533400">
                  <a:lnSpc>
                    <a:spcPct val="120000"/>
                  </a:lnSpc>
                  <a:buNone/>
                </a:pPr>
                <a:r>
                  <a:rPr lang="en-US" sz="1200" dirty="0">
                    <a:effectLst/>
                  </a:rPr>
                  <a:t>[246] G. Akovalı G, Z. M. O. Rzaev, D. H. Mamedov, Plasma surface modification of propylene-based polymers by silicon and tincontaining compounds, J. Appl. Polym. Sci. 58 (1996) 645-651.</a:t>
                </a:r>
              </a:p>
              <a:p>
                <a:pPr lvl="0" indent="-285750" marL="533400">
                  <a:lnSpc>
                    <a:spcPct val="120000"/>
                  </a:lnSpc>
                  <a:buNone/>
                </a:pPr>
                <a:r>
                  <a:rPr lang="en-US" sz="1200" dirty="0">
                    <a:effectLst/>
                  </a:rPr>
                  <a:t>[247] Z. M. O. Rzaev, L. V. Bryksina, Sh. K. Kyazimov, S. I. Sadikhzade, Radical copolymerization of maleic anhydride, styrene and vinyltriethoxy- silane, Polym. Sci. USSR A14 (1972) 259-267.</a:t>
                </a:r>
              </a:p>
              <a:p>
                <a:pPr lvl="0" indent="-285750" marL="533400">
                  <a:lnSpc>
                    <a:spcPct val="120000"/>
                  </a:lnSpc>
                  <a:buNone/>
                </a:pPr>
                <a:r>
                  <a:rPr lang="en-US" sz="1200" dirty="0">
                    <a:effectLst/>
                  </a:rPr>
                  <a:t>[248] A. N. Zelenetskii, V. P. Volkov, L. O. Bunina, A. S. Kechek, E. S. Obolonkova, M. D. Sizova, Mechanical behaviour of lowdensity polyethy- lene modified wth maleic anhydride in the solid state and composites based on it, Int. Polym. Sci. Technol. 32 (2005) 62-66.</a:t>
                </a:r>
              </a:p>
              <a:p>
                <a:pPr lvl="0" indent="-285750" marL="533400">
                  <a:lnSpc>
                    <a:spcPct val="120000"/>
                  </a:lnSpc>
                  <a:buNone/>
                </a:pPr>
                <a:r>
                  <a:rPr lang="en-US" sz="1200" dirty="0">
                    <a:effectLst/>
                  </a:rPr>
                  <a:t>[249] D. F. Siqueira, K. Koehler, M. Stamm, Structures at the surface of dry thin films of grafted copolymers, Langmuir 11 (1995) 3092-3096.</a:t>
                </a:r>
              </a:p>
            </p:txBody>
          </p:sp>
        </mc:Choice>
        <mc:Fallback/>
      </mc:AlternateContent>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cNvSpPr/>
              <p:nvPr/>
            </p:nvSpPr>
            <p:spPr>
              <a:xfrm>
                <a:off x="1524000" y="457200"/>
                <a:ext cx="9144000" cy="5715000"/>
              </a:xfrm>
              <a:prstGeom prst="rect">
                <a:avLst/>
              </a:prstGeom>
            </p:spPr>
            <p:txBody>
              <a:bodyPr anchor="t" lIns="0" tIns="0" rIns="0" bIns="0">
                <a:noAutofit/>
              </a:bodyPr>
              <a:lstStyle/>
              <a:p>
                <a:pPr lvl="0" indent="-285750" marL="533400">
                  <a:lnSpc>
                    <a:spcPct val="120000"/>
                  </a:lnSpc>
                  <a:buNone/>
                </a:pPr>
                <a:r>
                  <a:rPr lang="en-US" sz="1200" dirty="0">
                    <a:effectLst/>
                  </a:rPr>
                  <a:t>[250] L. M. Hamilton, A. Green, S. W. Edge, J. P. S. Badyal, W. J. Feast, W. F. Pacynko, The surface modification of polyethylene by solution-phase photochemical grafting using short irradiation times, J. Appl. Polym. Sci. 52 (1994) 413-419.</a:t>
                </a:r>
              </a:p>
              <a:p>
                <a:pPr lvl="0" indent="-285750" marL="533400">
                  <a:lnSpc>
                    <a:spcPct val="120000"/>
                  </a:lnSpc>
                  <a:buNone/>
                </a:pPr>
                <a:r>
                  <a:rPr lang="en-US" sz="1200" dirty="0">
                    <a:effectLst/>
                  </a:rPr>
                  <a:t>[251] K. Allmer, A. Hult, B. Ranby, Surface modification of polymers. I.Vapour phase photografting with acrylic acid, J. Polym. Sci. Part A: Polym. Chem. 26 (1998) 2099-2111.</a:t>
                </a:r>
              </a:p>
              <a:p>
                <a:pPr lvl="0" indent="-285750" marL="533400">
                  <a:lnSpc>
                    <a:spcPct val="120000"/>
                  </a:lnSpc>
                  <a:buNone/>
                </a:pPr>
                <a:r>
                  <a:rPr lang="en-US" sz="1200" dirty="0">
                    <a:effectLst/>
                  </a:rPr>
                  <a:t>[252] H. Kubota, Distribution of methacrylic acid-grafted chains introduced into polyethylene film by photografting, J. Appl. Polym. Sci. 41 (1990) 689-695.</a:t>
                </a:r>
              </a:p>
              <a:p>
                <a:pPr lvl="0" indent="-285750" marL="533400">
                  <a:lnSpc>
                    <a:spcPct val="120000"/>
                  </a:lnSpc>
                  <a:buNone/>
                </a:pPr>
                <a:r>
                  <a:rPr lang="en-US" sz="1200" dirty="0">
                    <a:effectLst/>
                  </a:rPr>
                  <a:t>[253] E. Uchida, Y. Uyama, Y. Ikada, Surface graft polymerization of acrylamide onto poly(ethylene terephthalate) film by UV irradiation, J. Polym. Sci. Part A: Polym. Chem. 27 (1989) 527-537.</a:t>
                </a:r>
              </a:p>
              <a:p>
                <a:pPr lvl="0" indent="-285750" marL="533400">
                  <a:lnSpc>
                    <a:spcPct val="120000"/>
                  </a:lnSpc>
                  <a:buNone/>
                </a:pPr>
                <a:r>
                  <a:rPr lang="en-US" sz="1200" dirty="0">
                    <a:effectLst/>
                  </a:rPr>
                  <a:t>[254] G. Odian, Principles of Polymerization (Wiley, New York, 1991, p. 281).</a:t>
                </a:r>
              </a:p>
              <a:p>
                <a:pPr lvl="0" indent="-285750" marL="533400">
                  <a:lnSpc>
                    <a:spcPct val="120000"/>
                  </a:lnSpc>
                  <a:buNone/>
                </a:pPr>
                <a:r>
                  <a:rPr lang="en-US" sz="1200" dirty="0">
                    <a:effectLst/>
                  </a:rPr>
                  <a:t>[255] D. J. T. Hill, J. H. O'Donnell, P. W. O'Sullivan, Analysis of the mechanism of copolymerization of styrene and maleic anhydride, Macromolecules 18 (1985) 9-17.</a:t>
                </a:r>
              </a:p>
              <a:p>
                <a:pPr lvl="0" indent="-285750" marL="533400">
                  <a:lnSpc>
                    <a:spcPct val="120000"/>
                  </a:lnSpc>
                  <a:buNone/>
                </a:pPr>
                <a:r>
                  <a:rPr lang="en-US" sz="1200" dirty="0">
                    <a:effectLst/>
                  </a:rPr>
                  <a:t>[256] P. C. Deb, G. Meyerhoff, Study on kinetics of copolymerisation of styrene and maleic anhydride in dioxane, Eur. Polym. J. 20 (1984) 713-719.</a:t>
                </a:r>
              </a:p>
              <a:p>
                <a:pPr lvl="0" indent="-285750" marL="533400">
                  <a:lnSpc>
                    <a:spcPct val="120000"/>
                  </a:lnSpc>
                  <a:buNone/>
                </a:pPr>
                <a:r>
                  <a:rPr lang="en-US" sz="1200" dirty="0">
                    <a:effectLst/>
                  </a:rPr>
                  <a:t>[257] G. Georgiev, C. Konstantinov, V. Kabaivanov, The role of the charge-transfer complex during the copolymerization of </a:t>
                </a:r>
                <a:r>
                  <a:rPr lang="en-US" sz="1200" dirty="0">
                    <a:effectLst/>
                  </a:rPr>
                  <a:t>​</a:t>
                </a:r>
                <a14:m>
                  <m:oMath>
                    <m:r>
                      <m:rPr>
                        <m:sty m:val="i"/>
                      </m:rPr>
                      <a:rPr lang="en-US" sz="1200" dirty="0">
                        <a:solidFill>
                          <a:srgbClr val="000000"/>
                        </a:solidFill>
                        <a:effectLst/>
                      </a:rPr>
                      <m:t>N</m:t>
                    </m:r>
                  </m:oMath>
                </a14:m>
                <a:r>
                  <a:rPr lang="en-US" sz="1200" dirty="0">
                    <a:effectLst/>
                  </a:rPr>
                  <a:t> -vinylpyrrolidone and maleic anhydride. Macromolecules 25 (1992) 6302-6308.</a:t>
                </a:r>
              </a:p>
              <a:p>
                <a:pPr lvl="0" indent="-285750" marL="533400">
                  <a:lnSpc>
                    <a:spcPct val="120000"/>
                  </a:lnSpc>
                  <a:buNone/>
                </a:pPr>
                <a:r>
                  <a:rPr lang="en-US" sz="1200" dirty="0">
                    <a:effectLst/>
                  </a:rPr>
                  <a:t>[258] J. P. Deng, W. T. Yang, B. Ranby, Surface photografting polyme-rization of vinyl acetate (VAc), maleic anhydride, and their charge transfer complex. II. VAc(2), J. Appl. Polym. Sci. 77 (2000) 1522-1531.</a:t>
                </a:r>
              </a:p>
              <a:p>
                <a:pPr lvl="0" indent="-285750" marL="533400">
                  <a:lnSpc>
                    <a:spcPct val="120000"/>
                  </a:lnSpc>
                  <a:buNone/>
                </a:pPr>
                <a:r>
                  <a:rPr lang="en-US" sz="1200" dirty="0">
                    <a:effectLst/>
                  </a:rPr>
                  <a:t>[259] J. P. Deng, W. T. Yang, B. Ranby, Surface photografting polyme- rization of vinyl acetate (VAc), maleic anhydride (MAH), and their charge transfer complex (CTC). III. VAc(3), J. Appl. Polym. Sci. 80 (2001) 1426-1433.</a:t>
                </a:r>
              </a:p>
              <a:p>
                <a:pPr lvl="0" indent="-285750" marL="533400">
                  <a:lnSpc>
                    <a:spcPct val="120000"/>
                  </a:lnSpc>
                  <a:buNone/>
                </a:pPr>
                <a:r>
                  <a:rPr lang="en-US" sz="1200" dirty="0">
                    <a:effectLst/>
                  </a:rPr>
                  <a:t>[260] J. P. Deng, W. T. Yang, Self-initiating performance of maleic anhydride on surface photografting polymerization, J. Polym. Sci. Part A: Polym. Chem. 39 (2001) 3246-3249.</a:t>
                </a:r>
              </a:p>
              <a:p>
                <a:pPr lvl="0" indent="-285750" marL="533400">
                  <a:lnSpc>
                    <a:spcPct val="120000"/>
                  </a:lnSpc>
                  <a:buNone/>
                </a:pPr>
                <a:r>
                  <a:rPr lang="en-US" sz="1200" dirty="0">
                    <a:effectLst/>
                  </a:rPr>
                  <a:t>[261] J. P. Deng, W. T. Yang, B. Ranby, Surface photografting polyme- rization of vinyl acetate (VAc), maleic anhydride (MAH), and their charge transfer complex. I. VAc(1), J. Appl. Polym. Sci. 77 (2000) 1513-1521.</a:t>
                </a:r>
              </a:p>
              <a:p>
                <a:pPr lvl="0" indent="-285750" marL="533400">
                  <a:lnSpc>
                    <a:spcPct val="120000"/>
                  </a:lnSpc>
                  <a:buNone/>
                </a:pPr>
                <a:r>
                  <a:rPr lang="en-US" sz="1200" dirty="0">
                    <a:effectLst/>
                  </a:rPr>
                  <a:t>[262] J. P. Deng, W. T. Yang, Surface photografting polymerization of vinyl acetate, maleic anhydride, and their charge-transfer complex. IV. Maleic anhydride, J. Appl. Polym. Sci. 87 (2003) 2318-2325.</a:t>
                </a:r>
              </a:p>
            </p:txBody>
          </p:sp>
        </mc:Choice>
        <mc:Fallback/>
      </mc:AlternateContent>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
              <p:cNvSpPr/>
              <p:nvPr/>
            </p:nvSpPr>
            <p:spPr>
              <a:xfrm>
                <a:off x="1524000" y="457200"/>
                <a:ext cx="9144000" cy="3429000"/>
              </a:xfrm>
              <a:prstGeom prst="rect">
                <a:avLst/>
              </a:prstGeom>
            </p:spPr>
            <p:txBody>
              <a:bodyPr anchor="t" lIns="0" tIns="0" rIns="0" bIns="0">
                <a:noAutofit/>
              </a:bodyPr>
              <a:lstStyle/>
              <a:p>
                <a:pPr lvl="0" indent="-285750" marL="533400">
                  <a:lnSpc>
                    <a:spcPct val="120000"/>
                  </a:lnSpc>
                  <a:buNone/>
                </a:pPr>
                <a:r>
                  <a:rPr lang="en-US" sz="1200" dirty="0">
                    <a:effectLst/>
                  </a:rPr>
                  <a:t>[263] H. Kubota, N. Yoshino, Y. Ogiwara, Vapor phase photografting on low-density polyethylene film in binary monomer systems, </a:t>
                </a:r>
                <a:r>
                  <a:rPr lang="en-US" sz="1200" dirty="0">
                    <a:effectLst/>
                  </a:rPr>
                  <a:t>​</a:t>
                </a:r>
                <a14:m>
                  <m:oMath>
                    <m:r>
                      <m:rPr>
                        <m:sty m:val="i"/>
                      </m:rPr>
                      <a:rPr lang="en-US" sz="1200" dirty="0">
                        <a:solidFill>
                          <a:srgbClr val="000000"/>
                        </a:solidFill>
                        <a:effectLst/>
                      </a:rPr>
                      <m:t>J</m:t>
                    </m:r>
                  </m:oMath>
                </a14:m>
                <a:r>
                  <a:rPr lang="en-US" sz="1200" dirty="0">
                    <a:effectLst/>
                  </a:rPr>
                  <a:t>. Appl. Polym. Sci. 39 (1990) 1231-1239.</a:t>
                </a:r>
              </a:p>
              <a:p>
                <a:pPr lvl="0" indent="-285750" marL="533400">
                  <a:lnSpc>
                    <a:spcPct val="120000"/>
                  </a:lnSpc>
                  <a:buNone/>
                </a:pPr>
                <a:r>
                  <a:rPr lang="en-US" sz="1200" dirty="0">
                    <a:effectLst/>
                  </a:rPr>
                  <a:t>[264] E. Tschida, T. omono, H. Sano, Solvent effects on the alternating copolymerization systems. Evaluation on equilibrium constants by NMR spectroscopy, Makromol. Chem. 151 (1971) 245-264.</a:t>
                </a:r>
              </a:p>
              <a:p>
                <a:pPr lvl="0" indent="-285750" marL="533400">
                  <a:lnSpc>
                    <a:spcPct val="120000"/>
                  </a:lnSpc>
                  <a:buNone/>
                </a:pPr>
                <a:r>
                  <a:rPr lang="en-US" sz="1200" dirty="0">
                    <a:effectLst/>
                  </a:rPr>
                  <a:t>[265] T. C. Chung, G. J. Jiang, D. Rhubright (University Park, PA), Olefin graft copolymers prepared using borane-containing olefin backbone polymers, US Pat 5,401,805 (1995).</a:t>
                </a:r>
              </a:p>
              <a:p>
                <a:pPr lvl="0" indent="-285750" marL="533400">
                  <a:lnSpc>
                    <a:spcPct val="120000"/>
                  </a:lnSpc>
                  <a:buNone/>
                </a:pPr>
                <a:r>
                  <a:rPr lang="en-US" sz="1200" dirty="0">
                    <a:effectLst/>
                  </a:rPr>
                  <a:t>[266] S. D. Bruah, N. C. Laskar, Styrene-maleic anhydride copolymers: Synthesis, characterization, and thermal properties, J Appl Polym Sci 60 (1996) 649-656.</a:t>
                </a:r>
              </a:p>
              <a:p>
                <a:pPr lvl="0" indent="-285750" marL="533400">
                  <a:lnSpc>
                    <a:spcPct val="120000"/>
                  </a:lnSpc>
                  <a:buNone/>
                </a:pPr>
                <a:r>
                  <a:rPr lang="en-US" sz="1200" dirty="0">
                    <a:effectLst/>
                  </a:rPr>
                  <a:t>[267] J. P. Deng, W. T. Yang, Surface photografting polymerization of vinyl acetate, maleic anhydride, and their charge-transfer complex. V. Charge-transfer complex (1), J. Appl. Polym. Sci. 95 (2005) 903-909.</a:t>
                </a:r>
              </a:p>
              <a:p>
                <a:pPr lvl="0" indent="-285750" marL="533400">
                  <a:lnSpc>
                    <a:spcPct val="120000"/>
                  </a:lnSpc>
                  <a:buNone/>
                </a:pPr>
                <a:r>
                  <a:rPr lang="en-US" sz="1200" dirty="0">
                    <a:effectLst/>
                  </a:rPr>
                  <a:t>[268] J. P. Deng, W. T. Yang, Surface photografting polymerization of vinyl acetate, maleic anhydride, and their charge-transfer complex. VI. Charge-transfer complex (2), J. Appl. Polym. Sci. 95 (2005) 910-915.</a:t>
                </a:r>
              </a:p>
              <a:p>
                <a:pPr lvl="0" indent="-285750" marL="533400">
                  <a:lnSpc>
                    <a:spcPct val="120000"/>
                  </a:lnSpc>
                  <a:buNone/>
                </a:pPr>
                <a:r>
                  <a:rPr lang="en-US" sz="1200" dirty="0">
                    <a:effectLst/>
                  </a:rPr>
                  <a:t>[269] C. Decker, The use of UV irradiation in polymerization, Polym. Int. 45 (1998) 133-141.</a:t>
                </a:r>
              </a:p>
              <a:p>
                <a:pPr lvl="0" indent="-285750" marL="533400">
                  <a:lnSpc>
                    <a:spcPct val="120000"/>
                  </a:lnSpc>
                  <a:buNone/>
                </a:pPr>
                <a:r>
                  <a:rPr lang="en-US" sz="1200" dirty="0">
                    <a:effectLst/>
                  </a:rPr>
                  <a:t>[270] F. C. Loh, K. L. Tan, E. T. Kang, Y. Uyama, Y. Ikada, Structural studies of polyethylene, poly(ethylene terephthalate) and polystyrene films modified by near u.v. light induced surface</a:t>
                </a:r>
              </a:p>
            </p:txBody>
          </p:sp>
        </mc:Choice>
        <mc:Fallback/>
      </mc:AlternateContent>
      <p:sp>
        <p:nvSpPr>
          <p:cNvPr id="2" name="Text"/>
          <p:cNvSpPr/>
          <p:nvPr/>
        </p:nvSpPr>
        <p:spPr>
          <a:xfrm>
            <a:off x="1524000" y="4038600"/>
            <a:ext cx="9144000" cy="685800"/>
          </a:xfrm>
          <a:prstGeom prst="rect">
            <a:avLst/>
          </a:prstGeom>
        </p:spPr>
        <p:txBody>
          <a:bodyPr anchor="t" lIns="0" tIns="0" rIns="0" bIns="0">
            <a:noAutofit/>
          </a:bodyPr>
          <a:lstStyle/>
          <a:p>
            <a:pPr>
              <a:lnSpc>
                <a:spcPct val="120000"/>
              </a:lnSpc>
            </a:pPr>
            <a:r>
              <a:rPr lang="en-US" sz="1800" dirty="0" b="1">
                <a:effectLst/>
              </a:rPr>
              <a:t>International Review of Chemical Engineering, volume 3, No 2, March, 2011 Int. Rev.Chem. Eng., 3(2011) 153-215</a:t>
            </a:r>
          </a:p>
        </p:txBody>
      </p:sp>
      <p:sp>
        <p:nvSpPr>
          <p:cNvPr id="2" name="Text"/>
          <p:cNvSpPr/>
          <p:nvPr/>
        </p:nvSpPr>
        <p:spPr>
          <a:xfrm>
            <a:off x="1524000" y="4914139"/>
            <a:ext cx="9144000" cy="1143000"/>
          </a:xfrm>
          <a:prstGeom prst="rect">
            <a:avLst/>
          </a:prstGeom>
        </p:spPr>
        <p:txBody>
          <a:bodyPr anchor="t" lIns="0" tIns="0" rIns="0" bIns="0">
            <a:noAutofit/>
          </a:bodyPr>
          <a:lstStyle/>
          <a:p>
            <a:pPr>
              <a:lnSpc>
                <a:spcPct val="120000"/>
              </a:lnSpc>
            </a:pPr>
            <a:r>
              <a:rPr lang="en-US" sz="1200" dirty="0">
                <a:effectLst/>
              </a:rPr>
              <a:t>graft copolymeri- zation. Polymer 36 (1995) 21-27.</a:t>
            </a:r>
            <a:br>
              <a:rPr lang="en-US" sz="1200" dirty="0"/>
            </a:br>
            <a:r>
              <a:rPr lang="en-US" sz="1200" dirty="0">
                <a:effectLst/>
              </a:rPr>
              <a:t> [271] J. Tian, X. Lin, B. Huang, J. Xu, Plasma induced grafting of styrene onto nascent polyethylene powder, Eur. Polym. J. 31 (1995) 755-760.</a:t>
            </a:r>
            <a:br>
              <a:rPr lang="en-US" sz="1200" dirty="0"/>
            </a:br>
            <a:r>
              <a:rPr lang="en-US" sz="1200" dirty="0">
                <a:effectLst/>
              </a:rPr>
              <a:t> [272] M. Onishi, K. Shimura, Y. Seita, S. Yamashita, Design of a new plasma separation membrane by graft copolymerization. Radiat. Phys. Chem. 46 (1995) 219-223.</a:t>
            </a: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5715000"/>
          </a:xfrm>
          <a:prstGeom prst="rect">
            <a:avLst/>
          </a:prstGeom>
        </p:spPr>
        <p:txBody>
          <a:bodyPr anchor="t" lIns="0" tIns="0" rIns="0" bIns="0">
            <a:noAutofit/>
          </a:bodyPr>
          <a:lstStyle/>
          <a:p>
            <a:pPr>
              <a:lnSpc>
                <a:spcPct val="120000"/>
              </a:lnSpc>
            </a:pPr>
            <a:r>
              <a:rPr lang="en-US" sz="1200" dirty="0">
                <a:effectLst/>
              </a:rPr>
              <a:t> [273] C. Oehr, M. Muller, B. Elkin, D. Hegemann, U. Vohrer, Plasma grafting - a method to obtain monofunctional surfaces, Surf. Coat. Technol . 116-119 (1999) 25-35.</a:t>
            </a:r>
            <a:br>
              <a:rPr lang="en-US" sz="1200" dirty="0"/>
            </a:br>
            <a:r>
              <a:rPr lang="en-US" sz="1200" dirty="0">
                <a:effectLst/>
              </a:rPr>
              <a:t> [274] C. H. Bemford, K. G. Al-Lamee, Studies in polymer surface modification and grafting for biomedical uses: 2. Application to arterial blood filters and oxygenators, Polymer 37 (1996) 4885-489.</a:t>
            </a:r>
            <a:br>
              <a:rPr lang="en-US" sz="1200" dirty="0"/>
            </a:br>
            <a:r>
              <a:rPr lang="en-US" sz="1200" dirty="0">
                <a:effectLst/>
              </a:rPr>
              <a:t> [275] B. M. Wickson, J. L. Brash, Surface hydroxylation of polyethy-lene by plasma polymerization of allyl alcohol and subsequent silylation, Colloids and Surfaces A: 156 (1999) 201-213.</a:t>
            </a:r>
            <a:br>
              <a:rPr lang="en-US" sz="1200" dirty="0"/>
            </a:br>
            <a:r>
              <a:rPr lang="en-US" sz="1200" dirty="0">
                <a:effectLst/>
              </a:rPr>
              <a:t> [276] J. J. Behnisch, F. Mehdom, A. Hollander, H. Zimmermann, Mechanistic approach to the plasma polymerization of acrylic acid by a pulsed MW (ECR) plasma, Surf. Coat. Technol. 98 (1998) 875-878.</a:t>
            </a:r>
            <a:br>
              <a:rPr lang="en-US" sz="1200" dirty="0"/>
            </a:br>
            <a:r>
              <a:rPr lang="en-US" sz="1200" dirty="0">
                <a:effectLst/>
              </a:rPr>
              <a:t> [277] S.-G. Hong, C.-A. Ho, The adhesion properties of a thermoplastic olefin elastomer grafted with maleic anhydride under nitrogen plasma, J. Polym. Res. 9 (2002) 227-232.</a:t>
            </a:r>
            <a:br>
              <a:rPr lang="en-US" sz="1200" dirty="0"/>
            </a:br>
            <a:r>
              <a:rPr lang="en-US" sz="1200" dirty="0">
                <a:effectLst/>
              </a:rPr>
              <a:t> [278] M. E. Ryan, A. M. Hynes, J. P. S. Badyal, Pulsed plasma polymerization of maleic anhydride, Chem. Mater. 8 (1996) 37-42.</a:t>
            </a:r>
            <a:br>
              <a:rPr lang="en-US" sz="1200" dirty="0"/>
            </a:br>
            <a:r>
              <a:rPr lang="en-US" sz="1200" dirty="0">
                <a:effectLst/>
              </a:rPr>
              <a:t> [279] S. Liu, M. L. M. Vareiro, S. Fraser, A. T. A. Jenkins, Control of attachment of bovine serum albumin to pulse plasma-polymerized maleic anhydride by variation of pulse conditions, Langmuir 21 (2005) 8572-8575.</a:t>
            </a:r>
            <a:br>
              <a:rPr lang="en-US" sz="1200" dirty="0"/>
            </a:br>
            <a:r>
              <a:rPr lang="en-US" sz="1200" dirty="0">
                <a:effectLst/>
              </a:rPr>
              <a:t> [280] S. Schiller, J. Hu, A. T. A. Jenkins, R. B. Timmons, F. S. Sanchez-Esttrada, R. Förch, Chemical structure and properties of plasma-polymerized maleic anhydride films, Chem. Mater. 14 (2002) 235-242.</a:t>
            </a:r>
            <a:br>
              <a:rPr lang="en-US" sz="1200" dirty="0"/>
            </a:br>
            <a:r>
              <a:rPr lang="en-US" sz="1200" dirty="0">
                <a:effectLst/>
              </a:rPr>
              <a:t> [281] S. R. Gaboury, M. W. Urban, Microwave plasma reaction of solid monomer with silicone elastomer surfaces: A spectroscopic study, Langmuir 9 (1993) 3225-3233.</a:t>
            </a:r>
            <a:br>
              <a:rPr lang="en-US" sz="1200" dirty="0"/>
            </a:br>
            <a:r>
              <a:rPr lang="en-US" sz="1200" dirty="0">
                <a:effectLst/>
              </a:rPr>
              <a:t> [282] S. R. Gaboury, M. W. Urban, Quantitative ART-FTIR analysis of microwave plasma reacted silicone elastomer surfaces, Langmuir 10 (1994) 2289-2293.</a:t>
            </a:r>
            <a:br>
              <a:rPr lang="en-US" sz="1200" dirty="0"/>
            </a:br>
            <a:r>
              <a:rPr lang="en-US" sz="1200" dirty="0">
                <a:effectLst/>
              </a:rPr>
              <a:t> [283] A. T. A. Jenkins, J. Hu, Y. Z. Wang, S. Schiller, R. Foerch, W. Knoll, Pulsed plasma deposited maleic anhydride thin films as supports for lipid bilayers, Langmuir 16 (2000) 6381-6384.</a:t>
            </a:r>
            <a:br>
              <a:rPr lang="en-US" sz="1200" dirty="0"/>
            </a:br>
            <a:r>
              <a:rPr lang="en-US" sz="1200" dirty="0">
                <a:effectLst/>
              </a:rPr>
              <a:t> [284] S. A. Evenson, C. A. Fail, J. P. S. Badyal, Controlled Monomolecular Functionalization and Adhesion of Solid Surfaces, Chem. Mater. 12 (2000) 3038-3043.</a:t>
            </a:r>
            <a:br>
              <a:rPr lang="en-US" sz="1200" dirty="0"/>
            </a:br>
            <a:r>
              <a:rPr lang="en-US" sz="1200" dirty="0">
                <a:effectLst/>
              </a:rPr>
              <a:t> [285] M. Zhao, Y. Liu, R. M. Crooks, D. E. Bergbreinter, Preparation of highly impermeable hyperbranched polymer thin-film coatings using dendrimers first as building blocks and then as in situ thermosetting agents, J. Am. Chem. Soc. 121 (1999) 923-930.</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cNvSpPr/>
              <p:nvPr/>
            </p:nvSpPr>
            <p:spPr>
              <a:xfrm>
                <a:off x="1524000" y="457200"/>
                <a:ext cx="9144000" cy="5943600"/>
              </a:xfrm>
              <a:prstGeom prst="rect">
                <a:avLst/>
              </a:prstGeom>
            </p:spPr>
            <p:txBody>
              <a:bodyPr anchor="t" lIns="0" tIns="0" rIns="0" bIns="0">
                <a:noAutofit/>
              </a:bodyPr>
              <a:lstStyle/>
              <a:p>
                <a:pPr>
                  <a:lnSpc>
                    <a:spcPct val="120000"/>
                  </a:lnSpc>
                </a:pPr>
                <a:r>
                  <a:rPr lang="en-US" sz="1200" dirty="0">
                    <a:effectLst/>
                  </a:rPr>
                  <a:t> [286] D. O. H. Teare, W. C. E. Schofield, V. Roucoules, J. P. S. Badyal, Substrate-independent growth of micropatterned polymer brushes, Langmuir 19 (2003) 2398-2403.</a:t>
                </a:r>
                <a:br>
                  <a:rPr lang="en-US" sz="1200" dirty="0"/>
                </a:br>
                <a:r>
                  <a:rPr lang="en-US" sz="1200" dirty="0">
                    <a:effectLst/>
                  </a:rPr>
                  <a:t> [287] H. Yasuda, Plasma Polymerization (Academic Press, 1995).</a:t>
                </a:r>
                <a:br>
                  <a:rPr lang="en-US" sz="1200" dirty="0"/>
                </a:br>
                <a:r>
                  <a:rPr lang="en-US" sz="1200" dirty="0">
                    <a:effectLst/>
                  </a:rPr>
                  <a:t> [288] C. Tarducci, J. P. S. Badyal, S. A. Brewer, C. Willis, Diels-Alder chemistry at furan functionalized solid surfaces, Royal. Soc. Chem: Chem. Commun. (2005) 406-408.</a:t>
                </a:r>
                <a:br>
                  <a:rPr lang="en-US" sz="1200" dirty="0"/>
                </a:br>
                <a:r>
                  <a:rPr lang="en-US" sz="1200" dirty="0">
                    <a:effectLst/>
                  </a:rPr>
                  <a:t> [289] M. P. Stevens, Polymer Chemistry (Oxford University Press, 1990).</a:t>
                </a:r>
                <a:br>
                  <a:rPr lang="en-US" sz="1200" dirty="0"/>
                </a:br>
                <a:r>
                  <a:rPr lang="en-US" sz="1200" dirty="0">
                    <a:effectLst/>
                  </a:rPr>
                  <a:t> [290] D. O. H. Teare, W. C. E. Schofield, R. P. Garrod, J. P. S. Badyal, Rapid polymer brush growth by TEMPO-mediated controlled feree-radical polymerization from swollen plasma deposited poly(maleic anhydride) initiator surfaces, Langmuir 21 (2005) 10818-10824.</a:t>
                </a:r>
                <a:br>
                  <a:rPr lang="en-US" sz="1200" dirty="0"/>
                </a:br>
                <a:r>
                  <a:rPr lang="en-US" sz="1200" dirty="0">
                    <a:effectLst/>
                  </a:rPr>
                  <a:t> [291] M. Husseman, E. E. Malmström, M. McNamara, M. Mate, D. Mecerreyes, D. G. Benoit, J. L. Hedrick, P. Mansky, E. Huang, T. R. Russel, C. J. Hawker, Controlled synthesis of polymer brushes by "living" free radical polymerization techniques, Macromolecules 32 (1999) 1424-1431.</a:t>
                </a:r>
                <a:br>
                  <a:rPr lang="en-US" sz="1200" dirty="0"/>
                </a:br>
                <a:r>
                  <a:rPr lang="en-US" sz="1200" dirty="0">
                    <a:effectLst/>
                  </a:rPr>
                  <a:t> [292] J. March, Advanced Organic Chemistry (Wilet/Intersience, 1992).</a:t>
                </a:r>
                <a:br>
                  <a:rPr lang="en-US" sz="1200" dirty="0"/>
                </a:br>
                <a:r>
                  <a:rPr lang="en-US" sz="1200" dirty="0">
                    <a:effectLst/>
                  </a:rPr>
                  <a:t> [293] M. N. Yousaf, M. Mrkich, Diels-Alder reaction for the selective immobilization of protein to electroactive self-assembled nonolayers, J. Am. Chem. Soc. 121 (1999) 4286-4287.</a:t>
                </a:r>
                <a:br>
                  <a:rPr lang="en-US" sz="1200" dirty="0"/>
                </a:br>
                <a:r>
                  <a:rPr lang="en-US" sz="1200" dirty="0">
                    <a:effectLst/>
                  </a:rPr>
                  <a:t> [294] H. S. Patel, V. C. Patel, Polyimides containing </a:t>
                </a:r>
                <a:r>
                  <a:rPr lang="en-US" sz="1200" dirty="0">
                    <a:effectLst/>
                  </a:rPr>
                  <a:t>​</a:t>
                </a:r>
                <a14:m>
                  <m:oMath>
                    <m:r>
                      <m:rPr>
                        <m:sty m:val="i"/>
                      </m:rPr>
                      <a:rPr lang="en-US" sz="1200" dirty="0">
                        <a:solidFill>
                          <a:srgbClr val="000000"/>
                        </a:solidFill>
                        <a:effectLst/>
                      </a:rPr>
                      <m:t>s</m:t>
                    </m:r>
                  </m:oMath>
                </a14:m>
                <a:r>
                  <a:rPr lang="en-US" sz="1200" dirty="0">
                    <a:effectLst/>
                  </a:rPr>
                  <a:t>-triazine ring, Eur. Polym. J. 37 (2001) 2263-2271.</a:t>
                </a:r>
                <a:br>
                  <a:rPr lang="en-US" sz="1200" dirty="0"/>
                </a:br>
                <a:r>
                  <a:rPr lang="en-US" sz="1200" dirty="0">
                    <a:effectLst/>
                  </a:rPr>
                  <a:t> [295] D.-J. Liaw, C.-C. Huang, P.-L. Wu, Synthesis and characterization of novel diblock copolymers of 5-( </a:t>
                </a:r>
                <a:r>
                  <a:rPr lang="en-US" sz="1200" dirty="0">
                    <a:effectLst/>
                  </a:rPr>
                  <a:t>​</a:t>
                </a:r>
                <a14:m>
                  <m:oMath>
                    <m:r>
                      <m:rPr>
                        <m:sty m:val="i"/>
                      </m:rPr>
                      <a:rPr lang="en-US" sz="1200" dirty="0">
                        <a:solidFill>
                          <a:srgbClr val="000000"/>
                        </a:solidFill>
                        <a:effectLst/>
                      </a:rPr>
                      <m:t>N</m:t>
                    </m:r>
                  </m:oMath>
                </a14:m>
                <a:r>
                  <a:rPr lang="en-US" sz="1200" dirty="0">
                    <a:effectLst/>
                  </a:rPr>
                  <a:t>-carbazoyl methyl) bicycle- [2.2.1]hept-2-ene and 5-(phthalimide methyl)bicycle[2.2.1]hept-2-ene via living ring-opening metathesis polymerization, Polymer 42 (2001) 9371-9377.</a:t>
                </a:r>
                <a:br>
                  <a:rPr lang="en-US" sz="1200" dirty="0"/>
                </a:br>
                <a:r>
                  <a:rPr lang="en-US" sz="1200" dirty="0">
                    <a:effectLst/>
                  </a:rPr>
                  <a:t> [296] H. Hodge, C. M. Phodes, R. Uddin, Syntheses, via precursor poly-mers, of polyethers containing 9,10-diacetoxyanthracene units or 9,10-anthraquinone units: chemical reactions of some of these polymers, Polymer 42 (2001) 549-8556.</a:t>
                </a:r>
                <a:br>
                  <a:rPr lang="en-US" sz="1200" dirty="0"/>
                </a:br>
                <a:r>
                  <a:rPr lang="en-US" sz="1200" dirty="0">
                    <a:effectLst/>
                  </a:rPr>
                  <a:t> [297] V. Roucoules, C. A. Fail, W. C. E. Schofield, D. O. H. Teare, J. P. S. Badyal, Diels-Alder chemistry on alkene functionalized films. Langmuir 21 (2005) 1412-1415.</a:t>
                </a:r>
                <a:br>
                  <a:rPr lang="en-US" sz="1200" dirty="0"/>
                </a:br>
                <a:r>
                  <a:rPr lang="en-US" sz="1200" dirty="0">
                    <a:effectLst/>
                  </a:rPr>
                  <a:t> [298] S. R. Coulson, I. S. Woodward, J. P. S. Badyal,, S. A. Brewer, C. Willis, Ultralow Surface Energy Plasma Polymer Films, Chem. Mater. 12 (2000) 2031-2038</a:t>
                </a:r>
                <a:br>
                  <a:rPr lang="en-US" sz="1200" dirty="0"/>
                </a:br>
                <a:r>
                  <a:rPr lang="en-US" sz="1200" dirty="0">
                    <a:effectLst/>
                  </a:rPr>
                  <a:t> [299] R. H. Bradley, I. L. Clackson, Sykes DE. UV ozone modification of wool fibre surfaces, Appl. Surf. Sci. 72 (1993) 143-147.</a:t>
                </a:r>
              </a:p>
            </p:txBody>
          </p:sp>
        </mc:Choice>
        <mc:Fallback/>
      </mc:AlternateContent>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
              <p:cNvSpPr/>
              <p:nvPr/>
            </p:nvSpPr>
            <p:spPr>
              <a:xfrm>
                <a:off x="1524000" y="457200"/>
                <a:ext cx="9144000" cy="5943600"/>
              </a:xfrm>
              <a:prstGeom prst="rect">
                <a:avLst/>
              </a:prstGeom>
            </p:spPr>
            <p:txBody>
              <a:bodyPr anchor="t" lIns="0" tIns="0" rIns="0" bIns="0">
                <a:noAutofit/>
              </a:bodyPr>
              <a:lstStyle/>
              <a:p>
                <a:pPr>
                  <a:lnSpc>
                    <a:spcPct val="120000"/>
                  </a:lnSpc>
                </a:pPr>
                <a:r>
                  <a:rPr lang="en-US" sz="1200" dirty="0">
                    <a:effectLst/>
                  </a:rPr>
                  <a:t> [300] C. J. Wu,, C. Y. Chen, E. Woo, J. F. Kuo, A kinetic study on grafting of maleic anhydride onto a thermoplastic elastomers, </a:t>
                </a:r>
                <a:r>
                  <a:rPr lang="en-US" sz="1200" dirty="0">
                    <a:effectLst/>
                  </a:rPr>
                  <a:t>​</a:t>
                </a:r>
                <a14:m>
                  <m:oMath>
                    <m:r>
                      <m:rPr>
                        <m:sty m:val="i"/>
                      </m:rPr>
                      <a:rPr lang="en-US" sz="1200" dirty="0">
                        <a:solidFill>
                          <a:srgbClr val="000000"/>
                        </a:solidFill>
                        <a:effectLst/>
                      </a:rPr>
                      <m:t>J</m:t>
                    </m:r>
                  </m:oMath>
                </a14:m>
                <a:r>
                  <a:rPr lang="en-US" sz="1200" dirty="0">
                    <a:effectLst/>
                  </a:rPr>
                  <a:t>. Polym. Sci. Part A: Polym. Chem. 31 (1993) 3405-3415.</a:t>
                </a:r>
                <a:br>
                  <a:rPr lang="en-US" sz="1200" dirty="0"/>
                </a:br>
                <a:r>
                  <a:rPr lang="en-US" sz="1200" dirty="0">
                    <a:effectLst/>
                  </a:rPr>
                  <a:t> [301] H. Kubato, Photografting of acrylonitrile and methacrylic acid on polyethylene film under air atmosphere, J. Appl. Polym. Sci. 48 (1993) 1717-1721.</a:t>
                </a:r>
                <a:br>
                  <a:rPr lang="en-US" sz="1200" dirty="0"/>
                </a:br>
                <a:r>
                  <a:rPr lang="en-US" sz="1200" dirty="0">
                    <a:effectLst/>
                  </a:rPr>
                  <a:t> [302] J. S. Shukla, S. C. Tewari, G. K. Sharma, Graft copolymerization of poly(methyl methacrylate) onto wool by potassium persulfatethiourea redox couple in the presence of air, J. Appl. Polym. Sci. 34 (1987) 191-201.</a:t>
                </a:r>
                <a:br>
                  <a:rPr lang="en-US" sz="1200" dirty="0"/>
                </a:br>
                <a:r>
                  <a:rPr lang="en-US" sz="1200" dirty="0">
                    <a:effectLst/>
                  </a:rPr>
                  <a:t> [303] E. Uchida, K. Uyama, Y. Ikada, A novel method for graft polymerization onto poly(ethylene terephthalate) film surface by UV irradiation without degassing, J. Appl. Polym. Sci. 41 (1990) 677-687</a:t>
                </a:r>
                <a:br>
                  <a:rPr lang="en-US" sz="1200" dirty="0"/>
                </a:br>
                <a:r>
                  <a:rPr lang="en-US" sz="1200" dirty="0">
                    <a:effectLst/>
                  </a:rPr>
                  <a:t> [304] Z. Feng, B. Ranby, Photoinitiated surface grafting of synthetic fibers, I. Photoinitiated surface grafting of ultra high strength polyethylene. Angew. Makromol. Chem. 195 (1992) 17-33.</a:t>
                </a:r>
                <a:br>
                  <a:rPr lang="en-US" sz="1200" dirty="0"/>
                </a:br>
                <a:r>
                  <a:rPr lang="en-US" sz="1200" dirty="0">
                    <a:effectLst/>
                  </a:rPr>
                  <a:t> [305] H. Chtourou, B. Riedl, B. V. Kokta, Surface modification of polyethylene pulp fiber by ozone treatment. An analytical and thermal characterization, Polym. Degrad. Stab. 43 (1994) 149-156.</a:t>
                </a:r>
                <a:br>
                  <a:rPr lang="en-US" sz="1200" dirty="0"/>
                </a:br>
                <a:r>
                  <a:rPr lang="en-US" sz="1200" dirty="0">
                    <a:effectLst/>
                  </a:rPr>
                  <a:t> [306] J. M. Lane, D. J. Hourston, Surface treatments of polyolefins, Prog. Org. Coat. 21 (1993) 269-284.</a:t>
                </a:r>
                <a:br>
                  <a:rPr lang="en-US" sz="1200" dirty="0"/>
                </a:br>
                <a:r>
                  <a:rPr lang="en-US" sz="1200" dirty="0">
                    <a:effectLst/>
                  </a:rPr>
                  <a:t> [307] M. J. Walzak, F. Flynn, R. Foerch, J. M. Hill, E. Karbashewski, A. Lin, M. Strobel, UV and ozone treatment of PP and PE, </a:t>
                </a:r>
                <a:r>
                  <a:rPr lang="en-US" sz="1200" dirty="0">
                    <a:effectLst/>
                  </a:rPr>
                  <a:t>​</a:t>
                </a:r>
                <a14:m>
                  <m:oMath>
                    <m:r>
                      <m:rPr>
                        <m:sty m:val="i"/>
                      </m:rPr>
                      <a:rPr lang="en-US" sz="1200" dirty="0">
                        <a:solidFill>
                          <a:srgbClr val="000000"/>
                        </a:solidFill>
                        <a:effectLst/>
                      </a:rPr>
                      <m:t>J</m:t>
                    </m:r>
                  </m:oMath>
                </a14:m>
                <a:r>
                  <a:rPr lang="en-US" sz="1200" dirty="0">
                    <a:effectLst/>
                  </a:rPr>
                  <a:t>. Adhes. Sci. Technol. 9 (1995) 1229-1248.</a:t>
                </a:r>
                <a:br>
                  <a:rPr lang="en-US" sz="1200" dirty="0"/>
                </a:br>
                <a:r>
                  <a:rPr lang="en-US" sz="1200" dirty="0">
                    <a:effectLst/>
                  </a:rPr>
                  <a:t> [308] J. Roeder, R. V. B. Oliveira, D. Becker, M. B. Gonçalves, V. Soldi, A. T. N. Pires, Compatibility effect on the thermal degradation behaviour of polypropylene blends with polyamide 6, ethylene propylene diene copolymer and polyurethane, Polym. Degrad. Stab. 90 (2005) 481-487.</a:t>
                </a:r>
                <a:br>
                  <a:rPr lang="en-US" sz="1200" dirty="0"/>
                </a:br>
                <a:r>
                  <a:rPr lang="en-US" sz="1200" dirty="0">
                    <a:effectLst/>
                  </a:rPr>
                  <a:t> [309] S.-G. Hong, C.-M.Liao, The surface oxidation of a thermoplastic olefin elastomer under ozone exposure: ATR analysis, Polym. Degrad. Stab. 49 (1995) 437-447.</a:t>
                </a:r>
                <a:br>
                  <a:rPr lang="en-US" sz="1200" dirty="0"/>
                </a:br>
                <a:r>
                  <a:rPr lang="en-US" sz="1200" dirty="0">
                    <a:effectLst/>
                  </a:rPr>
                  <a:t> [310] S. Liu, M. L. M. Vareiro, S. Fraser, A. T. A. Jenkins, Control of attachment of bovine serum albumin to pulse plasmapolymerized maleic anhydride by variation of pulse conditions, Langmuir 21 (2005) 8572-8575.</a:t>
                </a:r>
                <a:br>
                  <a:rPr lang="en-US" sz="1200" dirty="0"/>
                </a:br>
                <a:r>
                  <a:rPr lang="en-US" sz="1200" dirty="0">
                    <a:effectLst/>
                  </a:rPr>
                  <a:t> [311] W. H. Jo, C. D. Park, Preparation of functionalized polystyrene by reactive extrusion and its blend with polyamide, Polymer 37 (1996) 1709-1714.</a:t>
                </a:r>
                <a:br>
                  <a:rPr lang="en-US" sz="1200" dirty="0"/>
                </a:br>
                <a:r>
                  <a:rPr lang="en-US" sz="1200" dirty="0">
                    <a:effectLst/>
                  </a:rPr>
                  <a:t> [312] E. Passaglia, S. Ghetti, F. Picchioni, G. Ruggeri, Grafting of diethyl maleate and maleic anhydride onto styrene- </a:t>
                </a:r>
                <a:r>
                  <a:rPr lang="en-US" sz="1200" dirty="0">
                    <a:effectLst/>
                  </a:rPr>
                  <a:t>​</a:t>
                </a:r>
                <a14:m>
                  <m:oMath>
                    <m:r>
                      <m:rPr>
                        <m:sty m:val="i"/>
                      </m:rPr>
                      <a:rPr lang="en-US" sz="1200" dirty="0">
                        <a:solidFill>
                          <a:srgbClr val="000000"/>
                        </a:solidFill>
                        <a:effectLst/>
                      </a:rPr>
                      <m:t>b</m:t>
                    </m:r>
                  </m:oMath>
                </a14:m>
                <a:r>
                  <a:rPr lang="en-US" sz="1200" dirty="0">
                    <a:effectLst/>
                  </a:rPr>
                  <a:t>-(ethyleneco-1-butene)- </a:t>
                </a:r>
                <a:r>
                  <a:rPr lang="en-US" sz="1200" dirty="0">
                    <a:effectLst/>
                  </a:rPr>
                  <a:t>​</a:t>
                </a:r>
                <a14:m>
                  <m:oMath>
                    <m:r>
                      <m:rPr>
                        <m:sty m:val="i"/>
                      </m:rPr>
                      <a:rPr lang="en-US" sz="1200" dirty="0">
                        <a:solidFill>
                          <a:srgbClr val="000000"/>
                        </a:solidFill>
                        <a:effectLst/>
                      </a:rPr>
                      <m:t>b</m:t>
                    </m:r>
                  </m:oMath>
                </a14:m>
                <a:r>
                  <a:rPr lang="en-US" sz="1200" dirty="0">
                    <a:effectLst/>
                  </a:rPr>
                  <a:t>-styrene triblock copolymer (SEBS). Polymer 41 (2000) 4389-4400.</a:t>
                </a:r>
              </a:p>
            </p:txBody>
          </p:sp>
        </mc:Choice>
        <mc:Fallback/>
      </mc:AlternateContent>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6"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 [313] H.-M. Li, H.-B. Chen, Z.-G. Shen, S. Lin, Preparation and characterization of maleic anhydride-functionalized syndiotactic</a:t>
            </a:r>
          </a:p>
        </p:txBody>
      </p:sp>
      <p:sp>
        <p:nvSpPr>
          <p:cNvPr id="2" name="Text"/>
          <p:cNvSpPr/>
          <p:nvPr/>
        </p:nvSpPr>
        <p:spPr>
          <a:xfrm>
            <a:off x="1524000" y="838200"/>
            <a:ext cx="9144000" cy="685800"/>
          </a:xfrm>
          <a:prstGeom prst="rect">
            <a:avLst/>
          </a:prstGeom>
        </p:spPr>
        <p:txBody>
          <a:bodyPr anchor="t" lIns="0" tIns="0" rIns="0" bIns="0">
            <a:noAutofit/>
          </a:bodyPr>
          <a:lstStyle/>
          <a:p>
            <a:pPr>
              <a:lnSpc>
                <a:spcPct val="120000"/>
              </a:lnSpc>
            </a:pPr>
            <a:r>
              <a:rPr lang="en-US" sz="1800" dirty="0" b="1">
                <a:effectLst/>
              </a:rPr>
              <a:t>International Review of Chemical Engineering, volume 3, No 2, March, 2011 Int. Rev.Chem. Eng., 3(2011) 153-215</a:t>
            </a:r>
          </a:p>
        </p:txBody>
      </p:sp>
      <mc:AlternateContent xmlns:mc="http://schemas.openxmlformats.org/markup-compatibility/2006">
        <mc:Choice xmlns:a14="http://schemas.microsoft.com/office/drawing/2010/main" Requires="a14">
          <p:sp>
            <p:nvSpPr>
              <p:cNvPr id="2" name="Text"/>
              <p:cNvSpPr/>
              <p:nvPr/>
            </p:nvSpPr>
            <p:spPr>
              <a:xfrm>
                <a:off x="1524000" y="1713739"/>
                <a:ext cx="9144000" cy="4343400"/>
              </a:xfrm>
              <a:prstGeom prst="rect">
                <a:avLst/>
              </a:prstGeom>
            </p:spPr>
            <p:txBody>
              <a:bodyPr anchor="t" lIns="0" tIns="0" rIns="0" bIns="0">
                <a:noAutofit/>
              </a:bodyPr>
              <a:lstStyle/>
              <a:p>
                <a:pPr>
                  <a:lnSpc>
                    <a:spcPct val="120000"/>
                  </a:lnSpc>
                </a:pPr>
                <a:r>
                  <a:rPr lang="en-US" sz="1200" dirty="0">
                    <a:effectLst/>
                  </a:rPr>
                  <a:t>polystyrene, Polymer 43 (2002) 5455-5461.</a:t>
                </a:r>
                <a:br>
                  <a:rPr lang="en-US" sz="1200" dirty="0"/>
                </a:br>
                <a:r>
                  <a:rPr lang="en-US" sz="1200" dirty="0">
                    <a:effectLst/>
                  </a:rPr>
                  <a:t> [314] R. I. Lestsinger, M. J. Kornet, V. Mahadevan, D. M. Jerina, Reactions on polymer supports, J. Am. Chem. Soc. 86 (1964) 5163-5165.</a:t>
                </a:r>
                <a:br>
                  <a:rPr lang="en-US" sz="1200" dirty="0"/>
                </a:br>
                <a:r>
                  <a:rPr lang="en-US" sz="1200" dirty="0">
                    <a:effectLst/>
                  </a:rPr>
                  <a:t> [315] J. Ayres, C. K. Mann, Some chemical reactions of poly( </a:t>
                </a:r>
                <a:r>
                  <a:rPr lang="en-US" sz="1200" dirty="0">
                    <a:effectLst/>
                  </a:rPr>
                  <a:t>​</a:t>
                </a:r>
                <a14:m>
                  <m:oMath>
                    <m:r>
                      <m:rPr>
                        <m:sty m:val="i"/>
                      </m:rPr>
                      <a:rPr lang="en-US" sz="1200" dirty="0">
                        <a:solidFill>
                          <a:srgbClr val="000000"/>
                        </a:solidFill>
                        <a:effectLst/>
                      </a:rPr>
                      <m:t>p</m:t>
                    </m:r>
                  </m:oMath>
                </a14:m>
                <a:r>
                  <a:rPr lang="en-US" sz="1200" dirty="0">
                    <a:effectLst/>
                  </a:rPr>
                  <a:t>-chloromethylstyrene) resin in dimethylsulfoxide, J. Polym. Sci. Part B: Polym. Lett. 3 (1995) 505-508.</a:t>
                </a:r>
                <a:br>
                  <a:rPr lang="en-US" sz="1200" dirty="0"/>
                </a:br>
                <a:r>
                  <a:rPr lang="en-US" sz="1200" dirty="0">
                    <a:effectLst/>
                  </a:rPr>
                  <a:t> [316] C. R. Harrison, P. Hodge, J. Kemp, G. M. Perry, Introduction of carboxyl groups into crosslinked polystyrene, Makromol. Chem. 176 (1975) 267-274.</a:t>
                </a:r>
                <a:br>
                  <a:rPr lang="en-US" sz="1200" dirty="0"/>
                </a:br>
                <a:r>
                  <a:rPr lang="en-US" sz="1200" dirty="0">
                    <a:effectLst/>
                  </a:rPr>
                  <a:t> [317] H. Kara, Y. Çengeloğlu, R. Kurbanlı, M. Ersöz, A. Ayar, The acrylation kinetics of polystyrene with acetic anhyride, Ener. Edu. Sci. Technol. 2(1998) 1-4.</a:t>
                </a:r>
                <a:br>
                  <a:rPr lang="en-US" sz="1200" dirty="0"/>
                </a:br>
                <a:r>
                  <a:rPr lang="en-US" sz="1200" dirty="0">
                    <a:effectLst/>
                  </a:rPr>
                  <a:t> [318] R. A. Kurbanova, R. Mirzaoğlu, G. Akovalı, Z. M. O. Rzaev, I. Karataş, A. Okudan, Side-chain functionalization of polystyrene with maleic anhydride in the presence of lewis acids, J. Appl. Polym. Sci. 65 (1996) 235-241.</a:t>
                </a:r>
                <a:br>
                  <a:rPr lang="en-US" sz="1200" dirty="0"/>
                </a:br>
                <a:r>
                  <a:rPr lang="en-US" sz="1200" dirty="0">
                    <a:effectLst/>
                  </a:rPr>
                  <a:t> [319] E. Can, S. Küsefoğlu, R. P. Wool, Rigid thermosetting liquid molding resins from renewable resources. II. Copolymers of soybean oil monoglyceride maleates with neopentyl glycol and bisphenol A maleates, J. Appl. Polym. Sci. 83 (2002) 972-980.</a:t>
                </a:r>
                <a:br>
                  <a:rPr lang="en-US" sz="1200" dirty="0"/>
                </a:br>
                <a:r>
                  <a:rPr lang="en-US" sz="1200" dirty="0">
                    <a:effectLst/>
                  </a:rPr>
                  <a:t> [320] G. G. Chen, J. J. Yang, Preparation of the HIPS/MA graft copolymer and its compatibilization in HIPS/PA1010 blends, J. Appl. Polym. Sci. 71 (1999) 2017-2025.</a:t>
                </a:r>
                <a:br>
                  <a:rPr lang="en-US" sz="1200" dirty="0"/>
                </a:br>
                <a:r>
                  <a:rPr lang="en-US" sz="1200" dirty="0">
                    <a:effectLst/>
                  </a:rPr>
                  <a:t> [321] G. G. Chen, E. Fortan, K. E. Min, J. L. White, An investigation of instability of phase morphology of blends of nylons with polyethylenes and polystyrenes and effects of compatibilizing agents, Polym. Eng. Sci. 28 (1988) 69-80.</a:t>
                </a:r>
                <a:br>
                  <a:rPr lang="en-US" sz="1200" dirty="0"/>
                </a:br>
                <a:r>
                  <a:rPr lang="en-US" sz="1200" dirty="0">
                    <a:effectLst/>
                  </a:rPr>
                  <a:t> [322] I. Park, J. W. Barlow, D. R. Paul, The in situ reactive compatibili-zation of nylon-6/polystyrene blends using anhydride functionalized polystyrenes, J. Polym. Sci. Part B: Polym. Phys. 30 (1992) 1021-1033.</a:t>
                </a:r>
              </a:p>
            </p:txBody>
          </p:sp>
        </mc:Choice>
        <mc:Fallback/>
      </mc:AlternateContent>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5943600"/>
          </a:xfrm>
          <a:prstGeom prst="rect">
            <a:avLst/>
          </a:prstGeom>
        </p:spPr>
        <p:txBody>
          <a:bodyPr anchor="t" lIns="0" tIns="0" rIns="0" bIns="0">
            <a:noAutofit/>
          </a:bodyPr>
          <a:lstStyle/>
          <a:p>
            <a:pPr>
              <a:lnSpc>
                <a:spcPct val="120000"/>
              </a:lnSpc>
            </a:pPr>
            <a:r>
              <a:rPr lang="en-US" sz="1200" dirty="0">
                <a:effectLst/>
              </a:rPr>
              <a:t> [323] H. J. Won, D. R. Chan, S. L. Moo, Preparation of functionalized polystyrene by reactive extrusion and its blend with polyamide, Polymer 37 (1996) 1709-1714.</a:t>
            </a:r>
            <a:br>
              <a:rPr lang="en-US" sz="1200" dirty="0"/>
            </a:br>
            <a:r>
              <a:rPr lang="en-US" sz="1200" dirty="0">
                <a:effectLst/>
              </a:rPr>
              <a:t> [324] J. Bartus, W. J. Simonsick, O. Vogl, Functional polymers. 63. Emul-sion copolymerization of maleimide type monomers with acrylonitrile and styrene in ABS latexes, J. Macromol. Sci.-Pure Appl. Chem. A36 (1999) 355-371.</a:t>
            </a:r>
            <a:br>
              <a:rPr lang="en-US" sz="1200" dirty="0"/>
            </a:br>
            <a:r>
              <a:rPr lang="en-US" sz="1200" dirty="0">
                <a:effectLst/>
              </a:rPr>
              <a:t> [325] L.-T. Ng, D. Nguyen, S. B. Adeloju, Photoinitiator-free UV grafting of styrene, a weak donor, with various electron-poor vinyl monomers to polypropylene film, Polym. Int. 54 (2004), 202-208.</a:t>
            </a:r>
            <a:br>
              <a:rPr lang="en-US" sz="1200" dirty="0"/>
            </a:br>
            <a:r>
              <a:rPr lang="en-US" sz="1200" dirty="0">
                <a:effectLst/>
              </a:rPr>
              <a:t> [326] G. Samay, T. Nagy, J. L. White, Grafting maleic anhydride and comonomers onto polyethylene, J. Appl. Polym. Sci. 56 (1995) 1423-1433.</a:t>
            </a:r>
            <a:br>
              <a:rPr lang="en-US" sz="1200" dirty="0"/>
            </a:br>
            <a:r>
              <a:rPr lang="en-US" sz="1200" dirty="0">
                <a:effectLst/>
              </a:rPr>
              <a:t> [327] B. Lu, T. C. Chung, Synthesis of maleic anhydride grafted polyethy- lene and polypropylene, with controlled molecular structures, J. Polym. Sci. Part A: Polym. Chem. 38 (2000) 1337-1343.</a:t>
            </a:r>
            <a:br>
              <a:rPr lang="en-US" sz="1200" dirty="0"/>
            </a:br>
            <a:r>
              <a:rPr lang="en-US" sz="1200" dirty="0">
                <a:effectLst/>
              </a:rPr>
              <a:t> [328] A. V. Machado, J. A. Covas, M. van Duin, Effect of polyolefin struc- ture on maleic anhydride grafting, Polymer 42 (2001) 3649-3655.</a:t>
            </a:r>
            <a:br>
              <a:rPr lang="en-US" sz="1200" dirty="0"/>
            </a:br>
            <a:r>
              <a:rPr lang="en-US" sz="1200" dirty="0">
                <a:effectLst/>
              </a:rPr>
              <a:t> [329] M. Mehrabzade, S. Kasaei, M. Khosravi, Modification of fastcure ethylene-propylene diene terpolymer rubber by maleic anhydride and effect of electron donor, J. Appl. Polym. Sci. 79 (1998) 1-15.</a:t>
            </a:r>
            <a:br>
              <a:rPr lang="en-US" sz="1200" dirty="0"/>
            </a:br>
            <a:r>
              <a:rPr lang="en-US" sz="1200" dirty="0">
                <a:effectLst/>
              </a:rPr>
              <a:t> [330] S. Cimmino, F. Coppola, L. D'Orazio, Greco R, G. Maglio, M. Malinconico, C. Mancarella, E. Martuscelli, G. Ragosta, Ternary nylon-6/rubber/modified rubber blends: Effect of the mixing procedure on morphology, mechanical and impact properties, Polymer 27 (1986) 1874-1884.</a:t>
            </a:r>
            <a:br>
              <a:rPr lang="en-US" sz="1200" dirty="0"/>
            </a:br>
            <a:r>
              <a:rPr lang="en-US" sz="1200" dirty="0">
                <a:effectLst/>
              </a:rPr>
              <a:t> [331] Y. Kayano, H. Keskkula, D. R. Paul, Fracture behaviour of some rubber-toughened nylon 6 blends, Polymer 39 (1998) 2835-2845.</a:t>
            </a:r>
            <a:br>
              <a:rPr lang="en-US" sz="1200" dirty="0"/>
            </a:br>
            <a:r>
              <a:rPr lang="en-US" sz="1200" dirty="0">
                <a:effectLst/>
              </a:rPr>
              <a:t> [332] J. Saelao, P. Phinyocheep, Influence of styrene on grafting efficiency of maleic anhydride onto natural rubber, J. Appl. Polym. Sci. 95 (2005) 28-38.</a:t>
            </a:r>
            <a:br>
              <a:rPr lang="en-US" sz="1200" dirty="0"/>
            </a:br>
            <a:r>
              <a:rPr lang="en-US" sz="1200" dirty="0">
                <a:effectLst/>
              </a:rPr>
              <a:t> [333] Jr E. Carone, U. Kopcak, M. C. Gonçalves, S. P. Nunes, In situ compatibilization of polyamide 6/natural rubber blends with maleic anhydride, Polymer 41 (2004) 5929-5935.</a:t>
            </a:r>
            <a:br>
              <a:rPr lang="en-US" sz="1200" dirty="0"/>
            </a:br>
            <a:r>
              <a:rPr lang="en-US" sz="1200" dirty="0">
                <a:effectLst/>
              </a:rPr>
              <a:t> [334] J. C. Brosse, I. Campistron, D. Derouet, A. Hamdaoui, S. Houdayer, D. Reyx, S. Ritoit-Gillier, Chemical modifications of polydiene elastomers: A survey and some recent results, J. Appl. Polym. Sci. 78 (2000) 1461-1477.</a:t>
            </a:r>
            <a:br>
              <a:rPr lang="en-US" sz="1200" dirty="0"/>
            </a:br>
            <a:r>
              <a:rPr lang="en-US" sz="1200" dirty="0">
                <a:effectLst/>
              </a:rPr>
              <a:t> [335] Z. Mitov, R. Velichkova, Modification of styrene-isoprene block copolymers-3. Addition of maleic anhydride-mechanism, Eur. Polym. J. 29 (1993) 597-601.</a:t>
            </a: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cNvSpPr/>
              <p:nvPr/>
            </p:nvSpPr>
            <p:spPr>
              <a:xfrm>
                <a:off x="1524000" y="457200"/>
                <a:ext cx="9144000" cy="5943600"/>
              </a:xfrm>
              <a:prstGeom prst="rect">
                <a:avLst/>
              </a:prstGeom>
            </p:spPr>
            <p:txBody>
              <a:bodyPr anchor="t" lIns="0" tIns="0" rIns="0" bIns="0">
                <a:noAutofit/>
              </a:bodyPr>
              <a:lstStyle/>
              <a:p>
                <a:pPr>
                  <a:lnSpc>
                    <a:spcPct val="120000"/>
                  </a:lnSpc>
                </a:pPr>
                <a:r>
                  <a:rPr lang="en-US" sz="1200" dirty="0">
                    <a:effectLst/>
                  </a:rPr>
                  <a:t> [336] Z. Amin, L. Chao,Chemical initiation mechanism of maleic anhydride grafted onto styrene-butadiene-styrene block copolymer, Eur. Polym.. J. 39 (2003) 1291-1295.</a:t>
                </a:r>
                <a:br>
                  <a:rPr lang="en-US" sz="1200" dirty="0"/>
                </a:br>
                <a:r>
                  <a:rPr lang="en-US" sz="1200" dirty="0">
                    <a:effectLst/>
                  </a:rPr>
                  <a:t> [337] D. Jia, Y. Luo, Y. Li, H. Lu, W. Fu, W. L. Cheung, Synthesis and characterization of solid-phase graft copolymer of polypropylene with styrene and maleic anhydride, J. Appl. Polym. Sci. 78 (2000) 2482-2487.</a:t>
                </a:r>
                <a:br>
                  <a:rPr lang="en-US" sz="1200" dirty="0"/>
                </a:br>
                <a:r>
                  <a:rPr lang="en-US" sz="1200" dirty="0">
                    <a:effectLst/>
                  </a:rPr>
                  <a:t> [338] C. Nakason, A. Kaesman, S. Homsin, S. Kiatkamjornwong, Rheolo-gical and curing behavior of reactive blending. I. Maleated natural rubber-cassava starch, J. Appl. Polym. Sci. 81 (2001) 2803-2813.</a:t>
                </a:r>
                <a:br>
                  <a:rPr lang="en-US" sz="1200" dirty="0"/>
                </a:br>
                <a:r>
                  <a:rPr lang="en-US" sz="1200" dirty="0">
                    <a:effectLst/>
                  </a:rPr>
                  <a:t> [339] M. Sclavons, V. Carlier, B. De Roover, P. Franquinet, J. Devaux, R. Legras, The anhydride content of some commercial PP- </a:t>
                </a:r>
                <a:r>
                  <a:rPr lang="en-US" sz="1200" dirty="0">
                    <a:effectLst/>
                  </a:rPr>
                  <a:t>​</a:t>
                </a:r>
                <a14:m>
                  <m:oMath>
                    <m:r>
                      <m:rPr>
                        <m:sty m:val="i"/>
                      </m:rPr>
                      <a:rPr lang="en-US" sz="1200" dirty="0">
                        <a:solidFill>
                          <a:srgbClr val="000000"/>
                        </a:solidFill>
                        <a:effectLst/>
                      </a:rPr>
                      <m:t>g</m:t>
                    </m:r>
                  </m:oMath>
                </a14:m>
                <a:r>
                  <a:rPr lang="en-US" sz="1200" dirty="0">
                    <a:effectLst/>
                  </a:rPr>
                  <a:t> -MA: FTIR and titration, J. Appl. Polym. Sci. 62 (1996) 1205-1210.</a:t>
                </a:r>
                <a:br>
                  <a:rPr lang="en-US" sz="1200" dirty="0"/>
                </a:br>
                <a:r>
                  <a:rPr lang="en-US" sz="1200" dirty="0">
                    <a:effectLst/>
                  </a:rPr>
                  <a:t> [340] J. M. Garcia-Martinez, O. Laguna, S. Areso, E. P. Collar, FTIR quantitative characterization of chemically modified polypropylenes containing succinic grafted groups, J. Appl. Polym. Sci. 73 (1999) 2837-2847.</a:t>
                </a:r>
                <a:br>
                  <a:rPr lang="en-US" sz="1200" dirty="0"/>
                </a:br>
                <a:r>
                  <a:rPr lang="en-US" sz="1200" dirty="0">
                    <a:effectLst/>
                  </a:rPr>
                  <a:t> [341] A. J. Oostenbrink, R. J. Gaymans, Maleic anhydride grafting on EPDM rubber in the melt, Polymer 33 (1992) 3086-3088.</a:t>
                </a:r>
                <a:br>
                  <a:rPr lang="en-US" sz="1200" dirty="0"/>
                </a:br>
                <a:r>
                  <a:rPr lang="en-US" sz="1200" dirty="0">
                    <a:effectLst/>
                  </a:rPr>
                  <a:t> [342] F. M. B. Coutinho, M. I. P. Ferreira, Characterization of EPDM rubber modified with maleic anhydride (MAH) by diffuse reflectance FTIR (DRIFT), Polym. Test. 13 (1994) 25-34.</a:t>
                </a:r>
                <a:br>
                  <a:rPr lang="en-US" sz="1200" dirty="0"/>
                </a:br>
                <a:r>
                  <a:rPr lang="en-US" sz="1200" dirty="0">
                    <a:effectLst/>
                  </a:rPr>
                  <a:t> [343] D. Derouet, P. Phinyocheep, J. C. Brosse, G. Boccaccio, Synthese d'elastomeres photoreticulables par modification chimique du caoutchouc naturel liquide-I. Introduction de l'anhydride maleique sur les structures polyisopreniques, Eur. Polym. J. 26 (1990) 1301-1311.</a:t>
                </a:r>
                <a:br>
                  <a:rPr lang="en-US" sz="1200" dirty="0"/>
                </a:br>
                <a:r>
                  <a:rPr lang="en-US" sz="1200" dirty="0">
                    <a:effectLst/>
                  </a:rPr>
                  <a:t> [344] J. Luchtenberg, H. Ritter, Synthesis of crystallizable comb-like oligomers by coupling of stearyl acrylate to butadiene oligomers via ene reaction and the influence of side-chain order on the network formation by autoxidation, Macromol. Chem. Phys. 195 (1994) 1623-1632.</a:t>
                </a:r>
                <a:br>
                  <a:rPr lang="en-US" sz="1200" dirty="0"/>
                </a:br>
                <a:r>
                  <a:rPr lang="en-US" sz="1200" dirty="0">
                    <a:effectLst/>
                  </a:rPr>
                  <a:t> [345] J. Luchtenberg, H. Ritter, Synthesis of photopolymerizable oligomers by coupling of 2-methacryloyloxyethyl acrylate via selective ene-reaction to oligobutadienes, Macromol. Rapid Commun. 15 (1994) 81-85.</a:t>
                </a:r>
                <a:br>
                  <a:rPr lang="en-US" sz="1200" dirty="0"/>
                </a:br>
                <a:r>
                  <a:rPr lang="en-US" sz="1200" dirty="0">
                    <a:effectLst/>
                  </a:rPr>
                  <a:t> [346] Y. Nakayama, Polymer blend systems for water-borne paints, Prog. Org. Coat. 33 (1998) 108-116.</a:t>
                </a:r>
                <a:br>
                  <a:rPr lang="en-US" sz="1200" dirty="0"/>
                </a:br>
                <a:r>
                  <a:rPr lang="en-US" sz="1200" dirty="0">
                    <a:effectLst/>
                  </a:rPr>
                  <a:t> [347] A. I. Aigbodion, F. E. Okeimen, E. O. Obazee, I. O. Bakare, Utilisa- tion of maleinized rubber seed oil and its alkyd resin as binders in water-borne coatings, Prog .Org. Coat. 46 (2003) 28-31.</a:t>
                </a:r>
                <a:br>
                  <a:rPr lang="en-US" sz="1200" dirty="0"/>
                </a:br>
                <a:r>
                  <a:rPr lang="en-US" sz="1200" dirty="0">
                    <a:effectLst/>
                  </a:rPr>
                  <a:t> [348] G. Gündüz, A. H. Khalid, I. A. Mecidoğlu, L. Aras, Water-borne and air-drying oil-based resins, Prog. Org. Coat. 49 (2004) 259-269.</a:t>
                </a:r>
              </a:p>
            </p:txBody>
          </p:sp>
        </mc:Choice>
        <mc:Fallback/>
      </mc:AlternateContent>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5" name="Text"/>
          <p:cNvSpPr/>
          <p:nvPr/>
        </p:nvSpPr>
        <p:spPr>
          <a:xfrm>
            <a:off x="1524000" y="457200"/>
            <a:ext cx="9144000" cy="2286000"/>
          </a:xfrm>
          <a:prstGeom prst="rect">
            <a:avLst/>
          </a:prstGeom>
        </p:spPr>
        <p:txBody>
          <a:bodyPr anchor="t" lIns="0" tIns="0" rIns="0" bIns="0">
            <a:noAutofit/>
          </a:bodyPr>
          <a:lstStyle/>
          <a:p>
            <a:pPr>
              <a:lnSpc>
                <a:spcPct val="120000"/>
              </a:lnSpc>
            </a:pPr>
            <a:r>
              <a:rPr lang="en-US" sz="1200" dirty="0">
                <a:effectLst/>
              </a:rPr>
              <a:t> [349] Y. Otsuki, Y. Araki, K. Aoyama (Nippon Oil Company, Ltd. Tokyo, JA), Water-soluble coating compositions and process for their preparation, US Pat 4,072,536 (1978).</a:t>
            </a:r>
            <a:br>
              <a:rPr lang="en-US" sz="1200" dirty="0"/>
            </a:br>
            <a:r>
              <a:rPr lang="en-US" sz="1200" dirty="0">
                <a:effectLst/>
              </a:rPr>
              <a:t> [350] Y. Otsuki, H. Horri, Y. Araki (Nippon Oil Company, Ltd. JP), Process for producing water-dispersible film-forming material, US Pat 4,137,282 (1979).</a:t>
            </a:r>
            <a:br>
              <a:rPr lang="en-US" sz="1200" dirty="0"/>
            </a:br>
            <a:r>
              <a:rPr lang="en-US" sz="1200" dirty="0">
                <a:effectLst/>
              </a:rPr>
              <a:t> [351] A. Mounir, N. A. Darwish, A. Shehata, Effect of maleic anhydride and liquid natural rubber as compatibilizers on the mechanical properties and impact resistance of the NR-NBR blend, Polym. Adv. Technol. 15 (2004) 209-213.</a:t>
            </a:r>
            <a:br>
              <a:rPr lang="en-US" sz="1200" dirty="0"/>
            </a:br>
            <a:r>
              <a:rPr lang="en-US" sz="1200" dirty="0">
                <a:effectLst/>
              </a:rPr>
              <a:t> [352] F. Ferrero, Solvent effect in grafting of liquid polybutadienes with maleic anhydride, Prog. Org. Coat. 53 (2005) 50-55.</a:t>
            </a:r>
            <a:br>
              <a:rPr lang="en-US" sz="1200" dirty="0"/>
            </a:br>
            <a:r>
              <a:rPr lang="en-US" sz="1200" dirty="0">
                <a:effectLst/>
              </a:rPr>
              <a:t> [353] I. Cansarz I, W. Laskawski, Peroxide-initiated crosslinking of maleic anhydride-modified low-molecular-weight polybutadiene. II. Cross-linking degree and thermal degradation of cured polymers, J. Polym. Sci. Polym. Chem .Ed. 17 (1979) 683-692.</a:t>
            </a:r>
            <a:br>
              <a:rPr lang="en-US" sz="1200" dirty="0"/>
            </a:br>
            <a:r>
              <a:rPr lang="en-US" sz="1200" dirty="0">
                <a:effectLst/>
              </a:rPr>
              <a:t> [354] I. Cansarz I, W. Laskawski, Peroxide-initiated crosslinking of</a:t>
            </a:r>
          </a:p>
        </p:txBody>
      </p:sp>
      <p:sp>
        <p:nvSpPr>
          <p:cNvPr id="2" name="Text"/>
          <p:cNvSpPr/>
          <p:nvPr/>
        </p:nvSpPr>
        <p:spPr>
          <a:xfrm>
            <a:off x="1524000" y="2895600"/>
            <a:ext cx="9144000" cy="685800"/>
          </a:xfrm>
          <a:prstGeom prst="rect">
            <a:avLst/>
          </a:prstGeom>
        </p:spPr>
        <p:txBody>
          <a:bodyPr anchor="t" lIns="0" tIns="0" rIns="0" bIns="0">
            <a:noAutofit/>
          </a:bodyPr>
          <a:lstStyle/>
          <a:p>
            <a:pPr>
              <a:lnSpc>
                <a:spcPct val="120000"/>
              </a:lnSpc>
            </a:pPr>
            <a:r>
              <a:rPr lang="en-US" sz="1800" dirty="0" b="1">
                <a:effectLst/>
              </a:rPr>
              <a:t>International Review of Chemical Engineering, volume 3, No 2, March, 2011 Int. Rev.Chem. Eng., 3(2011) 153-215</a:t>
            </a:r>
          </a:p>
        </p:txBody>
      </p:sp>
      <p:sp>
        <p:nvSpPr>
          <p:cNvPr id="2" name="Text"/>
          <p:cNvSpPr/>
          <p:nvPr/>
        </p:nvSpPr>
        <p:spPr>
          <a:xfrm>
            <a:off x="1524000" y="3771139"/>
            <a:ext cx="9144000" cy="2286000"/>
          </a:xfrm>
          <a:prstGeom prst="rect">
            <a:avLst/>
          </a:prstGeom>
        </p:spPr>
        <p:txBody>
          <a:bodyPr anchor="t" lIns="0" tIns="0" rIns="0" bIns="0">
            <a:noAutofit/>
          </a:bodyPr>
          <a:lstStyle/>
          <a:p>
            <a:pPr lvl="0" indent="-285750" marL="533400">
              <a:lnSpc>
                <a:spcPct val="120000"/>
              </a:lnSpc>
              <a:buNone/>
            </a:pPr>
            <a:r>
              <a:rPr lang="en-US" sz="1200" dirty="0">
                <a:effectLst/>
              </a:rPr>
              <a:t>maleic anhydride-modified low-molecular-weight polybutadiene. I. Mechanism and kinetics of the reaction, J. Polym. Sci. Polym. Chem. Ed. 17 (1979) 683-692.</a:t>
            </a:r>
          </a:p>
          <a:p>
            <a:pPr lvl="0" indent="-285750" marL="533400">
              <a:lnSpc>
                <a:spcPct val="120000"/>
              </a:lnSpc>
              <a:buNone/>
            </a:pPr>
            <a:r>
              <a:rPr lang="en-US" sz="1200" dirty="0">
                <a:effectLst/>
              </a:rPr>
              <a:t>[355] N. G. Gaylord, E. Oikawa, A. Takahashi, Alternating graft copolymers. I. Grafting of alternating copolymers in the absence of complexing agents, J. Polym. Sci. B9 (1971) 379-385.</a:t>
            </a:r>
          </a:p>
          <a:p>
            <a:pPr lvl="0" indent="-285750" marL="533400">
              <a:lnSpc>
                <a:spcPct val="120000"/>
              </a:lnSpc>
              <a:buNone/>
            </a:pPr>
            <a:r>
              <a:rPr lang="en-US" sz="1200" dirty="0">
                <a:effectLst/>
              </a:rPr>
              <a:t>[356] N. G. Gaylord, A. Antropiusova, K. Patnaik, Alternating graft copolymers. II. Grafting of alternating copolymers in the presence of complexing agents, J. Polym. Sci. B9 (1971) 387-393.</a:t>
            </a:r>
          </a:p>
          <a:p>
            <a:pPr lvl="0" indent="-285750" marL="533400">
              <a:lnSpc>
                <a:spcPct val="120000"/>
              </a:lnSpc>
              <a:buNone/>
            </a:pPr>
            <a:r>
              <a:rPr lang="en-US" sz="1200" dirty="0">
                <a:effectLst/>
              </a:rPr>
              <a:t>[357] O. P. Grigoryeva, J. Karger-Kocsis, Melt grafting of maleic anhydride onto an ethylene-propylene-diene terpolymer (EPDM), Eur. Polym. J. 36 ( 2000) 1419-1429.</a:t>
            </a:r>
          </a:p>
          <a:p>
            <a:pPr lvl="0" indent="-285750" marL="533400">
              <a:lnSpc>
                <a:spcPct val="120000"/>
              </a:lnSpc>
              <a:buNone/>
            </a:pPr>
            <a:r>
              <a:rPr lang="en-US" sz="1200" dirty="0">
                <a:effectLst/>
              </a:rPr>
              <a:t>[358] C. Wu, J. F. Kuo, C.-Y. Chen, E. Woo, Effects of reactive functional groups in the compatibilizer on mechanical properties of compatibi- lized blends, J. Appl. Polym. Sci. 52 (1994) 1695-1706.</a:t>
            </a: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5715000"/>
          </a:xfrm>
          <a:prstGeom prst="rect">
            <a:avLst/>
          </a:prstGeom>
        </p:spPr>
        <p:txBody>
          <a:bodyPr anchor="t" lIns="0" tIns="0" rIns="0" bIns="0">
            <a:noAutofit/>
          </a:bodyPr>
          <a:lstStyle/>
          <a:p>
            <a:pPr lvl="0" indent="-285750" marL="533400">
              <a:lnSpc>
                <a:spcPct val="120000"/>
              </a:lnSpc>
              <a:buNone/>
            </a:pPr>
            <a:r>
              <a:rPr lang="en-US" sz="1200" dirty="0">
                <a:effectLst/>
              </a:rPr>
              <a:t>[359] C. Burgisi, M. Paternoster, N. Peduto, A. Saraceno, Toughness enhancement of polyamide 6 modified with different types of rubber: The influence of internal rubber cavitation, J. Appl. Polym. Sci. 66 (1997) 777-787.</a:t>
            </a:r>
          </a:p>
          <a:p>
            <a:pPr lvl="0" indent="-285750" marL="533400">
              <a:lnSpc>
                <a:spcPct val="120000"/>
              </a:lnSpc>
              <a:buNone/>
            </a:pPr>
            <a:r>
              <a:rPr lang="en-US" sz="1200" dirty="0">
                <a:effectLst/>
              </a:rPr>
              <a:t>[360] B. Majumdar, H. Keskkula, D. R. Paul, Effect of extruder type on the properties and morphology of reactive blends based on polyamides, J. Appl. Polym. Sci. 54 (1994) 339-354.</a:t>
            </a:r>
          </a:p>
          <a:p>
            <a:pPr lvl="0" indent="-285750" marL="533400">
              <a:lnSpc>
                <a:spcPct val="120000"/>
              </a:lnSpc>
              <a:buNone/>
            </a:pPr>
            <a:r>
              <a:rPr lang="en-US" sz="1200" dirty="0">
                <a:effectLst/>
              </a:rPr>
              <a:t>[361] B. Majumdar, D. R. Paul, A. J. Oshinski, Evolution of morphology in compatibilized vs uncompatibilized polyamide blends, Polymer 38 (1997) 1787-1808.</a:t>
            </a:r>
          </a:p>
          <a:p>
            <a:pPr lvl="0" indent="-285750" marL="533400">
              <a:lnSpc>
                <a:spcPct val="120000"/>
              </a:lnSpc>
              <a:buNone/>
            </a:pPr>
            <a:r>
              <a:rPr lang="en-US" sz="1200" dirty="0">
                <a:effectLst/>
              </a:rPr>
              <a:t>[362] U. R. Vaidya, M. Bhattacharya, D. Zhang, Effect of processing conditions on the dynamic mechanical properties of starch and anhydride functional polymer blends, Polymer 36 (1995)1179-1188.</a:t>
            </a:r>
          </a:p>
          <a:p>
            <a:pPr lvl="0" indent="-285750" marL="533400">
              <a:lnSpc>
                <a:spcPct val="120000"/>
              </a:lnSpc>
              <a:buNone/>
            </a:pPr>
            <a:r>
              <a:rPr lang="en-US" sz="1200" dirty="0">
                <a:effectLst/>
              </a:rPr>
              <a:t>[363] M. Bhattacharya, U. R. Vaidya, D. Zhang, D. Narayan, Properties of blends of starch and synthetic polymers containing anhydride groups. II. Effect of amylopectin to amylose ratio in starch, J. Appl. Polym. Sci. 57 (1995) 539-554.</a:t>
            </a:r>
          </a:p>
          <a:p>
            <a:pPr lvl="0" indent="-285750" marL="533400">
              <a:lnSpc>
                <a:spcPct val="120000"/>
              </a:lnSpc>
              <a:buNone/>
            </a:pPr>
            <a:r>
              <a:rPr lang="en-US" sz="1200" dirty="0">
                <a:effectLst/>
              </a:rPr>
              <a:t>[364] D. Ramkumar, U. R. Vaidya, M. Bhattacharya, M. Nakkarainen, A. C. Albertsson, S. Karlsson, Properties of injection molded starch/synthetic polymer blends-1. Effect of processing parameters on physical properties, Eur. Polym. J. 32 (1996) 999-1010.</a:t>
            </a:r>
          </a:p>
          <a:p>
            <a:pPr lvl="0" indent="-285750" marL="533400">
              <a:lnSpc>
                <a:spcPct val="120000"/>
              </a:lnSpc>
              <a:buNone/>
            </a:pPr>
            <a:r>
              <a:rPr lang="en-US" sz="1200" dirty="0">
                <a:effectLst/>
              </a:rPr>
              <a:t>[365] R. Mani, M. Bhattacharya, Properties of injection moulded starch/synthetic polymer blends-III. Effect of amylopectin to amylose ratio in starch, Eur. Polym. J. 34 (1998) 1467-1475.</a:t>
            </a:r>
          </a:p>
          <a:p>
            <a:pPr lvl="0" indent="-285750" marL="533400">
              <a:lnSpc>
                <a:spcPct val="120000"/>
              </a:lnSpc>
              <a:buNone/>
            </a:pPr>
            <a:r>
              <a:rPr lang="en-US" sz="1200" dirty="0">
                <a:effectLst/>
              </a:rPr>
              <a:t>[366] R. Mani, J. Tang, M. Bhattacharya, Synthesis and characterization of starch-graft-polycaprolactone as compatibilizer for starch/ polycaprolactone blends, Macromol. Rapid Commun. 19 (1998) 283-286.</a:t>
            </a:r>
          </a:p>
          <a:p>
            <a:pPr lvl="0" indent="-285750" marL="533400">
              <a:lnSpc>
                <a:spcPct val="120000"/>
              </a:lnSpc>
              <a:buNone/>
            </a:pPr>
            <a:r>
              <a:rPr lang="en-US" sz="1200" dirty="0">
                <a:effectLst/>
              </a:rPr>
              <a:t>[367] I. M. Thakore, S. Deai, B. D. Sarawade, S. Devi, Studies on biodegradability, morphology and thermo-mechanical properties of LDPE/modified starch blends, Eur. Polym. J. 37 (2001) 151-160.</a:t>
            </a:r>
          </a:p>
          <a:p>
            <a:pPr lvl="0" indent="-285750" marL="533400">
              <a:lnSpc>
                <a:spcPct val="120000"/>
              </a:lnSpc>
              <a:buNone/>
            </a:pPr>
            <a:r>
              <a:rPr lang="en-US" sz="1200" dirty="0">
                <a:effectLst/>
              </a:rPr>
              <a:t>[368] H. P. S. Addul Khalil, W. C. Chow, H. D. Rozman,, H. Ismail, M. N. Ahmad, R. N. Kumar, The effect of anhydride modification of sago starch on the tensile and water absorption properties of sago-filled linear low-density polyethylene (LLDPE), Polym. Plast. Technol. Eng. 40 (2001) 249-263.</a:t>
            </a:r>
          </a:p>
          <a:p>
            <a:pPr lvl="0" indent="-285750" marL="533400">
              <a:lnSpc>
                <a:spcPct val="120000"/>
              </a:lnSpc>
              <a:buNone/>
            </a:pPr>
            <a:r>
              <a:rPr lang="en-US" sz="1200" dirty="0">
                <a:effectLst/>
              </a:rPr>
              <a:t>[369] S. Kiatkamjornwong, P. Thakeow, M. Sonsuk, Chemical modifica-tion of cassava starch for degradable polyethylene sheets, Polym. Degrad. Stab. 73 (2001) 363-375.</a:t>
            </a:r>
          </a:p>
          <a:p>
            <a:pPr lvl="0" indent="-285750" marL="533400">
              <a:lnSpc>
                <a:spcPct val="120000"/>
              </a:lnSpc>
              <a:buNone/>
            </a:pPr>
            <a:r>
              <a:rPr lang="en-US" sz="1200" dirty="0">
                <a:effectLst/>
              </a:rPr>
              <a:t>[370] L.-J. Wu, H.-F. Ha, Y. Zhang, Research and application of plant cellulose radiation grafting modification, Chemistry (Chinese) 9 (1992) 27-31.</a:t>
            </a: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cNvSpPr/>
              <p:nvPr/>
            </p:nvSpPr>
            <p:spPr>
              <a:xfrm>
                <a:off x="1524000" y="457200"/>
                <a:ext cx="9144000" cy="5943600"/>
              </a:xfrm>
              <a:prstGeom prst="rect">
                <a:avLst/>
              </a:prstGeom>
            </p:spPr>
            <p:txBody>
              <a:bodyPr anchor="t" lIns="0" tIns="0" rIns="0" bIns="0">
                <a:noAutofit/>
              </a:bodyPr>
              <a:lstStyle/>
              <a:p>
                <a:pPr lvl="0" indent="-285750" marL="533400">
                  <a:lnSpc>
                    <a:spcPct val="120000"/>
                  </a:lnSpc>
                  <a:buNone/>
                </a:pPr>
                <a:r>
                  <a:rPr lang="en-US" sz="1200" dirty="0">
                    <a:effectLst/>
                  </a:rPr>
                  <a:t>[371] R. Chandra, R. Rustgi, Biodegradation of maleated linear lowdensity polyethylene and starch blends, Polym. Degrad. Stab. 56 (1997) 185-202.</a:t>
                </a:r>
              </a:p>
              <a:p>
                <a:pPr lvl="0" indent="-285750" marL="533400">
                  <a:lnSpc>
                    <a:spcPct val="120000"/>
                  </a:lnSpc>
                  <a:buNone/>
                </a:pPr>
                <a:r>
                  <a:rPr lang="en-US" sz="1200" dirty="0">
                    <a:effectLst/>
                  </a:rPr>
                  <a:t>[372] C. H. Jiang, S. Filippi, P. Magagnini, Reactive compatibilizer pre- cursors for LDPE/PA6 blends. II: maleic anhydride grafted polyethylenes, Polymer 44 (2003) 2411-2422.</a:t>
                </a:r>
              </a:p>
              <a:p>
                <a:pPr lvl="0" indent="-285750" marL="533400">
                  <a:lnSpc>
                    <a:spcPct val="120000"/>
                  </a:lnSpc>
                  <a:buNone/>
                </a:pPr>
                <a:r>
                  <a:rPr lang="en-US" sz="1200" dirty="0">
                    <a:effectLst/>
                  </a:rPr>
                  <a:t>[373] D. Bikiaris, J. Prinos, C. Panayiotou, Effect of EAA and starch on the thermooxidative degradation of LDPE, Polym. Degrad. Stab. 56 (1997) 1-9.</a:t>
                </a:r>
              </a:p>
              <a:p>
                <a:pPr lvl="0" indent="-285750" marL="533400">
                  <a:lnSpc>
                    <a:spcPct val="120000"/>
                  </a:lnSpc>
                  <a:buNone/>
                </a:pPr>
                <a:r>
                  <a:rPr lang="en-US" sz="1200" dirty="0">
                    <a:effectLst/>
                  </a:rPr>
                  <a:t>[374] P. Matzions, D. Bikiaris, S. Kokkou, C. Panayiotou, Processing and characterization of LDPE/starch products, J. Appl. Polym. Sci. 79 (2001) 2548-2557.</a:t>
                </a:r>
              </a:p>
              <a:p>
                <a:pPr lvl="0" indent="-285750" marL="533400">
                  <a:lnSpc>
                    <a:spcPct val="120000"/>
                  </a:lnSpc>
                  <a:buNone/>
                </a:pPr>
                <a:r>
                  <a:rPr lang="en-US" sz="1200" dirty="0">
                    <a:effectLst/>
                  </a:rPr>
                  <a:t>[375] I. Y. Seong, Y. L. Tae, Y. Jinsan, L. Ikmo L, K. Malnam, S. L. Han, Interfacial adhesion reaction of polyethylene and starch blends using maleated polyethylene reactive compatibilizer, J. Appl. Polym. Sci. 83 (2002) 767-776.</a:t>
                </a:r>
              </a:p>
              <a:p>
                <a:pPr lvl="0" indent="-285750" marL="533400">
                  <a:lnSpc>
                    <a:spcPct val="120000"/>
                  </a:lnSpc>
                  <a:buNone/>
                </a:pPr>
                <a:r>
                  <a:rPr lang="en-US" sz="1200" dirty="0">
                    <a:effectLst/>
                  </a:rPr>
                  <a:t>[376] D. Bikiaris, J. Prinos, K. Koutsopoulos, N. Vouroutzis, E. Pavlidou, N. Frangis, C. Panayiotou, LDPE-plasticized starch blends containing PE- </a:t>
                </a:r>
                <a:r>
                  <a:rPr lang="en-US" sz="1200" dirty="0">
                    <a:effectLst/>
                  </a:rPr>
                  <a:t>​</a:t>
                </a:r>
                <a14:m>
                  <m:oMath>
                    <m:r>
                      <m:rPr>
                        <m:sty m:val="i"/>
                      </m:rPr>
                      <a:rPr lang="en-US" sz="1200" dirty="0">
                        <a:solidFill>
                          <a:srgbClr val="000000"/>
                        </a:solidFill>
                        <a:effectLst/>
                      </a:rPr>
                      <m:t>g</m:t>
                    </m:r>
                  </m:oMath>
                </a14:m>
                <a:r>
                  <a:rPr lang="en-US" sz="1200" dirty="0">
                    <a:effectLst/>
                  </a:rPr>
                  <a:t>-MA copolymer as compatibilizer, Polym. Degrad. Stab. 59 (1998) 287-291.</a:t>
                </a:r>
              </a:p>
              <a:p>
                <a:pPr lvl="0" indent="-285750" marL="533400">
                  <a:lnSpc>
                    <a:spcPct val="120000"/>
                  </a:lnSpc>
                  <a:buNone/>
                </a:pPr>
                <a:r>
                  <a:rPr lang="en-US" sz="1200" dirty="0">
                    <a:effectLst/>
                  </a:rPr>
                  <a:t>[377] D. Bikiaris, C. Panayiotou, LDPE/starch blends compatibilized with PE-g-MA copolymers, J. Appl. Polym. Sci. 70 (1998) 1503-1521.</a:t>
                </a:r>
              </a:p>
              <a:p>
                <a:pPr lvl="0" indent="-285750" marL="533400">
                  <a:lnSpc>
                    <a:spcPct val="120000"/>
                  </a:lnSpc>
                  <a:buNone/>
                </a:pPr>
                <a:r>
                  <a:rPr lang="en-US" sz="1200" dirty="0">
                    <a:effectLst/>
                  </a:rPr>
                  <a:t>[378] S. Jijun, H. Guohua, L. Morand, In situ compatibilization of polypropylene and poly(butylene terephthalate) polymer blends by one-step reactive extrusion, Polymer 37 (1996) 4119-4127.</a:t>
                </a:r>
              </a:p>
              <a:p>
                <a:pPr lvl="0" indent="-285750" marL="533400">
                  <a:lnSpc>
                    <a:spcPct val="120000"/>
                  </a:lnSpc>
                  <a:buNone/>
                </a:pPr>
                <a:r>
                  <a:rPr lang="en-US" sz="1200" dirty="0">
                    <a:effectLst/>
                  </a:rPr>
                  <a:t>[379] S. Wang, J. Yu, J. Yu, Compatible thermoplastic starch/ polyethylene blends by one-step reactive extrusion, Polym. Int. 54 (2005) 279-285.</a:t>
                </a:r>
              </a:p>
              <a:p>
                <a:pPr lvl="0" indent="-285750" marL="533400">
                  <a:lnSpc>
                    <a:spcPct val="120000"/>
                  </a:lnSpc>
                  <a:buNone/>
                </a:pPr>
                <a:r>
                  <a:rPr lang="en-US" sz="1200" dirty="0">
                    <a:effectLst/>
                  </a:rPr>
                  <a:t>[380] M. N. Angles, A. Dufresne, Plasticized Starch/Tunicin Whiskers Nanocomposite Materials. 2. Mechanical Behavior, Macromolecules 34 (2001) 921-2931.</a:t>
                </a:r>
              </a:p>
              <a:p>
                <a:pPr lvl="0" indent="-285750" marL="533400">
                  <a:lnSpc>
                    <a:spcPct val="120000"/>
                  </a:lnSpc>
                  <a:buNone/>
                </a:pPr>
                <a:r>
                  <a:rPr lang="en-US" sz="1200" dirty="0">
                    <a:effectLst/>
                  </a:rPr>
                  <a:t>[381] L. Averous, C. Pringant, L. Moro, Plasticized starch-cellulose interactions in polysaccharide composites, Polymer 42 (2001) 6565-6572.</a:t>
                </a:r>
              </a:p>
              <a:p>
                <a:pPr lvl="0" indent="-285750" marL="533400">
                  <a:lnSpc>
                    <a:spcPct val="120000"/>
                  </a:lnSpc>
                  <a:buNone/>
                </a:pPr>
                <a:r>
                  <a:rPr lang="en-US" sz="1200" dirty="0">
                    <a:effectLst/>
                  </a:rPr>
                  <a:t>[382] M. N. Angles, A. Dufresne, Plasticized Starch/Tunicin Whiskers Nanocomposites. 1. Structural Analysis. Macromolecules 33 (2000) 8344-8353.</a:t>
                </a:r>
              </a:p>
              <a:p>
                <a:pPr lvl="0" indent="-285750" marL="533400">
                  <a:lnSpc>
                    <a:spcPct val="120000"/>
                  </a:lnSpc>
                  <a:buNone/>
                </a:pPr>
                <a:r>
                  <a:rPr lang="en-US" sz="1200" dirty="0">
                    <a:effectLst/>
                  </a:rPr>
                  <a:t>[383] L. Chazeau, J. Y. Cavaille, J. Perez, Plasticized PVC reinforced with cellulose whiskers. II. Plastic behaviour, J. Polym. Sci. Part B: Polym. Phys. 38 (2000) 383-392.</a:t>
                </a:r>
              </a:p>
            </p:txBody>
          </p:sp>
        </mc:Choice>
        <mc:Fallback/>
      </mc:AlternateContent>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5" name="Text"/>
          <p:cNvSpPr/>
          <p:nvPr/>
        </p:nvSpPr>
        <p:spPr>
          <a:xfrm>
            <a:off x="1524000" y="457200"/>
            <a:ext cx="9144000" cy="5486400"/>
          </a:xfrm>
          <a:prstGeom prst="rect">
            <a:avLst/>
          </a:prstGeom>
        </p:spPr>
        <p:txBody>
          <a:bodyPr anchor="t" lIns="0" tIns="0" rIns="0" bIns="0">
            <a:noAutofit/>
          </a:bodyPr>
          <a:lstStyle/>
          <a:p>
            <a:pPr lvl="0" indent="-285750" marL="533400">
              <a:lnSpc>
                <a:spcPct val="120000"/>
              </a:lnSpc>
              <a:buNone/>
            </a:pPr>
            <a:r>
              <a:rPr lang="en-US" sz="1200" dirty="0">
                <a:effectLst/>
              </a:rPr>
              <a:t>[384] M. H. B. Snijder, H. L. Bos, Reinforcement of polypropylene by annual plant fibers: Optimisation of the coupling agent efficiency, Composite Interfaces 29 (2000) 69-79.</a:t>
            </a:r>
          </a:p>
          <a:p>
            <a:pPr lvl="0" indent="-285750" marL="533400">
              <a:lnSpc>
                <a:spcPct val="120000"/>
              </a:lnSpc>
              <a:buNone/>
            </a:pPr>
            <a:r>
              <a:rPr lang="en-US" sz="1200" dirty="0">
                <a:effectLst/>
              </a:rPr>
              <a:t>[385] A. Dufresne, M. B. Kellerhals, B. Witholt, Transcrystallization in Mcl-PHAs/cellulose whiskers composites, Macromolecules 32 (1999) 7396-7401.</a:t>
            </a:r>
          </a:p>
          <a:p>
            <a:pPr lvl="0" indent="-285750" marL="533400">
              <a:lnSpc>
                <a:spcPct val="120000"/>
              </a:lnSpc>
              <a:buNone/>
            </a:pPr>
            <a:r>
              <a:rPr lang="en-US" sz="1200" dirty="0">
                <a:effectLst/>
              </a:rPr>
              <a:t>[386] A. K. Bledzki, J. Gassan, Composites reinforced with cellulose based fibres, Prog. Polym. Sci. 24 (1999) 221-274.</a:t>
            </a:r>
          </a:p>
          <a:p>
            <a:pPr lvl="0" indent="-285750" marL="533400">
              <a:lnSpc>
                <a:spcPct val="120000"/>
              </a:lnSpc>
              <a:buNone/>
            </a:pPr>
            <a:r>
              <a:rPr lang="en-US" sz="1200" dirty="0">
                <a:effectLst/>
              </a:rPr>
              <a:t>[387] V. G. Geethamma, K. T. Matew, R. Lakshminarayanan, S. Thomas, Composite of short coir fibres and natural rubber: effect of chemical modification, loading and orientation of fibre, Polymer 39 (1998) 1483-1491.</a:t>
            </a:r>
          </a:p>
          <a:p>
            <a:pPr lvl="0" indent="-285750" marL="533400">
              <a:lnSpc>
                <a:spcPct val="120000"/>
              </a:lnSpc>
              <a:buNone/>
            </a:pPr>
            <a:r>
              <a:rPr lang="en-US" sz="1200" dirty="0">
                <a:effectLst/>
              </a:rPr>
              <a:t>[388] J. Gassan, A. K. Bledzki, The influence of fiber-surface treatment on the mechanical properties of jute polypropylene composites, Composites Part A: 28 (1997) 1001-1005.</a:t>
            </a:r>
          </a:p>
          <a:p>
            <a:pPr lvl="0" indent="-285750" marL="533400">
              <a:lnSpc>
                <a:spcPct val="120000"/>
              </a:lnSpc>
              <a:buNone/>
            </a:pPr>
            <a:r>
              <a:rPr lang="en-US" sz="1200" dirty="0">
                <a:effectLst/>
              </a:rPr>
              <a:t>[389] J. George, M. S. Sreekala, S. Thomas, A review on interface modification and characterization of natural fiber reinforced plastic composites, Polym. Eng. Sci. 41 (2001) 1471-1485.</a:t>
            </a:r>
          </a:p>
          <a:p>
            <a:pPr lvl="0" indent="-285750" marL="533400">
              <a:lnSpc>
                <a:spcPct val="120000"/>
              </a:lnSpc>
              <a:buNone/>
            </a:pPr>
            <a:r>
              <a:rPr lang="en-US" sz="1200" dirty="0">
                <a:effectLst/>
              </a:rPr>
              <a:t>[390] A. Amash, P. Zugenmaier, Morphology and properties of isotropic and oriented samples of cellulose fibre-polypropylene composites, Polymer 41 (2000) 1589-1596.</a:t>
            </a:r>
          </a:p>
          <a:p>
            <a:pPr lvl="0" indent="-285750" marL="533400">
              <a:lnSpc>
                <a:spcPct val="120000"/>
              </a:lnSpc>
              <a:buNone/>
            </a:pPr>
            <a:r>
              <a:rPr lang="en-US" sz="1200" dirty="0">
                <a:effectLst/>
              </a:rPr>
              <a:t>[391] M. C. Matias, M. U. de la Orden, C. G. Sanchez, J. M. Urreaga, Comparative spectroscopic study of the modification of cellulosic materials with different coupling agents, J. Appl. Polym. Sci. 75 (2000) 256-266.</a:t>
            </a:r>
          </a:p>
          <a:p>
            <a:pPr lvl="0" indent="-285750" marL="533400">
              <a:lnSpc>
                <a:spcPct val="120000"/>
              </a:lnSpc>
              <a:buNone/>
            </a:pPr>
            <a:r>
              <a:rPr lang="en-US" sz="1200" dirty="0">
                <a:effectLst/>
              </a:rPr>
              <a:t>[392] J. M. Felix, P. Gatenholm, The nature of adhesion in composites of modified cellulose fibers and polypropylene, J. Appl. Polym. Sci. 42 (1991) 609-620.</a:t>
            </a:r>
          </a:p>
          <a:p>
            <a:pPr lvl="0" indent="-285750" marL="533400">
              <a:lnSpc>
                <a:spcPct val="120000"/>
              </a:lnSpc>
              <a:buNone/>
            </a:pPr>
            <a:r>
              <a:rPr lang="en-US" sz="1200" dirty="0">
                <a:effectLst/>
              </a:rPr>
              <a:t>[393] C. Q. Yang, Infrared spectroscopy studies of the effects of the catalyst on the ester cross-linking of cellulose by poly(carboxylic acids), J. Appl. Polym. Sci. 50 (1993) 2047-2053.</a:t>
            </a:r>
          </a:p>
          <a:p>
            <a:pPr lvl="0" indent="-285750" marL="533400">
              <a:lnSpc>
                <a:spcPct val="120000"/>
              </a:lnSpc>
              <a:buNone/>
            </a:pPr>
            <a:r>
              <a:rPr lang="en-US" sz="1200" dirty="0">
                <a:effectLst/>
              </a:rPr>
              <a:t>[394] M. Kazayawoko, J. J. Balatinecz, R. T. Woodhams, Diffuse reflec- tance Fourier transform infrared spectra of wood fibers treated with maleated polypropylenes, J. Appl. Polym. Sci. 66 (1997) 1163-1173.</a:t>
            </a:r>
          </a:p>
          <a:p>
            <a:pPr lvl="0" indent="-285750" marL="533400">
              <a:lnSpc>
                <a:spcPct val="120000"/>
              </a:lnSpc>
              <a:buNone/>
            </a:pPr>
            <a:r>
              <a:rPr lang="en-US" sz="1200" dirty="0">
                <a:effectLst/>
              </a:rPr>
              <a:t>[395] M. Baiardo, G. Frisoni, M. Scandola, A. Licciardello, Surface chemi-cal modification of natural cellulose fibers, J. Appl. Polym. Sci. 83 (2002) 38-45.</a:t>
            </a:r>
          </a:p>
          <a:p>
            <a:pPr lvl="0" indent="-285750" marL="533400">
              <a:lnSpc>
                <a:spcPct val="120000"/>
              </a:lnSpc>
              <a:buNone/>
            </a:pPr>
            <a:r>
              <a:rPr lang="en-US" sz="1200" dirty="0">
                <a:effectLst/>
              </a:rPr>
              <a:t>[396] D. Dumitriu, Polysaccharides:Structural diversity and functional</a:t>
            </a: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685800"/>
          </a:xfrm>
          <a:prstGeom prst="rect">
            <a:avLst/>
          </a:prstGeom>
        </p:spPr>
        <p:txBody>
          <a:bodyPr anchor="t" lIns="0" tIns="0" rIns="0" bIns="0">
            <a:noAutofit/>
          </a:bodyPr>
          <a:lstStyle/>
          <a:p>
            <a:pPr>
              <a:lnSpc>
                <a:spcPct val="120000"/>
              </a:lnSpc>
            </a:pPr>
            <a:r>
              <a:rPr lang="en-US" sz="1800" dirty="0" b="1">
                <a:effectLst/>
              </a:rPr>
              <a:t>International Review of Chemical Engineering, volume 3, No 2, March, 2011 Int. Rev.Chem. Eng., 3(2011) 153-215</a:t>
            </a:r>
          </a:p>
        </p:txBody>
      </p:sp>
      <p:sp>
        <p:nvSpPr>
          <p:cNvPr id="2" name="Text"/>
          <p:cNvSpPr/>
          <p:nvPr/>
        </p:nvSpPr>
        <p:spPr>
          <a:xfrm>
            <a:off x="1524000" y="1332739"/>
            <a:ext cx="9144000" cy="228600"/>
          </a:xfrm>
          <a:prstGeom prst="rect">
            <a:avLst/>
          </a:prstGeom>
        </p:spPr>
        <p:txBody>
          <a:bodyPr anchor="t" lIns="0" tIns="0" rIns="0" bIns="0">
            <a:noAutofit/>
          </a:bodyPr>
          <a:lstStyle/>
          <a:p>
            <a:pPr>
              <a:lnSpc>
                <a:spcPct val="120000"/>
              </a:lnSpc>
            </a:pPr>
            <a:r>
              <a:rPr lang="en-US" sz="1200" dirty="0">
                <a:effectLst/>
              </a:rPr>
              <a:t>versability (Marcel Dekker, New York, 1998).</a:t>
            </a:r>
          </a:p>
        </p:txBody>
      </p:sp>
      <mc:AlternateContent xmlns:mc="http://schemas.openxmlformats.org/markup-compatibility/2006">
        <mc:Choice xmlns:a14="http://schemas.microsoft.com/office/drawing/2010/main" Requires="a14">
          <p:sp>
            <p:nvSpPr>
              <p:cNvPr id="2" name="Text"/>
              <p:cNvSpPr/>
              <p:nvPr/>
            </p:nvSpPr>
            <p:spPr>
              <a:xfrm>
                <a:off x="1524000" y="1713739"/>
                <a:ext cx="9144000" cy="4572000"/>
              </a:xfrm>
              <a:prstGeom prst="rect">
                <a:avLst/>
              </a:prstGeom>
            </p:spPr>
            <p:txBody>
              <a:bodyPr anchor="t" lIns="0" tIns="0" rIns="0" bIns="0">
                <a:noAutofit/>
              </a:bodyPr>
              <a:lstStyle/>
              <a:p>
                <a:pPr lvl="0" indent="-285750" marL="533400">
                  <a:lnSpc>
                    <a:spcPct val="120000"/>
                  </a:lnSpc>
                  <a:buNone/>
                </a:pPr>
                <a:r>
                  <a:rPr lang="en-US" sz="1200" dirty="0">
                    <a:effectLst/>
                  </a:rPr>
                  <a:t>[397] J. F. Kennedy, G. O. .Phillips, D. J. Wedlock, P. A. Williams, Cellulose and its derivatives: Chemistry, biochemistry and application (Ellis Horwood, 1985).</a:t>
                </a:r>
              </a:p>
              <a:p>
                <a:pPr lvl="0" indent="-285750" marL="533400">
                  <a:lnSpc>
                    <a:spcPct val="120000"/>
                  </a:lnSpc>
                  <a:buNone/>
                </a:pPr>
                <a:r>
                  <a:rPr lang="en-US" sz="1200" dirty="0">
                    <a:effectLst/>
                  </a:rPr>
                  <a:t>[398] W.-L. Qiu, T. Endo, T. Hirotsu, Interfacial interactions of a novel mechanochemical composite of cellulose with maleated polypropy- lene, J. Appl. Polym. Sci. 94 (2004) 1326-1335.</a:t>
                </a:r>
              </a:p>
              <a:p>
                <a:pPr lvl="0" indent="-285750" marL="533400">
                  <a:lnSpc>
                    <a:spcPct val="120000"/>
                  </a:lnSpc>
                  <a:buNone/>
                </a:pPr>
                <a:r>
                  <a:rPr lang="en-US" sz="1200" dirty="0">
                    <a:effectLst/>
                  </a:rPr>
                  <a:t>[399] W.-L. Qiu, F. R. Zhang, T. Hirotsu, Preparation and characteristics of composites of high-crystalline cellulose with polypropylene: Effects of maleated polypropylene and cellulose content, J. Appl. Polym. Sci. 87 (2003) 337-345.</a:t>
                </a:r>
              </a:p>
              <a:p>
                <a:pPr lvl="0" indent="-285750" marL="533400">
                  <a:lnSpc>
                    <a:spcPct val="120000"/>
                  </a:lnSpc>
                  <a:buNone/>
                </a:pPr>
                <a:r>
                  <a:rPr lang="en-US" sz="1200" dirty="0">
                    <a:effectLst/>
                  </a:rPr>
                  <a:t>[400] Qiu W-L, Zhang FR, Endo T, Hirotsu T. Milling-induced esterifi-cation between cellulose and maleated polypropylene, </a:t>
                </a:r>
                <a:r>
                  <a:rPr lang="en-US" sz="1200" dirty="0">
                    <a:effectLst/>
                  </a:rPr>
                  <a:t>​</a:t>
                </a:r>
                <a14:m>
                  <m:oMath>
                    <m:r>
                      <m:rPr>
                        <m:sty m:val="i"/>
                      </m:rPr>
                      <a:rPr lang="en-US" sz="1200" dirty="0">
                        <a:solidFill>
                          <a:srgbClr val="000000"/>
                        </a:solidFill>
                        <a:effectLst/>
                      </a:rPr>
                      <m:t>J</m:t>
                    </m:r>
                  </m:oMath>
                </a14:m>
                <a:r>
                  <a:rPr lang="en-US" sz="1200" dirty="0">
                    <a:effectLst/>
                  </a:rPr>
                  <a:t>. Appl. Polym. Sci. 91 (2004) 1703-1709.</a:t>
                </a:r>
              </a:p>
              <a:p>
                <a:pPr lvl="0" indent="-285750" marL="533400">
                  <a:lnSpc>
                    <a:spcPct val="120000"/>
                  </a:lnSpc>
                  <a:buNone/>
                </a:pPr>
                <a:r>
                  <a:rPr lang="en-US" sz="1200" dirty="0">
                    <a:effectLst/>
                  </a:rPr>
                  <a:t>[401] G.-G. Bumbu, C. Vasile, G. C. Chitani, A. Carpov, On the compatibi-lity of polysaccharide/maleic copolymer blends. II. Thermal behavior of pullulan-containing blends, J. Appl. Polym. Sci. 86 (2002) 1782-1791.</a:t>
                </a:r>
              </a:p>
              <a:p>
                <a:pPr lvl="0" indent="-285750" marL="533400">
                  <a:lnSpc>
                    <a:spcPct val="120000"/>
                  </a:lnSpc>
                  <a:buNone/>
                </a:pPr>
                <a:r>
                  <a:rPr lang="en-US" sz="1200" dirty="0">
                    <a:effectLst/>
                  </a:rPr>
                  <a:t>[402] G.-G. Bumbu, M. Lungu, C. Vasile, A. Carpov, G. C. Chitani, Proceedings of the 12th Int. Symp. Chem. Technol. Cellulose, Iasi, Romania, Sept. 21-23 (1999).</a:t>
                </a:r>
              </a:p>
              <a:p>
                <a:pPr lvl="0" indent="-285750" marL="533400">
                  <a:lnSpc>
                    <a:spcPct val="120000"/>
                  </a:lnSpc>
                  <a:buNone/>
                </a:pPr>
                <a:r>
                  <a:rPr lang="en-US" sz="1200" dirty="0">
                    <a:effectLst/>
                  </a:rPr>
                  <a:t>[403] U. R. Vaidya, M. Bhattacharya, Properties of blends of starch and synthetic polymers containing anhydride groups, J. Appl. Polym. Sci. 52 (1994) 617-628.</a:t>
                </a:r>
              </a:p>
              <a:p>
                <a:pPr lvl="0" indent="-285750" marL="533400">
                  <a:lnSpc>
                    <a:spcPct val="120000"/>
                  </a:lnSpc>
                  <a:buNone/>
                </a:pPr>
                <a:r>
                  <a:rPr lang="en-US" sz="1200" dirty="0">
                    <a:effectLst/>
                  </a:rPr>
                  <a:t>[404] L. Nie, R. Narayan, E. A. Glulke, Branching process of the grafting reaction between two reactive polymers, Polymer 36 (1995) 2227-2235.</a:t>
                </a:r>
              </a:p>
              <a:p>
                <a:pPr lvl="0" indent="-285750" marL="533400">
                  <a:lnSpc>
                    <a:spcPct val="120000"/>
                  </a:lnSpc>
                  <a:buNone/>
                </a:pPr>
                <a:r>
                  <a:rPr lang="en-US" sz="1200" dirty="0">
                    <a:effectLst/>
                  </a:rPr>
                  <a:t>[405] Z. Yang, M. Bhattacharya, U. R. Vaidia, Properties of ternary blends of starch and maleated polymers of styrene and ethylene propylene rubber, Polymer 37 (1996) 2137-2150.</a:t>
                </a:r>
              </a:p>
              <a:p>
                <a:pPr lvl="0" indent="-285750" marL="533400">
                  <a:lnSpc>
                    <a:spcPct val="120000"/>
                  </a:lnSpc>
                  <a:buNone/>
                </a:pPr>
                <a:r>
                  <a:rPr lang="en-US" sz="1200" dirty="0">
                    <a:effectLst/>
                  </a:rPr>
                  <a:t>[406] R. L. Willemese, A. de Boer Posthuma, J. van Damand, A. D. Cotsis, Co-continuous morphologies in polymer blends: a new model, Polymer 39 (1998) 5879-5887.</a:t>
                </a:r>
              </a:p>
            </p:txBody>
          </p:sp>
        </mc:Choice>
        <mc:Fallback/>
      </mc:AlternateContent>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5257800"/>
              </a:xfrm>
              <a:prstGeom prst="rect">
                <a:avLst/>
              </a:prstGeom>
            </p:spPr>
            <p:txBody>
              <a:bodyPr anchor="t" lIns="0" tIns="0" rIns="0" bIns="0">
                <a:noAutofit/>
              </a:bodyPr>
              <a:lstStyle/>
              <a:p>
                <a:pPr lvl="0" indent="-285750" marL="533400">
                  <a:lnSpc>
                    <a:spcPct val="120000"/>
                  </a:lnSpc>
                  <a:buNone/>
                </a:pPr>
                <a:r>
                  <a:rPr lang="en-US" sz="1200" dirty="0">
                    <a:effectLst/>
                  </a:rPr>
                  <a:t>[407] S. Wang, J. Yu, J.-G. Yu, Influence of maleic anhydride on the com-patibility of thermal plasticized starch and linear lowdensity polyethylene, J. Appl. Polym. Sci. 93 (2004) 686-695.</a:t>
                </a:r>
              </a:p>
              <a:p>
                <a:pPr lvl="0" indent="-285750" marL="533400">
                  <a:lnSpc>
                    <a:spcPct val="120000"/>
                  </a:lnSpc>
                  <a:buNone/>
                </a:pPr>
                <a:r>
                  <a:rPr lang="en-US" sz="1200" dirty="0">
                    <a:effectLst/>
                  </a:rPr>
                  <a:t>[408] G.-G. Bumbu, C. Vasile, G. C. Chitani, M. C. Popescu, H. Darie, G. Singurel, A. Carpov, Compatibility of polysaccharide/maleic copolymer blends. IV. Thermal behavior of hydroxypropyl cellulose-containing blends, J. Appl. Polym. Sci. 88 (2003) 2585-2597.</a:t>
                </a:r>
              </a:p>
              <a:p>
                <a:pPr lvl="0" indent="-285750" marL="533400">
                  <a:lnSpc>
                    <a:spcPct val="120000"/>
                  </a:lnSpc>
                  <a:buNone/>
                </a:pPr>
                <a:r>
                  <a:rPr lang="en-US" sz="1200" dirty="0">
                    <a:effectLst/>
                  </a:rPr>
                  <a:t>[409] Z. Zhong, S. X. Sun, Properties of soy protein isolate/poly(ethylene-co-ethyl acrylate-co-maleic anhydride) blends, J. Appl. Polym. Sci. 88 (2003) 407-413.</a:t>
                </a:r>
              </a:p>
              <a:p>
                <a:pPr lvl="0" indent="-285750" marL="533400">
                  <a:lnSpc>
                    <a:spcPct val="120000"/>
                  </a:lnSpc>
                  <a:buNone/>
                </a:pPr>
                <a:r>
                  <a:rPr lang="en-US" sz="1200" dirty="0">
                    <a:effectLst/>
                  </a:rPr>
                  <a:t>[410] J. John, M. Bhattacharya, Properties of reactively blended soy protein and modified polyesters, Polym. Int. 48 (1999) 1165-1172.</a:t>
                </a:r>
              </a:p>
              <a:p>
                <a:pPr lvl="0" indent="-285750" marL="533400">
                  <a:lnSpc>
                    <a:spcPct val="120000"/>
                  </a:lnSpc>
                  <a:buNone/>
                </a:pPr>
                <a:r>
                  <a:rPr lang="en-US" sz="1200" dirty="0">
                    <a:effectLst/>
                  </a:rPr>
                  <a:t>[411] U. R. Vaidya, M. Bhattacharya (Regents of the University of Minnesota, Minneapolis, MN). Biodegradable compositions produced by reactive blending of synthetic and naturally occurring polymers. US Pat 5,446,078 (1995).</a:t>
                </a:r>
              </a:p>
              <a:p>
                <a:pPr lvl="0" indent="-285750" marL="533400">
                  <a:lnSpc>
                    <a:spcPct val="120000"/>
                  </a:lnSpc>
                  <a:buNone/>
                </a:pPr>
                <a:r>
                  <a:rPr lang="en-US" sz="1200" dirty="0">
                    <a:effectLst/>
                  </a:rPr>
                  <a:t>[412] W. Liu, Y.-J. Wang, Z. Sun, Effects of polyethylene-grafted maleic anhydride (PE- </a:t>
                </a:r>
                <a:r>
                  <a:rPr lang="en-US" sz="1200" dirty="0">
                    <a:effectLst/>
                  </a:rPr>
                  <a:t>​</a:t>
                </a:r>
                <a14:m>
                  <m:oMath>
                    <m:r>
                      <m:rPr>
                        <m:sty m:val="i"/>
                      </m:rPr>
                      <a:rPr lang="en-US" sz="1200" dirty="0">
                        <a:solidFill>
                          <a:srgbClr val="000000"/>
                        </a:solidFill>
                        <a:effectLst/>
                      </a:rPr>
                      <m:t>g</m:t>
                    </m:r>
                  </m:oMath>
                </a14:m>
                <a:r>
                  <a:rPr lang="en-US" sz="1200" dirty="0">
                    <a:effectLst/>
                  </a:rPr>
                  <a:t>-MA) on thermal properties, morphology, and tensile properties of low-density polyethylene (LDPE) and corn starch blends, J. App.l Polym. Sci. 88 (2003) 2904-2911.</a:t>
                </a:r>
              </a:p>
              <a:p>
                <a:pPr lvl="0" indent="-285750" marL="533400">
                  <a:lnSpc>
                    <a:spcPct val="120000"/>
                  </a:lnSpc>
                  <a:buNone/>
                </a:pPr>
                <a:r>
                  <a:rPr lang="en-US" sz="1200" dirty="0">
                    <a:effectLst/>
                  </a:rPr>
                  <a:t>[413] T. Paunikallio, J. Kasanen, M. Suvanto, T. T. Pakkanen, Influence of maleated polypropylene on mechanical properties of composite made of viscose fiber and polypropylene, J. Appl. Polym. Sci. 87 (2003) 1895-900.</a:t>
                </a:r>
              </a:p>
              <a:p>
                <a:pPr lvl="0" indent="-285750" marL="533400">
                  <a:lnSpc>
                    <a:spcPct val="120000"/>
                  </a:lnSpc>
                  <a:buNone/>
                </a:pPr>
                <a:r>
                  <a:rPr lang="en-US" sz="1200" dirty="0">
                    <a:effectLst/>
                  </a:rPr>
                  <a:t>[414] T. Sugama, M. Cook, Poly(itaconic acid)-modified chitosan coatings for mitigating corrosion of aluminum substrates, Prog. Org. Coat. 38 (2000) 79-87.</a:t>
                </a:r>
              </a:p>
              <a:p>
                <a:pPr lvl="0" indent="-285750" marL="533400">
                  <a:lnSpc>
                    <a:spcPct val="120000"/>
                  </a:lnSpc>
                  <a:buNone/>
                </a:pPr>
                <a:r>
                  <a:rPr lang="en-US" sz="1200" dirty="0">
                    <a:effectLst/>
                  </a:rPr>
                  <a:t>[415] P. A. Sandford, A. Steinners, Water-Soluble Polymers (ACS Symposium Series 467: Washington, 1991, p.430).</a:t>
                </a:r>
              </a:p>
              <a:p>
                <a:pPr lvl="0" indent="-285750" marL="533400">
                  <a:lnSpc>
                    <a:spcPct val="120000"/>
                  </a:lnSpc>
                  <a:buNone/>
                </a:pPr>
                <a:r>
                  <a:rPr lang="en-US" sz="1200" dirty="0">
                    <a:effectLst/>
                  </a:rPr>
                  <a:t>[416] J. F. Zhang, X. S. Sun, Mechanical properties of poly(lactic acid)/starch composites compatibilized by maleic anhydride, Biomacromolecules 5 (2004) 1446-1451.</a:t>
                </a:r>
              </a:p>
              <a:p>
                <a:pPr lvl="0" indent="-285750" marL="533400">
                  <a:lnSpc>
                    <a:spcPct val="120000"/>
                  </a:lnSpc>
                  <a:buNone/>
                </a:pPr>
                <a:r>
                  <a:rPr lang="en-US" sz="1200" dirty="0">
                    <a:effectLst/>
                  </a:rPr>
                  <a:t>[417] T. Ke, X. S. Sun, Thermal and mechanical properties of poly(lactic acid)/starch/methylenediphenyl diisocyanate blending with triethyl citrate, J. Appl. Polym. Sci. 88 (2003)</a:t>
                </a:r>
              </a:p>
            </p:txBody>
          </p:sp>
        </mc:Choice>
        <mc:Fallback/>
      </mc:AlternateContent>
      <p:sp>
        <p:nvSpPr>
          <p:cNvPr id="2" name="Text"/>
          <p:cNvSpPr/>
          <p:nvPr/>
        </p:nvSpPr>
        <p:spPr>
          <a:xfrm>
            <a:off x="1524000" y="5867400"/>
            <a:ext cx="9144000" cy="228600"/>
          </a:xfrm>
          <a:prstGeom prst="rect">
            <a:avLst/>
          </a:prstGeom>
        </p:spPr>
        <p:txBody>
          <a:bodyPr anchor="t" lIns="0" tIns="0" rIns="0" bIns="0">
            <a:noAutofit/>
          </a:bodyPr>
          <a:lstStyle/>
          <a:p>
            <a:pPr>
              <a:lnSpc>
                <a:spcPct val="120000"/>
              </a:lnSpc>
            </a:pPr>
            <a:r>
              <a:rPr lang="en-US" sz="1200" dirty="0">
                <a:effectLst/>
              </a:rPr>
              <a:t>2947-2955.</a:t>
            </a: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5715000"/>
              </a:xfrm>
              <a:prstGeom prst="rect">
                <a:avLst/>
              </a:prstGeom>
            </p:spPr>
            <p:txBody>
              <a:bodyPr anchor="t" lIns="0" tIns="0" rIns="0" bIns="0">
                <a:noAutofit/>
              </a:bodyPr>
              <a:lstStyle/>
              <a:p>
                <a:pPr lvl="0" indent="-285750" marL="533400">
                  <a:lnSpc>
                    <a:spcPct val="120000"/>
                  </a:lnSpc>
                  <a:buNone/>
                </a:pPr>
                <a:r>
                  <a:rPr lang="en-US" sz="1200" dirty="0">
                    <a:effectLst/>
                  </a:rPr>
                  <a:t>[418] J. F. Zhang, X. S. Sun,Mechanical and thermal properties of poly- (lactic acid)/starch blends with dioctyl maleate, J. Appl. Polym. Sci. 94 (2004) 1697-1704.</a:t>
                </a:r>
              </a:p>
              <a:p>
                <a:pPr lvl="0" indent="-285750" marL="533400">
                  <a:lnSpc>
                    <a:spcPct val="120000"/>
                  </a:lnSpc>
                  <a:buNone/>
                </a:pPr>
                <a:r>
                  <a:rPr lang="en-US" sz="1200" dirty="0">
                    <a:effectLst/>
                  </a:rPr>
                  <a:t>[419] T. Ikawa, K. Abe, K. Honda, E. Tsuchida, Interpolymer complex between poly(ethylene oxide) and poly(carboxylic acid), J. Polym. Sci. Part A: Polym. Chem. 13 (1975) 1505-1514.</a:t>
                </a:r>
              </a:p>
              <a:p>
                <a:pPr lvl="0" indent="-285750" marL="533400">
                  <a:lnSpc>
                    <a:spcPct val="120000"/>
                  </a:lnSpc>
                  <a:buNone/>
                </a:pPr>
                <a:r>
                  <a:rPr lang="en-US" sz="1200" dirty="0">
                    <a:effectLst/>
                  </a:rPr>
                  <a:t>[420] C. Vasile, G.-G. Bumbi, Y. Mylonas, I. Cojocaru, G. Staikos, Hydrogen-bonding interaction of an alternating maleic acidvinyl acetate copolymer with poly(ethylene glycol), polyacrylamide and poly( </a:t>
                </a:r>
                <a:r>
                  <a:rPr lang="en-US" sz="1200" dirty="0">
                    <a:effectLst/>
                  </a:rPr>
                  <a:t>​</a:t>
                </a:r>
                <a14:m>
                  <m:oMath>
                    <m:r>
                      <m:rPr>
                        <m:sty m:val="i"/>
                      </m:rPr>
                      <a:rPr lang="en-US" sz="1200" dirty="0">
                        <a:solidFill>
                          <a:srgbClr val="000000"/>
                        </a:solidFill>
                        <a:effectLst/>
                      </a:rPr>
                      <m:t>N</m:t>
                    </m:r>
                  </m:oMath>
                </a14:m>
                <a:r>
                  <a:rPr lang="en-US" sz="1200" dirty="0">
                    <a:effectLst/>
                  </a:rPr>
                  <a:t>-isopropyl acrylamide): a comparative study, Polym. Int. 52 (2003) 1887-1891.</a:t>
                </a:r>
              </a:p>
              <a:p>
                <a:pPr lvl="0" indent="-285750" marL="533400">
                  <a:lnSpc>
                    <a:spcPct val="120000"/>
                  </a:lnSpc>
                  <a:buNone/>
                </a:pPr>
                <a:r>
                  <a:rPr lang="en-US" sz="1200" dirty="0">
                    <a:effectLst/>
                  </a:rPr>
                  <a:t>[421] G.-G. Bumbi, C. Vasile, J. Eckelt, B. A. Wolf, Investigation of the interpolymer complex between hydroxypropyl Cellulose and maleic acid-styrene copolymer. 1, Macromol. Chem. Phys. 205 (2004) 1869-1876.</a:t>
                </a:r>
              </a:p>
              <a:p>
                <a:pPr lvl="0" indent="-285750" marL="533400">
                  <a:lnSpc>
                    <a:spcPct val="120000"/>
                  </a:lnSpc>
                  <a:buNone/>
                </a:pPr>
                <a:r>
                  <a:rPr lang="en-US" sz="1200" dirty="0">
                    <a:effectLst/>
                  </a:rPr>
                  <a:t>[422] G.-G. Bumbi, C. Vasile, G. C. Chitani, G. Staikos, Interpolymer complexes between hydroxypropylcellulose and copolymers of maleic acid: A comparative study, Macromol. Chem. Phys. 206 (2005) 540-546.</a:t>
                </a:r>
              </a:p>
              <a:p>
                <a:pPr lvl="0" indent="-285750" marL="533400">
                  <a:lnSpc>
                    <a:spcPct val="120000"/>
                  </a:lnSpc>
                  <a:buNone/>
                </a:pPr>
                <a:r>
                  <a:rPr lang="en-US" sz="1200" dirty="0">
                    <a:effectLst/>
                  </a:rPr>
                  <a:t>[423] M. W. Sabaa, S. M. Mokhtar, </a:t>
                </a:r>
                <a:r>
                  <a:rPr lang="en-US" sz="1200" dirty="0">
                    <a:effectLst/>
                  </a:rPr>
                  <a:t>​</a:t>
                </a:r>
                <a14:m>
                  <m:oMath>
                    <m:r>
                      <m:rPr>
                        <m:sty m:val="p"/>
                      </m:rPr>
                      <a:rPr lang="en-US" sz="1200" dirty="0">
                        <a:solidFill>
                          <a:srgbClr val="000000"/>
                        </a:solidFill>
                        <a:effectLst/>
                      </a:rPr>
                      <m:t>5</m:t>
                    </m:r>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th </m:t>
                        </m:r>
                      </m:sup>
                    </m:sSup>
                  </m:oMath>
                </a14:m>
                <a:r>
                  <a:rPr lang="en-US" sz="1200" dirty="0">
                    <a:effectLst/>
                  </a:rPr>
                  <a:t> Arab International Conference on Polymer Science &amp; Technology. Luxor-Aswan, Egypt, Sept.18-22 (1999).</a:t>
                </a:r>
              </a:p>
              <a:p>
                <a:pPr lvl="0" indent="-285750" marL="533400">
                  <a:lnSpc>
                    <a:spcPct val="120000"/>
                  </a:lnSpc>
                  <a:buNone/>
                </a:pPr>
                <a:r>
                  <a:rPr lang="en-US" sz="1200" dirty="0">
                    <a:effectLst/>
                  </a:rPr>
                  <a:t>[424] H. F. Naguib, Chemically Induced Graft Copolymerization of Itaco-nic Acid onto Sisal Fibers, J. Polym. Res. 9 (2002) 207-211.</a:t>
                </a:r>
              </a:p>
              <a:p>
                <a:pPr lvl="0" indent="-285750" marL="533400">
                  <a:lnSpc>
                    <a:spcPct val="120000"/>
                  </a:lnSpc>
                  <a:buNone/>
                </a:pPr>
                <a:r>
                  <a:rPr lang="en-US" sz="1200" dirty="0">
                    <a:effectLst/>
                  </a:rPr>
                  <a:t>[425] D. Zuchowska, R. Steller, W. Meissner, Structure and properties of degradable polyolefin-starch blends, Polym. Degrad. Stab. 60 (1998) 471-480.</a:t>
                </a:r>
              </a:p>
              <a:p>
                <a:pPr lvl="0" indent="-285750" marL="533400">
                  <a:lnSpc>
                    <a:spcPct val="120000"/>
                  </a:lnSpc>
                  <a:buNone/>
                </a:pPr>
                <a:r>
                  <a:rPr lang="en-US" sz="1200" dirty="0">
                    <a:effectLst/>
                  </a:rPr>
                  <a:t>[426] J. Aburto, S. Thiebaud, L. Alric, E. Borredon, D. Bikiaris, J. Prinos, C. Panayiotou, Properties of octanoated starch and its blends with polyethylene, Carbohydr. Polym. 34 (1997) 101-112.</a:t>
                </a:r>
              </a:p>
              <a:p>
                <a:pPr lvl="0" indent="-285750" marL="533400">
                  <a:lnSpc>
                    <a:spcPct val="120000"/>
                  </a:lnSpc>
                  <a:buNone/>
                </a:pPr>
                <a:r>
                  <a:rPr lang="en-US" sz="1200" dirty="0">
                    <a:effectLst/>
                  </a:rPr>
                  <a:t>[427] W. M. Doane, C. L. Swanson, G. F. Fanta, Engineering Technolo- gies for Materials and Chemicals from biomass (ACS Symposium Ser. No. 476, ACS: Washington, 1992, p. 197).</a:t>
                </a:r>
              </a:p>
              <a:p>
                <a:pPr lvl="0" indent="-285750" marL="533400">
                  <a:lnSpc>
                    <a:spcPct val="120000"/>
                  </a:lnSpc>
                  <a:buNone/>
                </a:pPr>
                <a:r>
                  <a:rPr lang="en-US" sz="1200" dirty="0">
                    <a:effectLst/>
                  </a:rPr>
                  <a:t>[428] H. F. Zobel, Molecules to granules: A comprehensive starch review, Starch 40 (1988) 44-50.</a:t>
                </a:r>
              </a:p>
              <a:p>
                <a:pPr lvl="0" indent="-285750" marL="533400">
                  <a:lnSpc>
                    <a:spcPct val="120000"/>
                  </a:lnSpc>
                  <a:buNone/>
                </a:pPr>
                <a:r>
                  <a:rPr lang="en-US" sz="1200" dirty="0">
                    <a:effectLst/>
                  </a:rPr>
                  <a:t>[429] G. J. L. Griffin (Bayer Aktiengesellschaft, DT), Xanthogen disulphides with functional groups, US Pat. 4,016,177 (1977).</a:t>
                </a:r>
              </a:p>
              <a:p>
                <a:pPr lvl="0" indent="-285750" marL="533400">
                  <a:lnSpc>
                    <a:spcPct val="120000"/>
                  </a:lnSpc>
                  <a:buNone/>
                </a:pPr>
                <a:r>
                  <a:rPr lang="en-US" sz="1200" dirty="0">
                    <a:effectLst/>
                  </a:rPr>
                  <a:t>[430] G. J. L. Griffin (Coloroll Limited (London, EN), Synthetic resin sheet material, US Pat. 4,021,388 (1977).</a:t>
                </a:r>
              </a:p>
              <a:p>
                <a:pPr lvl="0" indent="-285750" marL="533400">
                  <a:lnSpc>
                    <a:spcPct val="120000"/>
                  </a:lnSpc>
                  <a:buNone/>
                </a:pPr>
                <a:r>
                  <a:rPr lang="en-US" sz="1200" dirty="0">
                    <a:effectLst/>
                  </a:rPr>
                  <a:t>[431] G. J. L. Griffin (Coloroll Limited, London, GB2), Synthetic/resin based compositions, US Pat. 4,125,495 (1978).</a:t>
                </a:r>
              </a:p>
            </p:txBody>
          </p:sp>
        </mc:Choice>
        <mc:Fallback/>
      </mc:AlternateContent>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3200400"/>
          </a:xfrm>
          <a:prstGeom prst="rect">
            <a:avLst/>
          </a:prstGeom>
        </p:spPr>
        <p:txBody>
          <a:bodyPr anchor="t" lIns="0" tIns="0" rIns="0" bIns="0">
            <a:noAutofit/>
          </a:bodyPr>
          <a:lstStyle/>
          <a:p>
            <a:pPr lvl="0" indent="-285750" marL="533400">
              <a:lnSpc>
                <a:spcPct val="120000"/>
              </a:lnSpc>
              <a:buNone/>
            </a:pPr>
            <a:r>
              <a:rPr lang="en-US" sz="1200" dirty="0">
                <a:effectLst/>
              </a:rPr>
              <a:t>[432] D. Bikiaris, J. Prinos, K. Koutsopoulos, N. Vouroutzis, E. Pavlidou, N. Frangis, C. Panayiotou, Biodegradation of octanoated starch and its blends with LDPE, Polym. Degrad. Stab. 60 (1998) 437-447.</a:t>
            </a:r>
          </a:p>
          <a:p>
            <a:pPr lvl="0" indent="-285750" marL="533400">
              <a:lnSpc>
                <a:spcPct val="120000"/>
              </a:lnSpc>
              <a:buNone/>
            </a:pPr>
            <a:r>
              <a:rPr lang="en-US" sz="1200" dirty="0">
                <a:effectLst/>
              </a:rPr>
              <a:t>[433] J. Jegal, K.-H. Lee, Development of polyion complex membranes for the separation of water-alcohol mixtures. III. Preparation of polyion complex membranes based on the k-carrageenan for the pervapo-ration separation of water-ethanol, J. Appl. Polym. Sci. 60 (1996) 1177-1183.</a:t>
            </a:r>
          </a:p>
          <a:p>
            <a:pPr lvl="0" indent="-285750" marL="533400">
              <a:lnSpc>
                <a:spcPct val="120000"/>
              </a:lnSpc>
              <a:buNone/>
            </a:pPr>
            <a:r>
              <a:rPr lang="en-US" sz="1200" dirty="0">
                <a:effectLst/>
              </a:rPr>
              <a:t>[434] K. N. Bakeev, E. A. Ponomartenko, T. V. Shiskanova, D. A. Tirrell, A. B. Zezin, V. A. Kabanov, Complexation of amphiphilic polyelectrolytes with surfactants of the same charge in water solutions, Macromolecules 28 (1995) 2886-2892.</a:t>
            </a:r>
          </a:p>
          <a:p>
            <a:pPr lvl="0" indent="-285750" marL="533400">
              <a:lnSpc>
                <a:spcPct val="120000"/>
              </a:lnSpc>
              <a:buNone/>
            </a:pPr>
            <a:r>
              <a:rPr lang="en-US" sz="1200" dirty="0">
                <a:effectLst/>
              </a:rPr>
              <a:t>[435] G. S. Chauhan, L. K. Guleria, B. N. Misra, I. Kaur, Polymers from renewable resources. II. A study in the radio chemical grafting of poly(styrene-alt-maleic anhydride) onto cellulose extracted from pine needles, J. Polym. Sci. Part A: Polym. Chem. 37 (1999) 1763-1769.</a:t>
            </a:r>
          </a:p>
          <a:p>
            <a:pPr lvl="0" indent="-285750" marL="533400">
              <a:lnSpc>
                <a:spcPct val="120000"/>
              </a:lnSpc>
              <a:buNone/>
            </a:pPr>
            <a:r>
              <a:rPr lang="en-US" sz="1200" dirty="0">
                <a:effectLst/>
              </a:rPr>
              <a:t>[436] R. G. Raj, B. V. Kokta, G. Groleau, C. Daneault, The influence of coupling agents on mechanical properties of composites containing cellulosic fillers, Polym.-Plast. Technol. Eng. 29 (1990) 339-353.</a:t>
            </a:r>
          </a:p>
          <a:p>
            <a:pPr lvl="0" indent="-285750" marL="533400">
              <a:lnSpc>
                <a:spcPct val="120000"/>
              </a:lnSpc>
              <a:buNone/>
            </a:pPr>
            <a:r>
              <a:rPr lang="en-US" sz="1200" dirty="0">
                <a:effectLst/>
              </a:rPr>
              <a:t>[437] H. D. Rozman, M. J. Saad, Z. A. Mohd Ishak, Modification of oil palm empty fruit bunches with maleic anhydride: The effect on the tensile and dimensional stability properties of empty fruit bunch/ polypropylene composites, J. Appl. Polym. Sci. 87</a:t>
            </a:r>
          </a:p>
        </p:txBody>
      </p:sp>
      <p:sp>
        <p:nvSpPr>
          <p:cNvPr id="2" name="Text"/>
          <p:cNvSpPr/>
          <p:nvPr/>
        </p:nvSpPr>
        <p:spPr>
          <a:xfrm>
            <a:off x="1524000" y="3810000"/>
            <a:ext cx="9144000" cy="685800"/>
          </a:xfrm>
          <a:prstGeom prst="rect">
            <a:avLst/>
          </a:prstGeom>
        </p:spPr>
        <p:txBody>
          <a:bodyPr anchor="t" lIns="0" tIns="0" rIns="0" bIns="0">
            <a:noAutofit/>
          </a:bodyPr>
          <a:lstStyle/>
          <a:p>
            <a:pPr>
              <a:lnSpc>
                <a:spcPct val="120000"/>
              </a:lnSpc>
            </a:pPr>
            <a:r>
              <a:rPr lang="en-US" sz="1800" dirty="0" b="1">
                <a:effectLst/>
              </a:rPr>
              <a:t>International Review of Chemical Engineering, volume 3, No 2, March, 2011 Int. Rev.Chem. Eng., 3(2011) 153-215</a:t>
            </a:r>
          </a:p>
        </p:txBody>
      </p:sp>
      <p:sp>
        <p:nvSpPr>
          <p:cNvPr id="2" name="Text"/>
          <p:cNvSpPr/>
          <p:nvPr/>
        </p:nvSpPr>
        <p:spPr>
          <a:xfrm>
            <a:off x="1524000" y="4685539"/>
            <a:ext cx="9144000" cy="228600"/>
          </a:xfrm>
          <a:prstGeom prst="rect">
            <a:avLst/>
          </a:prstGeom>
        </p:spPr>
        <p:txBody>
          <a:bodyPr anchor="t" lIns="0" tIns="0" rIns="0" bIns="0">
            <a:noAutofit/>
          </a:bodyPr>
          <a:lstStyle/>
          <a:p>
            <a:pPr>
              <a:lnSpc>
                <a:spcPct val="120000"/>
              </a:lnSpc>
            </a:pPr>
            <a:r>
              <a:rPr lang="en-US" sz="1200" dirty="0">
                <a:effectLst/>
              </a:rPr>
              <a:t>(2003) 827-835.</a:t>
            </a:r>
          </a:p>
        </p:txBody>
      </p:sp>
      <p:sp>
        <p:nvSpPr>
          <p:cNvPr id="2" name="Text"/>
          <p:cNvSpPr/>
          <p:nvPr/>
        </p:nvSpPr>
        <p:spPr>
          <a:xfrm>
            <a:off x="1524000" y="5066539"/>
            <a:ext cx="9144000" cy="1143000"/>
          </a:xfrm>
          <a:prstGeom prst="rect">
            <a:avLst/>
          </a:prstGeom>
        </p:spPr>
        <p:txBody>
          <a:bodyPr anchor="t" lIns="0" tIns="0" rIns="0" bIns="0">
            <a:noAutofit/>
          </a:bodyPr>
          <a:lstStyle/>
          <a:p>
            <a:pPr lvl="0" indent="-285750" marL="533400">
              <a:lnSpc>
                <a:spcPct val="120000"/>
              </a:lnSpc>
              <a:buNone/>
            </a:pPr>
            <a:r>
              <a:rPr lang="en-US" sz="1200" dirty="0">
                <a:effectLst/>
              </a:rPr>
              <a:t>[438] D. K. Gilding, Biocompatibility of Clinic Implant Material (CRC Press, 1982).</a:t>
            </a:r>
          </a:p>
          <a:p>
            <a:pPr lvl="0" indent="-285750" marL="533400">
              <a:lnSpc>
                <a:spcPct val="120000"/>
              </a:lnSpc>
              <a:buNone/>
            </a:pPr>
            <a:r>
              <a:rPr lang="en-US" sz="1200" dirty="0">
                <a:effectLst/>
              </a:rPr>
              <a:t>[439] J. Conn, R. Oyasu, M. Welsh, J. M. Beal, Vicryl (Polyglactin 910) synthetic absorbable sutures, Am. J. Surg. 128 (1974) 19-23.</a:t>
            </a:r>
          </a:p>
          <a:p>
            <a:pPr lvl="0" indent="-285750" marL="533400">
              <a:lnSpc>
                <a:spcPct val="120000"/>
              </a:lnSpc>
              <a:buNone/>
            </a:pPr>
            <a:r>
              <a:rPr lang="en-US" sz="1200" dirty="0">
                <a:effectLst/>
              </a:rPr>
              <a:t>[440] J. Heller, The use of polymers in the construction of controoledre- lease devices. Membranes and Barriers: Tageted Drug Delivery (Nat. Inst. Drug Abuse, Res. Monogr. Series, Am Public Health Service), 54 (1995) 86-106.</a:t>
            </a: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5943600"/>
          </a:xfrm>
          <a:prstGeom prst="rect">
            <a:avLst/>
          </a:prstGeom>
        </p:spPr>
        <p:txBody>
          <a:bodyPr anchor="t" lIns="0" tIns="0" rIns="0" bIns="0">
            <a:noAutofit/>
          </a:bodyPr>
          <a:lstStyle/>
          <a:p>
            <a:pPr lvl="0" indent="-285750" marL="533400">
              <a:lnSpc>
                <a:spcPct val="120000"/>
              </a:lnSpc>
              <a:buNone/>
            </a:pPr>
            <a:r>
              <a:rPr lang="en-US" sz="1200" dirty="0">
                <a:effectLst/>
              </a:rPr>
              <a:t>[441] D. Carlson, L. Nie, R. Narayan, P. Dubois, Maleation of polylactide (PLA) by reactive extrusion, J. Appl. Polym. Sci. 72 (1999) 477-485.</a:t>
            </a:r>
          </a:p>
          <a:p>
            <a:pPr lvl="0" indent="-285750" marL="533400">
              <a:lnSpc>
                <a:spcPct val="120000"/>
              </a:lnSpc>
              <a:buNone/>
            </a:pPr>
            <a:r>
              <a:rPr lang="en-US" sz="1200" dirty="0">
                <a:effectLst/>
              </a:rPr>
              <a:t>[442] W. M. Doanc, C. L. Swanson, G. F. Fanta, Emerging Technologies, for Materials and Chemicals from Biomass (ACS Symposium Series 476, Washington, 1992, p.197).</a:t>
            </a:r>
          </a:p>
          <a:p>
            <a:pPr lvl="0" indent="-285750" marL="533400">
              <a:lnSpc>
                <a:spcPct val="120000"/>
              </a:lnSpc>
              <a:buNone/>
            </a:pPr>
            <a:r>
              <a:rPr lang="en-US" sz="1200" dirty="0">
                <a:effectLst/>
              </a:rPr>
              <a:t>[443] W. G. lassner, Wood Processing and Utilization (1989, p.163).</a:t>
            </a:r>
          </a:p>
          <a:p>
            <a:pPr lvl="0" indent="-285750" marL="533400">
              <a:lnSpc>
                <a:spcPct val="120000"/>
              </a:lnSpc>
              <a:buNone/>
            </a:pPr>
            <a:r>
              <a:rPr lang="en-US" sz="1200" dirty="0">
                <a:effectLst/>
              </a:rPr>
              <a:t>[444] M. Lambla, R. X. Yu, S. Lorek, Multiphase Polymer: Blends and Ionomers (ACS Sym. Series 395, Washington, 1989, p. 67).</a:t>
            </a:r>
          </a:p>
          <a:p>
            <a:pPr lvl="0" indent="-285750" marL="533400">
              <a:lnSpc>
                <a:spcPct val="120000"/>
              </a:lnSpc>
              <a:buNone/>
            </a:pPr>
            <a:r>
              <a:rPr lang="en-US" sz="1200" dirty="0">
                <a:effectLst/>
              </a:rPr>
              <a:t>[445] M. K. Akkapeddi, J. Gervasi, Chain extension of PET and nylon in an extruder, Polym. Prepr. 29 (1988) 567-570.</a:t>
            </a:r>
          </a:p>
          <a:p>
            <a:pPr lvl="0" indent="-285750" marL="533400">
              <a:lnSpc>
                <a:spcPct val="120000"/>
              </a:lnSpc>
              <a:buNone/>
            </a:pPr>
            <a:r>
              <a:rPr lang="en-US" sz="1200" dirty="0">
                <a:effectLst/>
              </a:rPr>
              <a:t>[446] M. Krishnan, R. Narayan, Materials Interactions Relevant to recyc- ling of Wood-Based Materials, Mater. Res. Soc. Symp. Proc. 266 (1992) 93.</a:t>
            </a:r>
          </a:p>
          <a:p>
            <a:pPr lvl="0" indent="-285750" marL="533400">
              <a:lnSpc>
                <a:spcPct val="120000"/>
              </a:lnSpc>
              <a:buNone/>
            </a:pPr>
            <a:r>
              <a:rPr lang="en-US" sz="1200" dirty="0">
                <a:effectLst/>
              </a:rPr>
              <a:t>[447] D. H. S. Ramkumar, M. Bhattacharya, U. R. Vaidya, Properties of injection moulded starch/synthetic polymer blends-II. Evaluation of mechanical properties, Eur. Polym. J. 33 (1997) 729-742.</a:t>
            </a:r>
          </a:p>
          <a:p>
            <a:pPr lvl="0" indent="-285750" marL="533400">
              <a:lnSpc>
                <a:spcPct val="120000"/>
              </a:lnSpc>
              <a:buNone/>
            </a:pPr>
            <a:r>
              <a:rPr lang="en-US" sz="1200" dirty="0">
                <a:effectLst/>
              </a:rPr>
              <a:t>[448] J. John, J. Tang, Z. Yang, M. Bhattacharya, Synthesis and characteri- zation of anhydride-functional polycaprolactone, J. Polym. Sci. Part A:Polym. Chem. 35 (1997) 1139-1148.</a:t>
            </a:r>
          </a:p>
          <a:p>
            <a:pPr lvl="0" indent="-285750" marL="533400">
              <a:lnSpc>
                <a:spcPct val="120000"/>
              </a:lnSpc>
              <a:buNone/>
            </a:pPr>
            <a:r>
              <a:rPr lang="en-US" sz="1200" dirty="0">
                <a:effectLst/>
              </a:rPr>
              <a:t>[449] R. Mani, M. Bhattacharya, Properties of injection moulded blends of starch and modified biodegradable polyesters, Eur. Polym. J. 37 (2001) 515-526.</a:t>
            </a:r>
          </a:p>
          <a:p>
            <a:pPr lvl="0" indent="-285750" marL="533400">
              <a:lnSpc>
                <a:spcPct val="120000"/>
              </a:lnSpc>
              <a:buNone/>
            </a:pPr>
            <a:r>
              <a:rPr lang="en-US" sz="1200" dirty="0">
                <a:effectLst/>
              </a:rPr>
              <a:t>[450] R. Mani, M. Bhattacharya, J. Tang, Functionalization of polyesters with maleic anhydride by reactive extrusion, J. Polym. Sci. Part A:Polym. Chem. 37 (1999) 1693-1702.</a:t>
            </a:r>
          </a:p>
          <a:p>
            <a:pPr lvl="0" indent="-285750" marL="533400">
              <a:lnSpc>
                <a:spcPct val="120000"/>
              </a:lnSpc>
              <a:buNone/>
            </a:pPr>
            <a:r>
              <a:rPr lang="en-US" sz="1200" dirty="0">
                <a:effectLst/>
              </a:rPr>
              <a:t>[451] D. Carlson, P. Dubois, L. Nie, R. Narayan, Free radical branching of polylactide by reactive extrusion, Polym. Eng. Sci. 38 (1998) 311-321.</a:t>
            </a:r>
          </a:p>
          <a:p>
            <a:pPr lvl="0" indent="-285750" marL="533400">
              <a:lnSpc>
                <a:spcPct val="120000"/>
              </a:lnSpc>
              <a:buNone/>
            </a:pPr>
            <a:r>
              <a:rPr lang="en-US" sz="1200" dirty="0">
                <a:effectLst/>
              </a:rPr>
              <a:t>[452] M. Hvella, M. E. Errico, B. Immirzi, M. Malinconico, E. Martuscelli, L. Poalillo, L. Falcigno, Radical polymerization of poly(butyl acrylate) in the presence of poly(L-lactic acid), 1. Synthesis, characterization and properties of blends, Agew. Makromol. Chem. 246 (1997) 49-63.</a:t>
            </a:r>
          </a:p>
          <a:p>
            <a:pPr lvl="0" indent="-285750" marL="533400">
              <a:lnSpc>
                <a:spcPct val="120000"/>
              </a:lnSpc>
              <a:buNone/>
            </a:pPr>
            <a:r>
              <a:rPr lang="en-US" sz="1200" dirty="0">
                <a:effectLst/>
              </a:rPr>
              <a:t>[453] C. Lanzilotta, A. Pipino, D. Lips, Proc. the Annual Technical Conference of the Society of Plastics Engineers, 60 (2002) 2185.</a:t>
            </a:r>
          </a:p>
          <a:p>
            <a:pPr lvl="0" indent="-285750" marL="533400">
              <a:lnSpc>
                <a:spcPct val="120000"/>
              </a:lnSpc>
              <a:buNone/>
            </a:pPr>
            <a:r>
              <a:rPr lang="en-US" sz="1200" dirty="0">
                <a:effectLst/>
              </a:rPr>
              <a:t>[454] D. Plackett, Maleated polylactide as an interfacial compatibilizer in biocomposites, J. Polym. Environ. 12 (2004) 131-138.</a:t>
            </a:r>
          </a:p>
          <a:p>
            <a:pPr lvl="0" indent="-285750" marL="533400">
              <a:lnSpc>
                <a:spcPct val="120000"/>
              </a:lnSpc>
              <a:buNone/>
            </a:pPr>
            <a:r>
              <a:rPr lang="en-US" sz="1200" dirty="0">
                <a:effectLst/>
              </a:rPr>
              <a:t>[455] A. K. Mohanty, L. T. Drzal, M. Misra, P. Mulukutla, (Lan C. Mcleod M. &amp; Moyne PC, Okemos, MI, US). Anhydride functionalized polyhydroxyalkanoates, preparation and use thereof, US Pat 0,215,672 (2005).</a:t>
            </a: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4" name="Text"/>
          <p:cNvSpPr/>
          <p:nvPr/>
        </p:nvSpPr>
        <p:spPr>
          <a:xfrm>
            <a:off x="1524000" y="457200"/>
            <a:ext cx="9144000" cy="2286000"/>
          </a:xfrm>
          <a:prstGeom prst="rect">
            <a:avLst/>
          </a:prstGeom>
        </p:spPr>
        <p:txBody>
          <a:bodyPr anchor="t" lIns="0" tIns="0" rIns="0" bIns="0">
            <a:noAutofit/>
          </a:bodyPr>
          <a:lstStyle/>
          <a:p>
            <a:pPr lvl="0" indent="-285750" marL="533400">
              <a:lnSpc>
                <a:spcPct val="120000"/>
              </a:lnSpc>
              <a:buNone/>
            </a:pPr>
            <a:r>
              <a:rPr lang="en-US" sz="1200" dirty="0">
                <a:effectLst/>
              </a:rPr>
              <a:t>[456] K. Bahari, H. Mitomo, E. Taro, F. Yoshii, K. Makuuchi, Degradabi-lity of poly(3-hydroxybutyrate) and its copolymer grafted with styrene by radiation, Polym. Degrad. Stab. 61 (1998) 245-252.</a:t>
            </a:r>
          </a:p>
          <a:p>
            <a:pPr lvl="0" indent="-285750" marL="533400">
              <a:lnSpc>
                <a:spcPct val="120000"/>
              </a:lnSpc>
              <a:buNone/>
            </a:pPr>
            <a:r>
              <a:rPr lang="en-US" sz="1200" dirty="0">
                <a:effectLst/>
              </a:rPr>
              <a:t>[457] H. S. Lee, T. Y. Lee, Graft polymerization of acrylamide onto poly(hydroxybutyrate-co-hydroxyvalerate) films, Polymer 38 (1997) 4505-4511.</a:t>
            </a:r>
          </a:p>
          <a:p>
            <a:pPr lvl="0" indent="-285750" marL="533400">
              <a:lnSpc>
                <a:spcPct val="120000"/>
              </a:lnSpc>
              <a:buNone/>
            </a:pPr>
            <a:r>
              <a:rPr lang="en-US" sz="1200" dirty="0">
                <a:effectLst/>
              </a:rPr>
              <a:t>[458] C. Cheng, S. Peng, B. Fei, Y. Zhuang, L. Dong, Z. Feng, S. Chen, H. Xia, Synthesis and characterization of maleated poly(3-hydroxy- butyrate), J. Appl. Polym. Sci. 88 (2003) 659-668.</a:t>
            </a:r>
          </a:p>
          <a:p>
            <a:pPr lvl="0" indent="-285750" marL="533400">
              <a:lnSpc>
                <a:spcPct val="120000"/>
              </a:lnSpc>
              <a:buNone/>
            </a:pPr>
            <a:r>
              <a:rPr lang="en-US" sz="1200" dirty="0">
                <a:effectLst/>
              </a:rPr>
              <a:t>[459] T. Rische, S. Zschoche, H. Komber, Grafting of maleic anhydride onto poly(tetrahydrofuran), Macromol. Chem. Phys. 197 (1996) 981-990.</a:t>
            </a:r>
          </a:p>
          <a:p>
            <a:pPr lvl="0" indent="-285750" marL="533400">
              <a:lnSpc>
                <a:spcPct val="120000"/>
              </a:lnSpc>
              <a:buNone/>
            </a:pPr>
            <a:r>
              <a:rPr lang="en-US" sz="1200" dirty="0">
                <a:effectLst/>
              </a:rPr>
              <a:t>[460] Y. Nabar, J. M. Raquez, P. Dubois, R. Narayan, Production of starch foams by twin-screw extrusion: Effect of maleated poly(butylene adipate-co-terephthalate) as a compatibilizer,</a:t>
            </a:r>
          </a:p>
        </p:txBody>
      </p:sp>
      <p:sp>
        <p:nvSpPr>
          <p:cNvPr id="2" name="Text"/>
          <p:cNvSpPr/>
          <p:nvPr/>
        </p:nvSpPr>
        <p:spPr>
          <a:xfrm>
            <a:off x="1524000" y="2895600"/>
            <a:ext cx="9144000" cy="228600"/>
          </a:xfrm>
          <a:prstGeom prst="rect">
            <a:avLst/>
          </a:prstGeom>
        </p:spPr>
        <p:txBody>
          <a:bodyPr anchor="t" lIns="0" tIns="0" rIns="0" bIns="0">
            <a:noAutofit/>
          </a:bodyPr>
          <a:lstStyle/>
          <a:p>
            <a:pPr>
              <a:lnSpc>
                <a:spcPct val="120000"/>
              </a:lnSpc>
            </a:pPr>
            <a:r>
              <a:rPr lang="en-US" sz="1200" dirty="0">
                <a:effectLst/>
              </a:rPr>
              <a:t>Biomacromolecules 6 (2005) 807-817.</a:t>
            </a:r>
          </a:p>
        </p:txBody>
      </p:sp>
      <p:sp>
        <p:nvSpPr>
          <p:cNvPr id="2" name="Text"/>
          <p:cNvSpPr/>
          <p:nvPr/>
        </p:nvSpPr>
        <p:spPr>
          <a:xfrm>
            <a:off x="1524000" y="3276600"/>
            <a:ext cx="9144000" cy="2743200"/>
          </a:xfrm>
          <a:prstGeom prst="rect">
            <a:avLst/>
          </a:prstGeom>
        </p:spPr>
        <p:txBody>
          <a:bodyPr anchor="t" lIns="0" tIns="0" rIns="0" bIns="0">
            <a:noAutofit/>
          </a:bodyPr>
          <a:lstStyle/>
          <a:p>
            <a:pPr lvl="0" indent="-285750" marL="533400">
              <a:lnSpc>
                <a:spcPct val="120000"/>
              </a:lnSpc>
              <a:buNone/>
            </a:pPr>
            <a:r>
              <a:rPr lang="en-US" sz="1200" dirty="0">
                <a:effectLst/>
              </a:rPr>
              <a:t>[461] A. Pabedinskas, W. R. Gluett, S. T. Balke, Production of controlled-rheology polypropylene resins by peroxide promoted degradation during extrusion., Polym. Eng. Sci. 28 (1988) 170-180.</a:t>
            </a:r>
          </a:p>
          <a:p>
            <a:pPr lvl="0" indent="-285750" marL="533400">
              <a:lnSpc>
                <a:spcPct val="120000"/>
              </a:lnSpc>
              <a:buNone/>
            </a:pPr>
            <a:r>
              <a:rPr lang="en-US" sz="1200" dirty="0">
                <a:effectLst/>
              </a:rPr>
              <a:t>[462] R. L. Frentzel, L. Rua, A. L. Pacheco (Olin Co.), Preparation of carboxylic acid-containing polyurethane prepolymers and aqueous dispersions thereof, US Pat 4460738 (1984); Chem. Abstr.101, 131354 (1987).</a:t>
            </a:r>
          </a:p>
          <a:p>
            <a:pPr lvl="0" indent="-285750" marL="533400">
              <a:lnSpc>
                <a:spcPct val="120000"/>
              </a:lnSpc>
              <a:buNone/>
            </a:pPr>
            <a:r>
              <a:rPr lang="en-US" sz="1200" dirty="0">
                <a:effectLst/>
              </a:rPr>
              <a:t>[463] J. M. O'Connor, R. L. Frentzel (Olin Co., Chesshire, CT), Preparation of ionomers and polyurethane elastomers from carboxylic acid-containing monoether and polyether polyol addition products, US Pat 4590255 (1986).</a:t>
            </a:r>
          </a:p>
          <a:p>
            <a:pPr lvl="0" indent="-285750" marL="533400">
              <a:lnSpc>
                <a:spcPct val="120000"/>
              </a:lnSpc>
              <a:buNone/>
            </a:pPr>
            <a:r>
              <a:rPr lang="en-US" sz="1200" dirty="0">
                <a:effectLst/>
              </a:rPr>
              <a:t>[464] V. Malatesta, J. C. Scaiano, Absolute rate constants for the reactions of tert-butoxyl with ethers: importance of the stereoelectronic effect, </a:t>
            </a:r>
            <a:r>
              <a:rPr lang="en-US" sz="1200" dirty="0">
                <a:effectLst/>
                <a:hlinkClick r:id="rId2"/>
              </a:rPr>
              <a:t>J.Org</a:t>
            </a:r>
            <a:r>
              <a:rPr lang="en-US" sz="1200" dirty="0">
                <a:effectLst/>
              </a:rPr>
              <a:t>. Chem. 47 (1982) 1455-1459.</a:t>
            </a:r>
          </a:p>
          <a:p>
            <a:pPr lvl="0" indent="-285750" marL="533400">
              <a:lnSpc>
                <a:spcPct val="120000"/>
              </a:lnSpc>
              <a:buNone/>
            </a:pPr>
            <a:r>
              <a:rPr lang="en-US" sz="1200" dirty="0">
                <a:effectLst/>
              </a:rPr>
              <a:t>[465] V. Malatesta, K. U. Ingold, Kinetic applications of electron paramag-netic resonance spectroscopy. 36. Stereoelectronic effects in hydrogen atom abstraction from ethers, J. Am. Chem. Soc. 103 (1981) 609-614.</a:t>
            </a:r>
          </a:p>
          <a:p>
            <a:pPr lvl="0" indent="-285750" marL="533400">
              <a:lnSpc>
                <a:spcPct val="120000"/>
              </a:lnSpc>
              <a:buNone/>
            </a:pPr>
            <a:r>
              <a:rPr lang="en-US" sz="1200" dirty="0">
                <a:effectLst/>
              </a:rPr>
              <a:t>[466] T. Rische, S. Zschoche, H. Komber, Structure of grafted products of maleic anhydride and poly(propylene oxide), Macromol. Chem. Phys. 199 (1998) 1539-1545.</a:t>
            </a: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5943600"/>
              </a:xfrm>
              <a:prstGeom prst="rect">
                <a:avLst/>
              </a:prstGeom>
            </p:spPr>
            <p:txBody>
              <a:bodyPr anchor="t" lIns="0" tIns="0" rIns="0" bIns="0">
                <a:noAutofit/>
              </a:bodyPr>
              <a:lstStyle/>
              <a:p>
                <a:pPr lvl="0" indent="-285750" marL="533400">
                  <a:lnSpc>
                    <a:spcPct val="120000"/>
                  </a:lnSpc>
                  <a:buNone/>
                </a:pPr>
                <a:r>
                  <a:rPr lang="en-US" sz="1200" dirty="0">
                    <a:effectLst/>
                  </a:rPr>
                  <a:t>[467] F. Doriguzzi, R. Bertani, G. Facchin, E. Tondello, Func-tionalization of poly(organophosphazenes). 8. Thermally-induced grafting reactions of maleates onto poly[bis(4-ethylphenoxy) phosphazene], Macromolecules 30 (1997) 4310-4317.</a:t>
                </a:r>
              </a:p>
              <a:p>
                <a:pPr lvl="0" indent="-285750" marL="533400">
                  <a:lnSpc>
                    <a:spcPct val="120000"/>
                  </a:lnSpc>
                  <a:buNone/>
                </a:pPr>
                <a:r>
                  <a:rPr lang="en-US" sz="1200" dirty="0">
                    <a:effectLst/>
                  </a:rPr>
                  <a:t>[468] M. Pulat, D. Babayigit, Surface modification of PU membranes by graft copolymerization with acrylamide and itaconic acid monomers, Polym. Test. 20 (2001) 209-216.</a:t>
                </a:r>
              </a:p>
              <a:p>
                <a:pPr lvl="0" indent="-285750" marL="533400">
                  <a:lnSpc>
                    <a:spcPct val="120000"/>
                  </a:lnSpc>
                  <a:buNone/>
                </a:pPr>
                <a:r>
                  <a:rPr lang="en-US" sz="1200" dirty="0">
                    <a:effectLst/>
                  </a:rPr>
                  <a:t>[469] J. Wu, H. Li, A. Winnik, R. Farwaha, J. Rademacher, Poly(vinyl acetate-co-dibutyl maleate) latex films in the presence of grafted and post-added poly(vinyl alcohol), J. Polym. Sci. Part A: Polym. Chem. 42 (2004) 5005-5020.</a:t>
                </a:r>
              </a:p>
              <a:p>
                <a:pPr lvl="0" indent="-285750" marL="533400">
                  <a:lnSpc>
                    <a:spcPct val="120000"/>
                  </a:lnSpc>
                  <a:buNone/>
                </a:pPr>
                <a:r>
                  <a:rPr lang="en-US" sz="1200" dirty="0">
                    <a:effectLst/>
                  </a:rPr>
                  <a:t>[470] D. Britton, F. Heatly, P. Lovel, Chain transfer to polymer in freeradical bulk and emulsion polymerization of vinyl acetate studied by NMR spectroscopy, Macromolecules 31 (1998) 2828-2837.</a:t>
                </a:r>
              </a:p>
              <a:p>
                <a:pPr lvl="0" indent="-285750" marL="533400">
                  <a:lnSpc>
                    <a:spcPct val="120000"/>
                  </a:lnSpc>
                  <a:buNone/>
                </a:pPr>
                <a:r>
                  <a:rPr lang="en-US" sz="1200" dirty="0">
                    <a:effectLst/>
                  </a:rPr>
                  <a:t>[471] S.-J. Kim, B.-S. Shin, J.-L. Hong, W.-L. Cho, C.-S. Ha, Reactive compatibilization of the PBT/EVA blend by maleic anhydride, Polymer 42 (2001) 4073-4080.</a:t>
                </a:r>
              </a:p>
              <a:p>
                <a:pPr lvl="0" indent="-285750" marL="533400">
                  <a:lnSpc>
                    <a:spcPct val="120000"/>
                  </a:lnSpc>
                  <a:buNone/>
                </a:pPr>
                <a:r>
                  <a:rPr lang="en-US" sz="1200" dirty="0">
                    <a:effectLst/>
                  </a:rPr>
                  <a:t>[472] H. Kesim, Z. M. O. Rzaev, S. Dinçer, E. Pişkin, Bioengineering functional copolymers. II. Synthesis and characterization of poly(NIPA-co-MA) and its macrobranched derivatives, Polymer 44 (2003) 2897-2900.</a:t>
                </a:r>
              </a:p>
              <a:p>
                <a:pPr lvl="0" indent="-285750" marL="533400">
                  <a:lnSpc>
                    <a:spcPct val="120000"/>
                  </a:lnSpc>
                  <a:buNone/>
                </a:pPr>
                <a:r>
                  <a:rPr lang="en-US" sz="1200" dirty="0">
                    <a:effectLst/>
                  </a:rPr>
                  <a:t>[473] V. Köşeli, Z. M. O. Rzaev, E. Pişkin, Bioengineering functional copolymers. III. Synthesis of Biocompatible poly(NIPA-co-MA)- </a:t>
                </a:r>
                <a:r>
                  <a:rPr lang="en-US" sz="1200" dirty="0">
                    <a:effectLst/>
                  </a:rPr>
                  <a:t>​</a:t>
                </a:r>
                <a14:m>
                  <m:oMath>
                    <m:r>
                      <m:rPr>
                        <m:sty m:val="i"/>
                      </m:rPr>
                      <a:rPr lang="en-US" sz="1200" dirty="0">
                        <a:solidFill>
                          <a:srgbClr val="000000"/>
                        </a:solidFill>
                        <a:effectLst/>
                      </a:rPr>
                      <m:t>g</m:t>
                    </m:r>
                  </m:oMath>
                </a14:m>
                <a:r>
                  <a:rPr lang="en-US" sz="1200" dirty="0">
                    <a:effectLst/>
                  </a:rPr>
                  <a:t>-PEO/PEI macrocomplexes and their thermostabilization effect on the activity of the enzyme penicillin G acylase, </a:t>
                </a:r>
                <a:r>
                  <a:rPr lang="en-US" sz="1200" dirty="0">
                    <a:effectLst/>
                  </a:rPr>
                  <a:t>​</a:t>
                </a:r>
                <a14:m>
                  <m:oMath>
                    <m:r>
                      <m:rPr>
                        <m:sty m:val="i"/>
                      </m:rPr>
                      <a:rPr lang="en-US" sz="1200" dirty="0">
                        <a:solidFill>
                          <a:srgbClr val="000000"/>
                        </a:solidFill>
                        <a:effectLst/>
                      </a:rPr>
                      <m:t>J</m:t>
                    </m:r>
                  </m:oMath>
                </a14:m>
                <a:r>
                  <a:rPr lang="en-US" sz="1200" dirty="0">
                    <a:effectLst/>
                  </a:rPr>
                  <a:t> .Polym. Sci. Part A: Polym. Chem. 41 (2003) 1580-159.</a:t>
                </a:r>
              </a:p>
              <a:p>
                <a:pPr lvl="0" indent="-285750" marL="533400">
                  <a:lnSpc>
                    <a:spcPct val="120000"/>
                  </a:lnSpc>
                  <a:buNone/>
                </a:pPr>
                <a:r>
                  <a:rPr lang="en-US" sz="1200" dirty="0">
                    <a:effectLst/>
                  </a:rPr>
                  <a:t>[474] L. Deng, C. Yao, A. Li, A. Dong, Preparation and characterization of poly{[(α-MA-ω-methoxy-poly(ethylene glycol)]-co-(ethyl cyano- acrylate)} copolymer nanoparticles, Polym. Int. 54 (2005) 1007-1013.</a:t>
                </a:r>
              </a:p>
              <a:p>
                <a:pPr lvl="0" indent="-285750" marL="533400">
                  <a:lnSpc>
                    <a:spcPct val="120000"/>
                  </a:lnSpc>
                  <a:buNone/>
                </a:pPr>
                <a:r>
                  <a:rPr lang="en-US" sz="1200" dirty="0">
                    <a:effectLst/>
                  </a:rPr>
                  <a:t>[475] B. Gacal, H. Durmaz, M. A. Tasdelen, G. Hizal, U. Tunca, Y. Yagci L. Demirel, Anthracene-Maleimide-Based Diels-Alder "Click Chemistry" as a Novel Route to Graft Copolymers, Macromolecules 39 (2006) 5330-5336.</a:t>
                </a:r>
              </a:p>
              <a:p>
                <a:pPr lvl="0" indent="-285750" marL="533400">
                  <a:lnSpc>
                    <a:spcPct val="120000"/>
                  </a:lnSpc>
                  <a:buNone/>
                </a:pPr>
                <a:r>
                  <a:rPr lang="en-US" sz="1200" dirty="0">
                    <a:effectLst/>
                  </a:rPr>
                  <a:t>[476] K. H. Yoon, H. W. Lee, O. O. Park, Reaction effect on the properties of poly(ethylene terephthalate) and poly(styrene-comaleic anhyd-ride) blends, Polymer 41 (2000) 4445-4449.</a:t>
                </a:r>
              </a:p>
              <a:p>
                <a:pPr lvl="0" indent="-285750" marL="533400">
                  <a:lnSpc>
                    <a:spcPct val="120000"/>
                  </a:lnSpc>
                  <a:buNone/>
                </a:pPr>
                <a:r>
                  <a:rPr lang="en-US" sz="1200" dirty="0">
                    <a:effectLst/>
                  </a:rPr>
                  <a:t>[477] H. A. Abd El-Rehim, E. A. Hegazy, A. El-Hag Ali, Selective remo-val of some heavy metal ions from aqueous solution using treated polyethylene-g-styrene/maleic anhydride membranes, React. Funct. Polym. 43 (2000) 105-116.</a:t>
                </a:r>
              </a:p>
              <a:p>
                <a:pPr lvl="0" indent="-285750" marL="533400">
                  <a:lnSpc>
                    <a:spcPct val="120000"/>
                  </a:lnSpc>
                  <a:buNone/>
                </a:pPr>
                <a:r>
                  <a:rPr lang="en-US" sz="1200" dirty="0">
                    <a:effectLst/>
                  </a:rPr>
                  <a:t>[478] N. G. Gaylord, L. C. Anand, Alternating copolymer graft copoly- mers. III. Cellulose graft copolymers. I. Grafting of alternating styrene-acrylonitrile copolymers onto cellulose in presence of zinc chloride, J. Polym. Sci. Part B: Polym. Phys. 9 (1971) 617-621.</a:t>
                </a:r>
              </a:p>
            </p:txBody>
          </p:sp>
        </mc:Choice>
        <mc:Fallback/>
      </mc:AlternateContent>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685800"/>
          </a:xfrm>
          <a:prstGeom prst="rect">
            <a:avLst/>
          </a:prstGeom>
        </p:spPr>
        <p:txBody>
          <a:bodyPr anchor="t" lIns="0" tIns="0" rIns="0" bIns="0">
            <a:noAutofit/>
          </a:bodyPr>
          <a:lstStyle/>
          <a:p>
            <a:pPr>
              <a:lnSpc>
                <a:spcPct val="120000"/>
              </a:lnSpc>
            </a:pPr>
            <a:r>
              <a:rPr lang="en-US" sz="1800" dirty="0" b="1">
                <a:effectLst/>
              </a:rPr>
              <a:t>International Review of Chemical Engineering, volume 3, No 2, March, 2011 Int. Rev.Chem. Eng., 3(2011) 153-215</a:t>
            </a:r>
          </a:p>
        </p:txBody>
      </p:sp>
      <mc:AlternateContent xmlns:mc="http://schemas.openxmlformats.org/markup-compatibility/2006">
        <mc:Choice xmlns:a14="http://schemas.microsoft.com/office/drawing/2010/main" Requires="a14">
          <p:sp>
            <p:nvSpPr>
              <p:cNvPr id="2" name="Text"/>
              <p:cNvSpPr/>
              <p:nvPr/>
            </p:nvSpPr>
            <p:spPr>
              <a:xfrm>
                <a:off x="1524000" y="1332739"/>
                <a:ext cx="9144000" cy="5029200"/>
              </a:xfrm>
              <a:prstGeom prst="rect">
                <a:avLst/>
              </a:prstGeom>
            </p:spPr>
            <p:txBody>
              <a:bodyPr anchor="t" lIns="0" tIns="0" rIns="0" bIns="0">
                <a:noAutofit/>
              </a:bodyPr>
              <a:lstStyle/>
              <a:p>
                <a:pPr lvl="0" indent="-285750" marL="533400">
                  <a:lnSpc>
                    <a:spcPct val="120000"/>
                  </a:lnSpc>
                  <a:buNone/>
                </a:pPr>
                <a:r>
                  <a:rPr lang="en-US" sz="1200" dirty="0">
                    <a:effectLst/>
                  </a:rPr>
                  <a:t>[479] G. H. Hu, J.-J. Flat, M. Lambla, Reactive Modifiers for Polymers (Chapman &amp; Hall, 1996).</a:t>
                </a:r>
              </a:p>
              <a:p>
                <a:pPr lvl="0" indent="-285750" marL="533400">
                  <a:lnSpc>
                    <a:spcPct val="120000"/>
                  </a:lnSpc>
                  <a:buNone/>
                </a:pPr>
                <a:r>
                  <a:rPr lang="en-US" sz="1200" dirty="0">
                    <a:effectLst/>
                  </a:rPr>
                  <a:t>[480] J. P. Deng, W. T. Yang, B. Ranby, Surface photografting polymeriza- tion of vinyl acetate (VAc), maleic anhydride, and their charge transfer complex. I. VAc(1), J. Appl. Polym. Sci. 77 (2000) 1513-1521.</a:t>
                </a:r>
              </a:p>
              <a:p>
                <a:pPr lvl="0" indent="-285750" marL="533400">
                  <a:lnSpc>
                    <a:spcPct val="120000"/>
                  </a:lnSpc>
                  <a:buNone/>
                </a:pPr>
                <a:r>
                  <a:rPr lang="en-US" sz="1200" dirty="0">
                    <a:effectLst/>
                  </a:rPr>
                  <a:t>[481] D. J. T. Hill, J. H. O'Donnell, P. W. O'Sullivan, Analysis of the mechanism of copolymerization of styrene and maleic anhydride, Macromolecules 18 (1985) 9-17.</a:t>
                </a:r>
              </a:p>
              <a:p>
                <a:pPr lvl="0" indent="-285750" marL="533400">
                  <a:lnSpc>
                    <a:spcPct val="120000"/>
                  </a:lnSpc>
                  <a:buNone/>
                </a:pPr>
                <a:r>
                  <a:rPr lang="en-US" sz="1200" dirty="0">
                    <a:effectLst/>
                  </a:rPr>
                  <a:t>[482] S. D. Bruah, N. C. Laskar, Styrene-maleic anhydride copolymers: Synthesis, characterization, and thermal properties, J. Appl. Polym. Sci. 60 (1996) : 649-656.</a:t>
                </a:r>
              </a:p>
              <a:p>
                <a:pPr lvl="0" indent="-285750" marL="533400">
                  <a:lnSpc>
                    <a:spcPct val="120000"/>
                  </a:lnSpc>
                  <a:buNone/>
                </a:pPr>
                <a:r>
                  <a:rPr lang="en-US" sz="1200" dirty="0">
                    <a:effectLst/>
                  </a:rPr>
                  <a:t>[483] R. Qi, J. Qian, Z. Chen, X. Jin, C. Zhou, Modification of acrylonitrile-butadiene-styrene terpolymer by graft copolymerization with maleic anhydride in the melt. II. Properties and phase behaviour, J. Appl. Polym. Sci. 91 (2004) 2834-2839.</a:t>
                </a:r>
              </a:p>
              <a:p>
                <a:pPr lvl="0" indent="-285750" marL="533400">
                  <a:lnSpc>
                    <a:spcPct val="120000"/>
                  </a:lnSpc>
                  <a:buNone/>
                </a:pPr>
                <a:r>
                  <a:rPr lang="en-US" sz="1200" dirty="0">
                    <a:effectLst/>
                  </a:rPr>
                  <a:t>[484] N. C. Liu, W. E. Baker, Reactive polymers for blend compatibiliza-tion, Adv. Polym. Technol. 11 (1992) 249-262.</a:t>
                </a:r>
              </a:p>
              <a:p>
                <a:pPr lvl="0" indent="-285750" marL="533400">
                  <a:lnSpc>
                    <a:spcPct val="120000"/>
                  </a:lnSpc>
                  <a:buNone/>
                </a:pPr>
                <a:r>
                  <a:rPr lang="en-US" sz="1200" dirty="0">
                    <a:effectLst/>
                  </a:rPr>
                  <a:t>[485] M. L. Lorenzo, M. Frigione, Compatibilization criteria and procedures for binary blends: A review, J. Pol.ym. Eng. 17 (1997) 429-437.</a:t>
                </a:r>
              </a:p>
              <a:p>
                <a:pPr lvl="0" indent="-285750" marL="533400">
                  <a:lnSpc>
                    <a:spcPct val="120000"/>
                  </a:lnSpc>
                  <a:buNone/>
                </a:pPr>
                <a:r>
                  <a:rPr lang="en-US" sz="1200" dirty="0">
                    <a:effectLst/>
                  </a:rPr>
                  <a:t>[486] S. N. Cassu, M. I. Felisberti, Polystyrene and polyester polyurethane elastomer blends compatibilized by SMA, J. Appl. Polym. Sci. 93 (2004) 2297-2304.</a:t>
                </a:r>
              </a:p>
              <a:p>
                <a:pPr lvl="0" indent="-285750" marL="533400">
                  <a:lnSpc>
                    <a:spcPct val="120000"/>
                  </a:lnSpc>
                  <a:buNone/>
                </a:pPr>
                <a:r>
                  <a:rPr lang="en-US" sz="1200" dirty="0">
                    <a:effectLst/>
                  </a:rPr>
                  <a:t>[487] S. Datta, D. Lohse, Polymeric Compatibilizers (Hanser publishers, 1996).</a:t>
                </a:r>
              </a:p>
              <a:p>
                <a:pPr lvl="0" indent="-285750" marL="533400">
                  <a:lnSpc>
                    <a:spcPct val="120000"/>
                  </a:lnSpc>
                  <a:buNone/>
                </a:pPr>
                <a:r>
                  <a:rPr lang="en-US" sz="1200" dirty="0">
                    <a:effectLst/>
                  </a:rPr>
                  <a:t>[488] J. A. Covas, V. Machardo, M. van Dun, Rheology of PA-6/EPM/ EPM-g-MA blends along a twin-screw extruder, Adv. Polym. Technol. 19 (2000) 260-276.</a:t>
                </a:r>
              </a:p>
              <a:p>
                <a:pPr lvl="0" indent="-285750" marL="533400">
                  <a:lnSpc>
                    <a:spcPct val="120000"/>
                  </a:lnSpc>
                  <a:buNone/>
                </a:pPr>
                <a:r>
                  <a:rPr lang="en-US" sz="1200" dirty="0">
                    <a:effectLst/>
                  </a:rPr>
                  <a:t>[489] M. Xanthos, S. S. Dagli, Compatibilization of polymer blends by reactive processing, Polym. Eng. Sci. 31 (1991) 929-935.</a:t>
                </a:r>
              </a:p>
              <a:p>
                <a:pPr lvl="0" indent="-285750" marL="533400">
                  <a:lnSpc>
                    <a:spcPct val="120000"/>
                  </a:lnSpc>
                  <a:buNone/>
                </a:pPr>
                <a:r>
                  <a:rPr lang="en-US" sz="1200" dirty="0">
                    <a:effectLst/>
                  </a:rPr>
                  <a:t>[490] M. Xanthos, Reactive Extrusion. Principles and Practice (Oxford University, 1992).</a:t>
                </a:r>
              </a:p>
              <a:p>
                <a:pPr lvl="0" indent="-285750" marL="533400">
                  <a:lnSpc>
                    <a:spcPct val="120000"/>
                  </a:lnSpc>
                  <a:buNone/>
                </a:pPr>
                <a:r>
                  <a:rPr lang="en-US" sz="1200" dirty="0">
                    <a:effectLst/>
                  </a:rPr>
                  <a:t>[491] D.-H. Kim, K. Y. Park, J.-Y. Kim, K.-D. Suh, Improved compatibility of high-density polyethylene/poly(ethylene terephthalate) blend by the use of blocked isocyanate group, </a:t>
                </a:r>
                <a:r>
                  <a:rPr lang="en-US" sz="1200" dirty="0">
                    <a:effectLst/>
                  </a:rPr>
                  <a:t>​</a:t>
                </a:r>
                <a14:m>
                  <m:oMath>
                    <m:r>
                      <m:rPr>
                        <m:sty m:val="i"/>
                      </m:rPr>
                      <a:rPr lang="en-US" sz="1200" dirty="0">
                        <a:solidFill>
                          <a:srgbClr val="000000"/>
                        </a:solidFill>
                        <a:effectLst/>
                      </a:rPr>
                      <m:t>J</m:t>
                    </m:r>
                  </m:oMath>
                </a14:m>
                <a:r>
                  <a:rPr lang="en-US" sz="1200" dirty="0">
                    <a:effectLst/>
                  </a:rPr>
                  <a:t>. Appl. Polym. Sci. 78 (2000) 1017-1024.</a:t>
                </a:r>
              </a:p>
            </p:txBody>
          </p:sp>
        </mc:Choice>
        <mc:Fallback/>
      </mc:AlternateContent>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5943600"/>
              </a:xfrm>
              <a:prstGeom prst="rect">
                <a:avLst/>
              </a:prstGeom>
            </p:spPr>
            <p:txBody>
              <a:bodyPr anchor="t" lIns="0" tIns="0" rIns="0" bIns="0">
                <a:noAutofit/>
              </a:bodyPr>
              <a:lstStyle/>
              <a:p>
                <a:pPr lvl="0" indent="-285750" marL="533400">
                  <a:lnSpc>
                    <a:spcPct val="120000"/>
                  </a:lnSpc>
                  <a:buNone/>
                </a:pPr>
                <a:r>
                  <a:rPr lang="en-US" sz="1200" dirty="0">
                    <a:effectLst/>
                  </a:rPr>
                  <a:t>[492] M. Natov, V. Mitova, S. Vassileva, On the use of extruders as chemical reactors, J. Appl. Polym. Sci. 92 (2004) 871-877.</a:t>
                </a:r>
              </a:p>
              <a:p>
                <a:pPr lvl="0" indent="-285750" marL="533400">
                  <a:lnSpc>
                    <a:spcPct val="120000"/>
                  </a:lnSpc>
                  <a:buNone/>
                </a:pPr>
                <a:r>
                  <a:rPr lang="en-US" sz="1200" dirty="0">
                    <a:effectLst/>
                  </a:rPr>
                  <a:t>[493] G. J. M. Cowie, Polymers:Chemistry &amp; Physics of Modern Materials, London, 1993).</a:t>
                </a:r>
              </a:p>
              <a:p>
                <a:pPr lvl="0" indent="-285750" marL="533400">
                  <a:lnSpc>
                    <a:spcPct val="120000"/>
                  </a:lnSpc>
                  <a:buNone/>
                </a:pPr>
                <a:r>
                  <a:rPr lang="en-US" sz="1200" dirty="0">
                    <a:effectLst/>
                  </a:rPr>
                  <a:t>[494] D. R. Paul, S. Newman, Polymer Blends (Academic Press, Vol. 2, 1978).</a:t>
                </a:r>
              </a:p>
              <a:p>
                <a:pPr lvl="0" indent="-285750" marL="533400">
                  <a:lnSpc>
                    <a:spcPct val="120000"/>
                  </a:lnSpc>
                  <a:buNone/>
                </a:pPr>
                <a:r>
                  <a:rPr lang="en-US" sz="1200" dirty="0">
                    <a:effectLst/>
                  </a:rPr>
                  <a:t>[495] Y. Minoura, M. Ueda, S. Mizinuma, M. Oba, The reaction of polypropylene with maleic anhydride, J. Appl. Polym. Sci. 13 (1969) 1625-1640.</a:t>
                </a:r>
              </a:p>
              <a:p>
                <a:pPr lvl="0" indent="-285750" marL="533400">
                  <a:lnSpc>
                    <a:spcPct val="120000"/>
                  </a:lnSpc>
                  <a:buNone/>
                </a:pPr>
                <a:r>
                  <a:rPr lang="en-US" sz="1200" dirty="0">
                    <a:effectLst/>
                  </a:rPr>
                  <a:t>[496] S. Cimmino, L. D'Orazio, L. Greco, G. Maglio, M. Malinconico, C. Mancarella, E. Martuscelli, R. Palumbo, G. Ragosta, Morphology- properties relationships in binary polyamide 6/rubber blends: Influence of the addition of a functionalized rubber, Polym. Eng. Sci. 24 (1984) 48-56.</a:t>
                </a:r>
              </a:p>
              <a:p>
                <a:pPr lvl="0" indent="-285750" marL="533400">
                  <a:lnSpc>
                    <a:spcPct val="120000"/>
                  </a:lnSpc>
                  <a:buNone/>
                </a:pPr>
                <a:r>
                  <a:rPr lang="en-US" sz="1200" dirty="0">
                    <a:effectLst/>
                  </a:rPr>
                  <a:t>[497] G. Fairley, R. E. Prudihomme, A contribution to the understanding of polyethylene/ionomer/polyamide-6 blends. Polym. Eng. Sci. 27 (1987) 1495-1503.</a:t>
                </a:r>
              </a:p>
              <a:p>
                <a:pPr lvl="0" indent="-285750" marL="533400">
                  <a:lnSpc>
                    <a:spcPct val="120000"/>
                  </a:lnSpc>
                  <a:buNone/>
                </a:pPr>
                <a:r>
                  <a:rPr lang="en-US" sz="1200" dirty="0">
                    <a:effectLst/>
                  </a:rPr>
                  <a:t>[598] W. J. Macknight, R. W. Lenz, P. V. Musto, R. J. Somani, Binary alloys of nylon 6 and ethylene-methacrylic acid copolymers: Morphological, thermal and mechanical analysis, Polym. Eng. Sci. 25 (1985) 1124-1134.</a:t>
                </a:r>
              </a:p>
              <a:p>
                <a:pPr lvl="0" indent="-285750" marL="533400">
                  <a:lnSpc>
                    <a:spcPct val="120000"/>
                  </a:lnSpc>
                  <a:buNone/>
                </a:pPr>
                <a:r>
                  <a:rPr lang="en-US" sz="1200" dirty="0">
                    <a:effectLst/>
                  </a:rPr>
                  <a:t>[599] P. Bataille, S. Boisse, H. P. Schreiber, Mechanical properties and permeability of polypropylene and poly(ethylene terephthalate) mixtures, Polym. Eng. Sci. 27 (1987) 622-626.</a:t>
                </a:r>
              </a:p>
              <a:p>
                <a:pPr lvl="0" indent="-285750" marL="533400">
                  <a:lnSpc>
                    <a:spcPct val="120000"/>
                  </a:lnSpc>
                  <a:buNone/>
                </a:pPr>
                <a:r>
                  <a:rPr lang="en-US" sz="1200" dirty="0">
                    <a:effectLst/>
                  </a:rPr>
                  <a:t>[500] T. C. Maa, F. C. Chang, In situ compatibilization of PET/PS blends through reactive copolymers, J. Appl. Polym. Sci. 49 (1994) 913-924.</a:t>
                </a:r>
              </a:p>
              <a:p>
                <a:pPr lvl="0" indent="-285750" marL="533400">
                  <a:lnSpc>
                    <a:spcPct val="120000"/>
                  </a:lnSpc>
                  <a:buNone/>
                </a:pPr>
                <a:r>
                  <a:rPr lang="en-US" sz="1200" dirty="0">
                    <a:effectLst/>
                  </a:rPr>
                  <a:t>[501] W. E. Baker, M. Saleem, Polystyrene-polyethylene melt blends obtai- ned through reactive mixing process, Polym. Eng. Sci. 27 (1987) 1634-1641.</a:t>
                </a:r>
              </a:p>
              <a:p>
                <a:pPr lvl="0" indent="-285750" marL="533400">
                  <a:lnSpc>
                    <a:spcPct val="120000"/>
                  </a:lnSpc>
                  <a:buNone/>
                </a:pPr>
                <a:r>
                  <a:rPr lang="en-US" sz="1200" dirty="0">
                    <a:effectLst/>
                  </a:rPr>
                  <a:t>[502] K. Y. Park, S. H. Park, K. D. Suh, Improved nylon 6/LDPE compatibility through grafting of isocyanate functional group, </a:t>
                </a:r>
                <a:r>
                  <a:rPr lang="en-US" sz="1200" dirty="0">
                    <a:effectLst/>
                  </a:rPr>
                  <a:t>​</a:t>
                </a:r>
                <a14:m>
                  <m:oMath>
                    <m:r>
                      <m:rPr>
                        <m:sty m:val="i"/>
                      </m:rPr>
                      <a:rPr lang="en-US" sz="1200" dirty="0">
                        <a:solidFill>
                          <a:srgbClr val="000000"/>
                        </a:solidFill>
                        <a:effectLst/>
                      </a:rPr>
                      <m:t>J</m:t>
                    </m:r>
                  </m:oMath>
                </a14:m>
                <a:r>
                  <a:rPr lang="en-US" sz="1200" dirty="0">
                    <a:effectLst/>
                  </a:rPr>
                  <a:t>. Appl. Polym. Sci. 66 (1997) 2183-2189.</a:t>
                </a:r>
              </a:p>
              <a:p>
                <a:pPr lvl="0" indent="-285750" marL="533400">
                  <a:lnSpc>
                    <a:spcPct val="120000"/>
                  </a:lnSpc>
                  <a:buNone/>
                </a:pPr>
                <a:r>
                  <a:rPr lang="en-US" sz="1200" dirty="0">
                    <a:effectLst/>
                  </a:rPr>
                  <a:t>[503] S. H. Park, K. Y. Park, K. D.Suh, Compatibilizing effect of isocyanate functional group on polyethylene terephthalate/low density polyethy-lene blends, J. Polym. Sci. Part B :Polym. Phys. 36 (1998) 447-453.</a:t>
                </a:r>
              </a:p>
              <a:p>
                <a:pPr lvl="0" indent="-285750" marL="533400">
                  <a:lnSpc>
                    <a:spcPct val="120000"/>
                  </a:lnSpc>
                  <a:buNone/>
                </a:pPr>
                <a:r>
                  <a:rPr lang="en-US" sz="1200" dirty="0">
                    <a:effectLst/>
                  </a:rPr>
                  <a:t>[504] S. N. Jaisankar, G. Radhakrishnan, Effect of compatibilizer on morph-ology and mechanical properties of TPU/SAN blends, Polym. Eng. Sci. 40 (2000) 621-626.</a:t>
                </a:r>
              </a:p>
              <a:p>
                <a:pPr lvl="0" indent="-285750" marL="533400">
                  <a:lnSpc>
                    <a:spcPct val="120000"/>
                  </a:lnSpc>
                  <a:buNone/>
                </a:pPr>
                <a:r>
                  <a:rPr lang="en-US" sz="1200" dirty="0">
                    <a:effectLst/>
                  </a:rPr>
                  <a:t>[505] C.-R. Chiang, F.-R. Chang, Polymer blends of polyamide-6 (PA6) and poly(phenylene oxide) (PPO) compatibilized by styrene-maleic anhydride (SMA) copolymer, Polymer 38 (1997) 4807-4817.</a:t>
                </a:r>
              </a:p>
            </p:txBody>
          </p:sp>
        </mc:Choice>
        <mc:Fallback/>
      </mc:AlternateContent>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cNvSpPr/>
              <p:nvPr/>
            </p:nvSpPr>
            <p:spPr>
              <a:xfrm>
                <a:off x="1524000" y="457200"/>
                <a:ext cx="9144000" cy="5715000"/>
              </a:xfrm>
              <a:prstGeom prst="rect">
                <a:avLst/>
              </a:prstGeom>
            </p:spPr>
            <p:txBody>
              <a:bodyPr anchor="t" lIns="0" tIns="0" rIns="0" bIns="0">
                <a:noAutofit/>
              </a:bodyPr>
              <a:lstStyle/>
              <a:p>
                <a:pPr lvl="0" indent="-285750" marL="533400">
                  <a:lnSpc>
                    <a:spcPct val="120000"/>
                  </a:lnSpc>
                  <a:buNone/>
                </a:pPr>
                <a:r>
                  <a:rPr lang="en-US" sz="1200" dirty="0">
                    <a:effectLst/>
                  </a:rPr>
                  <a:t>[506] K. Cho, K. Hoon, T. O. Ahn, Effects of reactive reinforced interface on the morphology and tensile properties of amorphous polyamide-SAN blends, J. Appl. Polym. Sci. 68 (1998) 1925-1933.</a:t>
                </a:r>
              </a:p>
              <a:p>
                <a:pPr lvl="0" indent="-285750" marL="533400">
                  <a:lnSpc>
                    <a:spcPct val="120000"/>
                  </a:lnSpc>
                  <a:buNone/>
                </a:pPr>
                <a:r>
                  <a:rPr lang="en-US" sz="1200" dirty="0">
                    <a:effectLst/>
                  </a:rPr>
                  <a:t>[507] K. Dedecker, G. Groeninsky, Reactive compatibilisation of A/(B/C) polymer blends. Part 2. Analysis of the phase inversion region and the co-continuous phase morphology, Polymer 39 (1998) 4993-5000.</a:t>
                </a:r>
              </a:p>
              <a:p>
                <a:pPr lvl="0" indent="-285750" marL="533400">
                  <a:lnSpc>
                    <a:spcPct val="120000"/>
                  </a:lnSpc>
                  <a:buNone/>
                </a:pPr>
                <a:r>
                  <a:rPr lang="en-US" sz="1200" dirty="0">
                    <a:effectLst/>
                  </a:rPr>
                  <a:t>[508] D. Mader, J. Kressler, R. Mulhaupt, Impact-modified poly(styrene-co-acrylonitrie) blends containing both oxazoline-functionalized poly(ethene-co-1-octene) elastomers and poly(styrene-co-maleic anhydride) as compatibilizer, J. Appl. Polym. Sci. 73 (1999) 1685-1695.</a:t>
                </a:r>
              </a:p>
              <a:p>
                <a:pPr lvl="0" indent="-285750" marL="533400">
                  <a:lnSpc>
                    <a:spcPct val="120000"/>
                  </a:lnSpc>
                  <a:buNone/>
                </a:pPr>
                <a:r>
                  <a:rPr lang="en-US" sz="1200" dirty="0">
                    <a:effectLst/>
                  </a:rPr>
                  <a:t>[509] C. H. Teselios, D. Bikiaris, J. Prinos, C. Panayiotou, Structure and properties of blends of poly(ethylene-co-vinyl alcohol) with poly(styrene-co-maleic anhydride), J. Appl. Polym. Sci. 64 (1997) 983-999.</a:t>
                </a:r>
              </a:p>
              <a:p>
                <a:pPr lvl="0" indent="-285750" marL="533400">
                  <a:lnSpc>
                    <a:spcPct val="120000"/>
                  </a:lnSpc>
                  <a:buNone/>
                </a:pPr>
                <a:r>
                  <a:rPr lang="en-US" sz="1200" dirty="0">
                    <a:effectLst/>
                  </a:rPr>
                  <a:t>[510] S. N. Cassu, M. I. Felisberti, Polystyrene and polyether polyurethane elastomer blends compatibilized by SMA: Morphology and mechanical properties, J. Appl. Polym. Sci. 83 (2002) 830-837.</a:t>
                </a:r>
              </a:p>
              <a:p>
                <a:pPr lvl="0" indent="-285750" marL="533400">
                  <a:lnSpc>
                    <a:spcPct val="120000"/>
                  </a:lnSpc>
                  <a:buNone/>
                </a:pPr>
                <a:r>
                  <a:rPr lang="en-US" sz="1200" dirty="0">
                    <a:effectLst/>
                  </a:rPr>
                  <a:t>[511] C. O. Hammer, F. H. Maurer, Barium sulfate-filled blends of polypropylene and polystyrene: Microstructure control and dynamic mechanical properties, Polym. Compos. 19 (1998) 116-125.</a:t>
                </a:r>
              </a:p>
              <a:p>
                <a:pPr lvl="0" indent="-285750" marL="533400">
                  <a:lnSpc>
                    <a:spcPct val="120000"/>
                  </a:lnSpc>
                  <a:buNone/>
                </a:pPr>
                <a:r>
                  <a:rPr lang="en-US" sz="1200" dirty="0">
                    <a:effectLst/>
                  </a:rPr>
                  <a:t>[512] C. O. Hammer, F. H. Maurer, Barium sulfate-filled blends of polypropylene and poly(styrene-co-acrylonitrile)-dynamic mecha-nical melt state properties and interlayer effects, Polym. Eng. Sci. 38 (1998) 295-302.</a:t>
                </a:r>
              </a:p>
              <a:p>
                <a:pPr lvl="0" indent="-285750" marL="533400">
                  <a:lnSpc>
                    <a:spcPct val="120000"/>
                  </a:lnSpc>
                  <a:buNone/>
                </a:pPr>
                <a:r>
                  <a:rPr lang="en-US" sz="1200" dirty="0">
                    <a:effectLst/>
                  </a:rPr>
                  <a:t>[513] Y. C. Kim, W. Ahn, C. Y. Kim, A study on multiple melting of iso-isotactic polypropylene, Polym. Eng. Sci. 37 (1997) 1003-1011.</a:t>
                </a:r>
              </a:p>
              <a:p>
                <a:pPr lvl="0" indent="-285750" marL="533400">
                  <a:lnSpc>
                    <a:spcPct val="120000"/>
                  </a:lnSpc>
                  <a:buNone/>
                </a:pPr>
                <a:r>
                  <a:rPr lang="en-US" sz="1200" dirty="0">
                    <a:effectLst/>
                  </a:rPr>
                  <a:t>[514] Y. Zhang, Y. P. Huang, K. C. Mai, Crystallization and dynamic mechanical properties of polypropylene/ polystyrene blends modified with maleic anhydride and styrene, J. Appl. Polym. Sci. 96 (2005) 2038-2045.</a:t>
                </a:r>
              </a:p>
              <a:p>
                <a:pPr lvl="0" indent="-285750" marL="533400">
                  <a:lnSpc>
                    <a:spcPct val="120000"/>
                  </a:lnSpc>
                  <a:buNone/>
                </a:pPr>
                <a:r>
                  <a:rPr lang="en-US" sz="1200" dirty="0">
                    <a:effectLst/>
                  </a:rPr>
                  <a:t>[515] W. B. Xia, K. C. Tam, C. Y. Yue, Y. C. Lam, Li L, X. Hu, Mechanical properties and morphology of LCP/ABS blends compatibilized with a styrene-maleic anhydride copolymer, Polym. Int. 52 (2003) 733-739.</a:t>
                </a:r>
              </a:p>
              <a:p>
                <a:pPr lvl="0" indent="-285750" marL="533400">
                  <a:lnSpc>
                    <a:spcPct val="120000"/>
                  </a:lnSpc>
                  <a:buNone/>
                </a:pPr>
                <a:r>
                  <a:rPr lang="en-US" sz="1200" dirty="0">
                    <a:effectLst/>
                  </a:rPr>
                  <a:t>[516] A. Colbeaux, F. Fenouillot, J.-F. Gerard, M. Taha, H. Wautier, Diamine coupling of maleic anhydride-modified polyethylene, Polym. Int. 54 (2005) 692-697.</a:t>
                </a:r>
              </a:p>
              <a:p>
                <a:pPr lvl="0" indent="-285750" marL="533400">
                  <a:lnSpc>
                    <a:spcPct val="120000"/>
                  </a:lnSpc>
                  <a:buNone/>
                </a:pPr>
                <a:r>
                  <a:rPr lang="en-US" sz="1200" dirty="0">
                    <a:effectLst/>
                  </a:rPr>
                  <a:t>[517] M. Akbari, A. Zadhoush, M Haghighat, PET/PP blending by using PP- </a:t>
                </a:r>
                <a:r>
                  <a:rPr lang="en-US" sz="1200" dirty="0">
                    <a:effectLst/>
                  </a:rPr>
                  <a:t>​</a:t>
                </a:r>
                <a14:m>
                  <m:oMath>
                    <m:r>
                      <m:rPr>
                        <m:sty m:val="bi"/>
                      </m:rPr>
                      <a:rPr lang="en-US" sz="1200" dirty="0">
                        <a:solidFill>
                          <a:srgbClr val="000000"/>
                        </a:solidFill>
                        <a:effectLst/>
                      </a:rPr>
                      <m:t>g</m:t>
                    </m:r>
                  </m:oMath>
                </a14:m>
                <a:r>
                  <a:rPr lang="en-US" sz="1200" dirty="0">
                    <a:effectLst/>
                  </a:rPr>
                  <a:t>-MA synthesized by solid phase, J. Appl. Polym. Sci. 104 (2007) 3986-3993.</a:t>
                </a:r>
              </a:p>
            </p:txBody>
          </p:sp>
        </mc:Choice>
        <mc:Fallback/>
      </mc:AlternateContent>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5" name="Text"/>
          <p:cNvSpPr/>
          <p:nvPr/>
        </p:nvSpPr>
        <p:spPr>
          <a:xfrm>
            <a:off x="1524000" y="457200"/>
            <a:ext cx="9144000" cy="2286000"/>
          </a:xfrm>
          <a:prstGeom prst="rect">
            <a:avLst/>
          </a:prstGeom>
        </p:spPr>
        <p:txBody>
          <a:bodyPr anchor="t" lIns="0" tIns="0" rIns="0" bIns="0">
            <a:noAutofit/>
          </a:bodyPr>
          <a:lstStyle/>
          <a:p>
            <a:pPr lvl="0" indent="-285750" marL="533400">
              <a:lnSpc>
                <a:spcPct val="120000"/>
              </a:lnSpc>
              <a:buNone/>
            </a:pPr>
            <a:r>
              <a:rPr lang="en-US" sz="1200" dirty="0">
                <a:effectLst/>
              </a:rPr>
              <a:t>[518] C. Cartner, M. Suarez, B. L. Lopez, Grafting of maleic anhydride on polypropylene and its effect on blending with poly(ethylene terephthalate), Polym. Eng. Sci. 48 (2008) 1910-1916.</a:t>
            </a:r>
          </a:p>
          <a:p>
            <a:pPr lvl="0" indent="-285750" marL="533400">
              <a:lnSpc>
                <a:spcPct val="120000"/>
              </a:lnSpc>
              <a:buNone/>
            </a:pPr>
            <a:r>
              <a:rPr lang="en-US" sz="1200" dirty="0">
                <a:effectLst/>
              </a:rPr>
              <a:t>[519] H. J. O'Donnell, D. G. Baird, In situ reinforcement of polypropylene with liquid-crystalline polymers: effect of maleic anhydridegrafted polypropylene, Polymer 36 (1995) 3113-3126.</a:t>
            </a:r>
          </a:p>
          <a:p>
            <a:pPr lvl="0" indent="-285750" marL="533400">
              <a:lnSpc>
                <a:spcPct val="120000"/>
              </a:lnSpc>
              <a:buNone/>
            </a:pPr>
            <a:r>
              <a:rPr lang="en-US" sz="1200" dirty="0">
                <a:effectLst/>
              </a:rPr>
              <a:t>[520] S. C. Tjong, Y. Z. Meng, The effect of compatibilization of maleated polypropylene on a blend of polyamide-6 and liquid crystalline copolyester, Polym. Int. 42 (1997) 209-217.</a:t>
            </a:r>
          </a:p>
          <a:p>
            <a:pPr lvl="0" indent="-285750" marL="533400">
              <a:lnSpc>
                <a:spcPct val="120000"/>
              </a:lnSpc>
              <a:buNone/>
            </a:pPr>
            <a:r>
              <a:rPr lang="en-US" sz="1200" dirty="0">
                <a:effectLst/>
              </a:rPr>
              <a:t>[521] A. J. Oshinski, H. Keskkula, D. R. Paul, Rubber toughening of polyami-des with functionalized block copolymers: 1. Nylon-6, Polymer 33 (1992) 268-283.</a:t>
            </a:r>
          </a:p>
          <a:p>
            <a:pPr lvl="0" indent="-285750" marL="533400">
              <a:lnSpc>
                <a:spcPct val="120000"/>
              </a:lnSpc>
              <a:buNone/>
            </a:pPr>
            <a:r>
              <a:rPr lang="en-US" sz="1200" dirty="0">
                <a:effectLst/>
              </a:rPr>
              <a:t>[522] A. J. Oshinski, H. Keskkula, D. R. Paul, Rubber toughening of polyamides with functionalized block copolymers: 2. Nylon-6,6,</a:t>
            </a:r>
          </a:p>
        </p:txBody>
      </p:sp>
      <p:sp>
        <p:nvSpPr>
          <p:cNvPr id="2" name="Text"/>
          <p:cNvSpPr/>
          <p:nvPr/>
        </p:nvSpPr>
        <p:spPr>
          <a:xfrm>
            <a:off x="1524000" y="2895600"/>
            <a:ext cx="9144000" cy="685800"/>
          </a:xfrm>
          <a:prstGeom prst="rect">
            <a:avLst/>
          </a:prstGeom>
        </p:spPr>
        <p:txBody>
          <a:bodyPr anchor="t" lIns="0" tIns="0" rIns="0" bIns="0">
            <a:noAutofit/>
          </a:bodyPr>
          <a:lstStyle/>
          <a:p>
            <a:pPr>
              <a:lnSpc>
                <a:spcPct val="120000"/>
              </a:lnSpc>
            </a:pPr>
            <a:r>
              <a:rPr lang="en-US" sz="1800" dirty="0" b="1">
                <a:effectLst/>
              </a:rPr>
              <a:t>International Review of Chemical Engineering, volume 3, No 2, March, 2011 Int. Rev.Chem. Eng., 3(2011) 153-215</a:t>
            </a:r>
          </a:p>
        </p:txBody>
      </p:sp>
      <p:sp>
        <p:nvSpPr>
          <p:cNvPr id="2" name="Text"/>
          <p:cNvSpPr/>
          <p:nvPr/>
        </p:nvSpPr>
        <p:spPr>
          <a:xfrm>
            <a:off x="1524000" y="3771139"/>
            <a:ext cx="9144000" cy="228600"/>
          </a:xfrm>
          <a:prstGeom prst="rect">
            <a:avLst/>
          </a:prstGeom>
        </p:spPr>
        <p:txBody>
          <a:bodyPr anchor="t" lIns="0" tIns="0" rIns="0" bIns="0">
            <a:noAutofit/>
          </a:bodyPr>
          <a:lstStyle/>
          <a:p>
            <a:pPr>
              <a:lnSpc>
                <a:spcPct val="120000"/>
              </a:lnSpc>
            </a:pPr>
            <a:r>
              <a:rPr lang="en-US" sz="1200" dirty="0">
                <a:effectLst/>
              </a:rPr>
              <a:t>Polymer 33 (1992) 284-293.</a:t>
            </a:r>
          </a:p>
        </p:txBody>
      </p:sp>
      <p:sp>
        <p:nvSpPr>
          <p:cNvPr id="2" name="Text"/>
          <p:cNvSpPr/>
          <p:nvPr/>
        </p:nvSpPr>
        <p:spPr>
          <a:xfrm>
            <a:off x="1524000" y="4152139"/>
            <a:ext cx="9144000" cy="1828800"/>
          </a:xfrm>
          <a:prstGeom prst="rect">
            <a:avLst/>
          </a:prstGeom>
        </p:spPr>
        <p:txBody>
          <a:bodyPr anchor="t" lIns="0" tIns="0" rIns="0" bIns="0">
            <a:noAutofit/>
          </a:bodyPr>
          <a:lstStyle/>
          <a:p>
            <a:pPr lvl="0" indent="-285750" marL="533400">
              <a:lnSpc>
                <a:spcPct val="120000"/>
              </a:lnSpc>
              <a:buNone/>
            </a:pPr>
            <a:r>
              <a:rPr lang="en-US" sz="1200" dirty="0">
                <a:effectLst/>
              </a:rPr>
              <a:t>[523] B. Majumdar, H. Keskkula, D. R. Paul, Morphology development in toughened aliphatic polyamides, Polymer 35 (1994) 1386-1398.</a:t>
            </a:r>
          </a:p>
          <a:p>
            <a:pPr lvl="0" indent="-285750" marL="533400">
              <a:lnSpc>
                <a:spcPct val="120000"/>
              </a:lnSpc>
              <a:buNone/>
            </a:pPr>
            <a:r>
              <a:rPr lang="en-US" sz="1200" dirty="0">
                <a:effectLst/>
              </a:rPr>
              <a:t>[524] A. J. Oshinski, H. Keskkula, D. R. Paul, The role of matrix molecular weight in rubber toughened nylon 6 blends: 2. Room temperature Izod impact toughness. Polymer 37 (1996) 4909-4918.</a:t>
            </a:r>
          </a:p>
          <a:p>
            <a:pPr lvl="0" indent="-285750" marL="533400">
              <a:lnSpc>
                <a:spcPct val="120000"/>
              </a:lnSpc>
              <a:buNone/>
            </a:pPr>
            <a:r>
              <a:rPr lang="en-US" sz="1200" dirty="0">
                <a:effectLst/>
              </a:rPr>
              <a:t>[525] A. J. Oshinski, H. Keskkula, D. R. Paul, The effect of polyamide end-group configuration on morphology and toughness of blends with maleated elastomers, J. Appl. Polym. Sci. 61 (1996) 623-640.</a:t>
            </a:r>
          </a:p>
          <a:p>
            <a:pPr lvl="0" indent="-285750" marL="533400">
              <a:lnSpc>
                <a:spcPct val="120000"/>
              </a:lnSpc>
              <a:buNone/>
            </a:pPr>
            <a:r>
              <a:rPr lang="en-US" sz="1200" dirty="0">
                <a:effectLst/>
              </a:rPr>
              <a:t>[526] A. J. Oshinski, H. Keskkula, D. R. Paul, The role of matrix molecular weight in rubber toughened nylon 6 blends: 1. Morphology, Polymer 37 (1996) 4891-4907.</a:t>
            </a: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5943600"/>
              </a:xfrm>
              <a:prstGeom prst="rect">
                <a:avLst/>
              </a:prstGeom>
            </p:spPr>
            <p:txBody>
              <a:bodyPr anchor="t" lIns="0" tIns="0" rIns="0" bIns="0">
                <a:noAutofit/>
              </a:bodyPr>
              <a:lstStyle/>
              <a:p>
                <a:pPr lvl="0" indent="-285750" marL="533400">
                  <a:lnSpc>
                    <a:spcPct val="120000"/>
                  </a:lnSpc>
                  <a:buNone/>
                </a:pPr>
                <a:r>
                  <a:rPr lang="en-US" sz="1200" dirty="0">
                    <a:effectLst/>
                  </a:rPr>
                  <a:t>[527] A. J. Oshinski, H. Keskkula, D. R. Paul, The role of matrix molecular weight in rubber toughened nylon 6 blends: 3. Ductile-brittle transition temperature, Polymer 37 (1996) 4919-4928.</a:t>
                </a:r>
              </a:p>
              <a:p>
                <a:pPr lvl="0" indent="-285750" marL="533400">
                  <a:lnSpc>
                    <a:spcPct val="120000"/>
                  </a:lnSpc>
                  <a:buNone/>
                </a:pPr>
                <a:r>
                  <a:rPr lang="en-US" sz="1200" dirty="0">
                    <a:effectLst/>
                  </a:rPr>
                  <a:t>[528] J. J. Huang, H. Keskkula, D. R. Paul, Rubber toughening of an amor- phous polyamide by functionalized SEBS copolymers: morphology and Izod impact behaviour, Polymer 45 (2004) 4203-4215.</a:t>
                </a:r>
              </a:p>
              <a:p>
                <a:pPr lvl="0" indent="-285750" marL="533400">
                  <a:lnSpc>
                    <a:spcPct val="120000"/>
                  </a:lnSpc>
                  <a:buNone/>
                </a:pPr>
                <a:r>
                  <a:rPr lang="en-US" sz="1200" dirty="0">
                    <a:effectLst/>
                  </a:rPr>
                  <a:t>[529] V. Tanrattanakul, A. Hiltner, E. Baer, W. G. Perkins, F. L. Massey, A. Moet, Toughening PET by blending with a functionalized SEBS block copolymer, Polymer 38 (1997) 2191-2200.</a:t>
                </a:r>
              </a:p>
              <a:p>
                <a:pPr lvl="0" indent="-285750" marL="533400">
                  <a:lnSpc>
                    <a:spcPct val="120000"/>
                  </a:lnSpc>
                  <a:buNone/>
                </a:pPr>
                <a:r>
                  <a:rPr lang="en-US" sz="1200" dirty="0">
                    <a:effectLst/>
                  </a:rPr>
                  <a:t>[530] S. Horiuchi, N. Matchariyakul, K. Yase, T. Kitano, H. K. Choi, J. M. Lee, Compatibilizing effect of maleic anhydride functionalized SEBS triblock elastomer through a reaction induced phase formation in the blends of polyamide6 and polycarbonate: 2. Mechanical properties, Polymer 38 (1997) 59-78.</a:t>
                </a:r>
              </a:p>
              <a:p>
                <a:pPr lvl="0" indent="-285750" marL="533400">
                  <a:lnSpc>
                    <a:spcPct val="120000"/>
                  </a:lnSpc>
                  <a:buNone/>
                </a:pPr>
                <a:r>
                  <a:rPr lang="en-US" sz="1200" dirty="0">
                    <a:effectLst/>
                  </a:rPr>
                  <a:t>[531] S. Horiuchi, N. Matchariyakul, K. Yase, T. Kitano, H. K. Choi, J. M. Lee, Compatibilizing effect of a maleic anhydride functionalized SEBS triblock elastomer through a reaction induced phase formation in the blends of polyamide-6 and polycarbonate-III. Microscopic studies on the deformation mechanism, Polymer 38 (1997) 6317-6326.</a:t>
                </a:r>
              </a:p>
              <a:p>
                <a:pPr lvl="0" indent="-285750" marL="533400">
                  <a:lnSpc>
                    <a:spcPct val="120000"/>
                  </a:lnSpc>
                  <a:buNone/>
                </a:pPr>
                <a:r>
                  <a:rPr lang="en-US" sz="1200" dirty="0">
                    <a:effectLst/>
                  </a:rPr>
                  <a:t>[532] S. C. Tjong, S. A. Xu, R. K. Y. Li, Y. W. Mai, Preparation and performance characteristics of short-glass-fiber/ maleated styrene-ethylene-butylene-styrene/polypropylene hybrid composites, J. Appl. Polym. Sci. 86 (2002) 1303-1311.</a:t>
                </a:r>
              </a:p>
              <a:p>
                <a:pPr lvl="0" indent="-285750" marL="533400">
                  <a:lnSpc>
                    <a:spcPct val="120000"/>
                  </a:lnSpc>
                  <a:buNone/>
                </a:pPr>
                <a:r>
                  <a:rPr lang="en-US" sz="1200" dirty="0">
                    <a:effectLst/>
                  </a:rPr>
                  <a:t>[533] J. Z. Liang, R. K. Y. Li, S. C. Tjong, Tensile properties and morphology of PP/EPDM/glass bead ternary composites, Polym. Compos. 20 (1999) 413-422.</a:t>
                </a:r>
              </a:p>
              <a:p>
                <a:pPr lvl="0" indent="-285750" marL="533400">
                  <a:lnSpc>
                    <a:spcPct val="120000"/>
                  </a:lnSpc>
                  <a:buNone/>
                </a:pPr>
                <a:r>
                  <a:rPr lang="en-US" sz="1200" dirty="0">
                    <a:effectLst/>
                  </a:rPr>
                  <a:t>[534] J. M. Willis, B. D. Favis, J. Lunt, Reactive processing of polystyrene-co-maleic anhydride/elastomer blends: Processingmorphology-property relationships, Polym. Eng. Sci. 30 (1990) 1073-1084.</a:t>
                </a:r>
              </a:p>
              <a:p>
                <a:pPr lvl="0" indent="-285750" marL="533400">
                  <a:lnSpc>
                    <a:spcPct val="120000"/>
                  </a:lnSpc>
                  <a:buNone/>
                </a:pPr>
                <a:r>
                  <a:rPr lang="en-US" sz="1200" dirty="0">
                    <a:effectLst/>
                  </a:rPr>
                  <a:t>[535] Pötschke P, Wallheinke K, Stutz H. Blends of thermoplastic polyurethane and maleic-anhydride grafted polyethylene. I: Morphology and mechanical properties. Polym. Eng. Sci. 39 (1999) 1035-1048.</a:t>
                </a:r>
              </a:p>
              <a:p>
                <a:pPr lvl="0" indent="-285750" marL="533400">
                  <a:lnSpc>
                    <a:spcPct val="120000"/>
                  </a:lnSpc>
                  <a:buNone/>
                </a:pPr>
                <a:r>
                  <a:rPr lang="en-US" sz="1200" dirty="0">
                    <a:effectLst/>
                  </a:rPr>
                  <a:t>[536] C. B. Chakrit, L. Sauvarop, T. Jarunee, Effects of fillers, maleated ethylene propylene diene diene rubber, and maleated ethylene octene copolymer on phase morphology and oil resistance in natural rubber/nitrile rubber blends, J. Appl. Polym. Sci. 89 (2003) 1156, 1162.</a:t>
                </a:r>
              </a:p>
              <a:p>
                <a:pPr lvl="0" indent="-285750" marL="533400">
                  <a:lnSpc>
                    <a:spcPct val="120000"/>
                  </a:lnSpc>
                  <a:buNone/>
                </a:pPr>
                <a:r>
                  <a:rPr lang="en-US" sz="1200" dirty="0">
                    <a:effectLst/>
                  </a:rPr>
                  <a:t>[537] R. Zhao, G. Dai, Mechanical property and morphology comparison between the two blends poly(propylene)/ ethylenepropylene-diene monomer elastomer and poly(propylene)/maleic anhydride- </a:t>
                </a:r>
                <a:r>
                  <a:rPr lang="en-US" sz="1200" dirty="0">
                    <a:effectLst/>
                  </a:rPr>
                  <a:t>​</a:t>
                </a:r>
                <a14:m>
                  <m:oMath>
                    <m:r>
                      <m:rPr>
                        <m:sty m:val="i"/>
                      </m:rPr>
                      <a:rPr lang="en-US" sz="1200" dirty="0">
                        <a:solidFill>
                          <a:srgbClr val="000000"/>
                        </a:solidFill>
                        <a:effectLst/>
                      </a:rPr>
                      <m:t>g</m:t>
                    </m:r>
                  </m:oMath>
                </a14:m>
                <a:r>
                  <a:rPr lang="en-US" sz="1200" dirty="0">
                    <a:effectLst/>
                  </a:rPr>
                  <a:t>-ethylene-propylene-diene monomer, J. Appl. Polym. Sci. 86 (2002) 2486-2491.</a:t>
                </a:r>
              </a:p>
            </p:txBody>
          </p:sp>
        </mc:Choice>
        <mc:Fallback/>
      </mc:AlternateContent>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cNvSpPr/>
              <p:nvPr/>
            </p:nvSpPr>
            <p:spPr>
              <a:xfrm>
                <a:off x="1524000" y="457200"/>
                <a:ext cx="9144000" cy="5943600"/>
              </a:xfrm>
              <a:prstGeom prst="rect">
                <a:avLst/>
              </a:prstGeom>
            </p:spPr>
            <p:txBody>
              <a:bodyPr anchor="t" lIns="0" tIns="0" rIns="0" bIns="0">
                <a:noAutofit/>
              </a:bodyPr>
              <a:lstStyle/>
              <a:p>
                <a:pPr lvl="0" indent="-285750" marL="533400">
                  <a:lnSpc>
                    <a:spcPct val="120000"/>
                  </a:lnSpc>
                  <a:buNone/>
                </a:pPr>
                <a:r>
                  <a:rPr lang="en-US" sz="1200" dirty="0">
                    <a:effectLst/>
                  </a:rPr>
                  <a:t>[538] A. Gonzales-Montiel, H. Keskulla, D. R. Paul, Impact-modified nylon 6/polypropylene blends: 2. Effect of reactive functionality on morphology and mechanical properties, Polymer 36 (1995) 4605-4620.</a:t>
                </a:r>
              </a:p>
              <a:p>
                <a:pPr lvl="0" indent="-285750" marL="533400">
                  <a:lnSpc>
                    <a:spcPct val="120000"/>
                  </a:lnSpc>
                  <a:buNone/>
                </a:pPr>
                <a:r>
                  <a:rPr lang="en-US" sz="1200" dirty="0">
                    <a:effectLst/>
                  </a:rPr>
                  <a:t>[539] T. K. Kang, Y. Kim, W. L. Lee, H.-D. Park, W. J. Cho, C. S. Ha, Properties of uncompatibilized and compatibilized poly(butylene terephthalate)-LLDPE blends. J. Appl. Polym. Sci. 72 (1999) 989-997.</a:t>
                </a:r>
              </a:p>
              <a:p>
                <a:pPr lvl="0" indent="-285750" marL="533400">
                  <a:lnSpc>
                    <a:spcPct val="120000"/>
                  </a:lnSpc>
                  <a:buNone/>
                </a:pPr>
                <a:r>
                  <a:rPr lang="en-US" sz="1200" dirty="0">
                    <a:effectLst/>
                  </a:rPr>
                  <a:t>[540] I. Pesneau, P. Cassagnau, R. Fulchiron,, A. Michel, Crystallization from the melt at high supercooling in finely dispersed polymer blends: DSC and rheological analysis, J. Polym. Sci. Part B: Polym. Phys. 36 (1998) 2573-2585.</a:t>
                </a:r>
              </a:p>
              <a:p>
                <a:pPr lvl="0" indent="-285750" marL="533400">
                  <a:lnSpc>
                    <a:spcPct val="120000"/>
                  </a:lnSpc>
                  <a:buNone/>
                </a:pPr>
                <a:r>
                  <a:rPr lang="en-US" sz="1200" dirty="0">
                    <a:effectLst/>
                  </a:rPr>
                  <a:t>[541] I. Pesneau, P. Cassagnau, A. Michel, Morphology monitoring of PE/ PBT blends by reactive processing, J. Appl. Polym. Sci. 2001;82:3568-3577.</a:t>
                </a:r>
              </a:p>
              <a:p>
                <a:pPr lvl="0" indent="-285750" marL="533400">
                  <a:lnSpc>
                    <a:spcPct val="120000"/>
                  </a:lnSpc>
                  <a:buNone/>
                </a:pPr>
                <a:r>
                  <a:rPr lang="en-US" sz="1200" dirty="0">
                    <a:effectLst/>
                  </a:rPr>
                  <a:t>[542] J. H. Yang, D. A. Shi, Z. H. Yao, Z. R. Xin, J. H. Yin, Effect of the compatibilization of linear low-density polyethylene- </a:t>
                </a:r>
                <a:r>
                  <a:rPr lang="en-US" sz="1200" dirty="0">
                    <a:effectLst/>
                  </a:rPr>
                  <a:t>​</a:t>
                </a:r>
                <a14:m>
                  <m:oMath>
                    <m:r>
                      <m:rPr>
                        <m:sty m:val="i"/>
                      </m:rPr>
                      <a:rPr lang="en-US" sz="1200" dirty="0">
                        <a:solidFill>
                          <a:srgbClr val="000000"/>
                        </a:solidFill>
                        <a:effectLst/>
                      </a:rPr>
                      <m:t>g</m:t>
                    </m:r>
                  </m:oMath>
                </a14:m>
                <a:r>
                  <a:rPr lang="en-US" sz="1200" dirty="0">
                    <a:effectLst/>
                  </a:rPr>
                  <a:t> acrylic acid on the morphology and mechanical properties of poly(butylene terephthalate)/linear low-density polyethylene blends, J. Appl. Polym. Sci. 84 (2002) 1059-1066.</a:t>
                </a:r>
              </a:p>
              <a:p>
                <a:pPr lvl="0" indent="-285750" marL="533400">
                  <a:lnSpc>
                    <a:spcPct val="120000"/>
                  </a:lnSpc>
                  <a:buNone/>
                </a:pPr>
                <a:r>
                  <a:rPr lang="en-US" sz="1200" dirty="0">
                    <a:effectLst/>
                  </a:rPr>
                  <a:t>[543] R. R. Qi, J. L. Qian, C. X. Zhou, Modification of acrylonitrilebutadiene-styrene terpolymer by grafting with maleic anhydride in the melt. I. Preparation and characterization, J. Appl. Polym. Sci. 90 (2003) 1249-1254.</a:t>
                </a:r>
              </a:p>
              <a:p>
                <a:pPr lvl="0" indent="-285750" marL="533400">
                  <a:lnSpc>
                    <a:spcPct val="120000"/>
                  </a:lnSpc>
                  <a:buNone/>
                </a:pPr>
                <a:r>
                  <a:rPr lang="en-US" sz="1200" dirty="0">
                    <a:effectLst/>
                  </a:rPr>
                  <a:t>[544] R. P. Qi, J. H. Nie, C. X. Zhou, D. Mao, B. Zhang, Influence of high density polyethylene- </a:t>
                </a:r>
                <a:r>
                  <a:rPr lang="en-US" sz="1200" dirty="0">
                    <a:effectLst/>
                  </a:rPr>
                  <a:t>​</a:t>
                </a:r>
                <a14:m>
                  <m:oMath>
                    <m:r>
                      <m:rPr>
                        <m:sty m:val="i"/>
                      </m:rPr>
                      <a:rPr lang="en-US" sz="1200" dirty="0">
                        <a:solidFill>
                          <a:srgbClr val="000000"/>
                        </a:solidFill>
                        <a:effectLst/>
                      </a:rPr>
                      <m:t>g</m:t>
                    </m:r>
                  </m:oMath>
                </a14:m>
                <a:r>
                  <a:rPr lang="en-US" sz="1200" dirty="0">
                    <a:effectLst/>
                  </a:rPr>
                  <a:t>-maleic anhydride on compabilibity and properties of poly(butylene terephthalate)/high density polyethylene blends, J. Appl. Polym. Sci. 102 (2006) 6081-6087.</a:t>
                </a:r>
              </a:p>
              <a:p>
                <a:pPr lvl="0" indent="-285750" marL="533400">
                  <a:lnSpc>
                    <a:spcPct val="120000"/>
                  </a:lnSpc>
                  <a:buNone/>
                </a:pPr>
                <a:r>
                  <a:rPr lang="en-US" sz="1200" dirty="0">
                    <a:effectLst/>
                  </a:rPr>
                  <a:t>[545] D. Purnima, S. N. Maiti, A. K. Gupta, Interfacial adshesion through maleic anhydride grafting of EPDM in PP/EPDM blend, J. Appl. Polym. Sci. 102 (2006) 5528-5532.</a:t>
                </a:r>
              </a:p>
              <a:p>
                <a:pPr lvl="0" indent="-285750" marL="533400">
                  <a:lnSpc>
                    <a:spcPct val="120000"/>
                  </a:lnSpc>
                  <a:buNone/>
                </a:pPr>
                <a:r>
                  <a:rPr lang="en-US" sz="1200" dirty="0">
                    <a:effectLst/>
                  </a:rPr>
                  <a:t>[546] P. Charoensirisomboon, T. Inoue, M. Weber, Interfacial behavior of block copolymers in situ-formed in reactive blending of dissimilar polymers, Polymer 41 (2000) 4483-4490.</a:t>
                </a:r>
              </a:p>
              <a:p>
                <a:pPr lvl="0" indent="-285750" marL="533400">
                  <a:lnSpc>
                    <a:spcPct val="120000"/>
                  </a:lnSpc>
                  <a:buNone/>
                </a:pPr>
                <a:r>
                  <a:rPr lang="en-US" sz="1200" dirty="0">
                    <a:effectLst/>
                  </a:rPr>
                  <a:t>[547] C. Marco, G. Ellis, M. A. Gomez, J. G. Fatou, J. M. Arribas, I. Campoy, A. Fontecha, Rheological properties, crystallization, and morphology of compatibilized blends of isotactic polypropylene and polyamide, J. Appl. Polym. Sci. 65 (1997) 2665-2677.</a:t>
                </a:r>
              </a:p>
              <a:p>
                <a:pPr lvl="0" indent="-285750" marL="533400">
                  <a:lnSpc>
                    <a:spcPct val="120000"/>
                  </a:lnSpc>
                  <a:buNone/>
                </a:pPr>
                <a:r>
                  <a:rPr lang="en-US" sz="1200" dirty="0">
                    <a:effectLst/>
                  </a:rPr>
                  <a:t>[548] I. Campoy, J. M. Arribas, M. A. M. Zaporta, C. Marco, M. A. Gomez, J. G. Fatou, Crystallization kinetics of polypropylenepolyamide compatibilized blends, Eur. Polym. J. 31 (1995) 475-480.</a:t>
                </a:r>
              </a:p>
              <a:p>
                <a:pPr lvl="0" indent="-285750" marL="533400">
                  <a:lnSpc>
                    <a:spcPct val="120000"/>
                  </a:lnSpc>
                  <a:buNone/>
                </a:pPr>
                <a:r>
                  <a:rPr lang="en-US" sz="1200" dirty="0">
                    <a:effectLst/>
                  </a:rPr>
                  <a:t>[549] Y. Wu, Y. Yang, B. Li, Y. Han, Reactive Blending of modified polypropylene and polyamide 12: Effect of compatibilizer content on crystallization and blend morphology, J. Appl. Polym. Sci. 100 (2006) 187-192.</a:t>
                </a:r>
              </a:p>
            </p:txBody>
          </p:sp>
        </mc:Choice>
        <mc:Fallback/>
      </mc:AlternateContent>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
              <p:cNvSpPr/>
              <p:nvPr/>
            </p:nvSpPr>
            <p:spPr>
              <a:xfrm>
                <a:off x="1524000" y="457200"/>
                <a:ext cx="9144000" cy="4114800"/>
              </a:xfrm>
              <a:prstGeom prst="rect">
                <a:avLst/>
              </a:prstGeom>
            </p:spPr>
            <p:txBody>
              <a:bodyPr anchor="t" lIns="0" tIns="0" rIns="0" bIns="0">
                <a:noAutofit/>
              </a:bodyPr>
              <a:lstStyle/>
              <a:p>
                <a:pPr lvl="0" indent="-285750" marL="533400">
                  <a:lnSpc>
                    <a:spcPct val="120000"/>
                  </a:lnSpc>
                  <a:buNone/>
                </a:pPr>
                <a:r>
                  <a:rPr lang="en-US" sz="1200" dirty="0">
                    <a:effectLst/>
                  </a:rPr>
                  <a:t>[550] L. A. Utracki, Encyclopedic Dictionary of Commercial Polymer Blends (Chem. Tech. Publishing, 1994).</a:t>
                </a:r>
              </a:p>
              <a:p>
                <a:pPr lvl="0" indent="-285750" marL="533400">
                  <a:lnSpc>
                    <a:spcPct val="120000"/>
                  </a:lnSpc>
                  <a:buNone/>
                </a:pPr>
                <a:r>
                  <a:rPr lang="en-US" sz="1200" dirty="0">
                    <a:effectLst/>
                  </a:rPr>
                  <a:t>[551] L. A. Utracki, Polymer Alloys and Blends: Thermodynamics and Rheology (Hanser Publishers, 1990).</a:t>
                </a:r>
              </a:p>
              <a:p>
                <a:pPr lvl="0" indent="-285750" marL="533400">
                  <a:lnSpc>
                    <a:spcPct val="120000"/>
                  </a:lnSpc>
                  <a:buNone/>
                </a:pPr>
                <a:r>
                  <a:rPr lang="en-US" sz="1200" dirty="0">
                    <a:effectLst/>
                  </a:rPr>
                  <a:t>[552] S. B. Brown, Reactive Extrusion, Principles and Practice (Hanser Publishers, 1992, p.75).</a:t>
                </a:r>
              </a:p>
              <a:p>
                <a:pPr lvl="0" indent="-285750" marL="533400">
                  <a:lnSpc>
                    <a:spcPct val="120000"/>
                  </a:lnSpc>
                  <a:buNone/>
                </a:pPr>
                <a:r>
                  <a:rPr lang="en-US" sz="1200" dirty="0">
                    <a:effectLst/>
                  </a:rPr>
                  <a:t>[553] J. G. Bonner, P. S. Hope, Polymer Blends and Alloys (Blackie, Glasgow, 1993, p.46).</a:t>
                </a:r>
              </a:p>
              <a:p>
                <a:pPr lvl="0" indent="-285750" marL="533400">
                  <a:lnSpc>
                    <a:spcPct val="120000"/>
                  </a:lnSpc>
                  <a:buNone/>
                </a:pPr>
                <a:r>
                  <a:rPr lang="en-US" sz="1200" dirty="0">
                    <a:effectLst/>
                  </a:rPr>
                  <a:t>[554] M. van Duin, J. M. Borggreve, Reactive Modifiers for Polymers (Blackie Academic and Professional, 1997 p.133).</a:t>
                </a:r>
              </a:p>
              <a:p>
                <a:pPr lvl="0" indent="-285750" marL="533400">
                  <a:lnSpc>
                    <a:spcPct val="120000"/>
                  </a:lnSpc>
                  <a:buNone/>
                </a:pPr>
                <a:r>
                  <a:rPr lang="en-US" sz="1200" dirty="0">
                    <a:effectLst/>
                  </a:rPr>
                  <a:t>[555] H. Keskkula, D. R. Paul, Nylon Plastic Hanbook (Karl Hanser Ver-lag, 1994).</a:t>
                </a:r>
              </a:p>
              <a:p>
                <a:pPr lvl="0" indent="-285750" marL="533400">
                  <a:lnSpc>
                    <a:spcPct val="120000"/>
                  </a:lnSpc>
                  <a:buNone/>
                </a:pPr>
                <a:r>
                  <a:rPr lang="en-US" sz="1200" dirty="0">
                    <a:effectLst/>
                  </a:rPr>
                  <a:t>[556] R. Greco, M. Malinconico, E. Martoscelli, G. Ragosta, G. Scarinzi, Role of degree of grafting of functionalized ethylenepropylene rubber on the properties of rubber-modified polyamide-6, Polymer 28 (1987) 1185-1189.</a:t>
                </a:r>
              </a:p>
              <a:p>
                <a:pPr lvl="0" indent="-285750" marL="533400">
                  <a:lnSpc>
                    <a:spcPct val="120000"/>
                  </a:lnSpc>
                  <a:buNone/>
                </a:pPr>
                <a:r>
                  <a:rPr lang="en-US" sz="1200" dirty="0">
                    <a:effectLst/>
                  </a:rPr>
                  <a:t>[557] S. Y. Hobbs, R. C. Bopp, V. H. Watkins, Toughened nylon resins, Polym. Eng. Sci. 23 (1983) 380-389.</a:t>
                </a:r>
              </a:p>
              <a:p>
                <a:pPr lvl="0" indent="-285750" marL="533400">
                  <a:lnSpc>
                    <a:spcPct val="120000"/>
                  </a:lnSpc>
                  <a:buNone/>
                </a:pPr>
                <a:r>
                  <a:rPr lang="en-US" sz="1200" dirty="0">
                    <a:effectLst/>
                  </a:rPr>
                  <a:t>[458] A. R. Padwa, Compatibilized blends of polyamide-6 and polyethylene, Polym. Eng. Sci. 32 (1992) 1703-1710.</a:t>
                </a:r>
              </a:p>
              <a:p>
                <a:pPr lvl="0" indent="-285750" marL="533400">
                  <a:lnSpc>
                    <a:spcPct val="120000"/>
                  </a:lnSpc>
                  <a:buNone/>
                </a:pPr>
                <a:r>
                  <a:rPr lang="en-US" sz="1200" dirty="0">
                    <a:effectLst/>
                  </a:rPr>
                  <a:t>[559] J. Duvall, C. Sellitti, C. Myers, A. Hiltner, E. Baer, Effect of compatibilization on the properties of polypropylene/polyamide66 (75/25 wt/wt) blends, J. Appl. Polym. Sci. 1994;52:195-206.</a:t>
                </a:r>
              </a:p>
              <a:p>
                <a:pPr lvl="0" indent="-285750" marL="533400">
                  <a:lnSpc>
                    <a:spcPct val="120000"/>
                  </a:lnSpc>
                  <a:buNone/>
                </a:pPr>
                <a:r>
                  <a:rPr lang="en-US" sz="1200" dirty="0">
                    <a:effectLst/>
                  </a:rPr>
                  <a:t>[560] J. Duvall, C. Sellitti, C. Myers, A. Hiltner, E. Baer, Interfacial effects produced by crystallization of polypropylene with polypropylene- </a:t>
                </a:r>
                <a:r>
                  <a:rPr lang="en-US" sz="1200" dirty="0">
                    <a:effectLst/>
                  </a:rPr>
                  <a:t>​</a:t>
                </a:r>
                <a14:m>
                  <m:oMath>
                    <m:r>
                      <m:rPr>
                        <m:sty m:val="i"/>
                      </m:rPr>
                      <a:rPr lang="en-US" sz="1200" dirty="0">
                        <a:solidFill>
                          <a:srgbClr val="000000"/>
                        </a:solidFill>
                        <a:effectLst/>
                      </a:rPr>
                      <m:t>g</m:t>
                    </m:r>
                  </m:oMath>
                </a14:m>
                <a:r>
                  <a:rPr lang="en-US" sz="1200" dirty="0">
                    <a:effectLst/>
                  </a:rPr>
                  <a:t>-maleic anhydride compatibilitzers, J. Appl. Polym. Sci. 52 (1994) 207-216.</a:t>
                </a:r>
              </a:p>
              <a:p>
                <a:pPr lvl="0" indent="-285750" marL="533400">
                  <a:lnSpc>
                    <a:spcPct val="120000"/>
                  </a:lnSpc>
                  <a:buNone/>
                </a:pPr>
                <a:r>
                  <a:rPr lang="en-US" sz="1200" dirty="0">
                    <a:effectLst/>
                  </a:rPr>
                  <a:t>[561] A. Steurer, G. P. Hellmann, Reactive blending: inhomogeneous interface grafting in melts of maleinated polystyrene and polyamides, Polym. Adv. Technol. 9 (1998) 297-306.</a:t>
                </a:r>
              </a:p>
              <a:p>
                <a:pPr lvl="0" indent="-285750" marL="533400">
                  <a:lnSpc>
                    <a:spcPct val="120000"/>
                  </a:lnSpc>
                  <a:buNone/>
                </a:pPr>
                <a:r>
                  <a:rPr lang="en-US" sz="1200" dirty="0">
                    <a:effectLst/>
                  </a:rPr>
                  <a:t>[562] V. J. Triacca, S. Ziace, J. M. Barlow, H. Keskkula, D. R. Paul, Reactive compatibilization of blends of nylon 6 and ABS materials, Polymer 33 (1991) 1401-1413.</a:t>
                </a:r>
              </a:p>
            </p:txBody>
          </p:sp>
        </mc:Choice>
        <mc:Fallback/>
      </mc:AlternateContent>
      <p:sp>
        <p:nvSpPr>
          <p:cNvPr id="2" name="Text"/>
          <p:cNvSpPr/>
          <p:nvPr/>
        </p:nvSpPr>
        <p:spPr>
          <a:xfrm>
            <a:off x="1524000" y="4724400"/>
            <a:ext cx="9144000" cy="685800"/>
          </a:xfrm>
          <a:prstGeom prst="rect">
            <a:avLst/>
          </a:prstGeom>
        </p:spPr>
        <p:txBody>
          <a:bodyPr anchor="t" lIns="0" tIns="0" rIns="0" bIns="0">
            <a:noAutofit/>
          </a:bodyPr>
          <a:lstStyle/>
          <a:p>
            <a:pPr>
              <a:lnSpc>
                <a:spcPct val="120000"/>
              </a:lnSpc>
            </a:pPr>
            <a:r>
              <a:rPr lang="en-US" sz="1800" dirty="0" b="1">
                <a:effectLst/>
              </a:rPr>
              <a:t>International Review of Chemical Engineering, volume 3, No 2, March, 2011 Int. Rev.Chem. Eng., 3(2011) 153-215</a:t>
            </a:r>
          </a:p>
        </p:txBody>
      </p:sp>
      <p:sp>
        <p:nvSpPr>
          <p:cNvPr id="2" name="Text"/>
          <p:cNvSpPr/>
          <p:nvPr/>
        </p:nvSpPr>
        <p:spPr>
          <a:xfrm>
            <a:off x="1524000" y="5599939"/>
            <a:ext cx="9144000" cy="457200"/>
          </a:xfrm>
          <a:prstGeom prst="rect">
            <a:avLst/>
          </a:prstGeom>
        </p:spPr>
        <p:txBody>
          <a:bodyPr anchor="t" lIns="0" tIns="0" rIns="0" bIns="0">
            <a:noAutofit/>
          </a:bodyPr>
          <a:lstStyle/>
          <a:p>
            <a:pPr lvl="0" indent="-285750" marL="533400">
              <a:lnSpc>
                <a:spcPct val="120000"/>
              </a:lnSpc>
              <a:buNone/>
            </a:pPr>
            <a:r>
              <a:rPr lang="en-US" sz="1200" dirty="0">
                <a:effectLst/>
              </a:rPr>
              <a:t>[563] D. M. Otterson, B. H. Kim, R. E. Lavengood, Effect of testing speed on the crack growth resistance properties of nylon 6/ABS polymer blends, J. Mater. Sci. 26 (1991) 4855-4860.</a:t>
            </a: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5943600"/>
          </a:xfrm>
          <a:prstGeom prst="rect">
            <a:avLst/>
          </a:prstGeom>
        </p:spPr>
        <p:txBody>
          <a:bodyPr anchor="t" lIns="0" tIns="0" rIns="0" bIns="0">
            <a:noAutofit/>
          </a:bodyPr>
          <a:lstStyle/>
          <a:p>
            <a:pPr lvl="0" indent="-285750" marL="533400">
              <a:lnSpc>
                <a:spcPct val="120000"/>
              </a:lnSpc>
              <a:buNone/>
            </a:pPr>
            <a:r>
              <a:rPr lang="en-US" sz="1200" dirty="0">
                <a:effectLst/>
              </a:rPr>
              <a:t>[564] B. Majumdar, H. Keskkula, D. R. Paul, Mechanical properties and morphology of nylon-6/acrylonitrile-butadiene-styrene blends compatibilized with imidized acrylic polymers, Polymer 35 (1994) 5453-5467.</a:t>
            </a:r>
          </a:p>
          <a:p>
            <a:pPr lvl="0" indent="-285750" marL="533400">
              <a:lnSpc>
                <a:spcPct val="120000"/>
              </a:lnSpc>
              <a:buNone/>
            </a:pPr>
            <a:r>
              <a:rPr lang="en-US" sz="1200" dirty="0">
                <a:effectLst/>
              </a:rPr>
              <a:t>[565] R. Mülhaupt, T. Duschek, J. Rösch, Reactive blending of polypro-pylene/polyamide-6 in the presence of tailor-made succinic anhydride-terminated oligopropene compatibilizers, Polym. Adv. Technol. 4 (1993) 4665-4674.</a:t>
            </a:r>
          </a:p>
          <a:p>
            <a:pPr lvl="0" indent="-285750" marL="533400">
              <a:lnSpc>
                <a:spcPct val="120000"/>
              </a:lnSpc>
              <a:buNone/>
            </a:pPr>
            <a:r>
              <a:rPr lang="en-US" sz="1200" dirty="0">
                <a:effectLst/>
              </a:rPr>
              <a:t>[566] J. R. Campbell, S. Y..Hobbs, T. J. Shea, V. H. Watkins, Poly (phenylene oxide) / polyamide blends via reactive extrusion, Polym. Eng. Sci. 30 (1990) 1056-1062.</a:t>
            </a:r>
          </a:p>
          <a:p>
            <a:pPr lvl="0" indent="-285750" marL="533400">
              <a:lnSpc>
                <a:spcPct val="120000"/>
              </a:lnSpc>
              <a:buNone/>
            </a:pPr>
            <a:r>
              <a:rPr lang="en-US" sz="1200" dirty="0">
                <a:effectLst/>
              </a:rPr>
              <a:t>[567] S. Y. Hobbs, M. E. J. Dekkers, Deformation mechanisms in toughened poly(phenylene oxide)-polyamide blends, J. Mater. Sci. 24 (1989) 1316-1322.</a:t>
            </a:r>
          </a:p>
          <a:p>
            <a:pPr lvl="0" indent="-285750" marL="533400">
              <a:lnSpc>
                <a:spcPct val="120000"/>
              </a:lnSpc>
              <a:buNone/>
            </a:pPr>
            <a:r>
              <a:rPr lang="en-US" sz="1200" dirty="0">
                <a:effectLst/>
              </a:rPr>
              <a:t>[568] B. Majumdar, H. Keskkula, D. R. Paul, Effect of the nature of the polyamide on the properties and morphology of compatibilized nylon/acrylonitrile-butadiene-styrene blends, Polymer 35 (1994) 5468-5477.</a:t>
            </a:r>
          </a:p>
          <a:p>
            <a:pPr lvl="0" indent="-285750" marL="533400">
              <a:lnSpc>
                <a:spcPct val="120000"/>
              </a:lnSpc>
              <a:buNone/>
            </a:pPr>
            <a:r>
              <a:rPr lang="en-US" sz="1200" dirty="0">
                <a:effectLst/>
              </a:rPr>
              <a:t>[569] E. M. Araújo, Jr E. Hage, A. J. F. Carvalho, Morphology of nylon 6/acrylonitrile-butadiene-styrene blends compatibilized by a methyl methacrylate/maleic anhydride copolymer, J. Appl. Polym. Sci. 90 (2003) 3512-3518.</a:t>
            </a:r>
          </a:p>
          <a:p>
            <a:pPr lvl="0" indent="-285750" marL="533400">
              <a:lnSpc>
                <a:spcPct val="120000"/>
              </a:lnSpc>
              <a:buNone/>
            </a:pPr>
            <a:r>
              <a:rPr lang="en-US" sz="1200" dirty="0">
                <a:effectLst/>
              </a:rPr>
              <a:t>[570] Z. Z. Yu, Y. C. Ou, G. H. Hu, Influence of interfacial adhesion on toughening of polyethylene-octene elastomer/nylon 6 blends, J. Appl. Polym. Sci. 69 (1998) 1711-1718.</a:t>
            </a:r>
          </a:p>
          <a:p>
            <a:pPr lvl="0" indent="-285750" marL="533400">
              <a:lnSpc>
                <a:spcPct val="120000"/>
              </a:lnSpc>
              <a:buNone/>
            </a:pPr>
            <a:r>
              <a:rPr lang="en-US" sz="1200" dirty="0">
                <a:effectLst/>
              </a:rPr>
              <a:t>[571] Q. F. Li, D. G. Kim, D. Z. Wu, K. Lu, R. G. Jin, Effect of maleic anhydride graft ratio on mechanical properties and morphology on nylon 11/ ethylene-octene copolymer blends, Polym. Eng. Sci. 41 (2001) 2155-2161.</a:t>
            </a:r>
          </a:p>
          <a:p>
            <a:pPr lvl="0" indent="-285750" marL="533400">
              <a:lnSpc>
                <a:spcPct val="120000"/>
              </a:lnSpc>
              <a:buNone/>
            </a:pPr>
            <a:r>
              <a:rPr lang="en-US" sz="1200" dirty="0">
                <a:effectLst/>
              </a:rPr>
              <a:t>[572] P. Marechal, G. Coppens, R. Legras, J. M. De Konnick, Amine/ anhydride reaction versus amide/anhydride reaction in polyamide/ anhydride carriers, J. Polym. Sci. Part A: Polym. Chem. 33 (1995) 757-766.</a:t>
            </a:r>
          </a:p>
          <a:p>
            <a:pPr lvl="0" indent="-285750" marL="533400">
              <a:lnSpc>
                <a:spcPct val="120000"/>
              </a:lnSpc>
              <a:buNone/>
            </a:pPr>
            <a:r>
              <a:rPr lang="en-US" sz="1200" dirty="0">
                <a:effectLst/>
              </a:rPr>
              <a:t>[573] M. van Duin, M. Aussems, R. J. M. Borggreve, Graft formation and chain scission in blends of polyamide-6 and -6.6 with maleic anhydride containing polymers, J. Polym. Sci. Part A: Polym. Chem. 36 (1998) 179-188.</a:t>
            </a:r>
          </a:p>
          <a:p>
            <a:pPr lvl="0" indent="-285750" marL="533400">
              <a:lnSpc>
                <a:spcPct val="120000"/>
              </a:lnSpc>
              <a:buNone/>
            </a:pPr>
            <a:r>
              <a:rPr lang="en-US" sz="1200" dirty="0">
                <a:effectLst/>
              </a:rPr>
              <a:t>[574] B. Majumdar, H. Keskkula, D. R. Paul, Effect of the nature of the polyamide on the properties and morphology of compatibilized nylon/acrylonitrile-butadiene-styrene blends, Polymer 35 (1994) 1399-408.</a:t>
            </a:r>
          </a:p>
          <a:p>
            <a:pPr lvl="0" indent="-285750" marL="533400">
              <a:lnSpc>
                <a:spcPct val="120000"/>
              </a:lnSpc>
              <a:buNone/>
            </a:pPr>
            <a:r>
              <a:rPr lang="en-US" sz="1200" dirty="0">
                <a:effectLst/>
              </a:rPr>
              <a:t>[575] S. Filippi, H. Yordanov, L. Minkova, G. Polacco, M. Talarico, Reactive compatibilizer precursors for LDPE/PA6 blends. 4, Macromol. Mater. Eng. 289 (2004) 512-5123.</a:t>
            </a:r>
          </a:p>
          <a:p>
            <a:pPr lvl="0" indent="-285750" marL="533400">
              <a:lnSpc>
                <a:spcPct val="120000"/>
              </a:lnSpc>
              <a:buNone/>
            </a:pPr>
            <a:r>
              <a:rPr lang="en-US" sz="1200" dirty="0">
                <a:effectLst/>
              </a:rPr>
              <a:t>[576] V. Chiono, S. Filippi, H. Yordanov, L. Minkova, P. Magagnini, Reactive compatibilizer precursors for LDPE/PA6 blends. III: ethylene-glycidylmethacrylate copolymer, Polymer 44 (2003) 2423-2432.</a:t>
            </a: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cNvSpPr/>
              <p:nvPr/>
            </p:nvSpPr>
            <p:spPr>
              <a:xfrm>
                <a:off x="1524000" y="457200"/>
                <a:ext cx="9144000" cy="5943600"/>
              </a:xfrm>
              <a:prstGeom prst="rect">
                <a:avLst/>
              </a:prstGeom>
            </p:spPr>
            <p:txBody>
              <a:bodyPr anchor="t" lIns="0" tIns="0" rIns="0" bIns="0">
                <a:noAutofit/>
              </a:bodyPr>
              <a:lstStyle/>
              <a:p>
                <a:pPr lvl="0" indent="-285750" marL="533400">
                  <a:lnSpc>
                    <a:spcPct val="120000"/>
                  </a:lnSpc>
                  <a:buNone/>
                </a:pPr>
                <a:r>
                  <a:rPr lang="en-US" sz="1200" dirty="0">
                    <a:effectLst/>
                  </a:rPr>
                  <a:t>[577] L. Minkova, H. Yordanov, S. Filippi, N. Grizzuti, Interfacial tension of compatibilized blends of LDPE and PA6: the breaking thread method. Polymer 44 (2003) 7925-7932.</a:t>
                </a:r>
              </a:p>
              <a:p>
                <a:pPr lvl="0" indent="-285750" marL="533400">
                  <a:lnSpc>
                    <a:spcPct val="120000"/>
                  </a:lnSpc>
                  <a:buNone/>
                </a:pPr>
                <a:r>
                  <a:rPr lang="en-US" sz="1200" dirty="0">
                    <a:effectLst/>
                  </a:rPr>
                  <a:t>[578] R. Holsti-Mettinen, J. Seppala, O. T. Ikkala, Effects of compatibilizers on the properties of polyamide/ polypropylene blends, Polym. Eng. Sci. 32 (1992) 868-877.</a:t>
                </a:r>
              </a:p>
              <a:p>
                <a:pPr lvl="0" indent="-285750" marL="533400">
                  <a:lnSpc>
                    <a:spcPct val="120000"/>
                  </a:lnSpc>
                  <a:buNone/>
                </a:pPr>
                <a:r>
                  <a:rPr lang="en-US" sz="1200" dirty="0">
                    <a:effectLst/>
                  </a:rPr>
                  <a:t>[579] G. M. Kim, G. H. Michler, M. Gahleitner, R. Mülhaupt, Influence of morphology on the toughening mechanisms of polypropylene modified with core-shell particles derived from thermoplastic elastomers, Polym. Adv. Technol. 9 (1998) 709-715.</a:t>
                </a:r>
              </a:p>
              <a:p>
                <a:pPr lvl="0" indent="-285750" marL="533400">
                  <a:lnSpc>
                    <a:spcPct val="120000"/>
                  </a:lnSpc>
                  <a:buNone/>
                </a:pPr>
                <a:r>
                  <a:rPr lang="en-US" sz="1200" dirty="0">
                    <a:effectLst/>
                  </a:rPr>
                  <a:t>[580] Kim GM, Michler GH, Rösch J, Mülhaupt R. Micromechanical deformation processes in toughened PP/PA/SEBS- </a:t>
                </a:r>
                <a:r>
                  <a:rPr lang="en-US" sz="1200" dirty="0">
                    <a:effectLst/>
                  </a:rPr>
                  <a:t>​</a:t>
                </a:r>
                <a14:m>
                  <m:oMath>
                    <m:r>
                      <m:rPr>
                        <m:sty m:val="i"/>
                      </m:rPr>
                      <a:rPr lang="en-US" sz="1200" dirty="0">
                        <a:solidFill>
                          <a:srgbClr val="000000"/>
                        </a:solidFill>
                        <a:effectLst/>
                      </a:rPr>
                      <m:t>g</m:t>
                    </m:r>
                  </m:oMath>
                </a14:m>
                <a:r>
                  <a:rPr lang="en-US" sz="1200" dirty="0">
                    <a:effectLst/>
                  </a:rPr>
                  <a:t>-MA blends prepared by reactive processing, Acta Polym. 49 (1998) 88-95.</a:t>
                </a:r>
              </a:p>
              <a:p>
                <a:pPr lvl="0" indent="-285750" marL="533400">
                  <a:lnSpc>
                    <a:spcPct val="120000"/>
                  </a:lnSpc>
                  <a:buNone/>
                </a:pPr>
                <a:r>
                  <a:rPr lang="en-US" sz="1200" dirty="0">
                    <a:effectLst/>
                  </a:rPr>
                  <a:t>[581] A. N. Wilkinson, M. L. Clemens, V. M. Harding, The effects of SEBS-g-maleic anhydride reaction on the morphology and properties of polypropylene/PA6/SEBS ternary blends, Polymer 45 (2004) 5239-5249.</a:t>
                </a:r>
              </a:p>
              <a:p>
                <a:pPr lvl="0" indent="-285750" marL="533400">
                  <a:lnSpc>
                    <a:spcPct val="120000"/>
                  </a:lnSpc>
                  <a:buNone/>
                </a:pPr>
                <a:r>
                  <a:rPr lang="en-US" sz="1200" dirty="0">
                    <a:effectLst/>
                  </a:rPr>
                  <a:t>[582] A. Gonza'les-Montiel, H. Keskkula, D. R. Paul, Impact-modified nylon 6/polypropylene blends: 1. Morphology-property relationships, Polymer 36 (1995) 4587-4603.</a:t>
                </a:r>
              </a:p>
              <a:p>
                <a:pPr lvl="0" indent="-285750" marL="533400">
                  <a:lnSpc>
                    <a:spcPct val="120000"/>
                  </a:lnSpc>
                  <a:buNone/>
                </a:pPr>
                <a:r>
                  <a:rPr lang="en-US" sz="1200" dirty="0">
                    <a:effectLst/>
                  </a:rPr>
                  <a:t>[583] A. Gonza'les-Montiel, H. Keskkula, D. R. Paul, Impact-modified nylon 6/polypropylene blends: 2. Effect of reactive functionality on morphology and mechanical properties, Polymer 36 (1995) 605-4620.</a:t>
                </a:r>
              </a:p>
              <a:p>
                <a:pPr lvl="0" indent="-285750" marL="533400">
                  <a:lnSpc>
                    <a:spcPct val="120000"/>
                  </a:lnSpc>
                  <a:buNone/>
                </a:pPr>
                <a:r>
                  <a:rPr lang="en-US" sz="1200" dirty="0">
                    <a:effectLst/>
                  </a:rPr>
                  <a:t>[584] A. Gonza'les-Montiel, H. Keskkula, D. R. Paul, Impact-modified nylon 6/polypropylene blends: 3. Deformation mechanisms, Polymer 36 (1995) 4621-4637.</a:t>
                </a:r>
              </a:p>
              <a:p>
                <a:pPr lvl="0" indent="-285750" marL="533400">
                  <a:lnSpc>
                    <a:spcPct val="120000"/>
                  </a:lnSpc>
                  <a:buNone/>
                </a:pPr>
                <a:r>
                  <a:rPr lang="en-US" sz="1200" dirty="0">
                    <a:effectLst/>
                  </a:rPr>
                  <a:t>[585] J. C. Chen, I. R. Harrison, Modification of nylon-polyethylene blends via in situ fiber formation, Polym. Eng. Sci. 38 (1998) 371-383.</a:t>
                </a:r>
              </a:p>
              <a:p>
                <a:pPr lvl="0" indent="-285750" marL="533400">
                  <a:lnSpc>
                    <a:spcPct val="120000"/>
                  </a:lnSpc>
                  <a:buNone/>
                </a:pPr>
                <a:r>
                  <a:rPr lang="en-US" sz="1200" dirty="0">
                    <a:effectLst/>
                  </a:rPr>
                  <a:t>[586] S. Filippi, L. Linkova, N. Dintcheva, P. Narducci, P. Magagnini, Comparative study of different maleic anhydride grafted compatibilizer precursors towards LDPE/PA6 blends: Morphology and mechanical properties, Polymer 46 (2005) 8054-8061.</a:t>
                </a:r>
              </a:p>
              <a:p>
                <a:pPr lvl="0" indent="-285750" marL="533400">
                  <a:lnSpc>
                    <a:spcPct val="120000"/>
                  </a:lnSpc>
                  <a:buNone/>
                </a:pPr>
                <a:r>
                  <a:rPr lang="en-US" sz="1200" dirty="0">
                    <a:effectLst/>
                  </a:rPr>
                  <a:t>[587] P. Marechal, G. Coppens, R. Legras, J. M. De-Koninck, Amine/anhydride reaction versus amide/anhydride reaction in polyamide/anhydride carriers, J. Polym. Sci. Part A: Polym. Chem. 33 (1995) 757-766.</a:t>
                </a:r>
              </a:p>
              <a:p>
                <a:pPr lvl="0" indent="-285750" marL="533400">
                  <a:lnSpc>
                    <a:spcPct val="120000"/>
                  </a:lnSpc>
                  <a:buNone/>
                </a:pPr>
                <a:r>
                  <a:rPr lang="en-US" sz="1200" dirty="0">
                    <a:effectLst/>
                  </a:rPr>
                  <a:t>[588] P. Galli, G. Vecellio,. Polyolefins: The most promising largevolume materials for the 21st century, J. Polym. Sci. Part A: Polym. Chem. 42 (2004) 396-415.</a:t>
                </a:r>
              </a:p>
              <a:p>
                <a:pPr lvl="0" indent="-285750" marL="533400">
                  <a:lnSpc>
                    <a:spcPct val="120000"/>
                  </a:lnSpc>
                  <a:buNone/>
                </a:pPr>
                <a:r>
                  <a:rPr lang="en-US" sz="1200" dirty="0">
                    <a:effectLst/>
                  </a:rPr>
                  <a:t>[589] N. Abacha, S. Fellahi, Synthesis of PP-g-MAH and evaluation of its effect on the properties of glass fibre reinforced nylon 6/polypropylene blends, Macromol. Symp. 178 (2002) 131-138.</a:t>
                </a:r>
              </a:p>
            </p:txBody>
          </p:sp>
        </mc:Choice>
        <mc:Fallback/>
      </mc:AlternateContent>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
              <p:cNvSpPr/>
              <p:nvPr/>
            </p:nvSpPr>
            <p:spPr>
              <a:xfrm>
                <a:off x="1524000" y="457200"/>
                <a:ext cx="9144000" cy="5943600"/>
              </a:xfrm>
              <a:prstGeom prst="rect">
                <a:avLst/>
              </a:prstGeom>
            </p:spPr>
            <p:txBody>
              <a:bodyPr anchor="t" lIns="0" tIns="0" rIns="0" bIns="0">
                <a:noAutofit/>
              </a:bodyPr>
              <a:lstStyle/>
              <a:p>
                <a:pPr lvl="0" indent="-285750" marL="533400">
                  <a:lnSpc>
                    <a:spcPct val="120000"/>
                  </a:lnSpc>
                  <a:buNone/>
                </a:pPr>
                <a:r>
                  <a:rPr lang="en-US" sz="1200" dirty="0">
                    <a:effectLst/>
                  </a:rPr>
                  <a:t>[590] N. Abacha, S. Fellahi, Synthesis of polypropylene-graft-maleic anhyd-ride compatibilizer and evaluation of nylon 6/polypropylene blend properties, Polym. Int. 54 (2005) 909-916.</a:t>
                </a:r>
              </a:p>
              <a:p>
                <a:pPr lvl="0" indent="-285750" marL="533400">
                  <a:lnSpc>
                    <a:spcPct val="120000"/>
                  </a:lnSpc>
                  <a:buNone/>
                </a:pPr>
                <a:r>
                  <a:rPr lang="en-US" sz="1200" dirty="0">
                    <a:effectLst/>
                  </a:rPr>
                  <a:t>[591] S. Wu, Phase structure and adhesion in polymer blends: A criterion for rubber toughening, Polymer 26 (1985) 1855-1863.</a:t>
                </a:r>
              </a:p>
              <a:p>
                <a:pPr lvl="0" indent="-285750" marL="533400">
                  <a:lnSpc>
                    <a:spcPct val="120000"/>
                  </a:lnSpc>
                  <a:buNone/>
                </a:pPr>
                <a:r>
                  <a:rPr lang="en-US" sz="1200" dirty="0">
                    <a:effectLst/>
                  </a:rPr>
                  <a:t>[592] R. Armat, A. Moet, Morphological origin of toughness in polyethy- lene-nylon-6 blends, Polymer 34 (1993) 977-985.</a:t>
                </a:r>
              </a:p>
              <a:p>
                <a:pPr lvl="0" indent="-285750" marL="533400">
                  <a:lnSpc>
                    <a:spcPct val="120000"/>
                  </a:lnSpc>
                  <a:buNone/>
                </a:pPr>
                <a:r>
                  <a:rPr lang="en-US" sz="1200" dirty="0">
                    <a:effectLst/>
                  </a:rPr>
                  <a:t>[593] S. Wu, A generalized criterion for rubber toughening: The critical matrix ligament thickness, J. Appl. Polym. Sci. 35 (1988) 549-561.</a:t>
                </a:r>
              </a:p>
              <a:p>
                <a:pPr lvl="0" indent="-285750" marL="533400">
                  <a:lnSpc>
                    <a:spcPct val="120000"/>
                  </a:lnSpc>
                  <a:buNone/>
                </a:pPr>
                <a:r>
                  <a:rPr lang="en-US" sz="1200" dirty="0">
                    <a:effectLst/>
                  </a:rPr>
                  <a:t>[594] Hobbs SY, Bopp RS, Watkins VN. Toughened nylon resins, Polym. Eng. Sci. 23 (1983) 380-389.</a:t>
                </a:r>
              </a:p>
              <a:p>
                <a:pPr lvl="0" indent="-285750" marL="533400">
                  <a:lnSpc>
                    <a:spcPct val="120000"/>
                  </a:lnSpc>
                  <a:buNone/>
                </a:pPr>
                <a:r>
                  <a:rPr lang="en-US" sz="1200" dirty="0">
                    <a:effectLst/>
                  </a:rPr>
                  <a:t>[595] D. F. Lawson, W. L. Hergenrother, M. G. Matlock, Influence of interfacial adhesion on toughening of polyethylene-octene elastomer/ nylon 6 blends, J. Appl. Polym. Sci. 39 (1990) 2331-2352.</a:t>
                </a:r>
              </a:p>
              <a:p>
                <a:pPr lvl="0" indent="-285750" marL="533400">
                  <a:lnSpc>
                    <a:spcPct val="120000"/>
                  </a:lnSpc>
                  <a:buNone/>
                </a:pPr>
                <a:r>
                  <a:rPr lang="en-US" sz="1200" dirty="0">
                    <a:effectLst/>
                  </a:rPr>
                  <a:t>[596] A. Margolina, S. Wu, Percolation model for brittle-tough transition in nylon/rubber blends, Polymer 29 (1988) 2170-2173.</a:t>
                </a:r>
              </a:p>
              <a:p>
                <a:pPr lvl="0" indent="-285750" marL="533400">
                  <a:lnSpc>
                    <a:spcPct val="120000"/>
                  </a:lnSpc>
                  <a:buNone/>
                </a:pPr>
                <a:r>
                  <a:rPr lang="en-US" sz="1200" dirty="0">
                    <a:effectLst/>
                  </a:rPr>
                  <a:t>[597] Y. Kayano, H. Keskkula, D. R. Paul, Fracture behaviour of some rubber-toughened nylon 6 blends, Polymer 39 (1998) 2835-2845.</a:t>
                </a:r>
              </a:p>
              <a:p>
                <a:pPr lvl="0" indent="-285750" marL="533400">
                  <a:lnSpc>
                    <a:spcPct val="120000"/>
                  </a:lnSpc>
                  <a:buNone/>
                </a:pPr>
                <a:r>
                  <a:rPr lang="en-US" sz="1200" dirty="0">
                    <a:effectLst/>
                  </a:rPr>
                  <a:t>[698] R. J. M. Borggreve, R. J. Gaymans, Impact modification of poly(cap-rolactam) by copolymerization with a low molecular weight polybutadiene, Polymer 29 (1988) 1441-1446.</a:t>
                </a:r>
              </a:p>
              <a:p>
                <a:pPr lvl="0" indent="-285750" marL="533400">
                  <a:lnSpc>
                    <a:spcPct val="120000"/>
                  </a:lnSpc>
                  <a:buNone/>
                </a:pPr>
                <a:r>
                  <a:rPr lang="en-US" sz="1200" dirty="0">
                    <a:effectLst/>
                  </a:rPr>
                  <a:t>[699] R. J. M. Borggreve, R. J. Gaymans, J. Schuijer, J. F. Inden Housz, Brittle-tough transition in nylon-rubber blends: effect of rubber concentration and particle size, Polymer 28 (1987) 1489-1496.</a:t>
                </a:r>
              </a:p>
              <a:p>
                <a:pPr lvl="0" indent="-285750" marL="533400">
                  <a:lnSpc>
                    <a:spcPct val="120000"/>
                  </a:lnSpc>
                  <a:buNone/>
                </a:pPr>
                <a:r>
                  <a:rPr lang="en-US" sz="1200" dirty="0">
                    <a:effectLst/>
                  </a:rPr>
                  <a:t>[600] R. J. M. Borggreve, R. J. Gaymans, H. M. Eichenwald, Impact behaviour of nylon-rubber blends: 6. Influence of structure on voiding processes; toughening mechanism., Polymer 30 (1989) 78-83.</a:t>
                </a:r>
              </a:p>
              <a:p>
                <a:pPr lvl="0" indent="-285750" marL="533400">
                  <a:lnSpc>
                    <a:spcPct val="120000"/>
                  </a:lnSpc>
                  <a:buNone/>
                </a:pPr>
                <a:r>
                  <a:rPr lang="en-US" sz="1200" dirty="0">
                    <a:effectLst/>
                  </a:rPr>
                  <a:t>[601] O. Okada, H. Keskkula, D. R. Paul, Fracture toughness of nylon 6 blends with maleated ethylene/propylene rubbers, Polymer 41 (2000) 8061-8074.</a:t>
                </a:r>
              </a:p>
              <a:p>
                <a:pPr lvl="0" indent="-285750" marL="533400">
                  <a:lnSpc>
                    <a:spcPct val="120000"/>
                  </a:lnSpc>
                  <a:buNone/>
                </a:pPr>
                <a:r>
                  <a:rPr lang="en-US" sz="1200" dirty="0">
                    <a:effectLst/>
                  </a:rPr>
                  <a:t>[602] O. Okada, H. Keskkula, D. R. Paul, Fracture toughness of nylon-6 blends with maleated rubbers, J Polym Sci Part B: Polym Phys 42 (2004) 1739-1758.</a:t>
                </a:r>
              </a:p>
              <a:p>
                <a:pPr lvl="0" indent="-285750" marL="533400">
                  <a:lnSpc>
                    <a:spcPct val="120000"/>
                  </a:lnSpc>
                  <a:buNone/>
                </a:pPr>
                <a:r>
                  <a:rPr lang="en-US" sz="1200" dirty="0">
                    <a:effectLst/>
                  </a:rPr>
                  <a:t>[603] L. Dong, C. Xiong, T. Wang, D. Liu, S. Lu, Y. Wang, Preparation and properties of compatibilized PVC/SMA- </a:t>
                </a:r>
                <a:r>
                  <a:rPr lang="en-US" sz="1200" dirty="0">
                    <a:effectLst/>
                  </a:rPr>
                  <a:t>​</a:t>
                </a:r>
                <a14:m>
                  <m:oMath>
                    <m:r>
                      <m:rPr>
                        <m:sty m:val="i"/>
                      </m:rPr>
                      <a:rPr lang="en-US" sz="1200" dirty="0">
                        <a:solidFill>
                          <a:srgbClr val="000000"/>
                        </a:solidFill>
                        <a:effectLst/>
                      </a:rPr>
                      <m:t>g</m:t>
                    </m:r>
                  </m:oMath>
                </a14:m>
                <a:r>
                  <a:rPr lang="en-US" sz="1200" dirty="0">
                    <a:effectLst/>
                  </a:rPr>
                  <a:t>-PA6 blends, J. Appl. Polym. Sci. 94 (2004) 432-439.</a:t>
                </a:r>
              </a:p>
              <a:p>
                <a:pPr lvl="0" indent="-285750" marL="533400">
                  <a:lnSpc>
                    <a:spcPct val="120000"/>
                  </a:lnSpc>
                  <a:buNone/>
                </a:pPr>
                <a:r>
                  <a:rPr lang="en-US" sz="1200" dirty="0">
                    <a:effectLst/>
                  </a:rPr>
                  <a:t>[604] S. C. Tjong, S. A. Xu, Impact and tensile properties of SEBS copo- lymer compatibilized PS/HDPE blends, J. Appl. Polym. Sci. 68 (1998) 1099-1108.</a:t>
                </a:r>
              </a:p>
            </p:txBody>
          </p:sp>
        </mc:Choice>
        <mc:Fallback/>
      </mc:AlternateContent>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685800"/>
          </a:xfrm>
          <a:prstGeom prst="rect">
            <a:avLst/>
          </a:prstGeom>
        </p:spPr>
        <p:txBody>
          <a:bodyPr anchor="t" lIns="0" tIns="0" rIns="0" bIns="0">
            <a:noAutofit/>
          </a:bodyPr>
          <a:lstStyle/>
          <a:p>
            <a:pPr>
              <a:lnSpc>
                <a:spcPct val="120000"/>
              </a:lnSpc>
            </a:pPr>
            <a:r>
              <a:rPr lang="en-US" sz="1800" dirty="0" b="1">
                <a:effectLst/>
              </a:rPr>
              <a:t>International Review of Chemical Engineering, volume 3, No 2, March, 2011 Int. Rev.Chem. Eng., 3(2011) 153-215</a:t>
            </a:r>
          </a:p>
        </p:txBody>
      </p:sp>
      <mc:AlternateContent xmlns:mc="http://schemas.openxmlformats.org/markup-compatibility/2006">
        <mc:Choice xmlns:a14="http://schemas.microsoft.com/office/drawing/2010/main" Requires="a14">
          <p:sp>
            <p:nvSpPr>
              <p:cNvPr id="2" name="Text"/>
              <p:cNvSpPr/>
              <p:nvPr/>
            </p:nvSpPr>
            <p:spPr>
              <a:xfrm>
                <a:off x="1524000" y="1332739"/>
                <a:ext cx="9144000" cy="5029200"/>
              </a:xfrm>
              <a:prstGeom prst="rect">
                <a:avLst/>
              </a:prstGeom>
            </p:spPr>
            <p:txBody>
              <a:bodyPr anchor="t" lIns="0" tIns="0" rIns="0" bIns="0">
                <a:noAutofit/>
              </a:bodyPr>
              <a:lstStyle/>
              <a:p>
                <a:pPr lvl="0" indent="-285750" marL="533400">
                  <a:lnSpc>
                    <a:spcPct val="120000"/>
                  </a:lnSpc>
                  <a:buNone/>
                </a:pPr>
                <a:r>
                  <a:rPr lang="en-US" sz="1200" dirty="0">
                    <a:effectLst/>
                  </a:rPr>
                  <a:t>[605] S. W. Wong, Y. W. Mai, Essential fracture work of short fiber reinforced polymer blends, Polym. Eng. Sci. 39 (1999) 356-364.</a:t>
                </a:r>
              </a:p>
              <a:p>
                <a:pPr lvl="0" indent="-285750" marL="533400">
                  <a:lnSpc>
                    <a:spcPct val="120000"/>
                  </a:lnSpc>
                  <a:buNone/>
                </a:pPr>
                <a:r>
                  <a:rPr lang="en-US" sz="1200" dirty="0">
                    <a:effectLst/>
                  </a:rPr>
                  <a:t>[606] S. W. Wong,, Y. W. Mai, Effect of rubber functionality on microstructures and fracture toughness of impact-modified nylon 6,6/polypropylene blends: 1. Structure-property relationships, Polymer 40 (1999) 1553-1566.</a:t>
                </a:r>
              </a:p>
              <a:p>
                <a:pPr lvl="0" indent="-285750" marL="533400">
                  <a:lnSpc>
                    <a:spcPct val="120000"/>
                  </a:lnSpc>
                  <a:buNone/>
                </a:pPr>
                <a:r>
                  <a:rPr lang="en-US" sz="1200" dirty="0">
                    <a:effectLst/>
                  </a:rPr>
                  <a:t>[607] Y. Z. Meng, S. C. Tjong, Effect of processing conditions on the mechanical performance of maleic anhydride compatibilized in-situ composites of polypropylene with liquid crystalline polymer, Polym. Comp. 19 (1998) 1-10.</a:t>
                </a:r>
              </a:p>
              <a:p>
                <a:pPr lvl="0" indent="-285750" marL="533400">
                  <a:lnSpc>
                    <a:spcPct val="120000"/>
                  </a:lnSpc>
                  <a:buNone/>
                </a:pPr>
                <a:r>
                  <a:rPr lang="en-US" sz="1200" dirty="0">
                    <a:effectLst/>
                  </a:rPr>
                  <a:t>[608] C. D. Park, W. H. Jo, M. S. Lee, Effect of molecular weight of functionalized polystyrene on the compatibility of blends of polyamide 6 and polystyrene, Polymer 37 (1996) 3055-3063.</a:t>
                </a:r>
              </a:p>
              <a:p>
                <a:pPr lvl="0" indent="-285750" marL="533400">
                  <a:lnSpc>
                    <a:spcPct val="120000"/>
                  </a:lnSpc>
                  <a:buNone/>
                </a:pPr>
                <a:r>
                  <a:rPr lang="en-US" sz="1200" dirty="0">
                    <a:effectLst/>
                  </a:rPr>
                  <a:t>[609] C. Konning, A. Ikker, R. Borggreve, L. Leeman, M, Möller, Reactive blending of poly(styrene-co-maleic anhydride) with poly(phenylene oxide) by addition of </a:t>
                </a:r>
                <a:r>
                  <a:rPr lang="en-US" sz="1200" dirty="0">
                    <a:effectLst/>
                  </a:rPr>
                  <a:t>​</a:t>
                </a:r>
                <a14:m>
                  <m:oMath>
                    <m:r>
                      <m:rPr>
                        <m:sty m:val="i"/>
                      </m:rPr>
                      <a:rPr lang="en-US" sz="1200" dirty="0">
                        <a:solidFill>
                          <a:srgbClr val="000000"/>
                        </a:solidFill>
                        <a:effectLst/>
                      </a:rPr>
                      <m:t>α</m:t>
                    </m:r>
                  </m:oMath>
                </a14:m>
                <a:r>
                  <a:rPr lang="en-US" sz="1200" dirty="0">
                    <a:effectLst/>
                  </a:rPr>
                  <a:t>-amino-polystyrene, Polymer 34 (1993) 4410-4416.</a:t>
                </a:r>
              </a:p>
              <a:p>
                <a:pPr lvl="0" indent="-285750" marL="533400">
                  <a:lnSpc>
                    <a:spcPct val="120000"/>
                  </a:lnSpc>
                  <a:buNone/>
                </a:pPr>
                <a:r>
                  <a:rPr lang="en-US" sz="1200" dirty="0">
                    <a:effectLst/>
                  </a:rPr>
                  <a:t>[610] A. Misra, G. Sawhney, R. A. Kumar, Structure and properties of compatibilized blends of polyamide-6 and ABS, J. Appl. Polym. Sci. 50 (1993) 1179-1186.</a:t>
                </a:r>
              </a:p>
              <a:p>
                <a:pPr lvl="0" indent="-285750" marL="533400">
                  <a:lnSpc>
                    <a:spcPct val="120000"/>
                  </a:lnSpc>
                  <a:buNone/>
                </a:pPr>
                <a:r>
                  <a:rPr lang="en-US" sz="1200" dirty="0">
                    <a:effectLst/>
                  </a:rPr>
                  <a:t>[611] Y. Lee, K. Char, Enhancement of interfacial adhesion between amorphous polyamide and polystyrene by in-situ copolymer formation at the interface, Macromolecules 27 (1994) 2603-2606.</a:t>
                </a:r>
              </a:p>
              <a:p>
                <a:pPr lvl="0" indent="-285750" marL="533400">
                  <a:lnSpc>
                    <a:spcPct val="120000"/>
                  </a:lnSpc>
                  <a:buNone/>
                </a:pPr>
                <a:r>
                  <a:rPr lang="en-US" sz="1200" dirty="0">
                    <a:effectLst/>
                  </a:rPr>
                  <a:t>[612] K. Dijkstra, J. Laak, R. J. Gaymans, Nylon-6/rubber blends: 6. Notched tensile impact testing of nylon-6/ (ethylene-propylene rubber) blends, Polymer 35 (1994) 315-322.</a:t>
                </a:r>
              </a:p>
              <a:p>
                <a:pPr lvl="0" indent="-285750" marL="533400">
                  <a:lnSpc>
                    <a:spcPct val="120000"/>
                  </a:lnSpc>
                  <a:buNone/>
                </a:pPr>
                <a:r>
                  <a:rPr lang="en-US" sz="1200" dirty="0">
                    <a:effectLst/>
                  </a:rPr>
                  <a:t>[613] Y. H. Kim, M. Kikuchi, S. Aciyama, K. Sho, S. Izawa, Morphology and coarsening behavior in Polycarbonate /Nylon6-co-12 blends with and without compatibilizer. Polymer 40 (1999) 5273-5278.</a:t>
                </a:r>
              </a:p>
              <a:p>
                <a:pPr lvl="0" indent="-285750" marL="533400">
                  <a:lnSpc>
                    <a:spcPct val="120000"/>
                  </a:lnSpc>
                  <a:buNone/>
                </a:pPr>
                <a:r>
                  <a:rPr lang="en-US" sz="1200" dirty="0">
                    <a:effectLst/>
                  </a:rPr>
                  <a:t>[614] A. Crespy, C. Caze, D. Coupe, P. Dupont, J. P. Cavrot, Impact resistance performances of polyamide 6 blended with different rubber phases, Polym. Eng. Sci. 32 (1992) 273-276.</a:t>
                </a:r>
              </a:p>
              <a:p>
                <a:pPr lvl="0" indent="-285750" marL="533400">
                  <a:lnSpc>
                    <a:spcPct val="120000"/>
                  </a:lnSpc>
                  <a:buNone/>
                </a:pPr>
                <a:r>
                  <a:rPr lang="en-US" sz="1200" dirty="0">
                    <a:effectLst/>
                  </a:rPr>
                  <a:t>[615] I. Z. Lu, Q. Wu, I. I. Negulescu, Wood-fiber/high-density-polyethy- lene composites: compounding process, J. Appl. Polym. Sci. 93 (2004) 2570-2578.</a:t>
                </a:r>
              </a:p>
            </p:txBody>
          </p:sp>
        </mc:Choice>
        <mc:Fallback/>
      </mc:AlternateContent>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5943600"/>
              </a:xfrm>
              <a:prstGeom prst="rect">
                <a:avLst/>
              </a:prstGeom>
            </p:spPr>
            <p:txBody>
              <a:bodyPr anchor="t" lIns="0" tIns="0" rIns="0" bIns="0">
                <a:noAutofit/>
              </a:bodyPr>
              <a:lstStyle/>
              <a:p>
                <a:pPr lvl="0" indent="-285750" marL="533400">
                  <a:lnSpc>
                    <a:spcPct val="120000"/>
                  </a:lnSpc>
                  <a:buNone/>
                </a:pPr>
                <a:r>
                  <a:rPr lang="en-US" sz="1200" dirty="0">
                    <a:effectLst/>
                  </a:rPr>
                  <a:t>[616] A. K. Mohanthy, M. Mishra, G. Hinrichsen, Biofibres, biodegra-dable polymers and biocomposites: An overview, Macromol. Mater. Eng. 276/277 (2000) 1-24.</a:t>
                </a:r>
              </a:p>
              <a:p>
                <a:pPr lvl="0" indent="-285750" marL="533400">
                  <a:lnSpc>
                    <a:spcPct val="120000"/>
                  </a:lnSpc>
                  <a:buNone/>
                </a:pPr>
                <a:r>
                  <a:rPr lang="en-US" sz="1200" dirty="0">
                    <a:effectLst/>
                  </a:rPr>
                  <a:t>[617] T. Paunikallio, J. Kasanen, M. Suvanto, T. T. Pakkanen, Influence of maleated polypropylene on mechanical properties of composite made of viscose fiber and polypropylene, J. Appl. Polym. Sci. 87 (2003) 1895-1900.</a:t>
                </a:r>
              </a:p>
              <a:p>
                <a:pPr lvl="0" indent="-285750" marL="533400">
                  <a:lnSpc>
                    <a:spcPct val="120000"/>
                  </a:lnSpc>
                  <a:buNone/>
                </a:pPr>
                <a:r>
                  <a:rPr lang="en-US" sz="1200" dirty="0">
                    <a:effectLst/>
                  </a:rPr>
                  <a:t>[618] C. Q. Yang, X. Wang, Y. Lu, Infrared spectroscopy studies of cyclic anhydrides as intermediates for ester crosslinking of cotton cellulose by polycarboxylic acids. IV. In situ free radical copolymerization of maleic acid and itaconic acid on cotton, </a:t>
                </a:r>
                <a:r>
                  <a:rPr lang="en-US" sz="1200" dirty="0">
                    <a:effectLst/>
                  </a:rPr>
                  <a:t>​</a:t>
                </a:r>
                <a14:m>
                  <m:oMath>
                    <m:r>
                      <m:rPr>
                        <m:sty m:val="i"/>
                      </m:rPr>
                      <a:rPr lang="en-US" sz="1200" dirty="0">
                        <a:solidFill>
                          <a:srgbClr val="000000"/>
                        </a:solidFill>
                        <a:effectLst/>
                      </a:rPr>
                      <m:t>J</m:t>
                    </m:r>
                  </m:oMath>
                </a14:m>
                <a:r>
                  <a:rPr lang="en-US" sz="1200" dirty="0">
                    <a:effectLst/>
                  </a:rPr>
                  <a:t>. Appl. Polym. Sci. 75 (2000) 327-336.</a:t>
                </a:r>
              </a:p>
              <a:p>
                <a:pPr lvl="0" indent="-285750" marL="533400">
                  <a:lnSpc>
                    <a:spcPct val="120000"/>
                  </a:lnSpc>
                  <a:buNone/>
                </a:pPr>
                <a:r>
                  <a:rPr lang="en-US" sz="1200" dirty="0">
                    <a:effectLst/>
                  </a:rPr>
                  <a:t>[619] C. Q. Yang, X. Wang, Y. Lu, Interfacial interactions of a novel mechanochemical composite of cellulose with maleated polypropylene, J. Appl. Polym. Sci. 94 (2004) 1326-1335.</a:t>
                </a:r>
              </a:p>
              <a:p>
                <a:pPr lvl="0" indent="-285750" marL="533400">
                  <a:lnSpc>
                    <a:spcPct val="120000"/>
                  </a:lnSpc>
                  <a:buNone/>
                </a:pPr>
                <a:r>
                  <a:rPr lang="en-US" sz="1200" dirty="0">
                    <a:effectLst/>
                  </a:rPr>
                  <a:t>[620] E.-S. Park, J. S. Yoon, Synthesis of polyethylene-graft-poly(styrene-co-maleic anhydride) and its compatibilizing effects on polyethylene/ starch blends, J. Appl. Polym. Sci. 88 (2003) 2434-2438.</a:t>
                </a:r>
              </a:p>
              <a:p>
                <a:pPr lvl="0" indent="-285750" marL="533400">
                  <a:lnSpc>
                    <a:spcPct val="120000"/>
                  </a:lnSpc>
                  <a:buNone/>
                </a:pPr>
                <a:r>
                  <a:rPr lang="en-US" sz="1200" dirty="0">
                    <a:effectLst/>
                  </a:rPr>
                  <a:t>[621] I. Aranberri-Askargorta, T. Lampke, A. Bismarck, Wetting behavior of flax fibers as reinforcement for polypropylene, </a:t>
                </a:r>
                <a:r>
                  <a:rPr lang="en-US" sz="1200" dirty="0">
                    <a:effectLst/>
                  </a:rPr>
                  <a:t>​</a:t>
                </a:r>
                <a14:m>
                  <m:oMath>
                    <m:r>
                      <m:rPr>
                        <m:sty m:val="i"/>
                      </m:rPr>
                      <a:rPr lang="en-US" sz="1200" dirty="0">
                        <a:solidFill>
                          <a:srgbClr val="000000"/>
                        </a:solidFill>
                        <a:effectLst/>
                      </a:rPr>
                      <m:t>J</m:t>
                    </m:r>
                  </m:oMath>
                </a14:m>
                <a:r>
                  <a:rPr lang="en-US" sz="1200" dirty="0">
                    <a:effectLst/>
                  </a:rPr>
                  <a:t>. Colloid Interface Sci. 263 (2003) 580-589.</a:t>
                </a:r>
              </a:p>
              <a:p>
                <a:pPr lvl="0" indent="-285750" marL="533400">
                  <a:lnSpc>
                    <a:spcPct val="120000"/>
                  </a:lnSpc>
                  <a:buNone/>
                </a:pPr>
                <a:r>
                  <a:rPr lang="en-US" sz="1200" dirty="0">
                    <a:effectLst/>
                  </a:rPr>
                  <a:t>[622] W. Qiu, T. Endo, T. Hirotsu, Interfacial interactions of a novel mechanochemical composite of cellulose with maleated polypropylene, J. Appl. Polym. Sci. 93 (2004) 1326-1335.</a:t>
                </a:r>
              </a:p>
              <a:p>
                <a:pPr lvl="0" indent="-285750" marL="533400">
                  <a:lnSpc>
                    <a:spcPct val="120000"/>
                  </a:lnSpc>
                  <a:buNone/>
                </a:pPr>
                <a:r>
                  <a:rPr lang="en-US" sz="1200" dirty="0">
                    <a:effectLst/>
                  </a:rPr>
                  <a:t>[623] A. K. Bledzki, J. Gassan, Composites reinforced with cellulose based fibres, Prog. Polym. Sci. 24 (1999) 221-274.</a:t>
                </a:r>
              </a:p>
              <a:p>
                <a:pPr lvl="0" indent="-285750" marL="533400">
                  <a:lnSpc>
                    <a:spcPct val="120000"/>
                  </a:lnSpc>
                  <a:buNone/>
                </a:pPr>
                <a:r>
                  <a:rPr lang="en-US" sz="1200" dirty="0">
                    <a:effectLst/>
                  </a:rPr>
                  <a:t>[624] A. Amash, F.-I. Hildebrandt, P. Zigenmaier, Dynamic mechanical and thermal studies of cellulosics and cellulose composites, Des Monom. Polym. 5 (2002) 385-399.</a:t>
                </a:r>
              </a:p>
              <a:p>
                <a:pPr lvl="0" indent="-285750" marL="533400">
                  <a:lnSpc>
                    <a:spcPct val="120000"/>
                  </a:lnSpc>
                  <a:buNone/>
                </a:pPr>
                <a:r>
                  <a:rPr lang="en-US" sz="1200" dirty="0">
                    <a:effectLst/>
                  </a:rPr>
                  <a:t>[625] J. George, M. S. Sreekala, S. Thomas, A review on interface modification and characterization of natural fiber reinforced plastic composites, Polym. Eng. Sci. 41 (2001) 1471-1485.</a:t>
                </a:r>
              </a:p>
              <a:p>
                <a:pPr lvl="0" indent="-285750" marL="533400">
                  <a:lnSpc>
                    <a:spcPct val="120000"/>
                  </a:lnSpc>
                  <a:buNone/>
                </a:pPr>
                <a:r>
                  <a:rPr lang="en-US" sz="1200" dirty="0">
                    <a:effectLst/>
                  </a:rPr>
                  <a:t>[626] M. Baiardo, G. Frisoni, M. Scandola, A. Licciardello, Surface chemical modification of natural cellulose fibers, J. Appl.Polym. Sci. 83 (2002) 38-45.</a:t>
                </a:r>
              </a:p>
              <a:p>
                <a:pPr lvl="0" indent="-285750" marL="533400">
                  <a:lnSpc>
                    <a:spcPct val="120000"/>
                  </a:lnSpc>
                  <a:buNone/>
                </a:pPr>
                <a:r>
                  <a:rPr lang="en-US" sz="1200" dirty="0">
                    <a:effectLst/>
                  </a:rPr>
                  <a:t>[627] P. Hedenberg, P. Catenholm, Conversion of plastic/cellulose waste into composites. I. Model of the interphase, J. Appl. Polym. Sci. 56 (1995) 641-651.</a:t>
                </a:r>
              </a:p>
              <a:p>
                <a:pPr lvl="0" indent="-285750" marL="533400">
                  <a:lnSpc>
                    <a:spcPct val="120000"/>
                  </a:lnSpc>
                  <a:buNone/>
                </a:pPr>
                <a:r>
                  <a:rPr lang="en-US" sz="1200" dirty="0">
                    <a:effectLst/>
                  </a:rPr>
                  <a:t>[628] C. A. Rodriguez, J. A. Medina, H. Reinecke, New thermoplastic materials reinforced with cellulose based fibers, J. Appl. Polym. Sci. 90 (2003) 3466-3472.</a:t>
                </a:r>
              </a:p>
            </p:txBody>
          </p:sp>
        </mc:Choice>
        <mc:Fallback/>
      </mc:AlternateContent>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cNvSpPr/>
              <p:nvPr/>
            </p:nvSpPr>
            <p:spPr>
              <a:xfrm>
                <a:off x="1524000" y="457200"/>
                <a:ext cx="9144000" cy="5715000"/>
              </a:xfrm>
              <a:prstGeom prst="rect">
                <a:avLst/>
              </a:prstGeom>
            </p:spPr>
            <p:txBody>
              <a:bodyPr anchor="t" lIns="0" tIns="0" rIns="0" bIns="0">
                <a:noAutofit/>
              </a:bodyPr>
              <a:lstStyle/>
              <a:p>
                <a:pPr lvl="0" indent="-285750" marL="533400">
                  <a:lnSpc>
                    <a:spcPct val="120000"/>
                  </a:lnSpc>
                  <a:buNone/>
                </a:pPr>
                <a:r>
                  <a:rPr lang="en-US" sz="1200" dirty="0">
                    <a:effectLst/>
                  </a:rPr>
                  <a:t>[629] S. Hadano, K. Onimura, H. Tsutsumi, H. Yamasaki, T. Oishi,. Syntheses of chemical-modified cellulose obtained from waste pulp, J. Appl. Polym. Sci. 90 (2003) 2059-2065.</a:t>
                </a:r>
              </a:p>
              <a:p>
                <a:pPr lvl="0" indent="-285750" marL="533400">
                  <a:lnSpc>
                    <a:spcPct val="120000"/>
                  </a:lnSpc>
                  <a:buNone/>
                </a:pPr>
                <a:r>
                  <a:rPr lang="en-US" sz="1200" dirty="0">
                    <a:effectLst/>
                  </a:rPr>
                  <a:t>[630] T. Pompe, S. Zschoche, N. Herold, K. Salchert, M.-F. Gouzy, C. Sperling, C. Werner, Maleic Anhydride Copolymers-A Versatile Platform for Molecular Biosurface Engineering, Biomacromolecules 4 (2003) 1072-1079.</a:t>
                </a:r>
              </a:p>
              <a:p>
                <a:pPr lvl="0" indent="-285750" marL="533400">
                  <a:lnSpc>
                    <a:spcPct val="120000"/>
                  </a:lnSpc>
                  <a:buNone/>
                </a:pPr>
                <a:r>
                  <a:rPr lang="en-US" sz="1200" dirty="0">
                    <a:effectLst/>
                  </a:rPr>
                  <a:t>[631] U. Freudenberg, S. Zschoche, F. Simon, A. Janke, K. Schmidt, S. H. Behrens, H. Auweter, C. Werner, Covalent immobilization of cellulose layers onto maleic anhydride copolymer thin films, Biomacromolecules 6 (2005) 1628-1634.</a:t>
                </a:r>
              </a:p>
              <a:p>
                <a:pPr lvl="0" indent="-285750" marL="533400">
                  <a:lnSpc>
                    <a:spcPct val="120000"/>
                  </a:lnSpc>
                  <a:buNone/>
                </a:pPr>
                <a:r>
                  <a:rPr lang="en-US" sz="1200" dirty="0">
                    <a:effectLst/>
                  </a:rPr>
                  <a:t>[632] M. G. Gascone, B. Sim, S. Downes, Swelling/deswelling of anionic copolymer gels, Biomaterials 16 (1995) 569-577.</a:t>
                </a:r>
              </a:p>
              <a:p>
                <a:pPr lvl="0" indent="-285750" marL="533400">
                  <a:lnSpc>
                    <a:spcPct val="120000"/>
                  </a:lnSpc>
                  <a:buNone/>
                </a:pPr>
                <a:r>
                  <a:rPr lang="en-US" sz="1200" dirty="0">
                    <a:effectLst/>
                  </a:rPr>
                  <a:t>[633] R. Grombe, M.-F. Gouzy, M. Nitschke, h. Komber, C. Werner, Preparatipn and characterization of glycosylated maleic anhydride copolymer thin films, Colloids and Surfaces A: Physicochem. Eng. Aspects 284-285 (2006) 295-300.</a:t>
                </a:r>
              </a:p>
              <a:p>
                <a:pPr lvl="0" indent="-285750" marL="533400">
                  <a:lnSpc>
                    <a:spcPct val="120000"/>
                  </a:lnSpc>
                  <a:buNone/>
                </a:pPr>
                <a:r>
                  <a:rPr lang="en-US" sz="1200" dirty="0">
                    <a:effectLst/>
                  </a:rPr>
                  <a:t>[634] Z. S. Nurkeeva, G. A. Mun, V. V. Khutoryanskiy, Interpolymer complexes of water-soluble nonionic polysaccharides with polycarboxylic acids and their applications, Macromol. Biosci. 3 (2003) 283-295.</a:t>
                </a:r>
              </a:p>
              <a:p>
                <a:pPr lvl="0" indent="-285750" marL="533400">
                  <a:lnSpc>
                    <a:spcPct val="120000"/>
                  </a:lnSpc>
                  <a:buNone/>
                </a:pPr>
                <a:r>
                  <a:rPr lang="en-US" sz="1200" dirty="0">
                    <a:effectLst/>
                  </a:rPr>
                  <a:t>[635] H. Matsuyama, A. Terada, T. Nakagawara, Y. Kitamura, M. Teramoto, Facilitated transport of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CO</m:t>
                        </m:r>
                      </m:e>
                      <m:sub>
                        <m:r>
                          <m:rPr>
                            <m:sty m:val="p"/>
                          </m:rPr>
                          <a:rPr lang="en-US" sz="1200" dirty="0">
                            <a:solidFill>
                              <a:srgbClr val="000000"/>
                            </a:solidFill>
                            <a:effectLst/>
                          </a:rPr>
                          <m:t>2</m:t>
                        </m:r>
                      </m:sub>
                    </m:sSub>
                  </m:oMath>
                </a14:m>
                <a:r>
                  <a:rPr lang="en-US" sz="1200" dirty="0">
                    <a:effectLst/>
                  </a:rPr>
                  <a:t> through polyethylenimine/ poly(vinyl alcohol) blend membrane, J. Memb. Sci. 163 (1999) 221-227.</a:t>
                </a:r>
              </a:p>
              <a:p>
                <a:pPr lvl="0" indent="-285750" marL="533400">
                  <a:lnSpc>
                    <a:spcPct val="120000"/>
                  </a:lnSpc>
                  <a:buNone/>
                </a:pPr>
                <a:r>
                  <a:rPr lang="en-US" sz="1200" dirty="0">
                    <a:effectLst/>
                  </a:rPr>
                  <a:t>[636] E. Chiellini, P. Cinelli, E. G. Fernandes, E. P. S. Kenawy, A. Lazzeri, Gelatin-based blends and composites. morphological and thermal mechanical characterization, Biomacomolecules 2 (2001) 806-811.</a:t>
                </a:r>
              </a:p>
              <a:p>
                <a:pPr lvl="0" indent="-285750" marL="533400">
                  <a:lnSpc>
                    <a:spcPct val="120000"/>
                  </a:lnSpc>
                  <a:buNone/>
                </a:pPr>
                <a:r>
                  <a:rPr lang="en-US" sz="1200" dirty="0">
                    <a:effectLst/>
                  </a:rPr>
                  <a:t>[637] J. B. Xu, J. P. Bartley, R. A. Johnson, Preparation and characteriza-tion of alginate-carrageenan hydrogel films crosslinked using a water-soluble carbodiimide (WSC), J. Memb. Sci. 218 (2003) 131-146.</a:t>
                </a:r>
              </a:p>
              <a:p>
                <a:pPr lvl="0" indent="-285750" marL="533400">
                  <a:lnSpc>
                    <a:spcPct val="120000"/>
                  </a:lnSpc>
                  <a:buNone/>
                </a:pPr>
                <a:r>
                  <a:rPr lang="en-US" sz="1200" dirty="0">
                    <a:effectLst/>
                  </a:rPr>
                  <a:t>[638] D. M. DeLongchamp, P. T. Hammond, Highly ion conductive poly(ethylene oxide)-based solid polymer electrolytes from hydrogen bonding layer-by-layer assembly, Langmuir 20 (2004) 5403-5411.</a:t>
                </a:r>
              </a:p>
              <a:p>
                <a:pPr lvl="0" indent="-285750" marL="533400">
                  <a:lnSpc>
                    <a:spcPct val="120000"/>
                  </a:lnSpc>
                  <a:buNone/>
                </a:pPr>
                <a:r>
                  <a:rPr lang="en-US" sz="1200" dirty="0">
                    <a:effectLst/>
                  </a:rPr>
                  <a:t>[639] O. V. Khutoryanskaya, V. V. Khutoryanskiy, R. A. Pethrick, Charac- terisation of blends based on hydroxyethyl-cellulose and maleic acid-alt-methyl vinyl ether, Macromol. Chem. Phys. 206 (2005) 1497-1510.</a:t>
                </a:r>
              </a:p>
              <a:p>
                <a:pPr lvl="0" indent="-285750" marL="533400">
                  <a:lnSpc>
                    <a:spcPct val="120000"/>
                  </a:lnSpc>
                  <a:buNone/>
                </a:pPr>
                <a:r>
                  <a:rPr lang="en-US" sz="1200" dirty="0">
                    <a:effectLst/>
                  </a:rPr>
                  <a:t>[640] M. M. Coleman, P. C. Painter, Hydrogen bonded polymer blends, Prog. Polym. Sci. 20 (1995) 1-59.</a:t>
                </a:r>
              </a:p>
              <a:p>
                <a:pPr lvl="0" indent="-285750" marL="533400">
                  <a:lnSpc>
                    <a:spcPct val="120000"/>
                  </a:lnSpc>
                  <a:buNone/>
                </a:pPr>
                <a:r>
                  <a:rPr lang="en-US" sz="1200" dirty="0">
                    <a:effectLst/>
                  </a:rPr>
                  <a:t>[641] G.-G. Bumbu, C. Vasile, M. C. Popescu, H. Darie, G. C. Chitanu, G. Singurel, A. Carpov, Compatibility of polysaccharide/maleic copolymer blends. IV. Thermal behavior of hydroxypropyl cellulose-containing blends, J. Appl. Polym. Sci. 88 ( 2003) 2585-2597.</a:t>
                </a:r>
              </a:p>
            </p:txBody>
          </p:sp>
        </mc:Choice>
        <mc:Fallback/>
      </mc:AlternateContent>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5" name="Text"/>
          <p:cNvSpPr/>
          <p:nvPr/>
        </p:nvSpPr>
        <p:spPr>
          <a:xfrm>
            <a:off x="1524000" y="457200"/>
            <a:ext cx="9144000" cy="1828800"/>
          </a:xfrm>
          <a:prstGeom prst="rect">
            <a:avLst/>
          </a:prstGeom>
        </p:spPr>
        <p:txBody>
          <a:bodyPr anchor="t" lIns="0" tIns="0" rIns="0" bIns="0">
            <a:noAutofit/>
          </a:bodyPr>
          <a:lstStyle/>
          <a:p>
            <a:pPr lvl="0" indent="-285750" marL="533400">
              <a:lnSpc>
                <a:spcPct val="120000"/>
              </a:lnSpc>
              <a:buNone/>
            </a:pPr>
            <a:r>
              <a:rPr lang="en-US" sz="1200" dirty="0">
                <a:effectLst/>
              </a:rPr>
              <a:t>[642] B. Bednar, Z. Li, Y. Huang, J. C. P. Chang, H. M. Morawetz, L. Castejón, P. Tiemblo, J. M. Gómez-Elvira, Fluorescence study of factors affecting the complexation of poly(acrylic acid) with poly(oxyethylene), Macromolecules 18 (1985) 1829-1833.</a:t>
            </a:r>
          </a:p>
          <a:p>
            <a:pPr lvl="0" indent="-285750" marL="533400">
              <a:lnSpc>
                <a:spcPct val="120000"/>
              </a:lnSpc>
              <a:buNone/>
            </a:pPr>
            <a:r>
              <a:rPr lang="en-US" sz="1200" dirty="0">
                <a:effectLst/>
              </a:rPr>
              <a:t>[643] D. J. Hemker, V. Garza, C.W. Frank, Complexation of poly (acrylic acid) and poly(methacrylic acid) with pyrene-end-labeled poly(ethylene glycol): pH and fluorescence measurements, Macromolecules 20 (1990) 4411-4418.</a:t>
            </a:r>
          </a:p>
          <a:p>
            <a:pPr lvl="0" indent="-285750" marL="533400">
              <a:lnSpc>
                <a:spcPct val="120000"/>
              </a:lnSpc>
              <a:buNone/>
            </a:pPr>
            <a:r>
              <a:rPr lang="en-US" sz="1200" dirty="0">
                <a:effectLst/>
              </a:rPr>
              <a:t>[644] D. S. Eustace, D. R. Siano, E. N. Drake, Polymer compatibility and interpolymer association in the poly(acrylic acid)-polyacrylamide-water ternary system, J. Appl. Polym. Sci. 35 (1988) 707-716.</a:t>
            </a:r>
          </a:p>
          <a:p>
            <a:pPr lvl="0" indent="-285750" marL="533400">
              <a:lnSpc>
                <a:spcPct val="120000"/>
              </a:lnSpc>
              <a:buNone/>
            </a:pPr>
            <a:r>
              <a:rPr lang="en-US" sz="1200" dirty="0">
                <a:effectLst/>
              </a:rPr>
              <a:t>[645] G. Bokias, G. Staikos G, I. Illiopoulos, R. Audebert, Interpolymer association between acrylic acid copolymers and polyethylene glycol: effects of the copolymer nature, Macromolecules 27 (1994) 427-431.</a:t>
            </a:r>
          </a:p>
        </p:txBody>
      </p:sp>
      <p:sp>
        <p:nvSpPr>
          <p:cNvPr id="2" name="Text"/>
          <p:cNvSpPr/>
          <p:nvPr/>
        </p:nvSpPr>
        <p:spPr>
          <a:xfrm>
            <a:off x="1524000" y="2438400"/>
            <a:ext cx="9144000" cy="685800"/>
          </a:xfrm>
          <a:prstGeom prst="rect">
            <a:avLst/>
          </a:prstGeom>
        </p:spPr>
        <p:txBody>
          <a:bodyPr anchor="t" lIns="0" tIns="0" rIns="0" bIns="0">
            <a:noAutofit/>
          </a:bodyPr>
          <a:lstStyle/>
          <a:p>
            <a:pPr>
              <a:lnSpc>
                <a:spcPct val="120000"/>
              </a:lnSpc>
            </a:pPr>
            <a:r>
              <a:rPr lang="en-US" sz="1800" dirty="0" b="1">
                <a:effectLst/>
              </a:rPr>
              <a:t>International Review of Chemical Engineering, volume 3, No 2, March, 2011 Int. Rev.Chem. Eng., 3(2011) 153-215</a:t>
            </a:r>
          </a:p>
        </p:txBody>
      </p:sp>
      <mc:AlternateContent xmlns:mc="http://schemas.openxmlformats.org/markup-compatibility/2006">
        <mc:Choice xmlns:a14="http://schemas.microsoft.com/office/drawing/2010/main" Requires="a14">
          <p:sp>
            <p:nvSpPr>
              <p:cNvPr id="2" name="Text"/>
              <p:cNvSpPr/>
              <p:nvPr/>
            </p:nvSpPr>
            <p:spPr>
              <a:xfrm>
                <a:off x="1524000" y="3313939"/>
                <a:ext cx="9144000" cy="2743200"/>
              </a:xfrm>
              <a:prstGeom prst="rect">
                <a:avLst/>
              </a:prstGeom>
            </p:spPr>
            <p:txBody>
              <a:bodyPr anchor="t" lIns="0" tIns="0" rIns="0" bIns="0">
                <a:noAutofit/>
              </a:bodyPr>
              <a:lstStyle/>
              <a:p>
                <a:pPr lvl="0" indent="-285750" marL="533400">
                  <a:lnSpc>
                    <a:spcPct val="120000"/>
                  </a:lnSpc>
                  <a:buNone/>
                </a:pPr>
                <a:r>
                  <a:rPr lang="en-US" sz="1200" dirty="0">
                    <a:effectLst/>
                  </a:rPr>
                  <a:t>[646] M. T. Garay, M. C. Llamos, E. Iglesias, Study of polymerpolymer complexes and blends of poly( </a:t>
                </a:r>
                <a:r>
                  <a:rPr lang="en-US" sz="1200" dirty="0">
                    <a:effectLst/>
                  </a:rPr>
                  <a:t>​</a:t>
                </a:r>
                <a14:m>
                  <m:oMath>
                    <m:r>
                      <m:rPr>
                        <m:sty m:val="i"/>
                      </m:rPr>
                      <a:rPr lang="en-US" sz="1200" dirty="0">
                        <a:solidFill>
                          <a:srgbClr val="000000"/>
                        </a:solidFill>
                        <a:effectLst/>
                      </a:rPr>
                      <m:t>N</m:t>
                    </m:r>
                  </m:oMath>
                </a14:m>
                <a:r>
                  <a:rPr lang="en-US" sz="1200" dirty="0">
                    <a:effectLst/>
                  </a:rPr>
                  <a:t>-isopropyl acrylamide) with poly(carboxylic acid): 1. Poly(acrylic acid) and poly(methacrylic acid), Polymer 38 (1997) 5091-5096.</a:t>
                </a:r>
              </a:p>
              <a:p>
                <a:pPr lvl="0" indent="-285750" marL="533400">
                  <a:lnSpc>
                    <a:spcPct val="120000"/>
                  </a:lnSpc>
                  <a:buNone/>
                </a:pPr>
                <a:r>
                  <a:rPr lang="en-US" sz="1200" dirty="0">
                    <a:effectLst/>
                  </a:rPr>
                  <a:t>[647] M. Jiang, M. Li, M. Xiang, H. Zhou, Interpolymer complexation and miscibility enhancement by hydrogen bonding, Adv. Polym. Sci. 146 (1999) 121-196.</a:t>
                </a:r>
              </a:p>
              <a:p>
                <a:pPr lvl="0" indent="-285750" marL="533400">
                  <a:lnSpc>
                    <a:spcPct val="120000"/>
                  </a:lnSpc>
                  <a:buNone/>
                </a:pPr>
                <a:r>
                  <a:rPr lang="en-US" sz="1200" dirty="0">
                    <a:effectLst/>
                  </a:rPr>
                  <a:t>[648] O. Nicolaeva, T. Budtova, V. Alexeev, S. Frenkel, Interpolymer complexation between polyacrylic acid and cellulose ethers: Formation and properties, J. Polym. Sci. Part B: Polym. Phys. 38 (2000) 1323-1330.</a:t>
                </a:r>
              </a:p>
              <a:p>
                <a:pPr lvl="0" indent="-285750" marL="533400">
                  <a:lnSpc>
                    <a:spcPct val="120000"/>
                  </a:lnSpc>
                  <a:buNone/>
                </a:pPr>
                <a:r>
                  <a:rPr lang="en-US" sz="1200" dirty="0">
                    <a:effectLst/>
                  </a:rPr>
                  <a:t>[649] Z. C. Nurkeeva, G. A. Mun, V. V. Khutoryanskiy, R. Mangazbaeva, Complex formation of methylcellulose with poly(acrylic acid), Polym. Int. 49 (2000) 867-870.</a:t>
                </a:r>
              </a:p>
              <a:p>
                <a:pPr lvl="0" indent="-285750" marL="533400">
                  <a:lnSpc>
                    <a:spcPct val="120000"/>
                  </a:lnSpc>
                  <a:buNone/>
                </a:pPr>
                <a:r>
                  <a:rPr lang="en-US" sz="1200" dirty="0">
                    <a:effectLst/>
                  </a:rPr>
                  <a:t>[650] A. M. Lowman, N. A. Peppas, Molecular analysis of interpolymer complexation in graft copolymer networks, Polymer 41 (2000) 73-80.</a:t>
                </a:r>
              </a:p>
              <a:p>
                <a:pPr lvl="0" indent="-285750" marL="533400">
                  <a:lnSpc>
                    <a:spcPct val="120000"/>
                  </a:lnSpc>
                  <a:buNone/>
                </a:pPr>
                <a:r>
                  <a:rPr lang="en-US" sz="1200" dirty="0">
                    <a:effectLst/>
                  </a:rPr>
                  <a:t>[651] Y. Osada, M. Sato, Thermal equilibrium of the intermacromolecular complexes of polycarboxylic acids realized by cooperative hydrogen bonding, J. Polym. Sci.: Polym. Lett. Ed. 14 (1976) 129-134.</a:t>
                </a:r>
              </a:p>
            </p:txBody>
          </p:sp>
        </mc:Choice>
        <mc:Fallback/>
      </mc:AlternateContent>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4114800"/>
              </a:xfrm>
              <a:prstGeom prst="rect">
                <a:avLst/>
              </a:prstGeom>
            </p:spPr>
            <p:txBody>
              <a:bodyPr anchor="t" lIns="0" tIns="0" rIns="0" bIns="0">
                <a:noAutofit/>
              </a:bodyPr>
              <a:lstStyle/>
              <a:p>
                <a:pPr lvl="0" indent="-285750" marL="533400">
                  <a:lnSpc>
                    <a:spcPct val="120000"/>
                  </a:lnSpc>
                  <a:buNone/>
                </a:pPr>
                <a:r>
                  <a:rPr lang="en-US" sz="1200" dirty="0">
                    <a:effectLst/>
                  </a:rPr>
                  <a:t>[652] G. Staikos, K. Karayanni, Y. Mylonas, Complexation of polyacryl-amide and poly( </a:t>
                </a:r>
                <a:r>
                  <a:rPr lang="en-US" sz="1200" dirty="0">
                    <a:effectLst/>
                  </a:rPr>
                  <a:t>​</a:t>
                </a:r>
                <a14:m>
                  <m:oMath>
                    <m:r>
                      <m:rPr>
                        <m:sty m:val="i"/>
                      </m:rPr>
                      <a:rPr lang="en-US" sz="1200" dirty="0">
                        <a:solidFill>
                          <a:srgbClr val="000000"/>
                        </a:solidFill>
                        <a:effectLst/>
                      </a:rPr>
                      <m:t>N</m:t>
                    </m:r>
                  </m:oMath>
                </a14:m>
                <a:r>
                  <a:rPr lang="en-US" sz="1200" dirty="0">
                    <a:effectLst/>
                  </a:rPr>
                  <a:t>-isopropylacrylamide) with poly(acrylic acid). The temperature effect, Macromol.Chem. Phys. 198 (1997) 2905-2915.</a:t>
                </a:r>
              </a:p>
              <a:p>
                <a:pPr lvl="0" indent="-285750" marL="533400">
                  <a:lnSpc>
                    <a:spcPct val="120000"/>
                  </a:lnSpc>
                  <a:buNone/>
                </a:pPr>
                <a:r>
                  <a:rPr lang="en-US" sz="1200" dirty="0">
                    <a:effectLst/>
                  </a:rPr>
                  <a:t>[653] F. S. Moolman, M. Meunier, P. W. Labuschagne, P.-A. Truter, Compatibility of poly(vinyl alcohol) and poly(methyl vinylether-co-maleic acid) blends estimated by molecular dynamics, Polymer 46 (2005) 6192-6200.</a:t>
                </a:r>
              </a:p>
              <a:p>
                <a:pPr lvl="0" indent="-285750" marL="533400">
                  <a:lnSpc>
                    <a:spcPct val="120000"/>
                  </a:lnSpc>
                  <a:buNone/>
                </a:pPr>
                <a:r>
                  <a:rPr lang="en-US" sz="1200" dirty="0">
                    <a:effectLst/>
                  </a:rPr>
                  <a:t>[654] Z. M. O. Rzayev, Functional copolymers of maleic anhydride and its isostructural analogeus for bioengineering applications, International Workshop on Biomacromolecules. Stockholm, Sweden, June 1-4 (2008).</a:t>
                </a:r>
              </a:p>
              <a:p>
                <a:pPr lvl="0" indent="-285750" marL="533400">
                  <a:lnSpc>
                    <a:spcPct val="120000"/>
                  </a:lnSpc>
                  <a:buNone/>
                </a:pPr>
                <a:r>
                  <a:rPr lang="en-US" sz="1200" dirty="0">
                    <a:effectLst/>
                  </a:rPr>
                  <a:t>[655] Z. M. O. Rzayev, Boron-containing functional copolymers for bioengineering applications, 4th Euroboron Conference. Bremen, Germany, Sept. 2-6 (2007).</a:t>
                </a:r>
              </a:p>
              <a:p>
                <a:pPr lvl="0" indent="-285750" marL="533400">
                  <a:lnSpc>
                    <a:spcPct val="120000"/>
                  </a:lnSpc>
                  <a:buNone/>
                </a:pPr>
                <a:r>
                  <a:rPr lang="en-US" sz="1200" dirty="0">
                    <a:effectLst/>
                  </a:rPr>
                  <a:t>[656] Z. M. O. Rzayev, N- and B-containing supramacromolecular archi- tectures: Design, synthesis and characterization, Water International GPS 2003 and ISPAC-16 Symposium. Baltimore, USA, June 7-12 (2003).</a:t>
                </a:r>
              </a:p>
              <a:p>
                <a:pPr lvl="0" indent="-285750" marL="533400">
                  <a:lnSpc>
                    <a:spcPct val="120000"/>
                  </a:lnSpc>
                  <a:buNone/>
                </a:pPr>
                <a:r>
                  <a:rPr lang="en-US" sz="1200" dirty="0">
                    <a:effectLst/>
                  </a:rPr>
                  <a:t>[657] Z. M. O. Rzayev, A. Yilmazbayhan, Graft copolymers of maleic anhydride and its isostructural analogues: High performance engineering materials,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m:t>
                        </m:r>
                      </m:e>
                      <m:sup>
                        <m:r>
                          <m:rPr>
                            <m:sty m:val="p"/>
                          </m:rPr>
                          <a:rPr lang="en-US" sz="1200" dirty="0">
                            <a:solidFill>
                              <a:srgbClr val="000000"/>
                            </a:solidFill>
                            <a:effectLst/>
                          </a:rPr>
                          <m:t>th </m:t>
                        </m:r>
                      </m:sup>
                    </m:sSup>
                  </m:oMath>
                </a14:m>
                <a:r>
                  <a:rPr lang="en-US" sz="1200" dirty="0">
                    <a:effectLst/>
                  </a:rPr>
                  <a:t> European Chemistry Congress: Symposium on polymer archtectures - from structure to functional control, Budapest Hungary, Aug. 27-31 (2006).</a:t>
                </a:r>
              </a:p>
              <a:p>
                <a:pPr lvl="0" indent="-285750" marL="533400">
                  <a:lnSpc>
                    <a:spcPct val="120000"/>
                  </a:lnSpc>
                  <a:buNone/>
                </a:pPr>
                <a:r>
                  <a:rPr lang="en-US" sz="1200" dirty="0">
                    <a:effectLst/>
                  </a:rPr>
                  <a:t>[658] Z. M. O. Rzayev, Advances in polyolefin nanocomposites (CRC Press, 2011, pp. 87-127)</a:t>
                </a:r>
              </a:p>
              <a:p>
                <a:pPr lvl="0" indent="-285750" marL="533400">
                  <a:lnSpc>
                    <a:spcPct val="120000"/>
                  </a:lnSpc>
                  <a:buNone/>
                </a:pPr>
                <a:r>
                  <a:rPr lang="en-US" sz="1200" dirty="0">
                    <a:effectLst/>
                  </a:rPr>
                  <a:t>[659] Z. Z. Yu, Y. C. Ou, Z. N. Qi, G. H. Hu, Toughening of nylon 6 with a maleated core-shell impact modifier, J. Polym. Sci. Part B: Polym. Phys. 36 (1998) 1987-1994.</a:t>
                </a:r>
              </a:p>
              <a:p>
                <a:pPr lvl="0" indent="-285750" marL="533400">
                  <a:lnSpc>
                    <a:spcPct val="120000"/>
                  </a:lnSpc>
                  <a:buNone/>
                </a:pPr>
                <a:r>
                  <a:rPr lang="en-US" sz="1200" dirty="0">
                    <a:effectLst/>
                  </a:rPr>
                  <a:t>[660] Z. Z. Yu, M. Lei, Y. C. Ou, G. S. Yang,, G. H. Hu, Toughening of a copolyester with a maleated core-shell toughener, J. Polym. Sci. Part B: Polym. Phys. 38 (2000) 2801-2809.</a:t>
                </a:r>
              </a:p>
            </p:txBody>
          </p:sp>
        </mc:Choice>
        <mc:Fallback/>
      </mc:AlternateContent>
      <p:sp>
        <p:nvSpPr>
          <p:cNvPr id="2" name="Text"/>
          <p:cNvSpPr/>
          <p:nvPr/>
        </p:nvSpPr>
        <p:spPr>
          <a:xfrm>
            <a:off x="1524000" y="4724400"/>
            <a:ext cx="9144000" cy="342900"/>
          </a:xfrm>
          <a:prstGeom prst="rect">
            <a:avLst/>
          </a:prstGeom>
        </p:spPr>
        <p:txBody>
          <a:bodyPr anchor="t" lIns="0" tIns="0" rIns="0" bIns="0">
            <a:noAutofit/>
          </a:bodyPr>
          <a:lstStyle/>
          <a:p>
            <a:pPr>
              <a:lnSpc>
                <a:spcPct val="120000"/>
              </a:lnSpc>
            </a:pPr>
            <a:r>
              <a:rPr lang="en-US" sz="1800" dirty="0" b="1">
                <a:effectLst/>
              </a:rPr>
              <a:t>Author' information</a:t>
            </a:r>
          </a:p>
        </p:txBody>
      </p:sp>
      <p:sp>
        <p:nvSpPr>
          <p:cNvPr id="2" name="Text"/>
          <p:cNvSpPr/>
          <p:nvPr/>
        </p:nvSpPr>
        <p:spPr>
          <a:xfrm>
            <a:off x="1524000" y="5257039"/>
            <a:ext cx="9144000" cy="457200"/>
          </a:xfrm>
          <a:prstGeom prst="rect">
            <a:avLst/>
          </a:prstGeom>
        </p:spPr>
        <p:txBody>
          <a:bodyPr anchor="t" lIns="0" tIns="0" rIns="0" bIns="0">
            <a:noAutofit/>
          </a:bodyPr>
          <a:lstStyle/>
          <a:p>
            <a:pPr>
              <a:lnSpc>
                <a:spcPct val="120000"/>
              </a:lnSpc>
            </a:pPr>
            <a:r>
              <a:rPr lang="en-US" sz="1200" dirty="0">
                <a:effectLst/>
              </a:rPr>
              <a:t>Zakir Rzayev Place and date of birth: Zangibasar, Armenia, August 17nd, 1940. Educational background: </a:t>
            </a:r>
            <a:r>
              <a:rPr lang="en-US" sz="1200" dirty="0">
                <a:effectLst/>
                <a:hlinkClick r:id="rId2"/>
              </a:rPr>
              <a:t>B.Sc</a:t>
            </a:r>
            <a:r>
              <a:rPr lang="en-US" sz="1200" dirty="0">
                <a:effectLst/>
              </a:rPr>
              <a:t>. (Hons.) in Organic chemistry</a:t>
            </a: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076700"/>
          </a:xfrm>
          <a:prstGeom prst="rect">
            <a:avLst/>
          </a:prstGeom>
        </p:spPr>
        <p:txBody>
          <a:bodyPr anchor="t" lIns="0" tIns="0" rIns="0" bIns="0">
            <a:noAutofit/>
          </a:bodyPr>
          <a:lstStyle/>
          <a:p>
            <a:pPr>
              <a:spcAft>
                <a:spcPts val="19500"/>
              </a:spcAft>
            </a:pPr>
            <a:r>
              <a:rPr lang="en-US" sz="100" dirty="0">
                <a:effectLst/>
              </a:rPr>
              <a:t> </a:t>
            </a:r>
          </a:p>
          <a:p>
            <a:pPr>
              <a:lnSpc>
                <a:spcPct val="120000"/>
              </a:lnSpc>
            </a:pPr>
            <a:r>
              <a:rPr lang="en-US" sz="1200" dirty="0">
                <a:effectLst/>
              </a:rPr>
              <a:t> from Faculty of Chemistry, Petrochemistry Division, Baku State University, Azerbaijan, 1962; Ph.D in Polymer Chemistry from Polymer Department, Institute of Physical Chemistry, SU Academy of Sciences, Moscow, USSR, 1967; Dr. Sci. in Polymer Science from Moscow State University, Faculty of Chemistry and Institute of Polymer Materials, Azerbaijan Academy of Science, 1983; Prof. Dr. from Institute of Polymer Materials, Azerbaijan Academy of Science, 1984. He is Professor, Chem. Eng. Dept. and Institute of Science &amp; Engineering, Division of Nanoscience &amp; Nanomedicine, Hacettepe University, Turkey, 1999- to date.</a:t>
            </a:r>
            <a:br>
              <a:rPr lang="en-US" sz="1200" dirty="0"/>
            </a:br>
            <a:r>
              <a:rPr lang="en-US" sz="1200" dirty="0">
                <a:effectLst/>
              </a:rPr>
              <a:t> He is author more 300 publications (books, reviews, regular articles, patents, proseedings, etc.). List of some important publications:</a:t>
            </a:r>
          </a:p>
        </p:txBody>
      </p:sp>
      <p:pic>
        <p:nvPicPr>
          <p:cNvPr id="5" name="image-0dab26670bdfe3bb54126d8e9c2f383e6a29a44f.jpg"/>
          <p:cNvPicPr/>
          <p:nvPr/>
        </p:nvPicPr>
        <p:blipFill>
          <a:blip r:embed="rId2" cstate="print"/>
          <a:srcRect/>
          <a:stretch>
            <a:fillRect/>
          </a:stretch>
        </p:blipFill>
        <p:spPr>
          <a:xfrm>
            <a:off x="1524000" y="457200"/>
            <a:ext cx="2324100" cy="2324100"/>
          </a:xfrm>
          <a:prstGeom prst="rect">
            <a:avLst/>
          </a:prstGeom>
        </p:spPr>
      </p:pic>
      <p:sp>
        <p:nvSpPr>
          <p:cNvPr id="2" name="Text"/>
          <p:cNvSpPr/>
          <p:nvPr/>
        </p:nvSpPr>
        <p:spPr>
          <a:xfrm>
            <a:off x="1524000" y="4686300"/>
            <a:ext cx="9144000" cy="457200"/>
          </a:xfrm>
          <a:prstGeom prst="rect">
            <a:avLst/>
          </a:prstGeom>
        </p:spPr>
        <p:txBody>
          <a:bodyPr anchor="t" lIns="0" tIns="0" rIns="0" bIns="0">
            <a:noAutofit/>
          </a:bodyPr>
          <a:lstStyle/>
          <a:p>
            <a:pPr lvl="0" indent="-285750" marL="533400">
              <a:lnSpc>
                <a:spcPct val="120000"/>
              </a:lnSpc>
              <a:buFont typeface="+mj-lt"/>
              <a:buAutoNum type="arabicPeriod"/>
              <a:tabLst>
                <a:tab pos="685800" algn="l"/>
              </a:tabLst>
            </a:pPr>
            <a:r>
              <a:rPr lang="en-US" sz="1200" dirty="0">
                <a:effectLst/>
              </a:rPr>
              <a:t>Rzayev ZMO, Advanced polyolefin nanocomposites, Ch 4 . Polyolefin nanocomposites by reactive extrusion (CRC Press, 2011, pp. 87-127).</a:t>
            </a:r>
          </a:p>
        </p:txBody>
      </p:sp>
      <p:sp>
        <p:nvSpPr>
          <p:cNvPr id="2" name="Text"/>
          <p:cNvSpPr/>
          <p:nvPr/>
        </p:nvSpPr>
        <p:spPr>
          <a:xfrm>
            <a:off x="1524000" y="5295900"/>
            <a:ext cx="9144000" cy="685800"/>
          </a:xfrm>
          <a:prstGeom prst="rect">
            <a:avLst/>
          </a:prstGeom>
        </p:spPr>
        <p:txBody>
          <a:bodyPr anchor="t" lIns="0" tIns="0" rIns="0" bIns="0">
            <a:noAutofit/>
          </a:bodyPr>
          <a:lstStyle/>
          <a:p>
            <a:pPr lvl="0" indent="-285750" marL="533400">
              <a:lnSpc>
                <a:spcPct val="120000"/>
              </a:lnSpc>
              <a:buFont typeface="Symbol" pitchFamily="2" charset="2"/>
              <a:buChar char="2."/>
              <a:tabLst>
                <a:tab pos="685800" algn="l"/>
              </a:tabLst>
            </a:pPr>
            <a:r>
              <a:rPr lang="en-US" sz="1200" dirty="0">
                <a:effectLst/>
              </a:rPr>
              <a:t>Rzayev ZMO, Söylemez EA, Davarcioğlu B, Functional copolymer/organo-MMT nanoarchitectures. VII. Interlamellar controlled/living radical copolymerization of maleic anhydride with butyl methacrylate via preintercalated RAFT agent-organoclay complexes, Polym. Adv. Technol. 2011. DOI: 10.1002/pat. 1867</a:t>
            </a:r>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3657600"/>
              </a:xfrm>
              <a:prstGeom prst="rect">
                <a:avLst/>
              </a:prstGeom>
            </p:spPr>
            <p:txBody>
              <a:bodyPr anchor="t" lIns="0" tIns="0" rIns="0" bIns="0">
                <a:noAutofit/>
              </a:bodyPr>
              <a:lstStyle/>
              <a:p>
                <a:pPr lvl="0" indent="-285750" marL="533400">
                  <a:lnSpc>
                    <a:spcPct val="120000"/>
                  </a:lnSpc>
                  <a:buFont typeface="Symbol" pitchFamily="2" charset="2"/>
                  <a:buChar char="3."/>
                  <a:tabLst>
                    <a:tab pos="685800" algn="l"/>
                  </a:tabLst>
                </a:pPr>
                <a:r>
                  <a:rPr lang="en-US" sz="1200" dirty="0">
                    <a:effectLst/>
                  </a:rPr>
                  <a:t>Rzayev ZMO, Türk M, Uzgören A. Bioengineering functional copolymers. XV. Synthesis and characterization of poly(N-isopropyl acrylamide-co-3,4-dihydro-2H-pyran-alt-maleic anhydride)s and their PEO branched derivatives, J. Polym. Sci. Part A: Polym. Chem. 48 (2010) 4285-4295.</a:t>
                </a:r>
              </a:p>
              <a:p>
                <a:pPr lvl="0" indent="-285750" marL="533400">
                  <a:lnSpc>
                    <a:spcPct val="120000"/>
                  </a:lnSpc>
                  <a:buFont typeface="Symbol" pitchFamily="2" charset="2"/>
                  <a:buChar char="4."/>
                  <a:tabLst>
                    <a:tab pos="685800" algn="l"/>
                  </a:tabLst>
                </a:pPr>
                <a:r>
                  <a:rPr lang="en-US" sz="1200" dirty="0">
                    <a:effectLst/>
                  </a:rPr>
                  <a:t>Rzayev ZMO, Yilmazbayhan A, Alper E. An one step preparation of plyprolene-compatibilizer-clay nanocomposites by reactive extrusion, Adv. Polym. Technol. 26 (2007) 41-56.</a:t>
                </a:r>
              </a:p>
              <a:p>
                <a:pPr lvl="0" indent="-285750" marL="533400">
                  <a:lnSpc>
                    <a:spcPct val="120000"/>
                  </a:lnSpc>
                  <a:buFont typeface="Symbol" pitchFamily="2" charset="2"/>
                  <a:buChar char="5."/>
                  <a:tabLst>
                    <a:tab pos="685800" algn="l"/>
                  </a:tabLst>
                </a:pPr>
                <a:r>
                  <a:rPr lang="en-US" sz="1200" dirty="0">
                    <a:effectLst/>
                  </a:rPr>
                  <a:t>Rzayev ZMO, Dinçer S, Pişkin E . Functional copolymers of </a:t>
                </a:r>
                <a:r>
                  <a:rPr lang="en-US" sz="1200" dirty="0">
                    <a:effectLst/>
                  </a:rPr>
                  <a:t>​</a:t>
                </a:r>
                <a14:m>
                  <m:oMath>
                    <m:r>
                      <m:rPr>
                        <m:sty m:val="i"/>
                      </m:rPr>
                      <a:rPr lang="en-US" sz="1200" dirty="0">
                        <a:solidFill>
                          <a:srgbClr val="000000"/>
                        </a:solidFill>
                        <a:effectLst/>
                      </a:rPr>
                      <m:t>N</m:t>
                    </m:r>
                  </m:oMath>
                </a14:m>
                <a:r>
                  <a:rPr lang="en-US" sz="1200" dirty="0">
                    <a:effectLst/>
                  </a:rPr>
                  <a:t>-isopropyl acrylamide for bioengineering applications, Prog. Polym. Sci. 32 (2007) 534-595.</a:t>
                </a:r>
              </a:p>
              <a:p>
                <a:pPr lvl="0" indent="-285750" marL="533400">
                  <a:lnSpc>
                    <a:spcPct val="120000"/>
                  </a:lnSpc>
                  <a:buFont typeface="Symbol" pitchFamily="2" charset="2"/>
                  <a:buChar char="6."/>
                  <a:tabLst>
                    <a:tab pos="685800" algn="l"/>
                  </a:tabLst>
                </a:pPr>
                <a:r>
                  <a:rPr lang="en-US" sz="1200" dirty="0">
                    <a:effectLst/>
                  </a:rPr>
                  <a:t>Rzayev ZMO, Beşkardeş O, Boron-containing functional copolymers for bioengineering applications, Collection of Czech. Chem. Commun. 72 (2007) 1591-1630.</a:t>
                </a:r>
              </a:p>
              <a:p>
                <a:pPr lvl="0" indent="-285750" marL="533400">
                  <a:lnSpc>
                    <a:spcPct val="120000"/>
                  </a:lnSpc>
                  <a:buFont typeface="Symbol" pitchFamily="2" charset="2"/>
                  <a:buChar char="7."/>
                  <a:tabLst>
                    <a:tab pos="685800" algn="l"/>
                  </a:tabLst>
                </a:pPr>
                <a:r>
                  <a:rPr lang="en-US" sz="1200" dirty="0">
                    <a:effectLst/>
                  </a:rPr>
                  <a:t>Rzaev ZMO, Complex-radical alternating copolymerization, Prog. Polym. Sci. 25 (2000) 163-217.</a:t>
                </a:r>
              </a:p>
              <a:p>
                <a:pPr lvl="0" indent="-285750" marL="533400">
                  <a:lnSpc>
                    <a:spcPct val="120000"/>
                  </a:lnSpc>
                  <a:buFont typeface="Symbol" pitchFamily="2" charset="2"/>
                  <a:buChar char="8."/>
                  <a:tabLst>
                    <a:tab pos="685800" algn="l"/>
                  </a:tabLst>
                </a:pPr>
                <a:r>
                  <a:rPr lang="en-US" sz="1200" dirty="0">
                    <a:effectLst/>
                  </a:rPr>
                  <a:t>Rzaev ZMO, Salamova U, Complex-radical cyclocopolymerization of allyl- </a:t>
                </a:r>
                <a:r>
                  <a:rPr lang="en-US" sz="1200" dirty="0">
                    <a:effectLst/>
                  </a:rPr>
                  <a:t>​</a:t>
                </a:r>
                <a14:m>
                  <m:oMath>
                    <m:r>
                      <m:rPr>
                        <m:sty m:val="i"/>
                      </m:rPr>
                      <a:rPr lang="en-US" sz="1200" dirty="0">
                        <a:solidFill>
                          <a:srgbClr val="000000"/>
                        </a:solidFill>
                        <a:effectLst/>
                      </a:rPr>
                      <m:t>α</m:t>
                    </m:r>
                  </m:oMath>
                </a14:m>
                <a:r>
                  <a:rPr lang="en-US" sz="1200" dirty="0">
                    <a:effectLst/>
                  </a:rPr>
                  <a:t>-( </a:t>
                </a:r>
                <a:r>
                  <a:rPr lang="en-US" sz="1200" dirty="0">
                    <a:effectLst/>
                  </a:rPr>
                  <a:t>​</a:t>
                </a:r>
                <a14:m>
                  <m:oMath>
                    <m:r>
                      <m:rPr>
                        <m:sty m:val="i"/>
                      </m:rPr>
                      <a:rPr lang="en-US" sz="1200" dirty="0">
                        <a:solidFill>
                          <a:srgbClr val="000000"/>
                        </a:solidFill>
                        <a:effectLst/>
                      </a:rPr>
                      <m:t>N</m:t>
                    </m:r>
                  </m:oMath>
                </a14:m>
                <a:r>
                  <a:rPr lang="en-US" sz="1200" dirty="0">
                    <a:effectLst/>
                  </a:rPr>
                  <a:t>-maleimido)-acetate with styrene and maleic anhydride, Macromol. Chem. Phys. 198 (1997) 2475-2487.</a:t>
                </a:r>
              </a:p>
              <a:p>
                <a:pPr lvl="0" indent="-285750" marL="533400">
                  <a:lnSpc>
                    <a:spcPct val="120000"/>
                  </a:lnSpc>
                  <a:buFont typeface="Symbol" pitchFamily="2" charset="2"/>
                  <a:buChar char="9."/>
                  <a:tabLst>
                    <a:tab pos="685800" algn="l"/>
                  </a:tabLst>
                </a:pPr>
                <a:r>
                  <a:rPr lang="en-US" sz="1200" dirty="0">
                    <a:effectLst/>
                  </a:rPr>
                  <a:t>Rzaev ZMO, Medyakova LV, G. Kibarer G, Akovali G, Complex-radical copolymerization of allyl cinnamate with styrene, Macromolecules 27(1994) 6292-6296.</a:t>
                </a:r>
              </a:p>
              <a:p>
                <a:pPr lvl="0" indent="-285750" marL="533400">
                  <a:lnSpc>
                    <a:spcPct val="120000"/>
                  </a:lnSpc>
                  <a:buFont typeface="Symbol" pitchFamily="2" charset="2"/>
                  <a:buChar char="10."/>
                  <a:tabLst>
                    <a:tab pos="685800" algn="l"/>
                  </a:tabLst>
                </a:pPr>
                <a:r>
                  <a:rPr lang="en-US" sz="1200" dirty="0">
                    <a:effectLst/>
                  </a:rPr>
                  <a:t>Rzaev ZMO, Coordination effect in formation and cross-linking reactions of organotin macromolecules. Topics in Current Chemistry, Springer Velag,104 (1982) 107-136.</a:t>
                </a:r>
              </a:p>
            </p:txBody>
          </p:sp>
        </mc:Choice>
        <mc:Fallback/>
      </mc:AlternateContent>
      <p:sp>
        <p:nvSpPr>
          <p:cNvPr id="2" name="Text"/>
          <p:cNvSpPr/>
          <p:nvPr/>
        </p:nvSpPr>
        <p:spPr>
          <a:xfrm>
            <a:off x="1524000" y="4267200"/>
            <a:ext cx="9144000" cy="1600200"/>
          </a:xfrm>
          <a:prstGeom prst="rect">
            <a:avLst/>
          </a:prstGeom>
        </p:spPr>
        <p:txBody>
          <a:bodyPr anchor="t" lIns="0" tIns="0" rIns="0" bIns="0">
            <a:noAutofit/>
          </a:bodyPr>
          <a:lstStyle/>
          <a:p>
            <a:pPr>
              <a:lnSpc>
                <a:spcPct val="120000"/>
              </a:lnSpc>
            </a:pPr>
            <a:r>
              <a:rPr lang="en-US" sz="1200" dirty="0">
                <a:effectLst/>
              </a:rPr>
              <a:t>Current research profile: Polymer science &amp; Engineering, Polymer nanoscience &amp; nanoenginreering, Functional copolymers for bioengineering and nanoengineering applications, Smart functional polymers, supramacromolecular architectures, Si-, Sn- and B-containing polymers, polymer plasma chemistry and technology, polymer reactive blends-reactive extrusion-nanocomposites. Previous research interests: Complex-radical alternating co(ter)polymerizations (kinetics and mechanism concepts), multifunctional macromolecular engineering, antimicrobial and self-polishing antifouling polymer coating systems, photo-, E-beam and X-ray-sensitive polymer resists, etc. He is Member of ACS (American Chemical Society) and Chemical Enginering Society (TR); Frequent Reviewer of SCI Journals of ACS Publications, Wiley, Elsevier, Springer, etc., 2002 - to date.</a:t>
            </a:r>
          </a:p>
        </p:txBody>
      </p:sp>
      <p:cxnSp>
        <p:nvCxnSpPr>
          <p:cNvPr id="2" name="Straight Connector 1"/>
          <p:cNvCxnSpPr/>
          <p:nvPr/>
        </p:nvCxnSpPr>
        <p:spPr>
          <a:xfrm>
            <a:off x="1524000" y="6019800"/>
            <a:ext cx="9144000" cy="0"/>
          </a:xfrm>
          <a:prstGeom prst="line">
            <a:avLst/>
          </a:prstGeom>
          <a:ln>
            <a:solidFill>
              <a:srgbClr val="1e2029"/>
            </a:solidFill>
          </a:ln>
        </p:spPr>
        <p:style>
          <a:lnRef idx="1">
            <a:schemeClr val="accent1"/>
          </a:lnRef>
          <a:fillRef idx="0">
            <a:schemeClr val="accent1"/>
          </a:fillRef>
          <a:effectRef idx="0">
            <a:schemeClr val="accent1"/>
          </a:effectRef>
          <a:fontRef idx="minor">
            <a:schemeClr val="tx1"/>
          </a:fontRef>
        </p:style>
      </p:cxnSp>
      <p:sp>
        <p:nvSpPr>
          <p:cNvPr id="2" name="Text"/>
          <p:cNvSpPr/>
          <p:nvPr/>
        </p:nvSpPr>
        <p:spPr>
          <a:xfrm>
            <a:off x="1524000" y="6115050"/>
            <a:ext cx="9144000" cy="228600"/>
          </a:xfrm>
          <a:prstGeom prst="rect">
            <a:avLst/>
          </a:prstGeom>
        </p:spPr>
        <p:txBody>
          <a:bodyPr anchor="t" lIns="0" tIns="0" rIns="0" bIns="0">
            <a:noAutofit/>
          </a:bodyPr>
          <a:lstStyle/>
          <a:p>
            <a:pPr lvl="0" indent="-285750" marL="342900">
              <a:lnSpc>
                <a:spcPct val="120000"/>
              </a:lnSpc>
              <a:buFont typeface="Symbol" pitchFamily="2" charset="2"/>
              <a:buChar char=" "/>
              <a:tabLst>
                <a:tab pos="685800" algn="l"/>
              </a:tabLst>
            </a:pPr>
            <a:r>
              <a:rPr lang="en-US" sz="1200" dirty="0">
                <a:effectLst/>
              </a:rPr>
              <a:t>*These values were determined by FTIR method.</a:t>
            </a:r>
          </a:p>
        </p:txBody>
      </p:sp>
    </p:spTree>
  </p:cSld>
  <p:clrMapOvr>
    <a:masterClrMapping/>
  </p:clrMapOvr>
</p:sld>
</file>

<file path=ppt/theme/theme1.xml><?xml version="1.0" encoding="utf-8"?>
<a:theme xmlns:a="http://schemas.openxmlformats.org/drawingml/2006/main" name="Office Theme">
  <a:themeElements>
    <a:clrScheme name="Mathpix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B93ff"/>
      </a:hlink>
      <a:folHlink>
        <a:srgbClr val="0B93ff"/>
      </a:folHlink>
    </a:clrScheme>
    <a:fontScheme name="Office">
      <a:majorFont>
        <a:latin typeface="Georgia" panose="020405020504050203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405020504050203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Widescreen</PresentationFormat>
  <Paragraphs>0</Paragraphs>
  <Slides>207</Slides>
  <Notes>207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Mathpix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mmd-to-pptx</dc:creator>
  <cp:lastModifiedBy>mmd-to-pptx</cp:lastModifiedBy>
  <cp:revision>1</cp:revision>
  <dcterms:created xsi:type="dcterms:W3CDTF">2026-09-14T06:54:37.333Z</dcterms:created>
  <dcterms:modified xsi:type="dcterms:W3CDTF">2026-09-14T06:54:37.333Z</dcterms:modified>
</cp:coreProperties>
</file>