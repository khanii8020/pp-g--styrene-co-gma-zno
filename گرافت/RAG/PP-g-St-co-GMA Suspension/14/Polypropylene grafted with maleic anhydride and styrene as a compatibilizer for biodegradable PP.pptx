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7aa756ffaec4cd27be9b6f9cb81d5baa1200e28.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32d212e57e68fc32cac3c4dc17f45bb1276637.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e3ae3f1c1f38e842d3e1e568058fc3bc6607d57.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2875d4debe882250bdb83aeb872623480d8c5b.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0b608467fbe721d0f8ff72963cc11c5f4ca08de.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ec1de10b1032629f458b6dcbc30360bbfb782d0.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d6a2ae6298207ef863fd3378cc6f2e6a1100118.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a71f14c0d96a308cbf0ddade886c35a45fb3d3.jp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c8591724ff22d182050aeb059b0863004ffe6fd4.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happylisap@hainanu.edu.c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3810000" y="457200"/>
                <a:ext cx="4572000" cy="381000"/>
              </a:xfrm>
              <a:prstGeom prst="rect">
                <a:avLst/>
              </a:prstGeom>
            </p:spPr>
            <p:txBody>
              <a:bodyPr anchor="t" lIns="0" tIns="0" rIns="0" bIns="0">
                <a:noAutofit/>
              </a:bodyPr>
              <a:lstStyle/>
              <a:p>
                <a:pPr algn="ctr" marL="133350">
                  <a:lnSpc>
                    <a:spcPct val="120000"/>
                  </a:lnSpc>
                  <a:spcAft>
                    <a:spcPts val="1200"/>
                  </a:spcAft>
                </a:pPr>
                <a:r>
                  <a:rPr lang="en-US" sz="1200" dirty="0">
                    <a:effectLst/>
                  </a:rPr>
                  <a:t>Zheng Tian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r>
                          <m:rPr>
                            <m:sty m:val="p"/>
                          </m:rPr>
                          <a:rPr lang="en-US" sz="1200" dirty="0">
                            <a:solidFill>
                              <a:srgbClr val="000000"/>
                            </a:solidFill>
                            <a:effectLst/>
                          </a:rPr>
                          <m:t>,</m:t>
                        </m:r>
                        <m:r>
                          <m:rPr>
                            <m:sty m:val="b"/>
                          </m:rPr>
                          <a:rPr lang="en-US" sz="1200" dirty="0">
                            <a:solidFill>
                              <a:srgbClr val="000000"/>
                            </a:solidFill>
                            <a:effectLst/>
                          </a:rPr>
                          <m:t>2</m:t>
                        </m:r>
                      </m:sup>
                    </m:sSup>
                  </m:oMath>
                </a14:m>
                <a:r>
                  <a:rPr lang="en-US" sz="1200" dirty="0">
                    <a:effectLst/>
                  </a:rPr>
                  <a:t>, Lisha Pan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 and Qing Pan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p>
            </p:txBody>
          </p:sp>
        </mc:Choice>
        <mc:Fallback/>
      </mc:AlternateContent>
      <p:sp>
        <p:nvSpPr>
          <p:cNvPr id="2" name="Text"/>
          <p:cNvSpPr/>
          <p:nvPr/>
        </p:nvSpPr>
        <p:spPr>
          <a:xfrm>
            <a:off x="2438400" y="990600"/>
            <a:ext cx="7315200" cy="34004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Polypropylene grafted with maleic anhydride and styrene [PP-g-(MAH-co-St)] was prepared by melt grafting. Fourier transform-infrared spectroscopy showed that maleic anhydride in the form of cyclic anhydride was successfully grafted onto the main chains of polypropylene. PP-g-(MAH-co-St) acts as a compatibilizer for the poly(propylene carbonate)/ polypropylene meltblown nonwoven fabric slices. The effect of different contents and grafting proportions of PP-g-(MAH-co-St) on the structure and performance of the poly(propylene carbonate)/polypropylene slices was investigated. The poly(propylene carbonate)/polypropylene slices had favorable compatibility, tensile properties, thermal stability, and degradability, and their melt flow rates were reduced by the addition of PP-g-(MAH-co-St). Fourier transforminfrared spectroscopy and 'H nuclear magnetic resonance spectroscopy spectra showed that ring-opening reactions occur between the anhydride functional groups of PP-g-(MAH-co-St) and poly(propylene carbonate). Ring-opening reactions, chemical bonds, cocrystallization, increased interface adhesion forces, and reduced interfacial tension may be the mechanisms by which PP-g-(MAH-co-St) acts a compatibilizer for poly(propylene carbonate)/polypropylene slices.</a:t>
            </a:r>
          </a:p>
        </p:txBody>
      </p:sp>
      <p:sp>
        <p:nvSpPr>
          <p:cNvPr id="2" name="Text"/>
          <p:cNvSpPr/>
          <p:nvPr/>
        </p:nvSpPr>
        <p:spPr>
          <a:xfrm>
            <a:off x="1524000" y="4528185"/>
            <a:ext cx="9144000" cy="457200"/>
          </a:xfrm>
          <a:prstGeom prst="rect">
            <a:avLst/>
          </a:prstGeom>
        </p:spPr>
        <p:txBody>
          <a:bodyPr anchor="t" lIns="0" tIns="0" rIns="0" bIns="0">
            <a:noAutofit/>
          </a:bodyPr>
          <a:lstStyle/>
          <a:p>
            <a:pPr>
              <a:lnSpc>
                <a:spcPct val="120000"/>
              </a:lnSpc>
            </a:pPr>
            <a:r>
              <a:rPr lang="en-US" sz="1200" dirty="0">
                <a:effectLst/>
              </a:rPr>
              <a:t>Keywords</a:t>
            </a:r>
            <a:br>
              <a:rPr lang="en-US" sz="1200" dirty="0"/>
            </a:br>
            <a:r>
              <a:rPr lang="en-US" sz="1200" dirty="0">
                <a:effectLst/>
              </a:rPr>
              <a:t> Polypropylene graft, poly(propylene carbonate), polypropylene, biodegradable, compatibilizer</a:t>
            </a:r>
          </a:p>
        </p:txBody>
      </p:sp>
      <p:sp>
        <p:nvSpPr>
          <p:cNvPr id="2" name="Text"/>
          <p:cNvSpPr/>
          <p:nvPr/>
        </p:nvSpPr>
        <p:spPr>
          <a:xfrm>
            <a:off x="1524000" y="5137785"/>
            <a:ext cx="9144000" cy="228600"/>
          </a:xfrm>
          <a:prstGeom prst="rect">
            <a:avLst/>
          </a:prstGeom>
        </p:spPr>
        <p:txBody>
          <a:bodyPr anchor="t" lIns="0" tIns="0" rIns="0" bIns="0">
            <a:noAutofit/>
          </a:bodyPr>
          <a:lstStyle/>
          <a:p>
            <a:pPr>
              <a:lnSpc>
                <a:spcPct val="120000"/>
              </a:lnSpc>
            </a:pPr>
            <a:r>
              <a:rPr lang="en-US" sz="1200" dirty="0">
                <a:effectLst/>
              </a:rPr>
              <a:t>Date received: 21 August 2017; accepted: 17 April 2019</a:t>
            </a:r>
          </a:p>
        </p:txBody>
      </p:sp>
      <p:sp>
        <p:nvSpPr>
          <p:cNvPr id="2" name="Text"/>
          <p:cNvSpPr/>
          <p:nvPr/>
        </p:nvSpPr>
        <p:spPr>
          <a:xfrm>
            <a:off x="1524000" y="55187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600200"/>
              </a:xfrm>
              <a:prstGeom prst="rect">
                <a:avLst/>
              </a:prstGeom>
            </p:spPr>
            <p:txBody>
              <a:bodyPr anchor="t" lIns="0" tIns="0" rIns="0" bIns="0">
                <a:noAutofit/>
              </a:bodyPr>
              <a:lstStyle/>
              <a:p>
                <a:pPr>
                  <a:lnSpc>
                    <a:spcPct val="120000"/>
                  </a:lnSpc>
                </a:pPr>
                <a:r>
                  <a:rPr lang="en-US" sz="1200" dirty="0">
                    <a:effectLst/>
                  </a:rPr>
                  <a:t>Polypropylene (PP), one of the most versatile polymers currently available, is widely used in many fields, such as in automobiles, electronics, packaging, building materials, and fibers, because of its low cost, high thermal stability, stable chemical properties, and water insolubility.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Raw components used for nonwoven materials are composed of about 62% PP fiber. Because PP is not biodegradable, it is not environment friendly. Furthermore, PP is a kind of nonpolar polymer, and it is low compatibility with other polar materials. The most widely used modification method for PP is grafting of polar monomers onto the main chains of PP in the presence of a radical initiator by melt grafting. Several studies have grafted PP with maleic anhydride (MAH).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Chain scission can be prevented and the grafting proportion of MAH on polyolefin can be increased when styrene (St) is used as a comonomer in the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09800"/>
                <a:ext cx="9144000" cy="457200"/>
              </a:xfrm>
              <a:prstGeom prst="rect">
                <a:avLst/>
              </a:prstGeom>
            </p:spPr>
            <p:txBody>
              <a:bodyPr anchor="t" lIns="0" tIns="0" rIns="0" bIns="0">
                <a:noAutofit/>
              </a:bodyPr>
              <a:lstStyle/>
              <a:p>
                <a:pPr>
                  <a:lnSpc>
                    <a:spcPct val="120000"/>
                  </a:lnSpc>
                </a:pPr>
                <a:r>
                  <a:rPr lang="en-US" sz="1200" dirty="0">
                    <a:effectLst/>
                  </a:rPr>
                  <a:t>melt grafting process.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4</m:t>
                        </m:r>
                        <m:r>
                          <m:rPr>
                            <m:sty m:val="p"/>
                          </m:rPr>
                          <a:rPr lang="en-US" sz="1200" dirty="0">
                            <a:solidFill>
                              <a:srgbClr val="000000"/>
                            </a:solidFill>
                            <a:effectLst/>
                          </a:rPr>
                          <m:t>,</m:t>
                        </m:r>
                        <m:r>
                          <m:rPr>
                            <m:sty m:val="p"/>
                          </m:rPr>
                          <a:rPr lang="en-US" sz="1200" dirty="0">
                            <a:solidFill>
                              <a:srgbClr val="000000"/>
                            </a:solidFill>
                            <a:effectLst/>
                          </a:rPr>
                          <m:t>5</m:t>
                        </m:r>
                      </m:sup>
                    </m:sSup>
                  </m:oMath>
                </a14:m>
                <a:r>
                  <a:rPr lang="en-US" sz="1200" dirty="0">
                    <a:effectLst/>
                  </a:rPr>
                  <a:t> PP grafted with MAH and St [PP- </a:t>
                </a:r>
                <a:r>
                  <a:rPr lang="en-US" sz="1200" dirty="0">
                    <a:effectLst/>
                  </a:rPr>
                  <a:t>​</a:t>
                </a:r>
                <a14:m>
                  <m:oMath>
                    <m:r>
                      <m:rPr>
                        <m:sty m:val="i"/>
                      </m:rPr>
                      <a:rPr lang="en-US" sz="1200" dirty="0">
                        <a:solidFill>
                          <a:srgbClr val="000000"/>
                        </a:solidFill>
                        <a:effectLst/>
                      </a:rPr>
                      <m:t>g</m:t>
                    </m:r>
                  </m:oMath>
                </a14:m>
                <a:r>
                  <a:rPr lang="en-US" sz="1200" dirty="0">
                    <a:effectLst/>
                  </a:rPr>
                  <a:t>-(MAH-co-St)] has been comprehensively studied, especially as a compatibilizer for PPs and other polar materials.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6</m:t>
                        </m:r>
                        <m:r>
                          <m:rPr>
                            <m:sty m:val="p"/>
                          </m:rPr>
                          <a:rPr lang="en-US" sz="1200" dirty="0">
                            <a:solidFill>
                              <a:srgbClr val="000000"/>
                            </a:solidFill>
                            <a:effectLst/>
                          </a:rPr>
                          <m:t>,</m:t>
                        </m:r>
                        <m:r>
                          <m:rPr>
                            <m:sty m:val="p"/>
                          </m:rPr>
                          <a:rPr lang="en-US" sz="1200" dirty="0">
                            <a:solidFill>
                              <a:srgbClr val="000000"/>
                            </a:solidFill>
                            <a:effectLst/>
                          </a:rPr>
                          <m:t>7</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19400"/>
                <a:ext cx="9144000" cy="1143000"/>
              </a:xfrm>
              <a:prstGeom prst="rect">
                <a:avLst/>
              </a:prstGeom>
            </p:spPr>
            <p:txBody>
              <a:bodyPr anchor="t" lIns="0" tIns="0" rIns="0" bIns="0">
                <a:noAutofit/>
              </a:bodyPr>
              <a:lstStyle/>
              <a:p>
                <a:pPr>
                  <a:lnSpc>
                    <a:spcPct val="120000"/>
                  </a:lnSpc>
                </a:pPr>
                <a:r>
                  <a:rPr lang="en-US" sz="1200" dirty="0">
                    <a:effectLst/>
                  </a:rPr>
                  <a:t>Poly(propylene carbonate) (PPC) is one of the most environment-friendly aliphatic polymers industrialized for production.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10</m:t>
                        </m:r>
                      </m:sup>
                    </m:sSup>
                  </m:oMath>
                </a14:m>
                <a:r>
                  <a:rPr lang="en-US" sz="1200" dirty="0">
                    <a:effectLst/>
                  </a:rPr>
                  <a:t> It is used as a one-off packing material, one-off dishware, board material, and so on, because of its water insolubility, biodegradability, and flexibility.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11</m:t>
                        </m:r>
                      </m:sup>
                    </m:sSup>
                  </m:oMath>
                </a14:m>
                <a:r>
                  <a:rPr lang="en-US" sz="1200" dirty="0">
                    <a:effectLst/>
                  </a:rPr>
                  <a:t> Composite materials with favorable properties can be obtained when PPC is blended with other polymers, such as poly (ethylene-co-vinyl alcohol),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12</m:t>
                        </m:r>
                      </m:sup>
                    </m:sSup>
                  </m:oMath>
                </a14:m>
                <a:r>
                  <a:rPr lang="en-US" sz="1200" dirty="0">
                    <a:effectLst/>
                  </a:rPr>
                  <a:t> poly( </a:t>
                </a:r>
                <a:r>
                  <a:rPr lang="en-US" sz="1200" dirty="0">
                    <a:effectLst/>
                  </a:rPr>
                  <a:t>​</a:t>
                </a:r>
                <a14:m>
                  <m:oMath>
                    <m:r>
                      <m:rPr>
                        <m:sty m:val="i"/>
                      </m:rPr>
                      <a:rPr lang="en-US" sz="1200" dirty="0">
                        <a:solidFill>
                          <a:srgbClr val="000000"/>
                        </a:solidFill>
                        <a:effectLst/>
                      </a:rPr>
                      <m:t>β</m:t>
                    </m:r>
                  </m:oMath>
                </a14:m>
                <a:r>
                  <a:rPr lang="en-US" sz="1200" dirty="0">
                    <a:effectLst/>
                  </a:rPr>
                  <a:t> hydroxybutyrate-co-β-hydroxyvalerate),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13</m:t>
                        </m:r>
                      </m:sup>
                    </m:sSup>
                  </m:oMath>
                </a14:m>
                <a:r>
                  <a:rPr lang="en-US" sz="1200" dirty="0">
                    <a:effectLst/>
                  </a:rPr>
                  <a:t> natural rubber elastomer,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14</m:t>
                        </m:r>
                      </m:sup>
                    </m:sSup>
                  </m:oMath>
                </a14:m>
                <a:r>
                  <a:rPr lang="en-US" sz="1200" dirty="0">
                    <a:effectLst/>
                  </a:rPr>
                  <a:t> and poly(lactic acid) (PLA).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15</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14800"/>
                <a:ext cx="9144000" cy="685800"/>
              </a:xfrm>
              <a:prstGeom prst="rect">
                <a:avLst/>
              </a:prstGeom>
            </p:spPr>
            <p:txBody>
              <a:bodyPr anchor="t" lIns="0" tIns="0" rIns="0" bIns="0">
                <a:noAutofit/>
              </a:bodyPr>
              <a:lstStyle/>
              <a:p>
                <a:pPr>
                  <a:lnSpc>
                    <a:spcPct val="120000"/>
                  </a:lnSpc>
                </a:pPr>
                <a:r>
                  <a:rPr lang="en-US" sz="1200" dirty="0">
                    <a:effectLst/>
                  </a:rPr>
                  <a:t>Recent studies have discussed the preparation of composite fiber materials with high spinnability, high strength, controllable conduction, heat conduction, antistatic, and biodegradation properties by blending PP with PLA.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16</m:t>
                        </m:r>
                        <m:r>
                          <m:rPr>
                            <m:sty m:val="p"/>
                          </m:rPr>
                          <a:rPr lang="en-US" sz="1200" dirty="0">
                            <a:solidFill>
                              <a:srgbClr val="000000"/>
                            </a:solidFill>
                            <a:effectLst/>
                          </a:rPr>
                          <m:t>−</m:t>
                        </m:r>
                        <m:r>
                          <m:rPr>
                            <m:sty m:val="p"/>
                          </m:rPr>
                          <a:rPr lang="en-US" sz="1200" dirty="0">
                            <a:solidFill>
                              <a:srgbClr val="000000"/>
                            </a:solidFill>
                            <a:effectLst/>
                          </a:rPr>
                          <m:t>18</m:t>
                        </m:r>
                      </m:sup>
                    </m:sSup>
                  </m:oMath>
                </a14:m>
                <a:r>
                  <a:rPr lang="en-US" sz="1200" dirty="0">
                    <a:effectLst/>
                  </a:rPr>
                  <a:t> However, the preparation of biodegradable meltblown nonwoven materials by melt blending of PP with PPC is rarely reported.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953000"/>
                <a:ext cx="9144000" cy="1371600"/>
              </a:xfrm>
              <a:prstGeom prst="rect">
                <a:avLst/>
              </a:prstGeom>
            </p:spPr>
            <p:txBody>
              <a:bodyPr anchor="t" lIns="0" tIns="0" rIns="0" bIns="0">
                <a:noAutofit/>
              </a:bodyPr>
              <a:lstStyle/>
              <a:p>
                <a:pPr>
                  <a:lnSpc>
                    <a:spcPct val="120000"/>
                  </a:lnSpc>
                </a:pPr>
                <a:r>
                  <a:rPr lang="en-US" sz="1200" dirty="0">
                    <a:effectLst/>
                  </a:rPr>
                  <a:t>Meltblown nonwoven materials are used widely in health and industrial applications.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19</m:t>
                        </m:r>
                      </m:sup>
                    </m:sSup>
                  </m:oMath>
                </a14:m>
                <a:r>
                  <a:rPr lang="en-US" sz="1200" dirty="0">
                    <a:effectLst/>
                  </a:rPr>
                  <a:t> The development of biodegradable meltblown nonwoven materials is very important because many nonwoven materials are nonbiodegradable. The compatibility between PPC and PP is poor because of the different polarities of the polymers. This study prepared biodegradable PPC/PP meltblown nonwoven fabric slices by melt blending and varying the raw material rates to produce PP- </a:t>
                </a:r>
                <a:r>
                  <a:rPr lang="en-US" sz="1200" dirty="0">
                    <a:effectLst/>
                  </a:rPr>
                  <a:t>​</a:t>
                </a:r>
                <a14:m>
                  <m:oMath>
                    <m:r>
                      <m:rPr>
                        <m:sty m:val="i"/>
                      </m:rPr>
                      <a:rPr lang="en-US" sz="1200" dirty="0">
                        <a:solidFill>
                          <a:srgbClr val="000000"/>
                        </a:solidFill>
                        <a:effectLst/>
                      </a:rPr>
                      <m:t>g</m:t>
                    </m:r>
                  </m:oMath>
                </a14:m>
                <a:r>
                  <a:rPr lang="en-US" sz="1200" dirty="0">
                    <a:effectLst/>
                  </a:rPr>
                  <a:t>-(MAH-co-St) with different grafting proportions as a compatibilizer for PPC/PP slices. The effect of the contents and grafting proportions of PP- </a:t>
                </a:r>
                <a:r>
                  <a:rPr lang="en-US" sz="1200" dirty="0">
                    <a:effectLst/>
                  </a:rPr>
                  <a:t>​</a:t>
                </a:r>
                <a14:m>
                  <m:oMath>
                    <m:r>
                      <m:rPr>
                        <m:sty m:val="i"/>
                      </m:rPr>
                      <a:rPr lang="en-US" sz="1200" dirty="0">
                        <a:solidFill>
                          <a:srgbClr val="000000"/>
                        </a:solidFill>
                        <a:effectLst/>
                      </a:rPr>
                      <m:t>g</m:t>
                    </m:r>
                  </m:oMath>
                </a14:m>
                <a:r>
                  <a:rPr lang="en-US" sz="1200" dirty="0">
                    <a:effectLst/>
                  </a:rPr>
                  <a:t>-(MAH-co-St) on the compatibility, tensile, melt flow rate (MFR), thermal, and degradation properties of PPC/PP meltblown nonwoven fabric slices was also investigated.</a:t>
                </a:r>
              </a:p>
            </p:txBody>
          </p:sp>
        </mc:Choice>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Experimental</a:t>
            </a:r>
          </a:p>
        </p:txBody>
      </p:sp>
      <p:sp>
        <p:nvSpPr>
          <p:cNvPr id="2" name="Text"/>
          <p:cNvSpPr/>
          <p:nvPr/>
        </p:nvSpPr>
        <p:spPr>
          <a:xfrm>
            <a:off x="1524000" y="989839"/>
            <a:ext cx="9144000" cy="342900"/>
          </a:xfrm>
          <a:prstGeom prst="rect">
            <a:avLst/>
          </a:prstGeom>
        </p:spPr>
        <p:txBody>
          <a:bodyPr anchor="t" lIns="0" tIns="0" rIns="0" bIns="0">
            <a:noAutofit/>
          </a:bodyPr>
          <a:lstStyle/>
          <a:p>
            <a:pPr>
              <a:lnSpc>
                <a:spcPct val="120000"/>
              </a:lnSpc>
            </a:pPr>
            <a:r>
              <a:rPr lang="en-US" sz="1800" dirty="0" b="1">
                <a:effectLst/>
              </a:rPr>
              <a:t>Materials</a:t>
            </a:r>
          </a:p>
        </p:txBody>
      </p:sp>
      <mc:AlternateContent xmlns:mc="http://schemas.openxmlformats.org/markup-compatibility/2006">
        <mc:Choice xmlns:a14="http://schemas.microsoft.com/office/drawing/2010/main" Requires="a14">
          <p:sp>
            <p:nvSpPr>
              <p:cNvPr id="2" name="Text"/>
              <p:cNvSpPr/>
              <p:nvPr/>
            </p:nvSpPr>
            <p:spPr>
              <a:xfrm>
                <a:off x="1524000" y="1522478"/>
                <a:ext cx="9144000" cy="1371600"/>
              </a:xfrm>
              <a:prstGeom prst="rect">
                <a:avLst/>
              </a:prstGeom>
            </p:spPr>
            <p:txBody>
              <a:bodyPr anchor="t" lIns="0" tIns="0" rIns="0" bIns="0">
                <a:noAutofit/>
              </a:bodyPr>
              <a:lstStyle/>
              <a:p>
                <a:pPr>
                  <a:lnSpc>
                    <a:spcPct val="120000"/>
                  </a:lnSpc>
                </a:pPr>
                <a:r>
                  <a:rPr lang="en-US" sz="1200" dirty="0">
                    <a:effectLst/>
                  </a:rPr>
                  <a:t>Two kinds of PP were used in this study. Granular PP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MFR</m:t>
                        </m:r>
                        <m:r>
                          <m:rPr>
                            <m:sty m:val="p"/>
                          </m:rPr>
                          <a:rPr lang="en-US" sz="1200" dirty="0">
                            <a:solidFill>
                              <a:srgbClr val="000000"/>
                            </a:solidFill>
                            <a:effectLst/>
                          </a:rPr>
                          <m:t>=</m:t>
                        </m:r>
                        <m:r>
                          <m:rPr>
                            <m:sty m:val="p"/>
                          </m:rPr>
                          <a:rPr lang="en-US" sz="1200" dirty="0">
                            <a:solidFill>
                              <a:srgbClr val="000000"/>
                            </a:solidFill>
                            <a:effectLst/>
                          </a:rPr>
                          <m:t>4</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min</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2160</m:t>
                        </m:r>
                        <m:r>
                          <m:rPr>
                            <m:sty m:val="p"/>
                          </m:rPr>
                          <a:rPr lang="en-US" sz="1200" dirty="0">
                            <a:solidFill>
                              <a:srgbClr val="000000"/>
                            </a:solidFill>
                            <a:effectLst/>
                          </a:rPr>
                          <m:t xml:space="preserve"> </m:t>
                        </m:r>
                        <m:r>
                          <m:rPr>
                            <m:sty m:val="p"/>
                          </m:rPr>
                          <a:rPr lang="en-US" sz="1200" dirty="0">
                            <a:solidFill>
                              <a:srgbClr val="000000"/>
                            </a:solidFill>
                            <a:effectLst/>
                          </a:rPr>
                          <m:t>g</m:t>
                        </m:r>
                      </m:e>
                    </m:d>
                  </m:oMath>
                </a14:m>
                <a:r>
                  <a:rPr lang="en-US" sz="1200" dirty="0">
                    <a:effectLst/>
                  </a:rPr>
                  <a:t> used for the preparation of PP- </a:t>
                </a:r>
                <a:r>
                  <a:rPr lang="en-US" sz="1200" dirty="0">
                    <a:effectLst/>
                  </a:rPr>
                  <a:t>​</a:t>
                </a:r>
                <a14:m>
                  <m:oMath>
                    <m:r>
                      <m:rPr>
                        <m:sty m:val="i"/>
                      </m:rPr>
                      <a:rPr lang="en-US" sz="1200" dirty="0">
                        <a:solidFill>
                          <a:srgbClr val="000000"/>
                        </a:solidFill>
                        <a:effectLst/>
                      </a:rPr>
                      <m:t>g</m:t>
                    </m:r>
                  </m:oMath>
                </a14:m>
                <a:r>
                  <a:rPr lang="en-US" sz="1200" dirty="0">
                    <a:effectLst/>
                  </a:rPr>
                  <a:t>-(MAH-co-St) was provided by Sinopec Yangzi Petrochemical Company Ltd (Nanjing, Jiangsu, China). PP with lower viscosity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MFR</m:t>
                    </m:r>
                    <m:r>
                      <m:rPr>
                        <m:sty m:val="p"/>
                      </m:rPr>
                      <a:rPr lang="en-US" sz="1200" dirty="0">
                        <a:solidFill>
                          <a:srgbClr val="000000"/>
                        </a:solidFill>
                        <a:effectLst/>
                      </a:rPr>
                      <m:t>=</m:t>
                    </m:r>
                    <m:r>
                      <m:rPr>
                        <m:sty m:val="p"/>
                      </m:rPr>
                      <a:rPr lang="en-US" sz="1200" dirty="0">
                        <a:solidFill>
                          <a:srgbClr val="000000"/>
                        </a:solidFill>
                        <a:effectLst/>
                      </a:rPr>
                      <m:t>1243</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10</m:t>
                    </m:r>
                  </m:oMath>
                </a14:m>
                <a:r>
                  <a:rPr lang="en-US" sz="1200" dirty="0">
                    <a:effectLst/>
                  </a:rPr>
                  <a:t> </a:t>
                </a:r>
                <a:r>
                  <a:rPr lang="en-US" sz="1200" dirty="0">
                    <a:effectLst/>
                  </a:rPr>
                  <a:t>​</a:t>
                </a:r>
                <a14:m>
                  <m:oMath>
                    <m:r>
                      <m:rPr>
                        <m:sty m:val="p"/>
                      </m:rPr>
                      <a:rPr lang="en-US" sz="1200" dirty="0">
                        <a:solidFill>
                          <a:srgbClr val="000000"/>
                        </a:solidFill>
                        <a:effectLst/>
                      </a:rPr>
                      <m:t>min</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2160</m:t>
                    </m:r>
                    <m:r>
                      <m:rPr>
                        <m:sty m:val="p"/>
                      </m:rPr>
                      <a:rPr lang="en-US" sz="1200" dirty="0">
                        <a:solidFill>
                          <a:srgbClr val="000000"/>
                        </a:solidFill>
                        <a:effectLst/>
                      </a:rPr>
                      <m:t xml:space="preserve"> </m:t>
                    </m:r>
                    <m:r>
                      <m:rPr>
                        <m:sty m:val="p"/>
                      </m:rPr>
                      <a:rPr lang="en-US" sz="1200" dirty="0">
                        <a:solidFill>
                          <a:srgbClr val="000000"/>
                        </a:solidFill>
                        <a:effectLst/>
                      </a:rPr>
                      <m:t>g</m:t>
                    </m:r>
                  </m:oMath>
                </a14:m>
                <a:r>
                  <a:rPr lang="en-US" sz="1200" dirty="0">
                    <a:effectLst/>
                  </a:rPr>
                  <a:t> ) used for the preparation of PPC/PP slices was provided by Hainan Xinlong Nonwoven Company Ltd., China. PPC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r>
                          <m:rPr>
                            <m:sty m:val="p"/>
                          </m:rPr>
                          <a:rPr lang="en-US" sz="1200" dirty="0">
                            <a:solidFill>
                              <a:srgbClr val="000000"/>
                            </a:solidFill>
                            <a:effectLst/>
                          </a:rPr>
                          <m:t>1.31</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5</m:t>
                            </m:r>
                          </m:sup>
                        </m:sSup>
                      </m:e>
                    </m:d>
                  </m:oMath>
                </a14:m>
                <a:r>
                  <a:rPr lang="en-US" sz="1200" dirty="0">
                    <a:effectLst/>
                  </a:rPr>
                  <a:t> was provided by Inner Mongolia Mengxi High-New Material Company Ltd., China. MAH was purchased from Shanghai Crystal Pure Company Ltd., China. St, dicumyl peroxide (DCP), dimethyl benzene, acetone, sodium hydroxide, alcohol, acetic acid, and phenolphthalein were purchased from Tianjin Fuchen Chemical Reagents Factory, China.</a:t>
                </a:r>
              </a:p>
            </p:txBody>
          </p:sp>
        </mc:Choice>
        <mc:Fallback/>
      </mc:AlternateContent>
      <p:sp>
        <p:nvSpPr>
          <p:cNvPr id="2" name="Text"/>
          <p:cNvSpPr/>
          <p:nvPr/>
        </p:nvSpPr>
        <p:spPr>
          <a:xfrm>
            <a:off x="1524000" y="3046478"/>
            <a:ext cx="9144000" cy="342900"/>
          </a:xfrm>
          <a:prstGeom prst="rect">
            <a:avLst/>
          </a:prstGeom>
        </p:spPr>
        <p:txBody>
          <a:bodyPr anchor="t" lIns="0" tIns="0" rIns="0" bIns="0">
            <a:noAutofit/>
          </a:bodyPr>
          <a:lstStyle/>
          <a:p>
            <a:pPr>
              <a:lnSpc>
                <a:spcPct val="120000"/>
              </a:lnSpc>
            </a:pPr>
            <a:r>
              <a:rPr lang="en-US" sz="1800" dirty="0" b="1">
                <a:effectLst/>
              </a:rPr>
              <a:t>Preparation of compatibilizers</a:t>
            </a:r>
          </a:p>
        </p:txBody>
      </p:sp>
      <mc:AlternateContent xmlns:mc="http://schemas.openxmlformats.org/markup-compatibility/2006">
        <mc:Choice xmlns:a14="http://schemas.microsoft.com/office/drawing/2010/main" Requires="a14">
          <p:sp>
            <p:nvSpPr>
              <p:cNvPr id="2" name="Text"/>
              <p:cNvSpPr/>
              <p:nvPr/>
            </p:nvSpPr>
            <p:spPr>
              <a:xfrm>
                <a:off x="1524000" y="3579117"/>
                <a:ext cx="9144000" cy="1143000"/>
              </a:xfrm>
              <a:prstGeom prst="rect">
                <a:avLst/>
              </a:prstGeom>
            </p:spPr>
            <p:txBody>
              <a:bodyPr anchor="t" lIns="0" tIns="0" rIns="0" bIns="0">
                <a:noAutofit/>
              </a:bodyPr>
              <a:lstStyle/>
              <a:p>
                <a:pPr>
                  <a:lnSpc>
                    <a:spcPct val="120000"/>
                  </a:lnSpc>
                </a:pPr>
                <a:r>
                  <a:rPr lang="en-US" sz="1200" dirty="0">
                    <a:effectLst/>
                  </a:rPr>
                  <a:t>Preparation of compatibilizers was carried out in an XS-60 blending machine (Shanghai Kechuang Rubber and Plastic Mechanical Equipment Company Ltd., China) with a blending rate of 40 r/min at 180°C for 3 min. Granular PP was mixed with MAH as a polar monomer, St as a comonomer, and DCP as an initiator in a sealed plastic bag. The mixture was then placed into the blending machine for immediate compounding. The code PP- </a:t>
                </a:r>
                <a:r>
                  <a:rPr lang="en-US" sz="1200" dirty="0">
                    <a:effectLst/>
                  </a:rPr>
                  <a:t>​</a:t>
                </a:r>
                <a14:m>
                  <m:oMath>
                    <m:r>
                      <m:rPr>
                        <m:sty m:val="i"/>
                      </m:rPr>
                      <a:rPr lang="en-US" sz="1200" dirty="0">
                        <a:solidFill>
                          <a:srgbClr val="000000"/>
                        </a:solidFill>
                        <a:effectLst/>
                      </a:rPr>
                      <m:t>g</m:t>
                    </m:r>
                  </m:oMath>
                </a14:m>
                <a:r>
                  <a:rPr lang="en-US" sz="1200" dirty="0">
                    <a:effectLst/>
                  </a:rPr>
                  <a:t>-(MAH-co-St) (100/6/6/0.4) represents the compatibilizer prepared from a mixture of 100.0 g of PP, 6.0 g of MAH, 6.0 g of St, and 0.4 g of DCP.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74517"/>
                <a:ext cx="9144000" cy="685800"/>
              </a:xfrm>
              <a:prstGeom prst="rect">
                <a:avLst/>
              </a:prstGeom>
            </p:spPr>
            <p:txBody>
              <a:bodyPr anchor="t" lIns="0" tIns="0" rIns="0" bIns="0">
                <a:noAutofit/>
              </a:bodyPr>
              <a:lstStyle/>
              <a:p>
                <a:pPr>
                  <a:lnSpc>
                    <a:spcPct val="120000"/>
                  </a:lnSpc>
                </a:pPr>
                <a:r>
                  <a:rPr lang="en-US" sz="1200" dirty="0">
                    <a:effectLst/>
                  </a:rPr>
                  <a:t>After melt grafting, PP- </a:t>
                </a:r>
                <a:r>
                  <a:rPr lang="en-US" sz="1200" dirty="0">
                    <a:effectLst/>
                  </a:rPr>
                  <a:t>​</a:t>
                </a:r>
                <a14:m>
                  <m:oMath>
                    <m:r>
                      <m:rPr>
                        <m:sty m:val="i"/>
                      </m:rPr>
                      <a:rPr lang="en-US" sz="1200" dirty="0">
                        <a:solidFill>
                          <a:srgbClr val="000000"/>
                        </a:solidFill>
                        <a:effectLst/>
                      </a:rPr>
                      <m:t>g</m:t>
                    </m:r>
                  </m:oMath>
                </a14:m>
                <a:r>
                  <a:rPr lang="en-US" sz="1200" dirty="0">
                    <a:effectLst/>
                  </a:rPr>
                  <a:t>-(MAH-co-St) was dissolved in dimethyl benzene by heat refluxing and precipitated in acetone to remove the unreacted MAH and St and polystyrene and poly(styrene-co-maleic anhydride) (SMA) that had formed during melt grafting.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precipitates were then filtered and dried at 50°C in a vacuum oven for 6 h.</a:t>
                </a:r>
              </a:p>
            </p:txBody>
          </p:sp>
        </mc:Choice>
        <mc:Fallback/>
      </mc:AlternateContent>
      <p:sp>
        <p:nvSpPr>
          <p:cNvPr id="2" name="Text"/>
          <p:cNvSpPr/>
          <p:nvPr/>
        </p:nvSpPr>
        <p:spPr>
          <a:xfrm>
            <a:off x="1524000" y="5712717"/>
            <a:ext cx="9144000" cy="342900"/>
          </a:xfrm>
          <a:prstGeom prst="rect">
            <a:avLst/>
          </a:prstGeom>
        </p:spPr>
        <p:txBody>
          <a:bodyPr anchor="t" lIns="0" tIns="0" rIns="0" bIns="0">
            <a:noAutofit/>
          </a:bodyPr>
          <a:lstStyle/>
          <a:p>
            <a:pPr>
              <a:lnSpc>
                <a:spcPct val="120000"/>
              </a:lnSpc>
            </a:pPr>
            <a:r>
              <a:rPr lang="en-US" sz="1800" dirty="0" b="1">
                <a:effectLst/>
              </a:rPr>
              <a:t>Preparation of PPC/PP slices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Prior to blending, PPC, PP, and PP- </a:t>
                </a:r>
                <a:r>
                  <a:rPr lang="en-US" sz="1200" dirty="0">
                    <a:effectLst/>
                  </a:rPr>
                  <a:t>​</a:t>
                </a:r>
                <a14:m>
                  <m:oMath>
                    <m:r>
                      <m:rPr>
                        <m:sty m:val="i"/>
                      </m:rPr>
                      <a:rPr lang="en-US" sz="1200" dirty="0">
                        <a:solidFill>
                          <a:srgbClr val="000000"/>
                        </a:solidFill>
                        <a:effectLst/>
                      </a:rPr>
                      <m:t>g</m:t>
                    </m:r>
                  </m:oMath>
                </a14:m>
                <a:r>
                  <a:rPr lang="en-US" sz="1200" dirty="0">
                    <a:effectLst/>
                  </a:rPr>
                  <a:t>-(MAH-co-St) were dried in a vacuum oven at 50°C for more than 12 h until constant weights were achieved. PPC and PP at a ratio of 80/20 (w/w) and predetermined amounts of PP- </a:t>
                </a:r>
                <a:r>
                  <a:rPr lang="en-US" sz="1200" dirty="0">
                    <a:effectLst/>
                  </a:rPr>
                  <a:t>​</a:t>
                </a:r>
                <a14:m>
                  <m:oMath>
                    <m:r>
                      <m:rPr>
                        <m:sty m:val="i"/>
                      </m:rPr>
                      <a:rPr lang="en-US" sz="1200" dirty="0">
                        <a:solidFill>
                          <a:srgbClr val="000000"/>
                        </a:solidFill>
                        <a:effectLst/>
                      </a:rPr>
                      <m:t>g</m:t>
                    </m:r>
                  </m:oMath>
                </a14:m>
                <a:r>
                  <a:rPr lang="en-US" sz="1200" dirty="0">
                    <a:effectLst/>
                  </a:rPr>
                  <a:t>-(MAHco-St) were mixed well using an XS-60 blending machine (mixer: LH60, shape of the rotor: roller, chamber capacity: 60 mL , highest heating temperature: 350°C, maximum working torque: 80 N m, and pressure of pressing block to material: </a:t>
                </a:r>
                <a:r>
                  <a:rPr lang="en-US" sz="1200" dirty="0">
                    <a:effectLst/>
                  </a:rPr>
                  <a:t>​</a:t>
                </a:r>
                <a14:m>
                  <m:oMath>
                    <m:r>
                      <m:rPr>
                        <m:sty m:val="p"/>
                      </m:rPr>
                      <a:rPr lang="en-US" sz="1200" dirty="0">
                        <a:solidFill>
                          <a:srgbClr val="000000"/>
                        </a:solidFill>
                        <a:effectLst/>
                      </a:rPr>
                      <m:t>6.44</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4</m:t>
                        </m:r>
                      </m:sup>
                    </m:sSup>
                    <m:r>
                      <m:rPr>
                        <m:sty m:val="p"/>
                      </m:rPr>
                      <a:rPr lang="en-US" sz="1200" dirty="0">
                        <a:solidFill>
                          <a:srgbClr val="000000"/>
                        </a:solidFill>
                        <a:effectLst/>
                      </a:rPr>
                      <m:t xml:space="preserve"> </m:t>
                    </m:r>
                    <m:r>
                      <m:rPr>
                        <m:sty m:val="p"/>
                      </m:rPr>
                      <a:rPr lang="en-US" sz="1200" dirty="0">
                        <a:solidFill>
                          <a:srgbClr val="000000"/>
                        </a:solidFill>
                        <a:effectLst/>
                      </a:rPr>
                      <m:t>Pa</m:t>
                    </m:r>
                  </m:oMath>
                </a14:m>
                <a:r>
                  <a:rPr lang="en-US" sz="1200" dirty="0">
                    <a:effectLst/>
                  </a:rPr>
                  <a:t> ) with a blending rate of 35 r/min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175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for 5 min . The blends were then shaped by an LSJ20 extruder (Shanghai Kechuang Rubber and Plastic Mechanical Equipment Company Ltd., screw diameter: 20 mm, screw ratio(L/D): 25, highest heating temperature: 350°C, and maximum working torque: 120 N m) with a blending rate of 25 r/min at 100, 170, 175,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for zones 1, 2, 3, and 4, respectively, and a three-roller compressor machine (Shanghai Kechuang Rubber and Plastic Mechanical Equipment Company Ltd.) with a shear rate of 60 r/min. The code PPC/PP- </a:t>
                </a:r>
                <a:r>
                  <a:rPr lang="en-US" sz="1200" dirty="0">
                    <a:effectLst/>
                  </a:rPr>
                  <a:t>​</a:t>
                </a:r>
                <a14:m>
                  <m:oMath>
                    <m:r>
                      <m:rPr>
                        <m:sty m:val="i"/>
                      </m:rPr>
                      <a:rPr lang="en-US" sz="1200" dirty="0">
                        <a:solidFill>
                          <a:srgbClr val="000000"/>
                        </a:solidFill>
                        <a:effectLst/>
                      </a:rPr>
                      <m:t>g</m:t>
                    </m:r>
                  </m:oMath>
                </a14:m>
                <a:r>
                  <a:rPr lang="en-US" sz="1200" dirty="0">
                    <a:effectLst/>
                  </a:rPr>
                  <a:t>-(MAH-co-St)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e>
                    </m:d>
                  </m:oMath>
                </a14:m>
                <a:r>
                  <a:rPr lang="en-US" sz="1200" dirty="0">
                    <a:effectLst/>
                  </a:rPr>
                  <a:t> 1.51%)/PP (80/2/20) represents a PP- </a:t>
                </a:r>
                <a:r>
                  <a:rPr lang="en-US" sz="1200" dirty="0">
                    <a:effectLst/>
                  </a:rPr>
                  <a:t>​</a:t>
                </a:r>
                <a14:m>
                  <m:oMath>
                    <m:r>
                      <m:rPr>
                        <m:sty m:val="i"/>
                      </m:rPr>
                      <a:rPr lang="en-US" sz="1200" dirty="0">
                        <a:solidFill>
                          <a:srgbClr val="000000"/>
                        </a:solidFill>
                        <a:effectLst/>
                      </a:rPr>
                      <m:t>g</m:t>
                    </m:r>
                  </m:oMath>
                </a14:m>
                <a:r>
                  <a:rPr lang="en-US" sz="1200" dirty="0">
                    <a:effectLst/>
                  </a:rPr>
                  <a:t>-(MAH-co-St) grafting proportion of </a:t>
                </a:r>
                <a:r>
                  <a:rPr lang="en-US" sz="1200" dirty="0">
                    <a:effectLst/>
                  </a:rPr>
                  <a:t>​</a:t>
                </a:r>
                <a14:m>
                  <m:oMath>
                    <m:r>
                      <m:rPr>
                        <m:sty m:val="p"/>
                      </m:rPr>
                      <a:rPr lang="en-US" sz="1200" dirty="0">
                        <a:solidFill>
                          <a:srgbClr val="000000"/>
                        </a:solidFill>
                        <a:effectLst/>
                      </a:rPr>
                      <m:t>1.51</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content of 2% of the sum of the weights of PPC and PP, and PPC and PP weight ratio of 80/20 (w/w).</a:t>
                </a:r>
              </a:p>
            </p:txBody>
          </p:sp>
        </mc:Choice>
        <mc:Fallback/>
      </mc:AlternateContent>
      <p:sp>
        <p:nvSpPr>
          <p:cNvPr id="2" name="Text"/>
          <p:cNvSpPr/>
          <p:nvPr/>
        </p:nvSpPr>
        <p:spPr>
          <a:xfrm>
            <a:off x="1524000" y="3124200"/>
            <a:ext cx="9144000" cy="342900"/>
          </a:xfrm>
          <a:prstGeom prst="rect">
            <a:avLst/>
          </a:prstGeom>
        </p:spPr>
        <p:txBody>
          <a:bodyPr anchor="t" lIns="0" tIns="0" rIns="0" bIns="0">
            <a:noAutofit/>
          </a:bodyPr>
          <a:lstStyle/>
          <a:p>
            <a:pPr>
              <a:lnSpc>
                <a:spcPct val="120000"/>
              </a:lnSpc>
            </a:pPr>
            <a:r>
              <a:rPr lang="en-US" sz="1800" dirty="0" b="1">
                <a:effectLst/>
              </a:rPr>
              <a:t>Analysis of the properties of PPC/PP slices</a:t>
            </a:r>
          </a:p>
        </p:txBody>
      </p:sp>
      <p:sp>
        <p:nvSpPr>
          <p:cNvPr id="2" name="Text"/>
          <p:cNvSpPr/>
          <p:nvPr/>
        </p:nvSpPr>
        <p:spPr>
          <a:xfrm>
            <a:off x="1524000" y="3656839"/>
            <a:ext cx="9144000" cy="685800"/>
          </a:xfrm>
          <a:prstGeom prst="rect">
            <a:avLst/>
          </a:prstGeom>
        </p:spPr>
        <p:txBody>
          <a:bodyPr anchor="t" lIns="0" tIns="0" rIns="0" bIns="0">
            <a:noAutofit/>
          </a:bodyPr>
          <a:lstStyle/>
          <a:p>
            <a:pPr>
              <a:lnSpc>
                <a:spcPct val="120000"/>
              </a:lnSpc>
            </a:pPr>
            <a:r>
              <a:rPr lang="en-US" sz="1200" dirty="0">
                <a:effectLst/>
              </a:rPr>
              <a:t>Grafting proportion measurement. The grafting proportion of MAH was determined by the back titration method. Briefly, 0.5 g of pure PP-g-(MAH-co-St) was dissolved in dimethyl benzene by heat refluxing at 120°C for 1 h. After the compound had dissolved completely, 20 mL of 0.05 mol/L sodium hydroxide/alcohol standard solution was added to the mixture by heat refluxing at 100°C for</a:t>
            </a:r>
          </a:p>
        </p:txBody>
      </p:sp>
      <mc:AlternateContent xmlns:mc="http://schemas.openxmlformats.org/markup-compatibility/2006">
        <mc:Choice xmlns:a14="http://schemas.microsoft.com/office/drawing/2010/main" Requires="a14">
          <p:sp>
            <p:nvSpPr>
              <p:cNvPr id="2" name="Text"/>
              <p:cNvSpPr/>
              <p:nvPr/>
            </p:nvSpPr>
            <p:spPr>
              <a:xfrm>
                <a:off x="1524000" y="4495039"/>
                <a:ext cx="9144000" cy="457200"/>
              </a:xfrm>
              <a:prstGeom prst="rect">
                <a:avLst/>
              </a:prstGeom>
            </p:spPr>
            <p:txBody>
              <a:bodyPr anchor="t" lIns="0" tIns="0" rIns="0" bIns="0">
                <a:noAutofit/>
              </a:bodyPr>
              <a:lstStyle/>
              <a:p>
                <a:pPr>
                  <a:lnSpc>
                    <a:spcPct val="120000"/>
                  </a:lnSpc>
                </a:pPr>
                <a:r>
                  <a:rPr lang="en-US" sz="1200" dirty="0">
                    <a:effectLst/>
                  </a:rPr>
                  <a:t>15 min. Two drops of phenolphthalein were subsequently added to the solution, and </a:t>
                </a:r>
                <a:r>
                  <a:rPr lang="en-US" sz="1200" dirty="0">
                    <a:effectLst/>
                  </a:rPr>
                  <a:t>​</a:t>
                </a:r>
                <a14:m>
                  <m:oMath>
                    <m:r>
                      <m:rPr>
                        <m:sty m:val="p"/>
                      </m:rPr>
                      <a:rPr lang="en-US" sz="1200" dirty="0">
                        <a:solidFill>
                          <a:srgbClr val="000000"/>
                        </a:solidFill>
                        <a:effectLst/>
                      </a:rPr>
                      <m:t>0.05</m:t>
                    </m:r>
                    <m:r>
                      <m:rPr>
                        <m:sty m:val="p"/>
                      </m:rPr>
                      <a:rPr lang="en-US" sz="1200" dirty="0">
                        <a:solidFill>
                          <a:srgbClr val="000000"/>
                        </a:solidFill>
                        <a:effectLst/>
                      </a:rPr>
                      <m:t xml:space="preserve"> </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oMath>
                </a14:m>
                <a:r>
                  <a:rPr lang="en-US" sz="1200" dirty="0">
                    <a:effectLst/>
                  </a:rPr>
                  <a:t> acetic acid/dimethyl benzene standard solution was used to titrate the mixture until it was colorless. The grafting proportion was calculated by equation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04639"/>
                <a:ext cx="9144000" cy="4000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98.06</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e>
                                </m:d>
                              </m:num>
                              <m:den>
                                <m:r>
                                  <m:rPr>
                                    <m:sty m:val="p"/>
                                  </m:rPr>
                                  <a:rPr lang="en-US" sz="1200" dirty="0">
                                    <a:solidFill>
                                      <a:srgbClr val="000000"/>
                                    </a:solidFill>
                                    <a:effectLst/>
                                  </a:rPr>
                                  <m:t>1000</m:t>
                                </m:r>
                                <m:r>
                                  <m:rPr>
                                    <m:sty m:val="p"/>
                                  </m:rPr>
                                  <a:rPr lang="en-US" sz="1200" dirty="0">
                                    <a:solidFill>
                                      <a:srgbClr val="000000"/>
                                    </a:solidFill>
                                    <a:effectLst/>
                                  </a:rPr>
                                  <m:t>×</m:t>
                                </m:r>
                                <m:r>
                                  <m:rPr>
                                    <m:sty m:val="p"/>
                                  </m:rPr>
                                  <a:rPr lang="en-US" sz="1200" dirty="0">
                                    <a:solidFill>
                                      <a:srgbClr val="000000"/>
                                    </a:solidFill>
                                    <a:effectLst/>
                                  </a:rPr>
                                  <m:t>2</m:t>
                                </m:r>
                                <m:r>
                                  <m:rPr>
                                    <m:sty m:val="i"/>
                                  </m:rPr>
                                  <a:rPr lang="en-US" sz="1200" dirty="0">
                                    <a:solidFill>
                                      <a:srgbClr val="000000"/>
                                    </a:solidFill>
                                    <a:effectLst/>
                                  </a:rPr>
                                  <m:t>m</m:t>
                                </m:r>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(1)</m:t>
                            </m:r>
                          </m:e>
                        </m:mr>
                      </m:m>
                    </m:oMath>
                  </m:oMathPara>
                </a14:m>
              </a:p>
            </p:txBody>
          </p:sp>
        </mc:Choic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is the grafting proportion of MAH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1</m:t>
                        </m:r>
                      </m:sub>
                    </m:sSub>
                  </m:oMath>
                </a14:m>
                <a:r>
                  <a:rPr lang="en-US" sz="1200" dirty="0">
                    <a:effectLst/>
                  </a:rPr>
                  <a:t> is the concentration of sodium hydroxide/alcohol standard solution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c</m:t>
                        </m:r>
                      </m:e>
                      <m:sub>
                        <m:r>
                          <m:rPr>
                            <m:sty m:val="p"/>
                          </m:rPr>
                          <a:rPr lang="en-US" sz="1200" dirty="0">
                            <a:solidFill>
                              <a:srgbClr val="000000"/>
                            </a:solidFill>
                            <a:effectLst/>
                          </a:rPr>
                          <m:t>2</m:t>
                        </m:r>
                      </m:sub>
                    </m:sSub>
                  </m:oMath>
                </a14:m>
                <a:r>
                  <a:rPr lang="en-US" sz="1200" dirty="0">
                    <a:effectLst/>
                  </a:rPr>
                  <a:t> is the concentration of acetic acid/ xylene standard solution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mol</m:t>
                    </m:r>
                    <m:r>
                      <m:rPr>
                        <m:sty m:val="p"/>
                      </m:rPr>
                      <a:rPr lang="en-US" sz="1200" dirty="0">
                        <a:solidFill>
                          <a:srgbClr val="000000"/>
                        </a:solidFill>
                        <a:effectLst/>
                      </a:rPr>
                      <m:t>/</m:t>
                    </m:r>
                    <m:r>
                      <m:rPr>
                        <m:sty m:val="p"/>
                      </m:rPr>
                      <a:rPr lang="en-US" sz="1200" dirty="0">
                        <a:solidFill>
                          <a:srgbClr val="000000"/>
                        </a:solidFill>
                        <a:effectLst/>
                      </a:rPr>
                      <m:t>L</m:t>
                    </m:r>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1</m:t>
                        </m:r>
                      </m:sub>
                    </m:sSub>
                  </m:oMath>
                </a14:m>
                <a:r>
                  <a:rPr lang="en-US" sz="1200" dirty="0">
                    <a:effectLst/>
                  </a:rPr>
                  <a:t> is the volume of sodium hydroxide/alcohol standard solution (mL) consumed,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V</m:t>
                        </m:r>
                      </m:e>
                      <m:sub>
                        <m:r>
                          <m:rPr>
                            <m:sty m:val="p"/>
                          </m:rPr>
                          <a:rPr lang="en-US" sz="1200" dirty="0">
                            <a:solidFill>
                              <a:srgbClr val="000000"/>
                            </a:solidFill>
                            <a:effectLst/>
                          </a:rPr>
                          <m:t>2</m:t>
                        </m:r>
                      </m:sub>
                    </m:sSub>
                  </m:oMath>
                </a14:m>
                <a:r>
                  <a:rPr lang="en-US" sz="1200" dirty="0">
                    <a:effectLst/>
                  </a:rPr>
                  <a:t> is the volume of acetic acid/dimethyl benzene standard solution (mL) consumed, and </a:t>
                </a:r>
                <a:r>
                  <a:rPr lang="en-US" sz="1200" dirty="0">
                    <a:effectLst/>
                  </a:rPr>
                  <a:t>​</a:t>
                </a:r>
                <a14:m>
                  <m:oMath>
                    <m:r>
                      <m:rPr>
                        <m:sty m:val="i"/>
                      </m:rPr>
                      <a:rPr lang="en-US" sz="1200" dirty="0">
                        <a:solidFill>
                          <a:srgbClr val="000000"/>
                        </a:solidFill>
                        <a:effectLst/>
                      </a:rPr>
                      <m:t>m</m:t>
                    </m:r>
                  </m:oMath>
                </a14:m>
                <a:r>
                  <a:rPr lang="en-US" sz="1200" dirty="0">
                    <a:effectLst/>
                  </a:rPr>
                  <a:t> is the weight of pure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p"/>
                      </m:rPr>
                      <a:rPr lang="en-US" sz="1200" dirty="0">
                        <a:solidFill>
                          <a:srgbClr val="000000"/>
                        </a:solidFill>
                        <a:effectLst/>
                      </a:rPr>
                      <m:t>co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a14:m>
                <a:r>
                  <a:rPr lang="en-US" sz="1200" dirty="0">
                    <a:effectLst/>
                  </a:rPr>
                  <a:t>. The molecular mass of MAH is 98.06.</a:t>
                </a:r>
              </a:p>
            </p:txBody>
          </p:sp>
        </mc:Choice>
        <mc:Fallback/>
      </mc:AlternateContent>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Fourier transform-infrared spectroscopy. The Fourier transform-infrared spectroscopy (FT-IR) spectra of samples were recorded using KBr pellets with a TENSOR27 FT-IR spectrometer (Bruker, Germany).</a:t>
            </a:r>
          </a:p>
        </p:txBody>
      </p:sp>
      <p:sp>
        <p:nvSpPr>
          <p:cNvPr id="2" name="Text"/>
          <p:cNvSpPr/>
          <p:nvPr/>
        </p:nvSpPr>
        <p:spPr>
          <a:xfrm>
            <a:off x="1524000" y="2133600"/>
            <a:ext cx="9144000" cy="685800"/>
          </a:xfrm>
          <a:prstGeom prst="rect">
            <a:avLst/>
          </a:prstGeom>
        </p:spPr>
        <p:txBody>
          <a:bodyPr anchor="t" lIns="0" tIns="0" rIns="0" bIns="0">
            <a:noAutofit/>
          </a:bodyPr>
          <a:lstStyle/>
          <a:p>
            <a:pPr>
              <a:lnSpc>
                <a:spcPct val="120000"/>
              </a:lnSpc>
            </a:pPr>
            <a:r>
              <a:rPr lang="en-US" sz="1200" dirty="0">
                <a:effectLst/>
              </a:rPr>
              <a:t>Scanning electron microscopy. The internal microstructures of the samples were observed using an S-3500N-type scanning electron microscope (Hitachi, Tokyo, Japan). The samples were prepared by freezing PPC/PP slices in liquid nitrogen followed by application of a high-speed impact to create freshly fractured surfaces. The fractured surfaces were covered with gold before observation.</a:t>
            </a:r>
          </a:p>
        </p:txBody>
      </p:sp>
      <p:sp>
        <p:nvSpPr>
          <p:cNvPr id="2" name="Text"/>
          <p:cNvSpPr/>
          <p:nvPr/>
        </p:nvSpPr>
        <p:spPr>
          <a:xfrm>
            <a:off x="1524000" y="2971800"/>
            <a:ext cx="9144000" cy="685800"/>
          </a:xfrm>
          <a:prstGeom prst="rect">
            <a:avLst/>
          </a:prstGeom>
        </p:spPr>
        <p:txBody>
          <a:bodyPr anchor="t" lIns="0" tIns="0" rIns="0" bIns="0">
            <a:noAutofit/>
          </a:bodyPr>
          <a:lstStyle/>
          <a:p>
            <a:pPr>
              <a:lnSpc>
                <a:spcPct val="120000"/>
              </a:lnSpc>
            </a:pPr>
            <a:r>
              <a:rPr lang="en-US" sz="1200" dirty="0">
                <a:effectLst/>
              </a:rPr>
              <a:t>Tensile properties. The tensile properties of rectangularshaped slice samples (1 cm × 10 cm) were evaluated using an XLW-Intelligent electronic tensile testing machine (Jinan Labthink Mechanical and Electrical Company Ltd., China) at a tensile speed of 500 mm/min and an environment temperature of 30°C.</a:t>
            </a:r>
          </a:p>
        </p:txBody>
      </p:sp>
      <mc:AlternateContent xmlns:mc="http://schemas.openxmlformats.org/markup-compatibility/2006">
        <mc:Choice xmlns:a14="http://schemas.microsoft.com/office/drawing/2010/main" Requires="a14">
          <p:sp>
            <p:nvSpPr>
              <p:cNvPr id="2" name="Text"/>
              <p:cNvSpPr/>
              <p:nvPr/>
            </p:nvSpPr>
            <p:spPr>
              <a:xfrm>
                <a:off x="1524000" y="3810000"/>
                <a:ext cx="9144000" cy="685800"/>
              </a:xfrm>
              <a:prstGeom prst="rect">
                <a:avLst/>
              </a:prstGeom>
            </p:spPr>
            <p:txBody>
              <a:bodyPr anchor="t" lIns="0" tIns="0" rIns="0" bIns="0">
                <a:noAutofit/>
              </a:bodyPr>
              <a:lstStyle/>
              <a:p>
                <a:pPr>
                  <a:lnSpc>
                    <a:spcPct val="120000"/>
                  </a:lnSpc>
                </a:pPr>
                <a:r>
                  <a:rPr lang="en-US" sz="1200" dirty="0">
                    <a:effectLst/>
                  </a:rPr>
                  <a:t>MFR. MFR tests were carried out using an RL218-MFR instrument (Shanghai Sierda Scientific Instrument Company Ltd., China)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2160 g load (ASTM D1238-2004) according to the Standard Test Method for Melt Flow Rates of Thermoplastics by an extrusion plastometer.</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48200"/>
                <a:ext cx="9144000" cy="1371600"/>
              </a:xfrm>
              <a:prstGeom prst="rect">
                <a:avLst/>
              </a:prstGeom>
            </p:spPr>
            <p:txBody>
              <a:bodyPr anchor="t" lIns="0" tIns="0" rIns="0" bIns="0">
                <a:noAutofit/>
              </a:bodyPr>
              <a:lstStyle/>
              <a:p>
                <a:pPr>
                  <a:lnSpc>
                    <a:spcPct val="120000"/>
                  </a:lnSpc>
                </a:pPr>
                <a:r>
                  <a:rPr lang="en-US" sz="1200" dirty="0">
                    <a:effectLst/>
                  </a:rPr>
                  <a:t>Thermal properties. The melting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 and glass transition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 were determined by differential scanning calorimetry (DSC) using a NETZSCH DSC Q100 (T.A. Instruments Inc., Los Angeles, USA). The thermal degradation temperatures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50</m:t>
                        </m:r>
                        <m:r>
                          <m:rPr>
                            <m:sty m:val="p"/>
                          </m:rPr>
                          <a:rPr lang="en-US" sz="1200" dirty="0">
                            <a:solidFill>
                              <a:srgbClr val="000000"/>
                            </a:solidFill>
                            <a:effectLst/>
                          </a:rPr>
                          <m:t>%</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95</m:t>
                        </m:r>
                        <m:r>
                          <m:rPr>
                            <m:sty m:val="p"/>
                          </m:rPr>
                          <a:rPr lang="en-US" sz="1200" dirty="0">
                            <a:solidFill>
                              <a:srgbClr val="000000"/>
                            </a:solidFill>
                            <a:effectLst/>
                          </a:rPr>
                          <m:t>%</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p</m:t>
                        </m:r>
                      </m:sub>
                    </m:sSub>
                  </m:oMath>
                </a14:m>
                <a:r>
                  <a:rPr lang="en-US" sz="1200" dirty="0">
                    <a:effectLst/>
                  </a:rPr>
                  <a:t> ) were determined by thermogravimetric analysis (TG) using a NETZSCH TG Q600 (T.A. Instruments Inc.). DSC analysis was performed by scanning each sample from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200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at a heating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sup>
                    </m:sSup>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TG analysis was performed by scanning each sample from 30°C to 500°C at a heating rate of 10°C/min. The crystallinity of PPC/PP slices is calculated by equation (2)</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0957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c</m:t>
                                </m:r>
                              </m:sub>
                            </m:sSub>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m:t>
                                    </m:r>
                                  </m:sub>
                                </m:sSub>
                              </m:num>
                              <m:den>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0</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019175"/>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c</m:t>
                        </m:r>
                      </m:sub>
                    </m:sSub>
                  </m:oMath>
                </a14:m>
                <a:r>
                  <a:rPr lang="en-US" sz="1200" dirty="0">
                    <a:effectLst/>
                  </a:rPr>
                  <a:t> is the crystallinity of PPC/PP slices (%),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m:t>
                        </m:r>
                      </m:sub>
                    </m:sSub>
                  </m:oMath>
                </a14:m>
                <a:r>
                  <a:rPr lang="en-US" sz="1200" dirty="0">
                    <a:effectLst/>
                  </a:rPr>
                  <a:t> is the crystal melting enthalpy of the PPC/PP slices (J/g), and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0</m:t>
                        </m:r>
                      </m:sub>
                    </m:sSub>
                  </m:oMath>
                </a14:m>
                <a:r>
                  <a:rPr lang="en-US" sz="1200" dirty="0">
                    <a:effectLst/>
                  </a:rPr>
                  <a:t> is the complete crystallization or melting enthalpy of the PPC/PP slices (J/g). </a:t>
                </a:r>
                <a:r>
                  <a:rPr lang="en-US" sz="1200" dirty="0">
                    <a:effectLst/>
                  </a:rPr>
                  <a:t>​</a:t>
                </a:r>
                <a14:m>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0</m:t>
                        </m:r>
                      </m:sub>
                    </m:sSub>
                  </m:oMath>
                </a14:m>
                <a:r>
                  <a:rPr lang="en-US" sz="1200" dirty="0">
                    <a:effectLst/>
                  </a:rPr>
                  <a:t> is calculated from the ratio of PPC and PP, the standard melting enthalpy of PPC is 0 J/g, and the standard melting enthalpy of PP is 209 J/g.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857375"/>
                <a:ext cx="9144000" cy="685800"/>
              </a:xfrm>
              <a:prstGeom prst="rect">
                <a:avLst/>
              </a:prstGeom>
            </p:spPr>
            <p:txBody>
              <a:bodyPr anchor="t" lIns="0" tIns="0" rIns="0" bIns="0">
                <a:noAutofit/>
              </a:bodyPr>
              <a:lstStyle/>
              <a:p>
                <a:pPr>
                  <a:lnSpc>
                    <a:spcPct val="120000"/>
                  </a:lnSpc>
                </a:pPr>
                <a:r>
                  <a:rPr lang="en-US" sz="1200" dirty="0">
                    <a:effectLst/>
                  </a:rPr>
                  <a:t>Degradation test. PPC/PP slices (1 cm × 1 cm) of 0.4 mm thickness were dried in a vacuum oven at 50°C for more than 12 h until a constant weight was achieved and degraded in phosphate buffer solution (PBS; </a:t>
                </a:r>
                <a:r>
                  <a:rPr lang="en-US" sz="1200" dirty="0">
                    <a:effectLst/>
                  </a:rPr>
                  <a:t>​</a:t>
                </a:r>
                <a14:m>
                  <m:oMath>
                    <m:r>
                      <m:rPr>
                        <m:sty m:val="p"/>
                      </m:rPr>
                      <a:rPr lang="en-US" sz="1200" dirty="0">
                        <a:solidFill>
                          <a:srgbClr val="000000"/>
                        </a:solidFill>
                        <a:effectLst/>
                      </a:rPr>
                      <m:t>pH</m:t>
                    </m:r>
                    <m:r>
                      <m:rPr>
                        <m:sty m:val="p"/>
                      </m:rPr>
                      <a:rPr lang="en-US" sz="1200" dirty="0">
                        <a:solidFill>
                          <a:srgbClr val="000000"/>
                        </a:solidFill>
                        <a:effectLst/>
                      </a:rPr>
                      <m:t>=</m:t>
                    </m:r>
                    <m:r>
                      <m:rPr>
                        <m:sty m:val="p"/>
                      </m:rPr>
                      <a:rPr lang="en-US" sz="1200" dirty="0">
                        <a:solidFill>
                          <a:srgbClr val="000000"/>
                        </a:solidFill>
                        <a:effectLst/>
                      </a:rPr>
                      <m:t>7.7</m:t>
                    </m:r>
                  </m:oMath>
                </a14:m>
                <a:r>
                  <a:rPr lang="en-US" sz="1200" dirty="0">
                    <a:effectLst/>
                  </a:rPr>
                  <a:t> ) at 60°C. The PBS was replaced every 6 days to ensure the stability of the pH. The weightlessness rate represents the degradation rate and is calculated by equation (3)</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95575"/>
                <a:ext cx="9144000" cy="3905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r</m:t>
                                </m:r>
                              </m:sub>
                            </m:sSub>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num>
                              <m:den>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238500"/>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r</m:t>
                        </m:r>
                      </m:sub>
                    </m:sSub>
                  </m:oMath>
                </a14:m>
                <a:r>
                  <a:rPr lang="en-US" sz="1200" dirty="0">
                    <a:effectLst/>
                  </a:rPr>
                  <a:t> is the weightlessness rate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0</m:t>
                        </m:r>
                      </m:sub>
                    </m:sSub>
                  </m:oMath>
                </a14:m>
                <a:r>
                  <a:rPr lang="en-US" sz="1200" dirty="0">
                    <a:effectLst/>
                  </a:rPr>
                  <a:t> is the initial weight of the PPC/PP slices (g),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1</m:t>
                        </m:r>
                      </m:sub>
                    </m:sSub>
                  </m:oMath>
                </a14:m>
                <a:r>
                  <a:rPr lang="en-US" sz="1200" dirty="0">
                    <a:effectLst/>
                  </a:rPr>
                  <a:t> is the weight of the PPC/PP slices after degradation (g).</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i"/>
                      </m:rPr>
                      <a:rPr lang="en-US" sz="1200" dirty="0">
                        <a:solidFill>
                          <a:srgbClr val="000000"/>
                        </a:solidFill>
                        <a:effectLst/>
                      </a:rPr>
                      <m:t>H</m:t>
                    </m:r>
                  </m:oMath>
                </a14:m>
                <a:r>
                  <a:rPr lang="en-US" sz="1200" dirty="0">
                    <a:effectLst/>
                  </a:rPr>
                  <a:t> nuclear magnetic resonance spectroscopy.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nuclear magnetic resonance spectroscopy (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 spectra of samples dissolved in deuterated chloroform were recorded using an AV400 NMR spectrometer (Bruker, Switzerland).</a:t>
                </a:r>
              </a:p>
            </p:txBody>
          </p:sp>
        </mc:Choice>
        <mc:Fallback/>
      </mc:AlternateContent>
      <p:sp>
        <p:nvSpPr>
          <p:cNvPr id="2" name="Text"/>
          <p:cNvSpPr/>
          <p:nvPr/>
        </p:nvSpPr>
        <p:spPr>
          <a:xfrm>
            <a:off x="1524000" y="4305300"/>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4837939"/>
            <a:ext cx="9144000" cy="342900"/>
          </a:xfrm>
          <a:prstGeom prst="rect">
            <a:avLst/>
          </a:prstGeom>
        </p:spPr>
        <p:txBody>
          <a:bodyPr anchor="t" lIns="0" tIns="0" rIns="0" bIns="0">
            <a:noAutofit/>
          </a:bodyPr>
          <a:lstStyle/>
          <a:p>
            <a:pPr>
              <a:lnSpc>
                <a:spcPct val="120000"/>
              </a:lnSpc>
            </a:pPr>
            <a:r>
              <a:rPr lang="en-US" sz="1800" dirty="0" b="1">
                <a:effectLst/>
              </a:rPr>
              <a:t>Characterization of PP-g-(MAH-co-St)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with three grafting proportions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e>
                    </m:d>
                  </m:oMath>
                </a14:m>
                <a:r>
                  <a:rPr lang="en-US" sz="1200" dirty="0">
                    <a:effectLst/>
                  </a:rPr>
                  <a:t> were prepared by varying experimental conditions such as the raw material ratio, processing temperature, and processing time.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of PP-g-(MAH-co-St) prepared with different raw material ratios is shown in Table 1. As shown in Table 1, when the ratio of PP/MAH/St/DCP is 100/6/6/0.2,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of PP- </a:t>
                </a:r>
                <a:r>
                  <a:rPr lang="en-US" sz="1200" dirty="0">
                    <a:effectLst/>
                  </a:rPr>
                  <a:t>​</a:t>
                </a:r>
                <a14:m>
                  <m:oMath>
                    <m:r>
                      <m:rPr>
                        <m:sty m:val="i"/>
                      </m:rPr>
                      <a:rPr lang="en-US" sz="1200" dirty="0">
                        <a:solidFill>
                          <a:srgbClr val="000000"/>
                        </a:solidFill>
                        <a:effectLst/>
                      </a:rPr>
                      <m:t>g</m:t>
                    </m:r>
                  </m:oMath>
                </a14:m>
                <a:r>
                  <a:rPr lang="en-US" sz="1200" dirty="0">
                    <a:effectLst/>
                  </a:rPr>
                  <a:t>-(MAH-co-St) is </a:t>
                </a:r>
                <a:r>
                  <a:rPr lang="en-US" sz="1200" dirty="0">
                    <a:effectLst/>
                  </a:rPr>
                  <a:t>​</a:t>
                </a:r>
                <a14:m>
                  <m:oMath>
                    <m:r>
                      <m:rPr>
                        <m:sty m:val="p"/>
                      </m:rPr>
                      <a:rPr lang="en-US" sz="1200" dirty="0">
                        <a:solidFill>
                          <a:srgbClr val="000000"/>
                        </a:solidFill>
                        <a:effectLst/>
                      </a:rPr>
                      <m:t>0.89</m:t>
                    </m:r>
                    <m:r>
                      <m:rPr>
                        <m:sty m:val="p"/>
                      </m:rPr>
                      <a:rPr lang="en-US" sz="1200" dirty="0">
                        <a:solidFill>
                          <a:srgbClr val="000000"/>
                        </a:solidFill>
                        <a:effectLst/>
                      </a:rPr>
                      <m:t>%</m:t>
                    </m:r>
                  </m:oMath>
                </a14:m>
                <a:r>
                  <a:rPr lang="en-US" sz="1200" dirty="0">
                    <a:effectLst/>
                  </a:rPr>
                  <a: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of PP- </a:t>
                </a:r>
                <a:r>
                  <a:rPr lang="en-US" sz="1200" dirty="0">
                    <a:effectLst/>
                  </a:rPr>
                  <a:t>​</a:t>
                </a:r>
                <a14:m>
                  <m:oMath>
                    <m:r>
                      <m:rPr>
                        <m:sty m:val="i"/>
                      </m:rPr>
                      <a:rPr lang="en-US" sz="1200" dirty="0">
                        <a:solidFill>
                          <a:srgbClr val="000000"/>
                        </a:solidFill>
                        <a:effectLst/>
                      </a:rPr>
                      <m:t>g</m:t>
                    </m:r>
                  </m:oMath>
                </a14:m>
                <a:r>
                  <a:rPr lang="en-US" sz="1200" dirty="0">
                    <a:effectLst/>
                  </a:rPr>
                  <a:t>-(MAH-co-St) (100/6/6/0.4) was higher than that of PP- </a:t>
                </a:r>
                <a:r>
                  <a:rPr lang="en-US" sz="1200" dirty="0">
                    <a:effectLst/>
                  </a:rPr>
                  <a:t>​</a:t>
                </a:r>
                <a14:m>
                  <m:oMath>
                    <m:r>
                      <m:rPr>
                        <m:sty m:val="i"/>
                      </m:rPr>
                      <a:rPr lang="en-US" sz="1200" dirty="0">
                        <a:solidFill>
                          <a:srgbClr val="000000"/>
                        </a:solidFill>
                        <a:effectLst/>
                      </a:rPr>
                      <m:t>g</m:t>
                    </m:r>
                  </m:oMath>
                </a14:m>
                <a:r>
                  <a:rPr lang="en-US" sz="1200" dirty="0">
                    <a:effectLst/>
                  </a:rPr>
                  <a:t>-(MAH-co-St) (100/6/0/0.4), which implies that the grafting reaction is promoted by St.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of PP- </a:t>
                </a:r>
                <a:r>
                  <a:rPr lang="en-US" sz="1200" dirty="0">
                    <a:effectLst/>
                  </a:rPr>
                  <a:t>​</a:t>
                </a:r>
                <a14:m>
                  <m:oMath>
                    <m:r>
                      <m:rPr>
                        <m:sty m:val="i"/>
                      </m:rPr>
                      <a:rPr lang="en-US" sz="1200" dirty="0">
                        <a:solidFill>
                          <a:srgbClr val="000000"/>
                        </a:solidFill>
                        <a:effectLst/>
                      </a:rPr>
                      <m:t>g</m:t>
                    </m:r>
                  </m:oMath>
                </a14:m>
                <a:r>
                  <a:rPr lang="en-US" sz="1200" dirty="0">
                    <a:effectLst/>
                  </a:rPr>
                  <a:t>-(MAH-co-St) (100/6/6/0.2) was lower than that of PP- </a:t>
                </a:r>
                <a:r>
                  <a:rPr lang="en-US" sz="1200" dirty="0">
                    <a:effectLst/>
                  </a:rPr>
                  <a:t>​</a:t>
                </a:r>
                <a14:m>
                  <m:oMath>
                    <m:r>
                      <m:rPr>
                        <m:sty m:val="i"/>
                      </m:rPr>
                      <a:rPr lang="en-US" sz="1200" dirty="0">
                        <a:solidFill>
                          <a:srgbClr val="000000"/>
                        </a:solidFill>
                        <a:effectLst/>
                      </a:rPr>
                      <m:t>g</m:t>
                    </m:r>
                  </m:oMath>
                </a14:m>
                <a:r>
                  <a:rPr lang="en-US" sz="1200" dirty="0">
                    <a:effectLst/>
                  </a:rPr>
                  <a:t>-(MAH-co-St) (100/6/6/0.4) because not enough free radicals are available for reaction when the</a:t>
                </a:r>
              </a:p>
            </p:txBody>
          </p:sp>
        </mc:Choice>
        <mc:Fallback/>
      </mc:AlternateContent>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486150" y="2124075"/>
              <a:ext cx="5219700" cy="1571625"/>
            </p:xfrm>
            <a:graphic>
              <a:graphicData uri="http://schemas.openxmlformats.org/drawingml/2006/table">
                <a:tbl>
                  <a:tblPr firstRow="1" firstCol="1" bandRow="1">
                    <a:tableStyleId>{5940675A-B579-460E-94D1-54222C63F5DA}</a:tableStyleId>
                  </a:tblPr>
                  <a:tblGrid>
                    <a:gridCol w="2847975"/>
                    <a:gridCol w="23622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Raw material ratios (PP/MAH/St/DCP)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m:oMathPara>
                          </a14:m>
                          <a:r>
                            <a:rPr lang="en-US" sz="1200" dirty="0">
                              <a:effectLst/>
                            </a:rPr>
                            <a:t> of PP-g-(MAH-co-St)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100/6/6/0.2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100/6/0/0.4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100/6/6/0.4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695700"/>
            <a:ext cx="9144000" cy="228600"/>
          </a:xfrm>
          <a:prstGeom prst="rect">
            <a:avLst/>
          </a:prstGeom>
        </p:spPr>
        <p:txBody>
          <a:bodyPr anchor="t" lIns="0" tIns="0" rIns="0" bIns="0">
            <a:noAutofit/>
          </a:bodyPr>
          <a:lstStyle/>
          <a:p>
            <a:pPr>
              <a:lnSpc>
                <a:spcPct val="120000"/>
              </a:lnSpc>
            </a:pPr>
            <a:r>
              <a:rPr lang="en-US" sz="1200" dirty="0">
                <a:effectLst/>
              </a:rPr>
              <a:t>PP: polypropylene; MAH: maleic anhydride; St: styrene; DCP: dicumyl peroxide.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7aa756ffaec4cd27be9b6f9cb81d5baa1200e28.jpg"/>
          <p:cNvPicPr/>
          <p:nvPr/>
        </p:nvPicPr>
        <p:blipFill>
          <a:blip r:embed="rId2" cstate="print"/>
          <a:srcRect/>
          <a:stretch>
            <a:fillRect/>
          </a:stretch>
        </p:blipFill>
        <p:spPr>
          <a:xfrm>
            <a:off x="1524000" y="457200"/>
            <a:ext cx="7239000" cy="471487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5172075"/>
                <a:ext cx="9144000" cy="228600"/>
              </a:xfrm>
              <a:prstGeom prst="rect">
                <a:avLst/>
              </a:prstGeom>
            </p:spPr>
            <p:txBody>
              <a:bodyPr anchor="t" lIns="0" tIns="0" rIns="0" bIns="0">
                <a:noAutofit/>
              </a:bodyPr>
              <a:lstStyle/>
              <a:p>
                <a:pPr>
                  <a:lnSpc>
                    <a:spcPct val="120000"/>
                  </a:lnSpc>
                </a:pPr>
                <a:r>
                  <a:rPr lang="en-US" sz="1200" dirty="0">
                    <a:effectLst/>
                  </a:rPr>
                  <a:t>Figure I. FT-IR spectra of PP-g-(MAH-co-St)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0.89</m:t>
                        </m:r>
                        <m:r>
                          <m:rPr>
                            <m:sty m:val="p"/>
                          </m:rPr>
                          <a:rPr lang="en-US" sz="1200" dirty="0">
                            <a:solidFill>
                              <a:srgbClr val="000000"/>
                            </a:solidFill>
                            <a:effectLst/>
                          </a:rPr>
                          <m:t>%</m:t>
                        </m:r>
                      </m:e>
                    </m:d>
                  </m:oMath>
                </a14:m>
                <a:r>
                  <a:rPr lang="en-US" sz="1200" dirty="0">
                    <a:effectLst/>
                  </a:rPr>
                  <a:t> and PP.</a:t>
                </a:r>
              </a:p>
            </p:txBody>
          </p:sp>
        </mc:Choice>
        <mc:Fallback/>
      </mc:AlternateContent>
      <p:sp>
        <p:nvSpPr>
          <p:cNvPr id="2" name="Text"/>
          <p:cNvSpPr/>
          <p:nvPr/>
        </p:nvSpPr>
        <p:spPr>
          <a:xfrm>
            <a:off x="1524000" y="5400675"/>
            <a:ext cx="9144000" cy="228600"/>
          </a:xfrm>
          <a:prstGeom prst="rect">
            <a:avLst/>
          </a:prstGeom>
        </p:spPr>
        <p:txBody>
          <a:bodyPr anchor="t" lIns="0" tIns="0" rIns="0" bIns="0">
            <a:noAutofit/>
          </a:bodyPr>
          <a:lstStyle/>
          <a:p>
            <a:pPr>
              <a:lnSpc>
                <a:spcPct val="120000"/>
              </a:lnSpc>
            </a:pPr>
            <a:r>
              <a:rPr lang="en-US" sz="1200" dirty="0">
                <a:effectLst/>
              </a:rPr>
              <a:t>initiator content is low. These results indicate that different raw material ratios could yield different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grafting reaction of PP with MAH and St was confirmed by the FT-IR spectra. The FT-IR spectra of pure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i"/>
                      </m:rPr>
                      <a:rPr lang="en-US" sz="1200" dirty="0">
                        <a:solidFill>
                          <a:srgbClr val="000000"/>
                        </a:solidFill>
                        <a:effectLst/>
                      </a:rPr>
                      <m:t>S</m:t>
                    </m:r>
                    <m:r>
                      <m:rPr>
                        <m:sty m:val="i"/>
                      </m:rPr>
                      <a:rPr lang="en-US" sz="1200" dirty="0">
                        <a:solidFill>
                          <a:srgbClr val="000000"/>
                        </a:solidFill>
                        <a:effectLst/>
                      </a:rPr>
                      <m:t>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0.89</m:t>
                        </m:r>
                        <m:r>
                          <m:rPr>
                            <m:sty m:val="p"/>
                          </m:rPr>
                          <a:rPr lang="en-US" sz="1200" dirty="0">
                            <a:solidFill>
                              <a:srgbClr val="000000"/>
                            </a:solidFill>
                            <a:effectLst/>
                          </a:rPr>
                          <m:t>%</m:t>
                        </m:r>
                      </m:e>
                    </m:d>
                  </m:oMath>
                </a14:m>
                <a:r>
                  <a:rPr lang="en-US" sz="1200" dirty="0">
                    <a:effectLst/>
                  </a:rPr>
                  <a:t> and PP are shown in Figure 1. As a cyclic anhydride, MAH showed an asymmetrical stretching vibration peak of carbonyl at about </a:t>
                </a:r>
                <a:r>
                  <a:rPr lang="en-US" sz="1200" dirty="0">
                    <a:effectLst/>
                  </a:rPr>
                  <a:t>​</a:t>
                </a:r>
                <a14:m>
                  <m:oMath>
                    <m:r>
                      <m:rPr>
                        <m:sty m:val="p"/>
                      </m:rPr>
                      <a:rPr lang="en-US" sz="1200" dirty="0">
                        <a:solidFill>
                          <a:srgbClr val="000000"/>
                        </a:solidFill>
                        <a:effectLst/>
                      </a:rPr>
                      <m:t>1800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 symmetrical stretching vibration peak at about </a:t>
                </a:r>
                <a:r>
                  <a:rPr lang="en-US" sz="1200" dirty="0">
                    <a:effectLst/>
                  </a:rPr>
                  <a:t>​</a:t>
                </a:r>
                <a14:m>
                  <m:oMath>
                    <m:r>
                      <m:rPr>
                        <m:sty m:val="p"/>
                      </m:rPr>
                      <a:rPr lang="en-US" sz="1200" dirty="0">
                        <a:solidFill>
                          <a:srgbClr val="000000"/>
                        </a:solidFill>
                        <a:effectLst/>
                      </a:rPr>
                      <m:t>1750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20</m:t>
                        </m:r>
                      </m:sup>
                    </m:sSup>
                  </m:oMath>
                </a14:m>
                <a:r>
                  <a:rPr lang="en-US" sz="1200" dirty="0">
                    <a:effectLst/>
                  </a:rPr>
                  <a:t> Characteristic peaks of MAH were clearly observed at 1782 and </a:t>
                </a:r>
                <a:r>
                  <a:rPr lang="en-US" sz="1200" dirty="0">
                    <a:effectLst/>
                  </a:rPr>
                  <a:t>​</a:t>
                </a:r>
                <a14:m>
                  <m:oMath>
                    <m:r>
                      <m:rPr>
                        <m:sty m:val="p"/>
                      </m:rPr>
                      <a:rPr lang="en-US" sz="1200" dirty="0">
                        <a:solidFill>
                          <a:srgbClr val="000000"/>
                        </a:solidFill>
                        <a:effectLst/>
                      </a:rPr>
                      <m:t>1856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characteristic peak of St was clearly observed at </a:t>
                </a:r>
                <a:r>
                  <a:rPr lang="en-US" sz="1200" dirty="0">
                    <a:effectLst/>
                  </a:rPr>
                  <a:t>​</a:t>
                </a:r>
                <a14:m>
                  <m:oMath>
                    <m:r>
                      <m:rPr>
                        <m:sty m:val="p"/>
                      </m:rPr>
                      <a:rPr lang="en-US" sz="1200" dirty="0">
                        <a:solidFill>
                          <a:srgbClr val="000000"/>
                        </a:solidFill>
                        <a:effectLst/>
                      </a:rPr>
                      <m:t>703</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These results indicate that MAH and St were successfully grafted onto the main chains of PP.</a:t>
                </a:r>
              </a:p>
            </p:txBody>
          </p:sp>
        </mc:Choice>
        <mc:Fallback/>
      </mc:AlternateContent>
      <p:sp>
        <p:nvSpPr>
          <p:cNvPr id="2" name="Text"/>
          <p:cNvSpPr/>
          <p:nvPr/>
        </p:nvSpPr>
        <p:spPr>
          <a:xfrm>
            <a:off x="1524000" y="1752600"/>
            <a:ext cx="9144000" cy="342900"/>
          </a:xfrm>
          <a:prstGeom prst="rect">
            <a:avLst/>
          </a:prstGeom>
        </p:spPr>
        <p:txBody>
          <a:bodyPr anchor="t" lIns="0" tIns="0" rIns="0" bIns="0">
            <a:noAutofit/>
          </a:bodyPr>
          <a:lstStyle/>
          <a:p>
            <a:pPr>
              <a:lnSpc>
                <a:spcPct val="120000"/>
              </a:lnSpc>
            </a:pPr>
            <a:r>
              <a:rPr lang="en-US" sz="1800" dirty="0" b="1">
                <a:effectLst/>
              </a:rPr>
              <a:t>Scanning electron microscopy analysis</a:t>
            </a:r>
          </a:p>
        </p:txBody>
      </p:sp>
      <mc:AlternateContent xmlns:mc="http://schemas.openxmlformats.org/markup-compatibility/2006">
        <mc:Choice xmlns:a14="http://schemas.microsoft.com/office/drawing/2010/main" Requires="a14">
          <p:sp>
            <p:nvSpPr>
              <p:cNvPr id="2" name="Text"/>
              <p:cNvSpPr/>
              <p:nvPr/>
            </p:nvSpPr>
            <p:spPr>
              <a:xfrm>
                <a:off x="1524000" y="2285239"/>
                <a:ext cx="9144000" cy="1600200"/>
              </a:xfrm>
              <a:prstGeom prst="rect">
                <a:avLst/>
              </a:prstGeom>
            </p:spPr>
            <p:txBody>
              <a:bodyPr anchor="t" lIns="0" tIns="0" rIns="0" bIns="0">
                <a:noAutofit/>
              </a:bodyPr>
              <a:lstStyle/>
              <a:p>
                <a:pPr>
                  <a:lnSpc>
                    <a:spcPct val="120000"/>
                  </a:lnSpc>
                </a:pPr>
                <a:r>
                  <a:rPr lang="en-US" sz="1200" dirty="0">
                    <a:effectLst/>
                  </a:rPr>
                  <a:t>Compatibility between PP meltblown nonwoven fabric slices and PPC is difficult to achieve without incorporation of a proper compatibilizer because the former is a nonpolar polymer, whereas the latter is a relatively polar polymer. The effect of PP- </a:t>
                </a:r>
                <a:r>
                  <a:rPr lang="en-US" sz="1200" dirty="0">
                    <a:effectLst/>
                  </a:rPr>
                  <a:t>​</a:t>
                </a:r>
                <a14:m>
                  <m:oMath>
                    <m:r>
                      <m:rPr>
                        <m:sty m:val="i"/>
                      </m:rPr>
                      <a:rPr lang="en-US" sz="1200" dirty="0">
                        <a:solidFill>
                          <a:srgbClr val="000000"/>
                        </a:solidFill>
                        <a:effectLst/>
                      </a:rPr>
                      <m:t>g</m:t>
                    </m:r>
                  </m:oMath>
                </a14:m>
                <a:r>
                  <a:rPr lang="en-US" sz="1200" dirty="0">
                    <a:effectLst/>
                  </a:rPr>
                  <a:t>-(MAH-co-St) on PPC/PP slices was investigated by scanning electron microscopy (SEM). SEM micrographs of PPC/PP slices are shown in Figure 2. Slices to which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had been added were smoother and showed fewer depressions and cavities than PPC/PP (80/20) slices without PP-g-(MAH-co-St). PP in the form of ball dispersed more uniformly in the PPC matrix when the content and grafting proportion of PP- </a:t>
                </a:r>
                <a:r>
                  <a:rPr lang="en-US" sz="1200" dirty="0">
                    <a:effectLst/>
                  </a:rPr>
                  <a:t>​</a:t>
                </a:r>
                <a14:m>
                  <m:oMath>
                    <m:r>
                      <m:rPr>
                        <m:sty m:val="i"/>
                      </m:rPr>
                      <a:rPr lang="en-US" sz="1200" dirty="0">
                        <a:solidFill>
                          <a:srgbClr val="000000"/>
                        </a:solidFill>
                        <a:effectLst/>
                      </a:rPr>
                      <m:t>g</m:t>
                    </m:r>
                  </m:oMath>
                </a14:m>
                <a:r>
                  <a:rPr lang="en-US" sz="1200" dirty="0">
                    <a:effectLst/>
                  </a:rPr>
                  <a:t> (MAH-co-St) were increased. This result clearly demonstrates that the compatibility between polymers can be improved by the addition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a:t>
                </a:r>
              </a:p>
            </p:txBody>
          </p:sp>
        </mc:Choice>
        <mc:Fallback/>
      </mc:AlternateContent>
      <p:sp>
        <p:nvSpPr>
          <p:cNvPr id="2" name="Text"/>
          <p:cNvSpPr/>
          <p:nvPr/>
        </p:nvSpPr>
        <p:spPr>
          <a:xfrm>
            <a:off x="1524000" y="4037839"/>
            <a:ext cx="9144000" cy="342900"/>
          </a:xfrm>
          <a:prstGeom prst="rect">
            <a:avLst/>
          </a:prstGeom>
        </p:spPr>
        <p:txBody>
          <a:bodyPr anchor="t" lIns="0" tIns="0" rIns="0" bIns="0">
            <a:noAutofit/>
          </a:bodyPr>
          <a:lstStyle/>
          <a:p>
            <a:pPr>
              <a:lnSpc>
                <a:spcPct val="120000"/>
              </a:lnSpc>
            </a:pPr>
            <a:r>
              <a:rPr lang="en-US" sz="1800" dirty="0" b="1">
                <a:effectLst/>
              </a:rPr>
              <a:t>Tensile properties and MFR of PPC/PP slices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The tensile properties of PPC/PP slices are shown in Figure 3. The tensile strength reached 16.64 MPa when the content of PP- </a:t>
                </a:r>
                <a:r>
                  <a:rPr lang="en-US" sz="1200" dirty="0">
                    <a:effectLst/>
                  </a:rPr>
                  <a:t>​</a:t>
                </a:r>
                <a14:m>
                  <m:oMath>
                    <m:r>
                      <m:rPr>
                        <m:sty m:val="i"/>
                      </m:rPr>
                      <a:rPr lang="en-US" sz="1200" dirty="0">
                        <a:solidFill>
                          <a:srgbClr val="000000"/>
                        </a:solidFill>
                        <a:effectLst/>
                      </a:rPr>
                      <m:t>g</m:t>
                    </m:r>
                  </m:oMath>
                </a14:m>
                <a:r>
                  <a:rPr lang="en-US" sz="1200" dirty="0">
                    <a:effectLst/>
                  </a:rPr>
                  <a:t>-(MAH-co-St)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oMath>
                </a14:m>
                <a:r>
                  <a:rPr lang="en-US" sz="1200" dirty="0">
                    <a:effectLst/>
                  </a:rPr>
                  <a:t> was 8%, and then decreased with further increases in PP- </a:t>
                </a:r>
                <a:r>
                  <a:rPr lang="en-US" sz="1200" dirty="0">
                    <a:effectLst/>
                  </a:rPr>
                  <a:t>​</a:t>
                </a:r>
                <a14:m>
                  <m:oMath>
                    <m:r>
                      <m:rPr>
                        <m:sty m:val="i"/>
                      </m:rPr>
                      <a:rPr lang="en-US" sz="1200" dirty="0">
                        <a:solidFill>
                          <a:srgbClr val="000000"/>
                        </a:solidFill>
                        <a:effectLst/>
                      </a:rPr>
                      <m:t>g</m:t>
                    </m:r>
                  </m:oMath>
                </a14:m>
                <a:r>
                  <a:rPr lang="en-US" sz="1200" dirty="0">
                    <a:effectLst/>
                  </a:rPr>
                  <a:t>-(MAHco-St). Also, the tensile strength of PPC/PP slices was higher at higher grafting proportions of PP- </a:t>
                </a:r>
                <a:r>
                  <a:rPr lang="en-US" sz="1200" dirty="0">
                    <a:effectLst/>
                  </a:rPr>
                  <a:t>​</a:t>
                </a:r>
                <a14:m>
                  <m:oMath>
                    <m:r>
                      <m:rPr>
                        <m:sty m:val="i"/>
                      </m:rPr>
                      <a:rPr lang="en-US" sz="1200" dirty="0">
                        <a:solidFill>
                          <a:srgbClr val="000000"/>
                        </a:solidFill>
                        <a:effectLst/>
                      </a:rPr>
                      <m:t>g</m:t>
                    </m:r>
                  </m:oMath>
                </a14:m>
                <a:r>
                  <a:rPr lang="en-US" sz="1200" dirty="0">
                    <a:effectLst/>
                  </a:rPr>
                  <a:t>-(MAHco-St) than lower ones. The effect of the grafting proportion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on the tensile strength of PPC/ PP slices was not obvious when the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content was low. With the increase in the content and grafting rate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the elongation at break of PPC/PP slices was decreased, because the MAH grafted on the chain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promoted the reaction of PPC with PP- </a:t>
                </a:r>
                <a:r>
                  <a:rPr lang="en-US" sz="1200" dirty="0">
                    <a:effectLst/>
                  </a:rPr>
                  <a:t>​</a:t>
                </a:r>
                <a14:m>
                  <m:oMath>
                    <m:r>
                      <m:rPr>
                        <m:sty m:val="i"/>
                      </m:rPr>
                      <a:rPr lang="en-US" sz="1200" dirty="0">
                        <a:solidFill>
                          <a:srgbClr val="000000"/>
                        </a:solidFill>
                        <a:effectLst/>
                      </a:rPr>
                      <m:t>g</m:t>
                    </m:r>
                  </m:oMath>
                </a14:m>
                <a:r>
                  <a:rPr lang="en-US" sz="1200" dirty="0">
                    <a:effectLst/>
                  </a:rPr>
                  <a:t>-(MAH-co-St), improved the interfacial adhesion strength of PPC with PP, and hence the elongation at break of PPC/PP slices was decreased. Furthermore, PP- </a:t>
                </a:r>
                <a:r>
                  <a:rPr lang="en-US" sz="1200" dirty="0">
                    <a:effectLst/>
                  </a:rPr>
                  <a:t>​</a:t>
                </a:r>
                <a14:m>
                  <m:oMath>
                    <m:r>
                      <m:rPr>
                        <m:sty m:val="i"/>
                      </m:rPr>
                      <a:rPr lang="en-US" sz="1200" dirty="0">
                        <a:solidFill>
                          <a:srgbClr val="000000"/>
                        </a:solidFill>
                        <a:effectLst/>
                      </a:rPr>
                      <m:t>g</m:t>
                    </m:r>
                  </m:oMath>
                </a14:m>
                <a:r>
                  <a:rPr lang="en-US" sz="1200" dirty="0">
                    <a:effectLst/>
                  </a:rPr>
                  <a:t>-(MAH-co-St) had a main chain of PP, its crystallization was similar to the rigid material PP, and the addition of PP- </a:t>
                </a:r>
                <a:r>
                  <a:rPr lang="en-US" sz="1200" dirty="0">
                    <a:effectLst/>
                  </a:rPr>
                  <a:t>​</a:t>
                </a:r>
                <a14:m>
                  <m:oMath>
                    <m:r>
                      <m:rPr>
                        <m:sty m:val="i"/>
                      </m:rPr>
                      <a:rPr lang="en-US" sz="1200" dirty="0">
                        <a:solidFill>
                          <a:srgbClr val="000000"/>
                        </a:solidFill>
                        <a:effectLst/>
                      </a:rPr>
                      <m:t>g</m:t>
                    </m:r>
                  </m:oMath>
                </a14:m>
                <a:r>
                  <a:rPr lang="en-US" sz="1200" dirty="0">
                    <a:effectLst/>
                  </a:rPr>
                  <a:t>-(MAH-co-St) promoted the crystallinity of PPC/ PP. Hence, the flexibility was reduced, and the elongation at break of PPC/PP slices was reduced by adding PP-g-(MAH-co-St).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895600"/>
                <a:ext cx="9144000" cy="1143000"/>
              </a:xfrm>
              <a:prstGeom prst="rect">
                <a:avLst/>
              </a:prstGeom>
            </p:spPr>
            <p:txBody>
              <a:bodyPr anchor="t" lIns="0" tIns="0" rIns="0" bIns="0">
                <a:noAutofit/>
              </a:bodyPr>
              <a:lstStyle/>
              <a:p>
                <a:pPr>
                  <a:lnSpc>
                    <a:spcPct val="120000"/>
                  </a:lnSpc>
                </a:pPr>
                <a:r>
                  <a:rPr lang="en-US" sz="1200" dirty="0">
                    <a:effectLst/>
                  </a:rPr>
                  <a:t>MFRs of the PPC/PP slices with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are shown in Figure 4. The MFR of the PPC/PP slices decreased when the content and grafting proportion of PP-g-(MAH-co-St) were increased. The minimum MFR was observed at a PP- </a:t>
                </a:r>
                <a:r>
                  <a:rPr lang="en-US" sz="1200" dirty="0">
                    <a:effectLst/>
                  </a:rPr>
                  <a:t>​</a:t>
                </a:r>
                <a14:m>
                  <m:oMath>
                    <m:r>
                      <m:rPr>
                        <m:sty m:val="i"/>
                      </m:rPr>
                      <a:rPr lang="en-US" sz="1200" dirty="0">
                        <a:solidFill>
                          <a:srgbClr val="000000"/>
                        </a:solidFill>
                        <a:effectLst/>
                      </a:rPr>
                      <m:t>g</m:t>
                    </m:r>
                  </m:oMath>
                </a14:m>
                <a:r>
                  <a:rPr lang="en-US" sz="1200" dirty="0">
                    <a:effectLst/>
                  </a:rPr>
                  <a:t>-(MAH-co-St)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oMath>
                </a14:m>
                <a:r>
                  <a:rPr lang="en-US" sz="1200" dirty="0">
                    <a:effectLst/>
                  </a:rPr>
                  <a:t> of 1.51%. Changes in the MFR of the PPC/PP slices were not obvious when the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 content was higher than 8%. These results indicate that addition of PP- </a:t>
                </a:r>
                <a:r>
                  <a:rPr lang="en-US" sz="1200" dirty="0">
                    <a:effectLst/>
                  </a:rPr>
                  <a:t>​</a:t>
                </a:r>
                <a14:m>
                  <m:oMath>
                    <m:r>
                      <m:rPr>
                        <m:sty m:val="i"/>
                      </m:rPr>
                      <a:rPr lang="en-US" sz="1200" dirty="0">
                        <a:solidFill>
                          <a:srgbClr val="000000"/>
                        </a:solidFill>
                        <a:effectLst/>
                      </a:rPr>
                      <m:t>g</m:t>
                    </m:r>
                  </m:oMath>
                </a14:m>
                <a:r>
                  <a:rPr lang="en-US" sz="1200" dirty="0">
                    <a:effectLst/>
                  </a:rPr>
                  <a:t>-(MAHco-St) could promote the compatibility, improve the interfacial adhesion strength, and inhibit the flowability between PPC and PP, consistent with the SEM and tensile strength analyses.</a:t>
                </a:r>
              </a:p>
            </p:txBody>
          </p:sp>
        </mc:Choice>
        <mc:Fallback/>
      </mc:AlternateContent>
      <p:sp>
        <p:nvSpPr>
          <p:cNvPr id="2" name="Text"/>
          <p:cNvSpPr/>
          <p:nvPr/>
        </p:nvSpPr>
        <p:spPr>
          <a:xfrm>
            <a:off x="1524000" y="4191000"/>
            <a:ext cx="9144000" cy="342900"/>
          </a:xfrm>
          <a:prstGeom prst="rect">
            <a:avLst/>
          </a:prstGeom>
        </p:spPr>
        <p:txBody>
          <a:bodyPr anchor="t" lIns="0" tIns="0" rIns="0" bIns="0">
            <a:noAutofit/>
          </a:bodyPr>
          <a:lstStyle/>
          <a:p>
            <a:pPr>
              <a:lnSpc>
                <a:spcPct val="120000"/>
              </a:lnSpc>
            </a:pPr>
            <a:r>
              <a:rPr lang="en-US" sz="1800" dirty="0" b="1">
                <a:effectLst/>
              </a:rPr>
              <a:t>Thermal properties</a:t>
            </a:r>
          </a:p>
        </p:txBody>
      </p:sp>
      <mc:AlternateContent xmlns:mc="http://schemas.openxmlformats.org/markup-compatibility/2006">
        <mc:Choice xmlns:a14="http://schemas.microsoft.com/office/drawing/2010/main" Requires="a14">
          <p:sp>
            <p:nvSpPr>
              <p:cNvPr id="2" name="Text"/>
              <p:cNvSpPr/>
              <p:nvPr/>
            </p:nvSpPr>
            <p:spPr>
              <a:xfrm>
                <a:off x="1524000" y="4723639"/>
                <a:ext cx="9144000" cy="1143000"/>
              </a:xfrm>
              <a:prstGeom prst="rect">
                <a:avLst/>
              </a:prstGeom>
            </p:spPr>
            <p:txBody>
              <a:bodyPr anchor="t" lIns="0" tIns="0" rIns="0" bIns="0">
                <a:noAutofit/>
              </a:bodyPr>
              <a:lstStyle/>
              <a:p>
                <a:pPr>
                  <a:lnSpc>
                    <a:spcPct val="120000"/>
                  </a:lnSpc>
                </a:pPr>
                <a:r>
                  <a:rPr lang="en-US" sz="1200" dirty="0">
                    <a:effectLst/>
                  </a:rPr>
                  <a:t>The DSC curves of PPC/PP-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PP</m:t>
                    </m:r>
                  </m:oMath>
                </a14:m>
                <a:r>
                  <a:rPr lang="en-US" sz="1200" dirty="0">
                    <a:effectLst/>
                  </a:rPr>
                  <a:t> slices are shown in Figure 5, and data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are shown in Table 2.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oMath>
                </a14:m>
                <a:r>
                  <a:rPr lang="en-US" sz="1200" dirty="0">
                    <a:effectLst/>
                  </a:rPr>
                  <a:t> of the PPC/PP slices did not change after the addition of PP- </a:t>
                </a:r>
                <a:r>
                  <a:rPr lang="en-US" sz="1200" dirty="0">
                    <a:effectLst/>
                  </a:rPr>
                  <a:t>​</a:t>
                </a:r>
                <a14:m>
                  <m:oMath>
                    <m:r>
                      <m:rPr>
                        <m:sty m:val="i"/>
                      </m:rPr>
                      <a:rPr lang="en-US" sz="1200" dirty="0">
                        <a:solidFill>
                          <a:srgbClr val="000000"/>
                        </a:solidFill>
                        <a:effectLst/>
                      </a:rPr>
                      <m:t>g</m:t>
                    </m:r>
                  </m:oMath>
                </a14:m>
                <a:r>
                  <a:rPr lang="en-US" sz="1200" dirty="0">
                    <a:effectLst/>
                  </a:rPr>
                  <a:t>-(MAH-co-St).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of the PPC/PP slices after the addition of PP- </a:t>
                </a:r>
                <a:r>
                  <a:rPr lang="en-US" sz="1200" dirty="0">
                    <a:effectLst/>
                  </a:rPr>
                  <a:t>​</a:t>
                </a:r>
                <a14:m>
                  <m:oMath>
                    <m:r>
                      <m:rPr>
                        <m:sty m:val="i"/>
                      </m:rPr>
                      <a:rPr lang="en-US" sz="1200" dirty="0">
                        <a:solidFill>
                          <a:srgbClr val="000000"/>
                        </a:solidFill>
                        <a:effectLst/>
                      </a:rPr>
                      <m:t>g</m:t>
                    </m:r>
                  </m:oMath>
                </a14:m>
                <a:r>
                  <a:rPr lang="en-US" sz="1200" dirty="0">
                    <a:effectLst/>
                  </a:rPr>
                  <a:t>-(MAH-co-St) is between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24.2</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28.0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of the PPC/PP slices decreased when the content and grafting proportion of PP- </a:t>
                </a:r>
                <a:r>
                  <a:rPr lang="en-US" sz="1200" dirty="0">
                    <a:effectLst/>
                  </a:rPr>
                  <a:t>​</a:t>
                </a:r>
                <a14:m>
                  <m:oMath>
                    <m:r>
                      <m:rPr>
                        <m:sty m:val="i"/>
                      </m:rPr>
                      <a:rPr lang="en-US" sz="1200" dirty="0">
                        <a:solidFill>
                          <a:srgbClr val="000000"/>
                        </a:solidFill>
                        <a:effectLst/>
                      </a:rPr>
                      <m:t>g</m:t>
                    </m:r>
                  </m:oMath>
                </a14:m>
                <a:r>
                  <a:rPr lang="en-US" sz="1200" dirty="0">
                    <a:effectLst/>
                  </a:rPr>
                  <a:t>-(MAH</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oMath>
                </a14:m>
                <a:r>
                  <a:rPr lang="en-US" sz="1200" dirty="0">
                    <a:effectLst/>
                  </a:rPr>
                  <a:t> ) were increased and tended to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g</m:t>
                        </m:r>
                      </m:sub>
                    </m:sSub>
                  </m:oMath>
                </a14:m>
                <a:r>
                  <a:rPr lang="en-US" sz="1200" dirty="0">
                    <a:effectLst/>
                  </a:rPr>
                  <a:t> between PPC and PP.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21</m:t>
                        </m:r>
                      </m:sup>
                    </m:sSup>
                  </m:oMath>
                </a14:m>
                <a:r>
                  <a:rPr lang="en-US" sz="1200" dirty="0">
                    <a:effectLst/>
                  </a:rPr>
                  <a:t> The crystallinity of PPC/PP slices is improved with the increase in the grafting proportion and content of PP- </a:t>
                </a:r>
                <a:r>
                  <a:rPr lang="en-US" sz="1200" dirty="0">
                    <a:effectLst/>
                  </a:rPr>
                  <a:t>​</a:t>
                </a:r>
                <a14:m>
                  <m:oMath>
                    <m:r>
                      <m:rPr>
                        <m:sty m:val="i"/>
                      </m:rPr>
                      <a:rPr lang="en-US" sz="1200" dirty="0">
                        <a:solidFill>
                          <a:srgbClr val="000000"/>
                        </a:solidFill>
                        <a:effectLst/>
                      </a:rPr>
                      <m:t>g</m:t>
                    </m:r>
                  </m:oMath>
                </a14:m>
                <a:r>
                  <a:rPr lang="en-US" sz="1200" dirty="0">
                    <a:effectLst/>
                  </a:rPr>
                  <a:t>-(MAH-co-St). These findings confirm that the</a:t>
                </a:r>
              </a:p>
            </p:txBody>
          </p:sp>
        </mc:Choic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332d212e57e68fc32cac3c4dc17f45bb1276637.jpg"/>
          <p:cNvPicPr/>
          <p:nvPr/>
        </p:nvPicPr>
        <p:blipFill>
          <a:blip r:embed="rId2" cstate="print"/>
          <a:srcRect/>
          <a:stretch>
            <a:fillRect/>
          </a:stretch>
        </p:blipFill>
        <p:spPr>
          <a:xfrm>
            <a:off x="1524000" y="457200"/>
            <a:ext cx="5105400" cy="5943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Figure 2. SEM micrographs of PPC/PP slices: (a) PPC/PP (80/20) at </a:t>
                </a:r>
                <a:r>
                  <a:rPr lang="en-US" sz="1200" dirty="0">
                    <a:effectLst/>
                  </a:rPr>
                  <a:t>​</a:t>
                </a:r>
                <a14:m>
                  <m:oMath>
                    <m:r>
                      <m:rPr>
                        <m:sty m:val="p"/>
                      </m:rPr>
                      <a:rPr lang="en-US" sz="1200" dirty="0">
                        <a:solidFill>
                          <a:srgbClr val="000000"/>
                        </a:solidFill>
                        <a:effectLst/>
                      </a:rPr>
                      <m:t>1000</m:t>
                    </m:r>
                    <m:r>
                      <m:rPr>
                        <m:sty m:val="p"/>
                      </m:rPr>
                      <a:rPr lang="en-US" sz="1200" dirty="0">
                        <a:solidFill>
                          <a:srgbClr val="000000"/>
                        </a:solidFill>
                        <a:effectLst/>
                      </a:rPr>
                      <m:t>×</m:t>
                    </m:r>
                  </m:oMath>
                </a14:m>
                <a:r>
                  <a:rPr lang="en-US" sz="1200" dirty="0">
                    <a:effectLst/>
                  </a:rPr>
                  <a:t> magnification, (b) PPC/PP (80/20) at 2000× magnification, (c) PPC/PP-g-(MAH-co-St)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0.94</m:t>
                        </m:r>
                        <m:r>
                          <m:rPr>
                            <m:sty m:val="p"/>
                          </m:rPr>
                          <a:rPr lang="en-US" sz="1200" dirty="0">
                            <a:solidFill>
                              <a:srgbClr val="000000"/>
                            </a:solidFill>
                            <a:effectLst/>
                          </a:rPr>
                          <m:t>%</m:t>
                        </m:r>
                      </m:e>
                    </m:d>
                    <m:r>
                      <m:rPr>
                        <m:sty m:val="p"/>
                      </m:rPr>
                      <a:rPr lang="en-US" sz="1200" dirty="0">
                        <a:solidFill>
                          <a:srgbClr val="000000"/>
                        </a:solidFill>
                        <a:effectLst/>
                      </a:rPr>
                      <m:t>/</m:t>
                    </m:r>
                  </m:oMath>
                </a14:m>
                <a:r>
                  <a:rPr lang="en-US" sz="1200" dirty="0">
                    <a:effectLst/>
                  </a:rPr>
                  <a:t> PP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oMath>
                </a14:m>
                <a:r>
                  <a:rPr lang="en-US" sz="1200" dirty="0">
                    <a:effectLst/>
                  </a:rPr>
                  <a:t> at </a:t>
                </a:r>
                <a:r>
                  <a:rPr lang="en-US" sz="1200" dirty="0">
                    <a:effectLst/>
                  </a:rPr>
                  <a:t>​</a:t>
                </a:r>
                <a14:m>
                  <m:oMath>
                    <m:r>
                      <m:rPr>
                        <m:sty m:val="p"/>
                      </m:rPr>
                      <a:rPr lang="en-US" sz="1200" dirty="0">
                        <a:solidFill>
                          <a:srgbClr val="000000"/>
                        </a:solidFill>
                        <a:effectLst/>
                      </a:rPr>
                      <m:t>1000</m:t>
                    </m:r>
                    <m:r>
                      <m:rPr>
                        <m:sty m:val="p"/>
                      </m:rPr>
                      <a:rPr lang="en-US" sz="1200" dirty="0">
                        <a:solidFill>
                          <a:srgbClr val="000000"/>
                        </a:solidFill>
                        <a:effectLst/>
                      </a:rPr>
                      <m:t>×</m:t>
                    </m:r>
                  </m:oMath>
                </a14:m>
                <a:r>
                  <a:rPr lang="en-US" sz="1200" dirty="0">
                    <a:effectLst/>
                  </a:rPr>
                  <a:t> magnification,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d</m:t>
                    </m:r>
                    <m:r>
                      <m:rPr>
                        <m:sty m:val="p"/>
                      </m:rPr>
                      <a:rPr lang="en-US" sz="1200" dirty="0">
                        <a:solidFill>
                          <a:srgbClr val="000000"/>
                        </a:solidFill>
                        <a:effectLst/>
                      </a:rPr>
                      <m:t>)</m:t>
                    </m:r>
                  </m:oMath>
                </a14:m>
                <a:r>
                  <a:rPr lang="en-US" sz="1200" dirty="0">
                    <a:effectLst/>
                  </a:rPr>
                  <a:t> PPC/PP-g-(MAH-co-St)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e>
                    </m:d>
                  </m:oMath>
                </a14:m>
                <a:r>
                  <a:rPr lang="en-US" sz="1200" dirty="0">
                    <a:effectLst/>
                  </a:rPr>
                  <a:t> 0.94%)/PP (80/2/20) at 2000× magnification, (e) PPC/PP-g-(MAH-co-St)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oMath>
                </a14:m>
                <a:r>
                  <a:rPr lang="en-US" sz="1200" dirty="0">
                    <a:effectLst/>
                  </a:rPr>
                  <a:t> at 1000× magnification, and (f) PPC/PP-g-(MAH-co-St)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i"/>
                      </m:rPr>
                      <a:rPr lang="en-US" sz="1200" dirty="0">
                        <a:solidFill>
                          <a:srgbClr val="000000"/>
                        </a:solidFill>
                        <a:effectLst/>
                      </a:rPr>
                      <m:t>P</m:t>
                    </m:r>
                    <m:r>
                      <m:rPr>
                        <m:sty m:val="i"/>
                      </m:rPr>
                      <a:rPr lang="en-US" sz="1200" dirty="0">
                        <a:solidFill>
                          <a:srgbClr val="000000"/>
                        </a:solidFill>
                        <a:effectLst/>
                      </a:rPr>
                      <m:t>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oMath>
                </a14:m>
                <a:r>
                  <a:rPr lang="en-US" sz="1200" dirty="0">
                    <a:effectLst/>
                  </a:rPr>
                  <a:t> at 2000× magnification.</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371600"/>
                <a:ext cx="9144000" cy="228600"/>
              </a:xfrm>
              <a:prstGeom prst="rect">
                <a:avLst/>
              </a:prstGeom>
            </p:spPr>
            <p:txBody>
              <a:bodyPr anchor="t" lIns="0" tIns="0" rIns="0" bIns="0">
                <a:noAutofit/>
              </a:bodyPr>
              <a:lstStyle/>
              <a:p>
                <a:pPr>
                  <a:lnSpc>
                    <a:spcPct val="120000"/>
                  </a:lnSpc>
                </a:pPr>
                <a:r>
                  <a:rPr lang="en-US" sz="1200" dirty="0">
                    <a:effectLst/>
                  </a:rPr>
                  <a:t>compatibility of PPC/PP slices is improved by the addition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The TG and derivative thermogravimetry (DTG) curves of PPC, PP, and the PPC/PP slices are shown in Figure 6, and data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50</m:t>
                        </m:r>
                        <m:r>
                          <m:rPr>
                            <m:sty m:val="p"/>
                          </m:rPr>
                          <a:rPr lang="en-US" sz="1200" dirty="0">
                            <a:solidFill>
                              <a:srgbClr val="000000"/>
                            </a:solidFill>
                            <a:effectLst/>
                          </a:rPr>
                          <m:t>%</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95</m:t>
                        </m:r>
                        <m:r>
                          <m:rPr>
                            <m:sty m:val="p"/>
                          </m:rPr>
                          <a:rPr lang="en-US" sz="1200" dirty="0">
                            <a:solidFill>
                              <a:srgbClr val="000000"/>
                            </a:solidFill>
                            <a:effectLst/>
                          </a:rPr>
                          <m:t>%</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p</m:t>
                        </m:r>
                      </m:sub>
                    </m:sSub>
                  </m:oMath>
                </a14:m>
                <a:r>
                  <a:rPr lang="en-US" sz="1200" dirty="0">
                    <a:effectLst/>
                  </a:rPr>
                  <a:t> are shown in Table 2.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b>
                    </m:sSub>
                  </m:oMath>
                </a14:m>
                <a:r>
                  <a:rPr lang="en-US" sz="1200" dirty="0">
                    <a:effectLst/>
                  </a:rPr>
                  <a:t> of PPC was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55.5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lower than that of the PPC/PP slices when PPC was blended with PP at a ratio of 80/20 (w/w). The thermal decomposition temperatures of the PPC/ PP slices increased with increasing PP-g-(MAH-co-St) content.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b>
                    </m:sSub>
                  </m:oMath>
                </a14:m>
                <a:r>
                  <a:rPr lang="en-US" sz="1200" dirty="0">
                    <a:effectLst/>
                  </a:rPr>
                  <a:t> of the PPC/PP slices was mostly improved by 25°C by the addition of 8%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oMath>
                </a14:m>
                <a:r>
                  <a:rPr lang="en-US" sz="1200" dirty="0">
                    <a:effectLst/>
                  </a:rPr>
                  <a:t> )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oMath>
                </a14:m>
                <a:r>
                  <a:rPr lang="en-US" sz="1200" dirty="0">
                    <a:effectLst/>
                  </a:rPr>
                  <a:t> 1.51%). The thermal decomposition temperatures of the PPC/PP slices did not obviously change when the grafting proportion of PP- </a:t>
                </a:r>
                <a:r>
                  <a:rPr lang="en-US" sz="1200" dirty="0">
                    <a:effectLst/>
                  </a:rPr>
                  <a:t>​</a:t>
                </a:r>
                <a14:m>
                  <m:oMath>
                    <m:r>
                      <m:rPr>
                        <m:sty m:val="i"/>
                      </m:rPr>
                      <a:rPr lang="en-US" sz="1200" dirty="0">
                        <a:solidFill>
                          <a:srgbClr val="000000"/>
                        </a:solidFill>
                        <a:effectLst/>
                      </a:rPr>
                      <m:t>g</m:t>
                    </m:r>
                  </m:oMath>
                </a14:m>
                <a:r>
                  <a:rPr lang="en-US" sz="1200" dirty="0">
                    <a:effectLst/>
                  </a:rPr>
                  <a:t>-(MAH-co-St) was increased. PPC was easily decomposed to cyclic carbonate at low temperature, because the thermal degradation was inhibited by the reaction of PPC and the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Therefore, thermal decomposition temperatures and the thermal stability of the</a:t>
                </a:r>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e3ae3f1c1f38e842d3e1e568058fc3bc6607d57.jpg"/>
          <p:cNvPicPr/>
          <p:nvPr/>
        </p:nvPicPr>
        <p:blipFill>
          <a:blip r:embed="rId2" cstate="print"/>
          <a:srcRect/>
          <a:stretch>
            <a:fillRect/>
          </a:stretch>
        </p:blipFill>
        <p:spPr>
          <a:xfrm>
            <a:off x="1524000" y="457200"/>
            <a:ext cx="6477000" cy="5124450"/>
          </a:xfrm>
          <a:prstGeom prst="rect">
            <a:avLst/>
          </a:prstGeom>
        </p:spPr>
      </p:pic>
      <p:sp>
        <p:nvSpPr>
          <p:cNvPr id="3" name="Text"/>
          <p:cNvSpPr/>
          <p:nvPr/>
        </p:nvSpPr>
        <p:spPr>
          <a:xfrm>
            <a:off x="1524000" y="5581650"/>
            <a:ext cx="9144000" cy="228600"/>
          </a:xfrm>
          <a:prstGeom prst="rect">
            <a:avLst/>
          </a:prstGeom>
        </p:spPr>
        <p:txBody>
          <a:bodyPr anchor="t" lIns="0" tIns="0" rIns="0" bIns="0">
            <a:noAutofit/>
          </a:bodyPr>
          <a:lstStyle/>
          <a:p>
            <a:pPr>
              <a:lnSpc>
                <a:spcPct val="120000"/>
              </a:lnSpc>
            </a:pPr>
            <a:r>
              <a:rPr lang="en-US" sz="1200" dirty="0">
                <a:effectLst/>
              </a:rPr>
              <a:t>Figure 3. Tensile properties of PPC/PP slices with PP-g-(MAH-co-St).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22875d4debe882250bdb83aeb872623480d8c5b.jpg"/>
          <p:cNvPicPr/>
          <p:nvPr/>
        </p:nvPicPr>
        <p:blipFill>
          <a:blip r:embed="rId2" cstate="print"/>
          <a:srcRect/>
          <a:stretch>
            <a:fillRect/>
          </a:stretch>
        </p:blipFill>
        <p:spPr>
          <a:xfrm>
            <a:off x="1524000" y="457200"/>
            <a:ext cx="6791325" cy="5438775"/>
          </a:xfrm>
          <a:prstGeom prst="rect">
            <a:avLst/>
          </a:prstGeom>
        </p:spPr>
      </p:pic>
      <p:sp>
        <p:nvSpPr>
          <p:cNvPr id="3" name="Text"/>
          <p:cNvSpPr/>
          <p:nvPr/>
        </p:nvSpPr>
        <p:spPr>
          <a:xfrm>
            <a:off x="1524000" y="5895975"/>
            <a:ext cx="9144000" cy="228600"/>
          </a:xfrm>
          <a:prstGeom prst="rect">
            <a:avLst/>
          </a:prstGeom>
        </p:spPr>
        <p:txBody>
          <a:bodyPr anchor="t" lIns="0" tIns="0" rIns="0" bIns="0">
            <a:noAutofit/>
          </a:bodyPr>
          <a:lstStyle/>
          <a:p>
            <a:pPr>
              <a:lnSpc>
                <a:spcPct val="120000"/>
              </a:lnSpc>
            </a:pPr>
            <a:r>
              <a:rPr lang="en-US" sz="1200" dirty="0">
                <a:effectLst/>
              </a:rPr>
              <a:t>Figure 4. MFRs of PPC/PP slices with PP-g-(MAH-co-St).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0b608467fbe721d0f8ff72963cc11c5f4ca08de.jpg"/>
          <p:cNvPicPr/>
          <p:nvPr/>
        </p:nvPicPr>
        <p:blipFill>
          <a:blip r:embed="rId2" cstate="print"/>
          <a:srcRect/>
          <a:stretch>
            <a:fillRect/>
          </a:stretch>
        </p:blipFill>
        <p:spPr>
          <a:xfrm>
            <a:off x="1524000" y="457200"/>
            <a:ext cx="6791325" cy="3790950"/>
          </a:xfrm>
          <a:prstGeom prst="rect">
            <a:avLst/>
          </a:prstGeom>
        </p:spPr>
      </p:pic>
      <p:sp>
        <p:nvSpPr>
          <p:cNvPr id="3" name="Text"/>
          <p:cNvSpPr/>
          <p:nvPr/>
        </p:nvSpPr>
        <p:spPr>
          <a:xfrm>
            <a:off x="1524000" y="4248150"/>
            <a:ext cx="9144000" cy="228600"/>
          </a:xfrm>
          <a:prstGeom prst="rect">
            <a:avLst/>
          </a:prstGeom>
        </p:spPr>
        <p:txBody>
          <a:bodyPr anchor="t" lIns="0" tIns="0" rIns="0" bIns="0">
            <a:noAutofit/>
          </a:bodyPr>
          <a:lstStyle/>
          <a:p>
            <a:pPr>
              <a:lnSpc>
                <a:spcPct val="120000"/>
              </a:lnSpc>
            </a:pPr>
            <a:r>
              <a:rPr lang="en-US" sz="1200" dirty="0">
                <a:effectLst/>
              </a:rPr>
              <a:t>Figure 5. DSC curves of PP and PPC/PP slices.</a:t>
            </a:r>
          </a:p>
        </p:txBody>
      </p:sp>
      <mc:AlternateContent xmlns:mc="http://schemas.openxmlformats.org/markup-compatibility/2006">
        <mc:Choice xmlns:a14="http://schemas.microsoft.com/office/drawing/2010/main" Requires="a14">
          <p:sp>
            <p:nvSpPr>
              <p:cNvPr id="2" name="Text"/>
              <p:cNvSpPr/>
              <p:nvPr/>
            </p:nvSpPr>
            <p:spPr>
              <a:xfrm>
                <a:off x="1524000" y="4476750"/>
                <a:ext cx="9144000" cy="228600"/>
              </a:xfrm>
              <a:prstGeom prst="rect">
                <a:avLst/>
              </a:prstGeom>
            </p:spPr>
            <p:txBody>
              <a:bodyPr anchor="t" lIns="0" tIns="0" rIns="0" bIns="0">
                <a:noAutofit/>
              </a:bodyPr>
              <a:lstStyle/>
              <a:p>
                <a:pPr>
                  <a:lnSpc>
                    <a:spcPct val="120000"/>
                  </a:lnSpc>
                </a:pPr>
                <a:r>
                  <a:rPr lang="en-US" sz="1200" dirty="0">
                    <a:effectLst/>
                  </a:rPr>
                  <a:t>PPC/PP slices can be improved and the processing temperature range can be expanded by the addition of PP- </a:t>
                </a:r>
                <a:r>
                  <a:rPr lang="en-US" sz="1200" dirty="0">
                    <a:effectLst/>
                  </a:rPr>
                  <a:t>​</a:t>
                </a:r>
                <a14:m>
                  <m:oMath>
                    <m:r>
                      <m:rPr>
                        <m:sty m:val="i"/>
                      </m:rPr>
                      <a:rPr lang="en-US" sz="1200" dirty="0">
                        <a:solidFill>
                          <a:srgbClr val="000000"/>
                        </a:solidFill>
                        <a:effectLst/>
                      </a:rPr>
                      <m:t>g</m:t>
                    </m:r>
                  </m:oMath>
                </a14:m>
                <a:r>
                  <a:rPr lang="en-US" sz="1200" dirty="0">
                    <a:effectLst/>
                  </a:rPr>
                  <a:t>-(MAH-co-St).</a:t>
                </a:r>
              </a:p>
            </p:txBody>
          </p:sp>
        </mc:Choice>
        <mc:Fallback/>
      </mc:AlternateContent>
      <p:sp>
        <p:nvSpPr>
          <p:cNvPr id="2" name="Text"/>
          <p:cNvSpPr/>
          <p:nvPr/>
        </p:nvSpPr>
        <p:spPr>
          <a:xfrm>
            <a:off x="1524000" y="4857750"/>
            <a:ext cx="9144000" cy="342900"/>
          </a:xfrm>
          <a:prstGeom prst="rect">
            <a:avLst/>
          </a:prstGeom>
        </p:spPr>
        <p:txBody>
          <a:bodyPr anchor="t" lIns="0" tIns="0" rIns="0" bIns="0">
            <a:noAutofit/>
          </a:bodyPr>
          <a:lstStyle/>
          <a:p>
            <a:pPr>
              <a:lnSpc>
                <a:spcPct val="120000"/>
              </a:lnSpc>
            </a:pPr>
            <a:r>
              <a:rPr lang="en-US" sz="1800" dirty="0" b="1">
                <a:effectLst/>
              </a:rPr>
              <a:t>Degradation properties</a:t>
            </a:r>
          </a:p>
        </p:txBody>
      </p:sp>
      <p:sp>
        <p:nvSpPr>
          <p:cNvPr id="2" name="Text"/>
          <p:cNvSpPr/>
          <p:nvPr/>
        </p:nvSpPr>
        <p:spPr>
          <a:xfrm>
            <a:off x="1524000" y="5390389"/>
            <a:ext cx="9144000" cy="228600"/>
          </a:xfrm>
          <a:prstGeom prst="rect">
            <a:avLst/>
          </a:prstGeom>
        </p:spPr>
        <p:txBody>
          <a:bodyPr anchor="t" lIns="0" tIns="0" rIns="0" bIns="0">
            <a:noAutofit/>
          </a:bodyPr>
          <a:lstStyle/>
          <a:p>
            <a:pPr>
              <a:lnSpc>
                <a:spcPct val="120000"/>
              </a:lnSpc>
            </a:pPr>
            <a:r>
              <a:rPr lang="en-US" sz="1200" dirty="0">
                <a:effectLst/>
              </a:rPr>
              <a:t>The degradation rates of PPC, PP, and the PPC/PP slices in PBS are shown in Table 3. After 30 days, about 4.30% of</a:t>
            </a:r>
          </a:p>
        </p:txBody>
      </p:sp>
      <p:sp>
        <p:nvSpPr>
          <p:cNvPr id="2" name="Text"/>
          <p:cNvSpPr/>
          <p:nvPr/>
        </p:nvSpPr>
        <p:spPr>
          <a:xfrm>
            <a:off x="1524000" y="5771389"/>
            <a:ext cx="9144000" cy="228600"/>
          </a:xfrm>
          <a:prstGeom prst="rect">
            <a:avLst/>
          </a:prstGeom>
        </p:spPr>
        <p:txBody>
          <a:bodyPr anchor="t" lIns="0" tIns="0" rIns="0" bIns="0">
            <a:noAutofit/>
          </a:bodyPr>
          <a:lstStyle/>
          <a:p>
            <a:pPr>
              <a:lnSpc>
                <a:spcPct val="120000"/>
              </a:lnSpc>
            </a:pPr>
            <a:r>
              <a:rPr lang="en-US" sz="1200" dirty="0">
                <a:effectLst/>
              </a:rPr>
              <a:t>Table 2. Thermal properties of PP and PPC/PP slices.</a:t>
            </a:r>
          </a:p>
        </p:txBody>
      </p:sp>
      <p:graphicFrame>
        <p:nvGraphicFramePr>
          <p:cNvPr id="3" name="Table"/>
          <p:cNvGraphicFramePr>
            <a:graphicFrameLocks noGrp="1"/>
          </p:cNvGraphicFramePr>
          <p:nvPr/>
        </p:nvGraphicFramePr>
        <p:xfrm>
          <a:off x="1628775" y="5999989"/>
          <a:ext cx="8943975" cy="266700"/>
        </p:xfrm>
        <a:graphic>
          <a:graphicData uri="http://schemas.openxmlformats.org/drawingml/2006/table">
            <a:tbl>
              <a:tblPr firstRow="1" firstCol="1" bandRow="1">
                <a:tableStyleId>{5940675A-B579-460E-94D1-54222C63F5DA}</a:tableStyleId>
              </a:tblPr>
              <a:tblGrid>
                <a:gridCol w="2505075"/>
                <a:gridCol w="676275"/>
                <a:gridCol w="723900"/>
                <a:gridCol w="866775"/>
                <a:gridCol w="933450"/>
                <a:gridCol w="933450"/>
                <a:gridCol w="685800"/>
                <a:gridCol w="981075"/>
                <a:gridCol w="63817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1628775" y="457200"/>
              <a:ext cx="8943975" cy="1905000"/>
            </p:xfrm>
            <a:graphic>
              <a:graphicData uri="http://schemas.openxmlformats.org/drawingml/2006/table">
                <a:tbl>
                  <a:tblPr firstRow="1" firstCol="1" bandRow="1">
                    <a:tableStyleId>{5940675A-B579-460E-94D1-54222C63F5DA}</a:tableStyleId>
                  </a:tblPr>
                  <a:tblGrid>
                    <a:gridCol w="2505075"/>
                    <a:gridCol w="676275"/>
                    <a:gridCol w="723900"/>
                    <a:gridCol w="866775"/>
                    <a:gridCol w="933450"/>
                    <a:gridCol w="933450"/>
                    <a:gridCol w="685800"/>
                    <a:gridCol w="981075"/>
                    <a:gridCol w="638175"/>
                  </a:tblGrid>
                  <a:tr h="266700">
                    <a:tc>
                      <a:txBody>
                        <a:bodyPr anchor="t" lIns="76200" tIns="15240" rIns="0" bIns="0">
                          <a:noAutofit/>
                        </a:bodyPr>
                        <a:lstStyle/>
                        <a:p>
                          <a:pPr algn="l"/>
                          <a:r>
                            <a:rPr lang="en-US" sz="1200" dirty="0">
                              <a:effectLst/>
                            </a:rPr>
                            <a:t>Materials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g</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m:t>
                                    </m:r>
                                    <m:r>
                                      <m:rPr>
                                        <m:sty m:val="p"/>
                                      </m:rPr>
                                      <a:rPr lang="en-US" sz="1200" dirty="0">
                                        <a:solidFill>
                                          <a:srgbClr val="000000"/>
                                        </a:solidFill>
                                        <a:effectLst/>
                                      </a:rPr>
                                      <m:t>%</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50</m:t>
                                    </m:r>
                                    <m:r>
                                      <m:rPr>
                                        <m:sty m:val="p"/>
                                      </m:rPr>
                                      <a:rPr lang="en-US" sz="1200" dirty="0">
                                        <a:solidFill>
                                          <a:srgbClr val="000000"/>
                                        </a:solidFill>
                                        <a:effectLst/>
                                      </a:rPr>
                                      <m:t>%</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t>
                                    </m:r>
                                    <m:r>
                                      <m:rPr>
                                        <m:sty m:val="p"/>
                                      </m:rPr>
                                      <a:rPr lang="en-US" sz="1200" dirty="0">
                                        <a:solidFill>
                                          <a:srgbClr val="000000"/>
                                        </a:solidFill>
                                        <a:effectLst/>
                                      </a:rPr>
                                      <m:t>95</m:t>
                                    </m:r>
                                    <m:r>
                                      <m:rPr>
                                        <m:sty m:val="p"/>
                                      </m:rPr>
                                      <a:rPr lang="en-US" sz="1200" dirty="0">
                                        <a:solidFill>
                                          <a:srgbClr val="000000"/>
                                        </a:solidFill>
                                        <a:effectLst/>
                                      </a:rPr>
                                      <m:t>%</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p</m:t>
                                    </m:r>
                                  </m:sub>
                                </m:sSub>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e>
                                </m:d>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Δ</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i"/>
                                      </m:rPr>
                                      <a:rPr lang="en-US" sz="1200" dirty="0">
                                        <a:solidFill>
                                          <a:srgbClr val="000000"/>
                                        </a:solidFill>
                                        <a:effectLst/>
                                      </a:rPr>
                                      <m:t>m</m:t>
                                    </m:r>
                                  </m:sub>
                                </m:sSub>
                                <m:r>
                                  <m:rPr>
                                    <m:sty m:val="p"/>
                                  </m:rPr>
                                  <a:rPr lang="en-US" sz="1200" dirty="0">
                                    <a:solidFill>
                                      <a:srgbClr val="000000"/>
                                    </a:solidFill>
                                    <a:effectLst/>
                                  </a:rPr>
                                  <m:t>(</m:t>
                                </m:r>
                                <m:r>
                                  <m:rPr>
                                    <m:sty m:val="p"/>
                                  </m:rPr>
                                  <a:rPr lang="en-US" sz="1200" dirty="0">
                                    <a:solidFill>
                                      <a:srgbClr val="000000"/>
                                    </a:solidFill>
                                    <a:effectLst/>
                                  </a:rPr>
                                  <m:t xml:space="preserve"> </m:t>
                                </m:r>
                                <m:r>
                                  <m:rPr>
                                    <m:sty m:val="p"/>
                                  </m:rPr>
                                  <a:rPr lang="en-US" sz="1200" dirty="0">
                                    <a:solidFill>
                                      <a:srgbClr val="000000"/>
                                    </a:solidFill>
                                    <a:effectLst/>
                                  </a:rPr>
                                  <m:t>J</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i"/>
                                      </m:rPr>
                                      <a:rPr lang="en-US" sz="1200" dirty="0">
                                        <a:solidFill>
                                          <a:srgbClr val="000000"/>
                                        </a:solidFill>
                                        <a:effectLst/>
                                      </a:rPr>
                                      <m:t>c</m:t>
                                    </m:r>
                                  </m:sub>
                                </m:sSub>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PPC/PP-g-(MAH-co-St) </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0.94</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19.64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 </m:t>
                                      </m:r>
                                      <m:r>
                                        <m:rPr>
                                          <m:sty m:val="p"/>
                                        </m:rPr>
                                        <a:rPr lang="en-US" sz="1200" dirty="0">
                                          <a:solidFill>
                                            <a:srgbClr val="000000"/>
                                          </a:solidFill>
                                          <a:effectLst/>
                                        </a:rPr>
                                        <m:t>(</m:t>
                                      </m:r>
                                      <m:r>
                                        <m:rPr>
                                          <m:sty m:val="p"/>
                                        </m:rPr>
                                        <a:rPr lang="en-US" sz="1200" dirty="0">
                                          <a:solidFill>
                                            <a:srgbClr val="000000"/>
                                          </a:solidFill>
                                          <a:effectLst/>
                                        </a:rPr>
                                        <m:t> MAH-co-St </m:t>
                                      </m:r>
                                      <m:r>
                                        <m:rPr>
                                          <m:sty m:val="p"/>
                                        </m:rPr>
                                        <a:rPr lang="en-US" sz="1200" dirty="0">
                                          <a:solidFill>
                                            <a:srgbClr val="000000"/>
                                          </a:solidFill>
                                          <a:effectLst/>
                                        </a:rPr>
                                        <m:t>)</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 PP </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375.5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 </m:t>
                                      </m:r>
                                      <m:r>
                                        <m:rPr>
                                          <m:sty m:val="p"/>
                                        </m:rPr>
                                        <a:rPr lang="en-US" sz="1200" dirty="0">
                                          <a:solidFill>
                                            <a:srgbClr val="000000"/>
                                          </a:solidFill>
                                          <a:effectLst/>
                                        </a:rPr>
                                        <m:t>(</m:t>
                                      </m:r>
                                      <m:r>
                                        <m:rPr>
                                          <m:sty m:val="p"/>
                                        </m:rPr>
                                        <a:rPr lang="en-US" sz="1200" dirty="0">
                                          <a:solidFill>
                                            <a:srgbClr val="000000"/>
                                          </a:solidFill>
                                          <a:effectLst/>
                                        </a:rPr>
                                        <m:t> MAH-co-St </m:t>
                                      </m:r>
                                      <m:r>
                                        <m:rPr>
                                          <m:sty m:val="p"/>
                                        </m:rPr>
                                        <a:rPr lang="en-US" sz="1200" dirty="0">
                                          <a:solidFill>
                                            <a:srgbClr val="000000"/>
                                          </a:solidFill>
                                          <a:effectLst/>
                                        </a:rPr>
                                        <m:t>)</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 PP </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407.7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21.29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162.6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94.04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362200"/>
            <a:ext cx="9144000" cy="228600"/>
          </a:xfrm>
          <a:prstGeom prst="rect">
            <a:avLst/>
          </a:prstGeom>
        </p:spPr>
        <p:txBody>
          <a:bodyPr anchor="t" lIns="0" tIns="0" rIns="0" bIns="0">
            <a:noAutofit/>
          </a:bodyPr>
          <a:lstStyle/>
          <a:p>
            <a:pPr>
              <a:lnSpc>
                <a:spcPct val="120000"/>
              </a:lnSpc>
            </a:pPr>
            <a:r>
              <a:rPr lang="en-US" sz="1200" dirty="0">
                <a:effectLst/>
              </a:rPr>
              <a:t>PPC: poly(propylene carbonate); PP: polypropylene; MAH: maleic anhydride; St: styrene.</a:t>
            </a:r>
          </a:p>
        </p:txBody>
      </p:sp>
      <p:pic>
        <p:nvPicPr>
          <p:cNvPr id="2" name="image-7ec1de10b1032629f458b6dcbc30360bbfb782d0.jpg"/>
          <p:cNvPicPr/>
          <p:nvPr/>
        </p:nvPicPr>
        <p:blipFill>
          <a:blip r:embed="rId2" cstate="print"/>
          <a:srcRect/>
          <a:stretch>
            <a:fillRect/>
          </a:stretch>
        </p:blipFill>
        <p:spPr>
          <a:xfrm>
            <a:off x="1524000" y="2743200"/>
            <a:ext cx="9144000" cy="2819400"/>
          </a:xfrm>
          <a:prstGeom prst="rect">
            <a:avLst/>
          </a:prstGeom>
        </p:spPr>
      </p:pic>
      <p:sp>
        <p:nvSpPr>
          <p:cNvPr id="3" name="Text"/>
          <p:cNvSpPr/>
          <p:nvPr/>
        </p:nvSpPr>
        <p:spPr>
          <a:xfrm>
            <a:off x="1524000" y="5562600"/>
            <a:ext cx="9144000" cy="228600"/>
          </a:xfrm>
          <a:prstGeom prst="rect">
            <a:avLst/>
          </a:prstGeom>
        </p:spPr>
        <p:txBody>
          <a:bodyPr anchor="t" lIns="0" tIns="0" rIns="0" bIns="0">
            <a:noAutofit/>
          </a:bodyPr>
          <a:lstStyle/>
          <a:p>
            <a:pPr>
              <a:lnSpc>
                <a:spcPct val="120000"/>
              </a:lnSpc>
            </a:pPr>
            <a:r>
              <a:rPr lang="en-US" sz="1200" dirty="0">
                <a:effectLst/>
              </a:rPr>
              <a:t>Figure 6. (a) TG and (b) DTG curves of PPC, PP, and the PPC/PP slices.</a:t>
            </a:r>
          </a:p>
        </p:txBody>
      </p:sp>
      <p:sp>
        <p:nvSpPr>
          <p:cNvPr id="2" name="Text"/>
          <p:cNvSpPr/>
          <p:nvPr/>
        </p:nvSpPr>
        <p:spPr>
          <a:xfrm>
            <a:off x="1524000" y="5791200"/>
            <a:ext cx="9144000" cy="228600"/>
          </a:xfrm>
          <a:prstGeom prst="rect">
            <a:avLst/>
          </a:prstGeom>
        </p:spPr>
        <p:txBody>
          <a:bodyPr anchor="t" lIns="0" tIns="0" rIns="0" bIns="0">
            <a:noAutofit/>
          </a:bodyPr>
          <a:lstStyle/>
          <a:p>
            <a:pPr>
              <a:lnSpc>
                <a:spcPct val="120000"/>
              </a:lnSpc>
            </a:pPr>
            <a:r>
              <a:rPr lang="en-US" sz="1200" dirty="0">
                <a:effectLst/>
              </a:rPr>
              <a:t>Table 3. Degradation rate of PPC, PP, and the PPC/PP slices.</a:t>
            </a:r>
          </a:p>
        </p:txBody>
      </p:sp>
      <p:graphicFrame>
        <p:nvGraphicFramePr>
          <p:cNvPr id="3" name="Table"/>
          <p:cNvGraphicFramePr>
            <a:graphicFrameLocks noGrp="1"/>
          </p:cNvGraphicFramePr>
          <p:nvPr/>
        </p:nvGraphicFramePr>
        <p:xfrm>
          <a:off x="1543050" y="6019800"/>
          <a:ext cx="9105900" cy="266700"/>
        </p:xfrm>
        <a:graphic>
          <a:graphicData uri="http://schemas.openxmlformats.org/drawingml/2006/table">
            <a:tbl>
              <a:tblPr firstRow="1" firstCol="1" bandRow="1">
                <a:tableStyleId>{5940675A-B579-460E-94D1-54222C63F5DA}</a:tableStyleId>
              </a:tblPr>
              <a:tblGrid>
                <a:gridCol w="2419350"/>
                <a:gridCol w="1323975"/>
                <a:gridCol w="1333500"/>
                <a:gridCol w="1333500"/>
                <a:gridCol w="1343025"/>
                <a:gridCol w="13430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mpd="sng">
                      <a:noFill/>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1543050" y="457200"/>
              <a:ext cx="9105900" cy="2667000"/>
            </p:xfrm>
            <a:graphic>
              <a:graphicData uri="http://schemas.openxmlformats.org/drawingml/2006/table">
                <a:tbl>
                  <a:tblPr firstRow="1" firstCol="1" bandRow="1">
                    <a:tableStyleId>{5940675A-B579-460E-94D1-54222C63F5DA}</a:tableStyleId>
                  </a:tblPr>
                  <a:tblGrid>
                    <a:gridCol w="2419350"/>
                    <a:gridCol w="1323975"/>
                    <a:gridCol w="1333500"/>
                    <a:gridCol w="1333500"/>
                    <a:gridCol w="1343025"/>
                    <a:gridCol w="1343025"/>
                  </a:tblGrid>
                  <a:tr h="495300">
                    <a:tc>
                      <a:txBody>
                        <a:bodyPr anchor="t" lIns="76200" tIns="15240" rIns="0" bIns="0">
                          <a:noAutofit/>
                        </a:bodyPr>
                        <a:lstStyle/>
                        <a:p>
                          <a:pPr algn="l"/>
                          <a:r>
                            <a:rPr lang="en-US" sz="1200" dirty="0">
                              <a:effectLst/>
                            </a:rPr>
                            <a:t>Materials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Degradation rate after 6 days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Degradation rate after 12 days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Degradation rate after 18 days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Degradation rate after 24 days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Degradation rate after 30 days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PPC/PP (80/20)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PPC/PP-g-(MAH-co-St) </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0.94</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PPC/PP-g-(MAH-co-St) </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57200">
                    <a:tc>
                      <a:txBody>
                        <a:bodyPr anchor="ctr" lIns="76200" tIns="15240" rIns="0" bIns="0">
                          <a:noAutofit/>
                        </a:bodyPr>
                        <a:lstStyle/>
                        <a:p>
                          <a:pPr algn="ctr"/>
                          <a14:m>
                            <m:oMathPara>
                              <m:oMath>
                                <m:m>
                                  <m:mPr>
                                    <m:plcHide m:val="1"/>
                                    <m:cGpRule m:val="4"/>
                                    <m:mcs>
                                      <m:mc>
                                        <m:mcPr>
                                          <m:count m:val="1"/>
                                          <m:mcJc m:val="right"/>
                                        </m:mcPr>
                                      </m:mc>
                                      <m:mc>
                                        <m:mcPr>
                                          <m:count m:val="1"/>
                                          <m:mcJc m:val="left"/>
                                        </m:mcPr>
                                      </m:mc>
                                    </m:mcs>
                                    <m:ctrlPr>
                                      <a:rPr sz="1200" i="1">
                                        <a:latin typeface="Cambria Math" panose="02040503050406030204" pitchFamily="18" charset="0"/>
                                      </a:rPr>
                                    </m:ctrlPr>
                                  </m:mPr>
                                  <m:mr>
                                    <m:e>
                                      <m:r>
                                        <m:t xml:space="preserve"> </m:t>
                                      </m:r>
                                    </m:e>
                                    <m:e>
                                      <m:r>
                                        <m:rPr>
                                          <m:sty m:val="p"/>
                                        </m:rPr>
                                        <a:rPr lang="en-US" sz="1200" dirty="0">
                                          <a:solidFill>
                                            <a:srgbClr val="000000"/>
                                          </a:solidFill>
                                          <a:effectLst/>
                                        </a:rPr>
                                        <m:t> PPC/PP-g-(MAH-co-St) </m:t>
                                      </m:r>
                                    </m:e>
                                  </m:mr>
                                  <m:mr>
                                    <m:e>
                                      <m:r>
                                        <m:t xml:space="preserve"> </m:t>
                                      </m:r>
                                    </m:e>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r>
                                        <m:rPr>
                                          <m:sty m:val="p"/>
                                        </m:rPr>
                                        <a:rPr lang="en-US" sz="1200" dirty="0">
                                          <a:solidFill>
                                            <a:srgbClr val="000000"/>
                                          </a:solidFill>
                                          <a:effectLst/>
                                        </a:rPr>
                                        <m:t>/</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8</m:t>
                                      </m:r>
                                      <m:r>
                                        <m:rPr>
                                          <m:sty m:val="p"/>
                                        </m:rPr>
                                        <a:rPr lang="en-US" sz="1200" dirty="0">
                                          <a:solidFill>
                                            <a:srgbClr val="000000"/>
                                          </a:solidFill>
                                          <a:effectLst/>
                                        </a:rPr>
                                        <m:t>/</m:t>
                                      </m:r>
                                      <m:r>
                                        <m:rPr>
                                          <m:sty m:val="p"/>
                                        </m:rPr>
                                        <a:rPr lang="en-US" sz="1200" dirty="0">
                                          <a:solidFill>
                                            <a:srgbClr val="000000"/>
                                          </a:solidFill>
                                          <a:effectLst/>
                                        </a:rPr>
                                        <m:t>20</m:t>
                                      </m:r>
                                      <m:r>
                                        <m:rPr>
                                          <m:sty m:val="p"/>
                                        </m:rPr>
                                        <a:rPr lang="en-US" sz="1200" dirty="0">
                                          <a:solidFill>
                                            <a:srgbClr val="000000"/>
                                          </a:solidFill>
                                          <a:effectLst/>
                                        </a:rPr>
                                        <m:t>)</m:t>
                                      </m:r>
                                    </m:e>
                                  </m:mr>
                                </m:m>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124200"/>
            <a:ext cx="9144000" cy="228600"/>
          </a:xfrm>
          <a:prstGeom prst="rect">
            <a:avLst/>
          </a:prstGeom>
        </p:spPr>
        <p:txBody>
          <a:bodyPr anchor="t" lIns="0" tIns="0" rIns="0" bIns="0">
            <a:noAutofit/>
          </a:bodyPr>
          <a:lstStyle/>
          <a:p>
            <a:pPr>
              <a:lnSpc>
                <a:spcPct val="120000"/>
              </a:lnSpc>
            </a:pPr>
            <a:r>
              <a:rPr lang="en-US" sz="1200" dirty="0">
                <a:effectLst/>
              </a:rPr>
              <a:t>PPC: poly(propylene carbonate); PP: polypropylene; MAH: maleic anhydride; St: styrene.</a:t>
            </a:r>
          </a:p>
        </p:txBody>
      </p:sp>
      <p:pic>
        <p:nvPicPr>
          <p:cNvPr id="2" name="image-9d6a2ae6298207ef863fd3378cc6f2e6a1100118.jpg"/>
          <p:cNvPicPr/>
          <p:nvPr/>
        </p:nvPicPr>
        <p:blipFill>
          <a:blip r:embed="rId2" cstate="print"/>
          <a:srcRect/>
          <a:stretch>
            <a:fillRect/>
          </a:stretch>
        </p:blipFill>
        <p:spPr>
          <a:xfrm>
            <a:off x="1524000" y="3505200"/>
            <a:ext cx="9144000" cy="2295525"/>
          </a:xfrm>
          <a:prstGeom prst="rect">
            <a:avLst/>
          </a:prstGeom>
        </p:spPr>
      </p:pic>
      <p:sp>
        <p:nvSpPr>
          <p:cNvPr id="3" name="Text"/>
          <p:cNvSpPr/>
          <p:nvPr/>
        </p:nvSpPr>
        <p:spPr>
          <a:xfrm>
            <a:off x="1524000" y="5800725"/>
            <a:ext cx="9144000" cy="228600"/>
          </a:xfrm>
          <a:prstGeom prst="rect">
            <a:avLst/>
          </a:prstGeom>
        </p:spPr>
        <p:txBody>
          <a:bodyPr anchor="t" lIns="0" tIns="0" rIns="0" bIns="0">
            <a:noAutofit/>
          </a:bodyPr>
          <a:lstStyle/>
          <a:p>
            <a:pPr>
              <a:lnSpc>
                <a:spcPct val="120000"/>
              </a:lnSpc>
            </a:pPr>
            <a:r>
              <a:rPr lang="en-US" sz="1200" dirty="0">
                <a:effectLst/>
              </a:rPr>
              <a:t>Figure 7. Reaction equation of PPC and PP-g-(MAH-co-St).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PPC was degradable, while none of the PP and PP- </a:t>
                </a:r>
                <a:r>
                  <a:rPr lang="en-US" sz="1200" dirty="0">
                    <a:effectLst/>
                  </a:rPr>
                  <a:t>​</a:t>
                </a:r>
                <a14:m>
                  <m:oMath>
                    <m:r>
                      <m:rPr>
                        <m:sty m:val="i"/>
                      </m:rPr>
                      <a:rPr lang="en-US" sz="1200" dirty="0">
                        <a:solidFill>
                          <a:srgbClr val="000000"/>
                        </a:solidFill>
                        <a:effectLst/>
                      </a:rPr>
                      <m:t>g</m:t>
                    </m:r>
                  </m:oMath>
                </a14:m>
                <a:r>
                  <a:rPr lang="en-US" sz="1200" dirty="0">
                    <a:effectLst/>
                  </a:rPr>
                  <a:t> (MAH-co-St) was degradable. The degradation rate of the PPC/PP slices was improved by the addition of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 The effect of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oMath>
                </a14:m>
                <a:r>
                  <a:rPr lang="en-US" sz="1200" dirty="0">
                    <a:effectLst/>
                  </a:rPr>
                  <a:t> was better than that of PP- </a:t>
                </a:r>
                <a:r>
                  <a:rPr lang="en-US" sz="1200" dirty="0">
                    <a:effectLst/>
                  </a:rPr>
                  <a:t>​</a:t>
                </a:r>
                <a14:m>
                  <m:oMath>
                    <m:r>
                      <m:rPr>
                        <m:sty m:val="i"/>
                      </m:rPr>
                      <a:rPr lang="en-US" sz="1200" dirty="0">
                        <a:solidFill>
                          <a:srgbClr val="000000"/>
                        </a:solidFill>
                        <a:effectLst/>
                      </a:rPr>
                      <m:t>g</m:t>
                    </m:r>
                  </m:oMath>
                </a14:m>
                <a:r>
                  <a:rPr lang="en-US" sz="1200" dirty="0">
                    <a:effectLst/>
                  </a:rPr>
                  <a:t>-(MAH</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r>
                          <m:rPr>
                            <m:sty m:val="p"/>
                          </m:rPr>
                          <a:rPr lang="en-US" sz="1200" dirty="0">
                            <a:solidFill>
                              <a:srgbClr val="000000"/>
                            </a:solidFill>
                            <a:effectLst/>
                          </a:rPr>
                          <m:t>=</m:t>
                        </m:r>
                        <m:r>
                          <m:rPr>
                            <m:sty m:val="p"/>
                          </m:rPr>
                          <a:rPr lang="en-US" sz="1200" dirty="0">
                            <a:solidFill>
                              <a:srgbClr val="000000"/>
                            </a:solidFill>
                            <a:effectLst/>
                          </a:rPr>
                          <m:t>0.94</m:t>
                        </m:r>
                        <m:r>
                          <m:rPr>
                            <m:sty m:val="p"/>
                          </m:rPr>
                          <a:rPr lang="en-US" sz="1200" dirty="0">
                            <a:solidFill>
                              <a:srgbClr val="000000"/>
                            </a:solidFill>
                            <a:effectLst/>
                          </a:rPr>
                          <m:t>%</m:t>
                        </m:r>
                      </m:e>
                    </m:d>
                  </m:oMath>
                </a14:m>
                <a:r>
                  <a:rPr lang="en-US" sz="1200" dirty="0">
                    <a:effectLst/>
                  </a:rPr>
                  <a:t> at 2% content. The degradation rate of the PPC/PP slices decreased when the PP- </a:t>
                </a:r>
                <a:r>
                  <a:rPr lang="en-US" sz="1200" dirty="0">
                    <a:effectLst/>
                  </a:rPr>
                  <a:t>​</a:t>
                </a:r>
                <a14:m>
                  <m:oMath>
                    <m:r>
                      <m:rPr>
                        <m:sty m:val="i"/>
                      </m:rPr>
                      <a:rPr lang="en-US" sz="1200" dirty="0">
                        <a:solidFill>
                          <a:srgbClr val="000000"/>
                        </a:solidFill>
                        <a:effectLst/>
                      </a:rPr>
                      <m:t>g</m:t>
                    </m:r>
                  </m:oMath>
                </a14:m>
                <a:r>
                  <a:rPr lang="en-US" sz="1200" dirty="0">
                    <a:effectLst/>
                  </a:rPr>
                  <a:t>-(MAH</a:t>
                </a:r>
                <a:r>
                  <a:rPr lang="en-US" sz="1200" dirty="0">
                    <a:effectLst/>
                  </a:rPr>
                  <a:t>​</a:t>
                </a:r>
                <a14:m>
                  <m:oMath>
                    <m:r>
                      <m:rPr>
                        <m:sty m:val="p"/>
                      </m:rPr>
                      <a:rPr lang="en-US" sz="1200" dirty="0">
                        <a:solidFill>
                          <a:srgbClr val="000000"/>
                        </a:solidFill>
                        <a:effectLst/>
                      </a:rPr>
                      <m:t>co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oMath>
                </a14:m>
                <a:r>
                  <a:rPr lang="en-US" sz="1200" dirty="0">
                    <a:effectLst/>
                  </a:rPr>
                  <a:t> content was 8%. Therefore, the degradation rate of the PPC/PP slices may decrease by the addition of excess PP- </a:t>
                </a:r>
                <a:r>
                  <a:rPr lang="en-US" sz="1200" dirty="0">
                    <a:effectLst/>
                  </a:rPr>
                  <a:t>​</a:t>
                </a:r>
                <a14:m>
                  <m:oMath>
                    <m:r>
                      <m:rPr>
                        <m:sty m:val="i"/>
                      </m:rPr>
                      <a:rPr lang="en-US" sz="1200" dirty="0">
                        <a:solidFill>
                          <a:srgbClr val="000000"/>
                        </a:solidFill>
                        <a:effectLst/>
                      </a:rPr>
                      <m:t>g</m:t>
                    </m:r>
                  </m:oMath>
                </a14:m>
                <a:r>
                  <a:rPr lang="en-US" sz="1200" dirty="0">
                    <a:effectLst/>
                  </a:rPr>
                  <a:t>-(MAH-co-St). The degradation rate of the PPC/PP slices reached 3.91% in PBS (pH = 7.7) after 30 days. PPC was degraded by chemical hydrolysis, random hydrolysis, and microbial degradation in PBS. The compatibilizer enhanced the interaction between PPC and PP by the addition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p"/>
                      </m:rPr>
                      <a:rPr lang="en-US" sz="1200" dirty="0">
                        <a:solidFill>
                          <a:srgbClr val="000000"/>
                        </a:solidFill>
                        <a:effectLst/>
                      </a:rPr>
                      <m:t>co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This expansion led to the presentation of interior surface area and allowed the PBS solution to penetrate into slices for further degradation.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22</m:t>
                        </m:r>
                      </m:sup>
                    </m:sSup>
                  </m:oMath>
                </a14:m>
                <a:r>
                  <a:rPr lang="en-US" sz="1200" dirty="0">
                    <a:effectLst/>
                  </a:rPr>
                  <a:t> These results provide basic data for the preparation of biodegradable meltblown nonwoven fabrics.</a:t>
                </a:r>
              </a:p>
            </p:txBody>
          </p:sp>
        </mc:Choice>
        <mc:Fallback/>
      </mc:AlternateContent>
      <p:sp>
        <p:nvSpPr>
          <p:cNvPr id="2" name="Text"/>
          <p:cNvSpPr/>
          <p:nvPr/>
        </p:nvSpPr>
        <p:spPr>
          <a:xfrm>
            <a:off x="1524000" y="2667000"/>
            <a:ext cx="9144000" cy="342900"/>
          </a:xfrm>
          <a:prstGeom prst="rect">
            <a:avLst/>
          </a:prstGeom>
        </p:spPr>
        <p:txBody>
          <a:bodyPr anchor="t" lIns="0" tIns="0" rIns="0" bIns="0">
            <a:noAutofit/>
          </a:bodyPr>
          <a:lstStyle/>
          <a:p>
            <a:pPr>
              <a:lnSpc>
                <a:spcPct val="120000"/>
              </a:lnSpc>
            </a:pPr>
            <a:r>
              <a:rPr lang="en-US" sz="1800" dirty="0" b="1">
                <a:effectLst/>
              </a:rPr>
              <a:t>Reaction mechanism of PPC with PP-g-(MAH-co-St)</a:t>
            </a:r>
          </a:p>
        </p:txBody>
      </p:sp>
      <mc:AlternateContent xmlns:mc="http://schemas.openxmlformats.org/markup-compatibility/2006">
        <mc:Choice xmlns:a14="http://schemas.microsoft.com/office/drawing/2010/main" Requires="a14">
          <p:sp>
            <p:nvSpPr>
              <p:cNvPr id="2" name="Text"/>
              <p:cNvSpPr/>
              <p:nvPr/>
            </p:nvSpPr>
            <p:spPr>
              <a:xfrm>
                <a:off x="1524000" y="3199639"/>
                <a:ext cx="9144000" cy="914400"/>
              </a:xfrm>
              <a:prstGeom prst="rect">
                <a:avLst/>
              </a:prstGeom>
            </p:spPr>
            <p:txBody>
              <a:bodyPr anchor="t" lIns="0" tIns="0" rIns="0" bIns="0">
                <a:noAutofit/>
              </a:bodyPr>
              <a:lstStyle/>
              <a:p>
                <a:pPr>
                  <a:lnSpc>
                    <a:spcPct val="120000"/>
                  </a:lnSpc>
                </a:pPr>
                <a:r>
                  <a:rPr lang="en-US" sz="1200" dirty="0">
                    <a:effectLst/>
                  </a:rPr>
                  <a:t>The results indicate that ring-opening reactions between the anhydride functional groups of MAH occur on the main chains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and PPC.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23</m:t>
                        </m:r>
                      </m:sup>
                    </m:sSup>
                  </m:oMath>
                </a14:m>
                <a:r>
                  <a:rPr lang="en-US" sz="1200" dirty="0">
                    <a:effectLst/>
                  </a:rPr>
                  <a:t> The</a:t>
                </a:r>
                <a:br>
                  <a:rPr lang="en-US" sz="1200" dirty="0"/>
                </a:br>
                <a:r>
                  <a:rPr lang="en-US" sz="1200" dirty="0">
                    <a:effectLst/>
                  </a:rPr>
                  <a:t> reaction equation of PPC and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 is shown in Figure 7. To confirm this ring-opening reaction, PPC and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MAH </m:t>
                            </m:r>
                          </m:sub>
                        </m:sSub>
                        <m:r>
                          <m:rPr>
                            <m:sty m:val="p"/>
                          </m:rPr>
                          <a:rPr lang="en-US" sz="1200" dirty="0">
                            <a:solidFill>
                              <a:srgbClr val="000000"/>
                            </a:solidFill>
                            <a:effectLst/>
                          </a:rPr>
                          <m:t>=</m:t>
                        </m:r>
                        <m:r>
                          <m:rPr>
                            <m:sty m:val="p"/>
                          </m:rPr>
                          <a:rPr lang="en-US" sz="1200" dirty="0">
                            <a:solidFill>
                              <a:srgbClr val="000000"/>
                            </a:solidFill>
                            <a:effectLst/>
                          </a:rPr>
                          <m:t>1.51</m:t>
                        </m:r>
                        <m:r>
                          <m:rPr>
                            <m:sty m:val="p"/>
                          </m:rPr>
                          <a:rPr lang="en-US" sz="1200" dirty="0">
                            <a:solidFill>
                              <a:srgbClr val="000000"/>
                            </a:solidFill>
                            <a:effectLst/>
                          </a:rPr>
                          <m:t>%</m:t>
                        </m:r>
                      </m:e>
                    </m:d>
                  </m:oMath>
                </a14:m>
                <a:r>
                  <a:rPr lang="en-US" sz="1200" dirty="0">
                    <a:effectLst/>
                  </a:rPr>
                  <a:t> at the ratio of 60/40 (w/w) were reacted by melt blending.</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266439"/>
                <a:ext cx="9144000" cy="685800"/>
              </a:xfrm>
              <a:prstGeom prst="rect">
                <a:avLst/>
              </a:prstGeom>
            </p:spPr>
            <p:txBody>
              <a:bodyPr anchor="t" lIns="0" tIns="0" rIns="0" bIns="0">
                <a:noAutofit/>
              </a:bodyPr>
              <a:lstStyle/>
              <a:p>
                <a:pPr>
                  <a:lnSpc>
                    <a:spcPct val="120000"/>
                  </a:lnSpc>
                </a:pPr>
                <a:r>
                  <a:rPr lang="en-US" sz="1200" dirty="0">
                    <a:effectLst/>
                  </a:rPr>
                  <a:t>The FT-IR and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NMR spectra of PP- </a:t>
                </a:r>
                <a:r>
                  <a:rPr lang="en-US" sz="1200" dirty="0">
                    <a:effectLst/>
                  </a:rPr>
                  <a:t>​</a:t>
                </a:r>
                <a14:m>
                  <m:oMath>
                    <m:r>
                      <m:rPr>
                        <m:sty m:val="i"/>
                      </m:rPr>
                      <a:rPr lang="en-US" sz="1200" dirty="0">
                        <a:solidFill>
                          <a:srgbClr val="000000"/>
                        </a:solidFill>
                        <a:effectLst/>
                      </a:rPr>
                      <m:t>g</m:t>
                    </m:r>
                  </m:oMath>
                </a14:m>
                <a:r>
                  <a:rPr lang="en-US" sz="1200" dirty="0">
                    <a:effectLst/>
                  </a:rPr>
                  <a:t>-(MAH- </a:t>
                </a:r>
                <a:r>
                  <a:rPr lang="en-US" sz="1200" dirty="0">
                    <a:effectLst/>
                  </a:rPr>
                  <a:t>​</a:t>
                </a:r>
                <a14:m>
                  <m:oMath>
                    <m:r>
                      <m:rPr>
                        <m:sty m:val="i"/>
                      </m:rPr>
                      <a:rPr lang="en-US" sz="1200" dirty="0">
                        <a:solidFill>
                          <a:srgbClr val="000000"/>
                        </a:solidFill>
                        <a:effectLst/>
                      </a:rPr>
                      <m:t>c</m:t>
                    </m:r>
                    <m:r>
                      <m:rPr>
                        <m:sty m:val="i"/>
                      </m:rPr>
                      <a:rPr lang="en-US" sz="1200" dirty="0">
                        <a:solidFill>
                          <a:srgbClr val="000000"/>
                        </a:solidFill>
                        <a:effectLst/>
                      </a:rPr>
                      <m:t>o</m:t>
                    </m:r>
                  </m:oMath>
                </a14:m>
                <a:r>
                  <a:rPr lang="en-US" sz="1200" dirty="0">
                    <a:effectLst/>
                  </a:rPr>
                  <a:t>-St) and PPC/PP- </a:t>
                </a:r>
                <a:r>
                  <a:rPr lang="en-US" sz="1200" dirty="0">
                    <a:effectLst/>
                  </a:rPr>
                  <a:t>​</a:t>
                </a:r>
                <a14:m>
                  <m:oMath>
                    <m:r>
                      <m:rPr>
                        <m:sty m:val="i"/>
                      </m:rPr>
                      <a:rPr lang="en-US" sz="1200" dirty="0">
                        <a:solidFill>
                          <a:srgbClr val="000000"/>
                        </a:solidFill>
                        <a:effectLst/>
                      </a:rPr>
                      <m:t>g</m:t>
                    </m:r>
                  </m:oMath>
                </a14:m>
                <a:r>
                  <a:rPr lang="en-US" sz="1200" dirty="0">
                    <a:effectLst/>
                  </a:rPr>
                  <a:t>-(MAH-co-St) are shown in Figures 8 and 9, respectively. As shown in Figure 8, the characteristic peak of the anhydride functional groups of MAH on the main chains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at </a:t>
                </a:r>
                <a:r>
                  <a:rPr lang="en-US" sz="1200" dirty="0">
                    <a:effectLst/>
                  </a:rPr>
                  <a:t>​</a:t>
                </a:r>
                <a14:m>
                  <m:oMath>
                    <m:r>
                      <m:rPr>
                        <m:sty m:val="p"/>
                      </m:rPr>
                      <a:rPr lang="en-US" sz="1200" dirty="0">
                        <a:solidFill>
                          <a:srgbClr val="000000"/>
                        </a:solidFill>
                        <a:effectLst/>
                      </a:rPr>
                      <m:t>1856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disappeared or shifted in PPC/PP- </a:t>
                </a:r>
                <a:r>
                  <a:rPr lang="en-US" sz="1200" dirty="0">
                    <a:effectLst/>
                  </a:rPr>
                  <a:t>​</a:t>
                </a:r>
                <a14:m>
                  <m:oMath>
                    <m:r>
                      <m:rPr>
                        <m:sty m:val="i"/>
                      </m:rPr>
                      <a:rPr lang="en-US" sz="1200" dirty="0">
                        <a:solidFill>
                          <a:srgbClr val="000000"/>
                        </a:solidFill>
                        <a:effectLst/>
                      </a:rPr>
                      <m:t>g</m:t>
                    </m:r>
                  </m:oMath>
                </a14:m>
                <a:r>
                  <a:rPr lang="en-US" sz="1200" dirty="0">
                    <a:effectLst/>
                  </a:rPr>
                  <a:t>-(MAH-co-St), thus proving that a ring-opening reaction had occurred.</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104639"/>
                <a:ext cx="9144000" cy="685800"/>
              </a:xfrm>
              <a:prstGeom prst="rect">
                <a:avLst/>
              </a:prstGeom>
            </p:spPr>
            <p:txBody>
              <a:bodyPr anchor="t" lIns="0" tIns="0" rIns="0" bIns="0">
                <a:noAutofit/>
              </a:bodyPr>
              <a:lstStyle/>
              <a:p>
                <a:pPr>
                  <a:lnSpc>
                    <a:spcPct val="120000"/>
                  </a:lnSpc>
                </a:pPr>
                <a:r>
                  <a:rPr lang="en-US" sz="1200" dirty="0">
                    <a:effectLst/>
                  </a:rPr>
                  <a:t>As shown in Figure 9, the peak of "1" of PP- </a:t>
                </a:r>
                <a:r>
                  <a:rPr lang="en-US" sz="1200" dirty="0">
                    <a:effectLst/>
                  </a:rPr>
                  <a:t>​</a:t>
                </a:r>
                <a14:m>
                  <m:oMath>
                    <m:r>
                      <m:rPr>
                        <m:sty m:val="i"/>
                      </m:rPr>
                      <a:rPr lang="en-US" sz="1200" dirty="0">
                        <a:solidFill>
                          <a:srgbClr val="000000"/>
                        </a:solidFill>
                        <a:effectLst/>
                      </a:rPr>
                      <m:t>g</m:t>
                    </m:r>
                  </m:oMath>
                </a14:m>
                <a:r>
                  <a:rPr lang="en-US" sz="1200" dirty="0">
                    <a:effectLst/>
                  </a:rPr>
                  <a:t>-(MAHco-St) ranging from 2 to 2.5 ppm either disappeared or shifted in PPC/PP-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which also proves that a ring-opening reaction had occurred between PPC and PP- </a:t>
                </a:r>
                <a:r>
                  <a:rPr lang="en-US" sz="1200" dirty="0">
                    <a:effectLst/>
                  </a:rPr>
                  <a:t>​</a:t>
                </a:r>
                <a14:m>
                  <m:oMath>
                    <m:r>
                      <m:rPr>
                        <m:sty m:val="i"/>
                      </m:rPr>
                      <a:rPr lang="en-US" sz="1200" dirty="0">
                        <a:solidFill>
                          <a:srgbClr val="000000"/>
                        </a:solidFill>
                        <a:effectLst/>
                      </a:rPr>
                      <m:t>g</m:t>
                    </m:r>
                  </m:oMath>
                </a14:m>
                <a:r>
                  <a:rPr lang="en-US" sz="1200" dirty="0">
                    <a:effectLst/>
                  </a:rPr>
                  <a:t>-(MAH-co-St). Thus, the compatibility of PPC and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i"/>
                      </m:rPr>
                      <a:rPr lang="en-US" sz="1200" dirty="0">
                        <a:solidFill>
                          <a:srgbClr val="000000"/>
                        </a:solidFill>
                        <a:effectLst/>
                      </a:rPr>
                      <m:t>M</m:t>
                    </m:r>
                    <m:r>
                      <m:rPr>
                        <m:sty m:val="i"/>
                      </m:rPr>
                      <a:rPr lang="en-US" sz="1200" dirty="0">
                        <a:solidFill>
                          <a:srgbClr val="000000"/>
                        </a:solidFill>
                        <a:effectLst/>
                      </a:rPr>
                      <m:t>A</m:t>
                    </m:r>
                    <m:r>
                      <m:rPr>
                        <m:sty m:val="i"/>
                      </m:rPr>
                      <a:rPr lang="en-US" sz="1200" dirty="0">
                        <a:solidFill>
                          <a:srgbClr val="000000"/>
                        </a:solidFill>
                        <a:effectLst/>
                      </a:rPr>
                      <m:t>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i"/>
                      </m:rPr>
                      <a:rPr lang="en-US" sz="1200" dirty="0">
                        <a:solidFill>
                          <a:srgbClr val="000000"/>
                        </a:solidFill>
                        <a:effectLst/>
                      </a:rPr>
                      <m:t>S</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can be promoted by the mutual effect of chemical reaction.</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The PP chain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and the PP of the PPC/PP slices are compatible and feature favorable cocrystallization. The most advantageous conformation must be obtained from their interface to promote compatibility. The interface bonding forces are less, the</a:t>
                </a:r>
              </a:p>
            </p:txBody>
          </p:sp>
        </mc:Choice>
        <mc:Fallback/>
      </mc:AlternateContent>
      <p:pic>
        <p:nvPicPr>
          <p:cNvPr id="2" name="image-48a71f14c0d96a308cbf0ddade886c35a45fb3d3.jpg"/>
          <p:cNvPicPr/>
          <p:nvPr/>
        </p:nvPicPr>
        <p:blipFill>
          <a:blip r:embed="rId2" cstate="print"/>
          <a:srcRect/>
          <a:stretch>
            <a:fillRect/>
          </a:stretch>
        </p:blipFill>
        <p:spPr>
          <a:xfrm>
            <a:off x="1524000" y="1295400"/>
            <a:ext cx="6791325" cy="4343400"/>
          </a:xfrm>
          <a:prstGeom prst="rect">
            <a:avLst/>
          </a:prstGeom>
        </p:spPr>
      </p:pic>
      <p:sp>
        <p:nvSpPr>
          <p:cNvPr id="3" name="Text"/>
          <p:cNvSpPr/>
          <p:nvPr/>
        </p:nvSpPr>
        <p:spPr>
          <a:xfrm>
            <a:off x="1524000" y="5638800"/>
            <a:ext cx="9144000" cy="228600"/>
          </a:xfrm>
          <a:prstGeom prst="rect">
            <a:avLst/>
          </a:prstGeom>
        </p:spPr>
        <p:txBody>
          <a:bodyPr anchor="t" lIns="0" tIns="0" rIns="0" bIns="0">
            <a:noAutofit/>
          </a:bodyPr>
          <a:lstStyle/>
          <a:p>
            <a:pPr>
              <a:lnSpc>
                <a:spcPct val="120000"/>
              </a:lnSpc>
            </a:pPr>
            <a:r>
              <a:rPr lang="en-US" sz="1200" dirty="0">
                <a:effectLst/>
              </a:rPr>
              <a:t>Figure 8. FT-IR spectra of PP-g-(MAH-co-St) and PPC/PP-g(MAH-co-St).</a:t>
            </a:r>
          </a:p>
        </p:txBody>
      </p:sp>
      <p:sp>
        <p:nvSpPr>
          <p:cNvPr id="2" name="Text"/>
          <p:cNvSpPr/>
          <p:nvPr/>
        </p:nvSpPr>
        <p:spPr>
          <a:xfrm>
            <a:off x="1524000" y="5867400"/>
            <a:ext cx="9144000" cy="342900"/>
          </a:xfrm>
          <a:prstGeom prst="rect">
            <a:avLst/>
          </a:prstGeom>
        </p:spPr>
        <p:txBody>
          <a:bodyPr anchor="t" lIns="0" tIns="0" rIns="0" bIns="0">
            <a:noAutofit/>
          </a:bodyPr>
          <a:lstStyle/>
          <a:p>
            <a:pPr>
              <a:lnSpc>
                <a:spcPct val="120000"/>
              </a:lnSpc>
            </a:pPr>
            <a:r>
              <a:rPr lang="en-US" sz="1800" dirty="0" b="1">
                <a:effectLst/>
              </a:rPr>
              <a:t>Conclusion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The results showed that PP- </a:t>
                </a:r>
                <a:r>
                  <a:rPr lang="en-US" sz="1200" dirty="0">
                    <a:effectLst/>
                  </a:rPr>
                  <a:t>​</a:t>
                </a:r>
                <a14:m>
                  <m:oMath>
                    <m:r>
                      <m:rPr>
                        <m:sty m:val="i"/>
                      </m:rPr>
                      <a:rPr lang="en-US" sz="1200" dirty="0">
                        <a:solidFill>
                          <a:srgbClr val="000000"/>
                        </a:solidFill>
                        <a:effectLst/>
                      </a:rPr>
                      <m:t>g</m:t>
                    </m:r>
                  </m:oMath>
                </a14:m>
                <a:r>
                  <a:rPr lang="en-US" sz="1200" dirty="0">
                    <a:effectLst/>
                  </a:rPr>
                  <a:t>-(MAH-co-St) with three different grafting proportions could be prepared by melt grafting. MAH in the form of cyclic anhydride was also grafted onto the main chains of PP successfully.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066800"/>
                <a:ext cx="9144000" cy="1371600"/>
              </a:xfrm>
              <a:prstGeom prst="rect">
                <a:avLst/>
              </a:prstGeom>
            </p:spPr>
            <p:txBody>
              <a:bodyPr anchor="t" lIns="0" tIns="0" rIns="0" bIns="0">
                <a:noAutofit/>
              </a:bodyPr>
              <a:lstStyle/>
              <a:p>
                <a:pPr>
                  <a:lnSpc>
                    <a:spcPct val="120000"/>
                  </a:lnSpc>
                </a:pPr>
                <a:r>
                  <a:rPr lang="en-US" sz="1200" dirty="0">
                    <a:effectLst/>
                  </a:rPr>
                  <a:t>The effect of different contents and grafting proportions of PP- </a:t>
                </a:r>
                <a:r>
                  <a:rPr lang="en-US" sz="1200" dirty="0">
                    <a:effectLst/>
                  </a:rPr>
                  <a:t>​</a:t>
                </a:r>
                <a14:m>
                  <m:oMath>
                    <m:r>
                      <m:rPr>
                        <m:sty m:val="i"/>
                      </m:rPr>
                      <a:rPr lang="en-US" sz="1200" dirty="0">
                        <a:solidFill>
                          <a:srgbClr val="000000"/>
                        </a:solidFill>
                        <a:effectLst/>
                      </a:rPr>
                      <m:t>g</m:t>
                    </m:r>
                  </m:oMath>
                </a14:m>
                <a:r>
                  <a:rPr lang="en-US" sz="1200" dirty="0">
                    <a:effectLst/>
                  </a:rPr>
                  <a:t>-(MAH-co-St) on the performance of the PPC/PP slices was studied. The compatibility between PPC and PP was improved by the addition of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MAH</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oMath>
                </a14:m>
                <a:r>
                  <a:rPr lang="en-US" sz="1200" dirty="0">
                    <a:effectLst/>
                  </a:rPr>
                  <a:t>. PPC/ PP slices had higher tensile strengths and lower MFRs at higher contents and grafting proportions of PP- </a:t>
                </a:r>
                <a:r>
                  <a:rPr lang="en-US" sz="1200" dirty="0">
                    <a:effectLst/>
                  </a:rPr>
                  <a:t>​</a:t>
                </a:r>
                <a14:m>
                  <m:oMath>
                    <m:r>
                      <m:rPr>
                        <m:sty m:val="i"/>
                      </m:rPr>
                      <a:rPr lang="en-US" sz="1200" dirty="0">
                        <a:solidFill>
                          <a:srgbClr val="000000"/>
                        </a:solidFill>
                        <a:effectLst/>
                      </a:rPr>
                      <m:t>g</m:t>
                    </m:r>
                  </m:oMath>
                </a14:m>
                <a:r>
                  <a:rPr lang="en-US" sz="1200" dirty="0">
                    <a:effectLst/>
                  </a:rPr>
                  <a:t>-(MAHco-St) than lower ones. The thermal decomposition temperatures of the PPC/PP slices were improved when the content of PP-g-(MAH-co-St) was increased. The impact of different grafting proportions of PP- </a:t>
                </a:r>
                <a:r>
                  <a:rPr lang="en-US" sz="1200" dirty="0">
                    <a:effectLst/>
                  </a:rPr>
                  <a:t>​</a:t>
                </a:r>
                <a14:m>
                  <m:oMath>
                    <m:r>
                      <m:rPr>
                        <m:sty m:val="i"/>
                      </m:rPr>
                      <a:rPr lang="en-US" sz="1200" dirty="0">
                        <a:solidFill>
                          <a:srgbClr val="000000"/>
                        </a:solidFill>
                        <a:effectLst/>
                      </a:rPr>
                      <m:t>g</m:t>
                    </m:r>
                  </m:oMath>
                </a14:m>
                <a:r>
                  <a:rPr lang="en-US" sz="1200" dirty="0">
                    <a:effectLst/>
                  </a:rPr>
                  <a:t>-(MAH-co-St) on the thermal decomposition temperatures of the PPC/PP slices was less. The degradation rate of the PPC/PP slices was improved by the addition of moderate amounts of PP- </a:t>
                </a:r>
                <a:r>
                  <a:rPr lang="en-US" sz="1200" dirty="0">
                    <a:effectLst/>
                  </a:rPr>
                  <a:t>​</a:t>
                </a:r>
                <a14:m>
                  <m:oMath>
                    <m:r>
                      <m:rPr>
                        <m:sty m:val="i"/>
                      </m:rPr>
                      <a:rPr lang="en-US" sz="1200" dirty="0">
                        <a:solidFill>
                          <a:srgbClr val="000000"/>
                        </a:solidFill>
                        <a:effectLst/>
                      </a:rPr>
                      <m:t>g</m:t>
                    </m:r>
                  </m:oMath>
                </a14:m>
                <a:r>
                  <a:rPr lang="en-US" sz="1200" dirty="0">
                    <a:effectLst/>
                  </a:rPr>
                  <a:t>-(MAH-co-St).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90800"/>
                <a:ext cx="9144000" cy="685800"/>
              </a:xfrm>
              <a:prstGeom prst="rect">
                <a:avLst/>
              </a:prstGeom>
            </p:spPr>
            <p:txBody>
              <a:bodyPr anchor="t" lIns="0" tIns="0" rIns="0" bIns="0">
                <a:noAutofit/>
              </a:bodyPr>
              <a:lstStyle/>
              <a:p>
                <a:pPr>
                  <a:lnSpc>
                    <a:spcPct val="120000"/>
                  </a:lnSpc>
                </a:pPr>
                <a:r>
                  <a:rPr lang="en-US" sz="1200" dirty="0">
                    <a:effectLst/>
                  </a:rPr>
                  <a:t>Ring-opening reactions, increased interface adhesion forces, and reduced interfacial tension may be the mechanisms of PP- </a:t>
                </a:r>
                <a:r>
                  <a:rPr lang="en-US" sz="1200" dirty="0">
                    <a:effectLst/>
                  </a:rPr>
                  <a:t>​</a:t>
                </a:r>
                <a14:m>
                  <m:oMath>
                    <m:r>
                      <m:rPr>
                        <m:sty m:val="i"/>
                      </m:rPr>
                      <a:rPr lang="en-US" sz="1200" dirty="0">
                        <a:solidFill>
                          <a:srgbClr val="000000"/>
                        </a:solidFill>
                        <a:effectLst/>
                      </a:rPr>
                      <m:t>g</m:t>
                    </m:r>
                  </m:oMath>
                </a14:m>
                <a:r>
                  <a:rPr lang="en-US" sz="1200" dirty="0">
                    <a:effectLst/>
                  </a:rPr>
                  <a:t>-(MAH-co-St). To endow PPC/PP slices with better application potential, further studies will be conducted to prepare biodegradable meltblown nonwoven fabrics using PPC/PP slices.</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c8591724ff22d182050aeb059b0863004ffe6fd4.jpg"/>
          <p:cNvPicPr/>
          <p:nvPr/>
        </p:nvPicPr>
        <p:blipFill>
          <a:blip r:embed="rId2" cstate="print"/>
          <a:srcRect/>
          <a:stretch>
            <a:fillRect/>
          </a:stretch>
        </p:blipFill>
        <p:spPr>
          <a:xfrm>
            <a:off x="1524000" y="457200"/>
            <a:ext cx="9144000" cy="3133725"/>
          </a:xfrm>
          <a:prstGeom prst="rect">
            <a:avLst/>
          </a:prstGeom>
        </p:spPr>
      </p:pic>
      <mc:AlternateContent xmlns:mc="http://schemas.openxmlformats.org/markup-compatibility/2006">
        <mc:Choice xmlns:a14="http://schemas.microsoft.com/office/drawing/2010/main" Requires="a14">
          <p:sp>
            <p:nvSpPr>
              <p:cNvPr id="3" name="Text"/>
              <p:cNvSpPr/>
              <p:nvPr/>
            </p:nvSpPr>
            <p:spPr>
              <a:xfrm>
                <a:off x="1524000" y="3590925"/>
                <a:ext cx="9144000" cy="228600"/>
              </a:xfrm>
              <a:prstGeom prst="rect">
                <a:avLst/>
              </a:prstGeom>
            </p:spPr>
            <p:txBody>
              <a:bodyPr anchor="t" lIns="0" tIns="0" rIns="0" bIns="0">
                <a:noAutofit/>
              </a:bodyPr>
              <a:lstStyle/>
              <a:p>
                <a:pPr>
                  <a:lnSpc>
                    <a:spcPct val="120000"/>
                  </a:lnSpc>
                </a:pPr>
                <a:r>
                  <a:rPr lang="en-US" sz="1200" dirty="0">
                    <a:effectLst/>
                  </a:rPr>
                  <a:t>Figure 9.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NMR spectra of PP-g-(MAH-co-St) and PPC/PP-g-(MAH-co-St).</a:t>
                </a:r>
              </a:p>
            </p:txBody>
          </p:sp>
        </mc:Choice>
        <mc:Fallback/>
      </mc:AlternateContent>
      <p:sp>
        <p:nvSpPr>
          <p:cNvPr id="2" name="Text"/>
          <p:cNvSpPr/>
          <p:nvPr/>
        </p:nvSpPr>
        <p:spPr>
          <a:xfrm>
            <a:off x="1524000" y="3819525"/>
            <a:ext cx="9144000" cy="342900"/>
          </a:xfrm>
          <a:prstGeom prst="rect">
            <a:avLst/>
          </a:prstGeom>
        </p:spPr>
        <p:txBody>
          <a:bodyPr anchor="t" lIns="0" tIns="0" rIns="0" bIns="0">
            <a:noAutofit/>
          </a:bodyPr>
          <a:lstStyle/>
          <a:p>
            <a:pPr>
              <a:lnSpc>
                <a:spcPct val="120000"/>
              </a:lnSpc>
            </a:pPr>
            <a:r>
              <a:rPr lang="en-US" sz="1800" dirty="0" b="1">
                <a:effectLst/>
              </a:rPr>
              <a:t>Declaration of conflicting interests</a:t>
            </a:r>
          </a:p>
        </p:txBody>
      </p:sp>
      <p:sp>
        <p:nvSpPr>
          <p:cNvPr id="2" name="Text"/>
          <p:cNvSpPr/>
          <p:nvPr/>
        </p:nvSpPr>
        <p:spPr>
          <a:xfrm>
            <a:off x="1524000" y="4352164"/>
            <a:ext cx="9144000" cy="228600"/>
          </a:xfrm>
          <a:prstGeom prst="rect">
            <a:avLst/>
          </a:prstGeom>
        </p:spPr>
        <p:txBody>
          <a:bodyPr anchor="t" lIns="0" tIns="0" rIns="0" bIns="0">
            <a:noAutofit/>
          </a:bodyPr>
          <a:lstStyle/>
          <a:p>
            <a:pPr>
              <a:lnSpc>
                <a:spcPct val="120000"/>
              </a:lnSpc>
            </a:pPr>
            <a:r>
              <a:rPr lang="en-US" sz="1200" dirty="0">
                <a:effectLst/>
              </a:rPr>
              <a:t>The author(s) declared no potential conflicts of interest with respect to the research, authorship, and/or publication of this article.</a:t>
            </a:r>
          </a:p>
        </p:txBody>
      </p:sp>
      <p:sp>
        <p:nvSpPr>
          <p:cNvPr id="2" name="Text"/>
          <p:cNvSpPr/>
          <p:nvPr/>
        </p:nvSpPr>
        <p:spPr>
          <a:xfrm>
            <a:off x="1524000" y="4733164"/>
            <a:ext cx="9144000" cy="342900"/>
          </a:xfrm>
          <a:prstGeom prst="rect">
            <a:avLst/>
          </a:prstGeom>
        </p:spPr>
        <p:txBody>
          <a:bodyPr anchor="t" lIns="0" tIns="0" rIns="0" bIns="0">
            <a:noAutofit/>
          </a:bodyPr>
          <a:lstStyle/>
          <a:p>
            <a:pPr>
              <a:lnSpc>
                <a:spcPct val="120000"/>
              </a:lnSpc>
            </a:pPr>
            <a:r>
              <a:rPr lang="en-US" sz="1800" dirty="0" b="1">
                <a:effectLst/>
              </a:rPr>
              <a:t>Funding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The author(s) disclosed receipt of the following financial support for the research, authorship, and/or publication of this article: The authors would like to thank the Hainan Province Research and Development Project (ZDYF2016016), the Open Project Program of Key Laboratory of Advanced Materials of Tropical Island Resources (Hainan University), Ministry of Education (AM2017-26), National Natural Science Fund of China (51663010), for their financial support. This study was also supported by the Hainan Provincial Fine Chemical Engineering Research Center, the Analytical and Testing Center of Hainan University.</a:t>
            </a:r>
          </a:p>
        </p:txBody>
      </p:sp>
      <p:sp>
        <p:nvSpPr>
          <p:cNvPr id="2" name="Text"/>
          <p:cNvSpPr/>
          <p:nvPr/>
        </p:nvSpPr>
        <p:spPr>
          <a:xfrm>
            <a:off x="1524000" y="17526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mc:AlternateContent xmlns:mc="http://schemas.openxmlformats.org/markup-compatibility/2006">
        <mc:Choice xmlns:a14="http://schemas.microsoft.com/office/drawing/2010/main" Requires="a14">
          <p:sp>
            <p:nvSpPr>
              <p:cNvPr id="2" name="Text"/>
              <p:cNvSpPr/>
              <p:nvPr/>
            </p:nvSpPr>
            <p:spPr>
              <a:xfrm>
                <a:off x="1524000" y="2285239"/>
                <a:ext cx="9144000" cy="41148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Roder H and Vogl O. 17th international Herman F. Mark symposium: polypropylene-a material of the future. Prog Polym Sci 1999; 24: 1205-1216.</a:t>
                </a:r>
              </a:p>
              <a:p>
                <a:pPr lvl="0" indent="-285750" marL="533400">
                  <a:lnSpc>
                    <a:spcPct val="120000"/>
                  </a:lnSpc>
                  <a:buFont typeface="Symbol" pitchFamily="2" charset="2"/>
                  <a:buChar char="2."/>
                  <a:tabLst>
                    <a:tab pos="685800" algn="l"/>
                  </a:tabLst>
                </a:pPr>
                <a:r>
                  <a:rPr lang="en-US" sz="1200" dirty="0">
                    <a:effectLst/>
                  </a:rPr>
                  <a:t>Kim DH, Fasulo PD, Rodgers WR, et al. Structure and properties of polypropylene-based nanocomposites: effect of PP-g-MA to organoclay ratio. Polymer 2007; 48: 5308-5323.</a:t>
                </a:r>
              </a:p>
              <a:p>
                <a:pPr lvl="0" indent="-285750" marL="533400">
                  <a:lnSpc>
                    <a:spcPct val="120000"/>
                  </a:lnSpc>
                  <a:buFont typeface="Symbol" pitchFamily="2" charset="2"/>
                  <a:buChar char="3."/>
                  <a:tabLst>
                    <a:tab pos="685800" algn="l"/>
                  </a:tabLst>
                </a:pPr>
                <a:r>
                  <a:rPr lang="en-US" sz="1200" dirty="0">
                    <a:effectLst/>
                  </a:rPr>
                  <a:t>Dubnikova IL, Berezina SM, Korolev YM, et al. Morphology, deformation behavior and thermomechanical properties of polypropylene/maleic anhydride grafted polypropylene/layered silicate nanocomposites. J Appl Polym Sci 2007; 105: 3836-3850.</a:t>
                </a:r>
              </a:p>
              <a:p>
                <a:pPr lvl="0" indent="-285750" marL="533400">
                  <a:lnSpc>
                    <a:spcPct val="120000"/>
                  </a:lnSpc>
                  <a:buFont typeface="Symbol" pitchFamily="2" charset="2"/>
                  <a:buChar char="4."/>
                  <a:tabLst>
                    <a:tab pos="685800" algn="l"/>
                  </a:tabLst>
                </a:pPr>
                <a:r>
                  <a:rPr lang="en-US" sz="1200" dirty="0">
                    <a:effectLst/>
                  </a:rPr>
                  <a:t>Cartier H and Hu GH. Styrene-assisted melt free radical grafting of glycidyl methacrylate onto polypropylene. </a:t>
                </a:r>
                <a:r>
                  <a:rPr lang="en-US" sz="1200" dirty="0">
                    <a:effectLst/>
                  </a:rPr>
                  <a:t>​</a:t>
                </a:r>
                <a14:m>
                  <m:oMath>
                    <m:r>
                      <m:rPr>
                        <m:sty m:val="i"/>
                      </m:rPr>
                      <a:rPr lang="en-US" sz="1200" dirty="0">
                        <a:solidFill>
                          <a:srgbClr val="000000"/>
                        </a:solidFill>
                        <a:effectLst/>
                      </a:rPr>
                      <m:t>J</m:t>
                    </m:r>
                  </m:oMath>
                </a14:m>
                <a:r>
                  <a:rPr lang="en-US" sz="1200" dirty="0">
                    <a:effectLst/>
                  </a:rPr>
                  <a:t> Polym Sci Part A Polym Chem 1998; 36(7): 1053-1063.</a:t>
                </a:r>
              </a:p>
              <a:p>
                <a:pPr lvl="0" indent="-285750" marL="533400">
                  <a:lnSpc>
                    <a:spcPct val="120000"/>
                  </a:lnSpc>
                  <a:buFont typeface="Symbol" pitchFamily="2" charset="2"/>
                  <a:buChar char="5."/>
                  <a:tabLst>
                    <a:tab pos="685800" algn="l"/>
                  </a:tabLst>
                </a:pPr>
                <a:r>
                  <a:rPr lang="en-US" sz="1200" dirty="0">
                    <a:effectLst/>
                  </a:rPr>
                  <a:t>Li Y, Xie XM and Guo BH. Study on styrene-assisted melt free-radical grafting of maleic anhydride onto polypropylene. Polymer 2001; 42: 3419-3425.</a:t>
                </a:r>
              </a:p>
              <a:p>
                <a:pPr lvl="0" indent="-285750" marL="533400">
                  <a:lnSpc>
                    <a:spcPct val="120000"/>
                  </a:lnSpc>
                  <a:buFont typeface="Symbol" pitchFamily="2" charset="2"/>
                  <a:buChar char="6."/>
                  <a:tabLst>
                    <a:tab pos="685800" algn="l"/>
                  </a:tabLst>
                </a:pPr>
                <a:r>
                  <a:rPr lang="en-US" sz="1200" dirty="0">
                    <a:effectLst/>
                  </a:rPr>
                  <a:t>Lee J, Kim JK and Son Y. Evaluation of polypropylene grafted with maleic anhydride and styrene as a compatibilizer for polypropylene/clay nanocomposites. Polym Bull 2012; 68: 541-551.</a:t>
                </a:r>
              </a:p>
              <a:p>
                <a:pPr lvl="0" indent="-285750" marL="533400">
                  <a:lnSpc>
                    <a:spcPct val="120000"/>
                  </a:lnSpc>
                  <a:buFont typeface="Symbol" pitchFamily="2" charset="2"/>
                  <a:buChar char="7."/>
                  <a:tabLst>
                    <a:tab pos="685800" algn="l"/>
                  </a:tabLst>
                </a:pPr>
                <a:r>
                  <a:rPr lang="en-US" sz="1200" dirty="0">
                    <a:effectLst/>
                  </a:rPr>
                  <a:t>Wang Y, Chen FB, Li YC, et al. Melt processing of polypropylene/clay nanocomposites modified with maleated polypropylene compatibilizers. Compos Part B Eng 2004; 35: 111-124.</a:t>
                </a:r>
              </a:p>
              <a:p>
                <a:pPr lvl="0" indent="-285750" marL="533400">
                  <a:lnSpc>
                    <a:spcPct val="120000"/>
                  </a:lnSpc>
                  <a:buFont typeface="Symbol" pitchFamily="2" charset="2"/>
                  <a:buChar char="8."/>
                  <a:tabLst>
                    <a:tab pos="685800" algn="l"/>
                  </a:tabLst>
                </a:pPr>
                <a:r>
                  <a:rPr lang="en-US" sz="1200" dirty="0">
                    <a:effectLst/>
                  </a:rPr>
                  <a:t>Xu J, Li RKY, Xu Y, et al. Preparation of poly(propylene carbonate)/organo-vermiculite nanocomposites via direct melt intercalation. Eur Polym J 2005; 41(4): 881-888.</a:t>
                </a:r>
              </a:p>
              <a:p>
                <a:pPr lvl="0" indent="-285750" marL="533400">
                  <a:lnSpc>
                    <a:spcPct val="120000"/>
                  </a:lnSpc>
                  <a:buFont typeface="Symbol" pitchFamily="2" charset="2"/>
                  <a:buChar char="9."/>
                  <a:tabLst>
                    <a:tab pos="685800" algn="l"/>
                  </a:tabLst>
                </a:pPr>
                <a:r>
                  <a:rPr lang="en-US" sz="1200" dirty="0">
                    <a:effectLst/>
                  </a:rPr>
                  <a:t>Xu J, Li RKY, Meng YZ, et al. Biodegradable poly(propylene carbonate)/montmorillonite nanocomposites prepared by direct melt intercalation. Mater Res Bull 2006; 41(2): 244-252.</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10."/>
                  <a:tabLst>
                    <a:tab pos="685800" algn="l"/>
                  </a:tabLst>
                </a:pPr>
                <a:r>
                  <a:rPr lang="en-US" sz="1200" dirty="0">
                    <a:effectLst/>
                  </a:rPr>
                  <a:t>Ge XC, Li XH, Zhu Q, et al. Preparation and properties of biodegradable poly(propylene carbonate)/starch composites. Polym Eng Sci 2004; 44(11): 2134-2140.</a:t>
                </a:r>
              </a:p>
              <a:p>
                <a:pPr lvl="0" indent="-285750" marL="533400">
                  <a:lnSpc>
                    <a:spcPct val="120000"/>
                  </a:lnSpc>
                  <a:buFont typeface="Symbol" pitchFamily="2" charset="2"/>
                  <a:buChar char="11."/>
                  <a:tabLst>
                    <a:tab pos="685800" algn="l"/>
                  </a:tabLst>
                </a:pPr>
                <a:r>
                  <a:rPr lang="en-US" sz="1200" dirty="0">
                    <a:effectLst/>
                  </a:rPr>
                  <a:t>Zhang ZH, Mo ZS, Zhang HF, et al. Crystallization and melting behaviors of PPC-BS/PVA blends. Macromol Chem Phys 2003; 204: 1557-1566.</a:t>
                </a:r>
              </a:p>
              <a:p>
                <a:pPr lvl="0" indent="-285750" marL="533400">
                  <a:lnSpc>
                    <a:spcPct val="120000"/>
                  </a:lnSpc>
                  <a:buFont typeface="Symbol" pitchFamily="2" charset="2"/>
                  <a:buChar char="12."/>
                  <a:tabLst>
                    <a:tab pos="685800" algn="l"/>
                  </a:tabLst>
                </a:pPr>
                <a:r>
                  <a:rPr lang="en-US" sz="1200" dirty="0">
                    <a:effectLst/>
                  </a:rPr>
                  <a:t>Jiao J, Wang S, Meng Y, et al. Processability, property, and morphology of bio-degradable blends of poly(propylene carbonate) and poly(ethylene-co-vinyl alcohol). Polym Eng Sci 2007; 47(2): 174-180.</a:t>
                </a:r>
              </a:p>
              <a:p>
                <a:pPr lvl="0" indent="-285750" marL="533400">
                  <a:lnSpc>
                    <a:spcPct val="120000"/>
                  </a:lnSpc>
                  <a:buFont typeface="Symbol" pitchFamily="2" charset="2"/>
                  <a:buChar char="13."/>
                  <a:tabLst>
                    <a:tab pos="685800" algn="l"/>
                  </a:tabLst>
                </a:pPr>
                <a:r>
                  <a:rPr lang="en-US" sz="1200" dirty="0">
                    <a:effectLst/>
                  </a:rPr>
                  <a:t>Li J, Lai MF and Liu JJ. Effect of poly(propylene carbonate) on the crystallization and melting behavior of poly( </a:t>
                </a:r>
                <a:r>
                  <a:rPr lang="en-US" sz="1200" dirty="0">
                    <a:effectLst/>
                  </a:rPr>
                  <a:t>​</a:t>
                </a:r>
                <a14:m>
                  <m:oMath>
                    <m:r>
                      <m:rPr>
                        <m:sty m:val="i"/>
                      </m:rPr>
                      <a:rPr lang="en-US" sz="1200" dirty="0">
                        <a:solidFill>
                          <a:srgbClr val="000000"/>
                        </a:solidFill>
                        <a:effectLst/>
                      </a:rPr>
                      <m:t>β</m:t>
                    </m:r>
                  </m:oMath>
                </a14:m>
                <a:r>
                  <a:rPr lang="en-US" sz="1200" dirty="0">
                    <a:effectLst/>
                  </a:rPr>
                  <a:t> hydroxybutyrate-co- </a:t>
                </a:r>
                <a:r>
                  <a:rPr lang="en-US" sz="1200" dirty="0">
                    <a:effectLst/>
                  </a:rPr>
                  <a:t>​</a:t>
                </a:r>
                <a14:m>
                  <m:oMath>
                    <m:r>
                      <m:rPr>
                        <m:sty m:val="i"/>
                      </m:rPr>
                      <a:rPr lang="en-US" sz="1200" dirty="0">
                        <a:solidFill>
                          <a:srgbClr val="000000"/>
                        </a:solidFill>
                        <a:effectLst/>
                      </a:rPr>
                      <m:t>β</m:t>
                    </m:r>
                  </m:oMath>
                </a14:m>
                <a:r>
                  <a:rPr lang="en-US" sz="1200" dirty="0">
                    <a:effectLst/>
                  </a:rPr>
                  <a:t>-hydroxyvalerate). J Appl Polym Sci 2004; 92: 2514-2521.</a:t>
                </a:r>
              </a:p>
              <a:p>
                <a:pPr lvl="0" indent="-285750" marL="533400">
                  <a:lnSpc>
                    <a:spcPct val="120000"/>
                  </a:lnSpc>
                  <a:buFont typeface="Symbol" pitchFamily="2" charset="2"/>
                  <a:buChar char="14."/>
                  <a:tabLst>
                    <a:tab pos="685800" algn="l"/>
                  </a:tabLst>
                </a:pPr>
                <a:r>
                  <a:rPr lang="en-US" sz="1200" dirty="0">
                    <a:effectLst/>
                  </a:rPr>
                  <a:t>Pang H, Liao B, Huang Y, et al. Blends of PPC/NR elastomer I. Formula design. Polym Mater Sci Eng 2002; 18(2): 71-73.</a:t>
                </a:r>
              </a:p>
              <a:p>
                <a:pPr lvl="0" indent="-285750" marL="533400">
                  <a:lnSpc>
                    <a:spcPct val="120000"/>
                  </a:lnSpc>
                  <a:buFont typeface="Symbol" pitchFamily="2" charset="2"/>
                  <a:buChar char="15."/>
                  <a:tabLst>
                    <a:tab pos="685800" algn="l"/>
                  </a:tabLst>
                </a:pPr>
                <a:r>
                  <a:rPr lang="en-US" sz="1200" dirty="0">
                    <a:effectLst/>
                  </a:rPr>
                  <a:t>Ma XF, Yu JG, Wang N, et al. Compatibility characterization of poly(lactic acid)/poly(propylene carbonate) blends. </a:t>
                </a:r>
                <a:r>
                  <a:rPr lang="en-US" sz="1200" dirty="0">
                    <a:effectLst/>
                  </a:rPr>
                  <a:t>​</a:t>
                </a:r>
                <a14:m>
                  <m:oMath>
                    <m:r>
                      <m:rPr>
                        <m:sty m:val="i"/>
                      </m:rPr>
                      <a:rPr lang="en-US" sz="1200" dirty="0">
                        <a:solidFill>
                          <a:srgbClr val="000000"/>
                        </a:solidFill>
                        <a:effectLst/>
                      </a:rPr>
                      <m:t>J</m:t>
                    </m:r>
                  </m:oMath>
                </a14:m>
                <a:r>
                  <a:rPr lang="en-US" sz="1200" dirty="0">
                    <a:effectLst/>
                  </a:rPr>
                  <a:t> Polym Sci Part B Polym Phys 2006; 44: 94-101.</a:t>
                </a:r>
              </a:p>
              <a:p>
                <a:pPr lvl="0" indent="-285750" marL="533400">
                  <a:lnSpc>
                    <a:spcPct val="120000"/>
                  </a:lnSpc>
                  <a:buFont typeface="Symbol" pitchFamily="2" charset="2"/>
                  <a:buChar char="16."/>
                  <a:tabLst>
                    <a:tab pos="685800" algn="l"/>
                  </a:tabLst>
                </a:pPr>
                <a:r>
                  <a:rPr lang="en-US" sz="1200" dirty="0">
                    <a:effectLst/>
                  </a:rPr>
                  <a:t>Zhang YC, Zhu HY, Wu HY, et al. The composite fiber materials of montmorillonite/polypropylene/polylactic acid and its preparation method. CN 200810203171.9, 2009, in Chinese.</a:t>
                </a:r>
              </a:p>
              <a:p>
                <a:pPr lvl="0" indent="-285750" marL="533400">
                  <a:lnSpc>
                    <a:spcPct val="120000"/>
                  </a:lnSpc>
                  <a:buFont typeface="Symbol" pitchFamily="2" charset="2"/>
                  <a:buChar char="17."/>
                  <a:tabLst>
                    <a:tab pos="685800" algn="l"/>
                  </a:tabLst>
                </a:pPr>
                <a:r>
                  <a:rPr lang="en-US" sz="1200" dirty="0">
                    <a:effectLst/>
                  </a:rPr>
                  <a:t>Zhang YC, Qin Y, Wu HY, et al. The composite fiber materials of nanometer zinc oxide/polypropylene/polylactic acid and its preparation method. CN 200810203172.3, 2009, in Chinese.</a:t>
                </a:r>
              </a:p>
              <a:p>
                <a:pPr lvl="0" indent="-285750" marL="533400">
                  <a:lnSpc>
                    <a:spcPct val="120000"/>
                  </a:lnSpc>
                  <a:buFont typeface="Symbol" pitchFamily="2" charset="2"/>
                  <a:buChar char="18."/>
                  <a:tabLst>
                    <a:tab pos="685800" algn="l"/>
                  </a:tabLst>
                </a:pPr>
                <a:r>
                  <a:rPr lang="en-US" sz="1200" dirty="0">
                    <a:effectLst/>
                  </a:rPr>
                  <a:t>Zhang YC, Zhou J, Wu HY, et al. The composite fiber materials of carbon nanotubes/polypropylene/polylactic acid and its preparation method. CN 200810203173.8, 2009, in Chinese.</a:t>
                </a:r>
              </a:p>
              <a:p>
                <a:pPr lvl="0" indent="-285750" marL="533400">
                  <a:lnSpc>
                    <a:spcPct val="120000"/>
                  </a:lnSpc>
                  <a:buFont typeface="Symbol" pitchFamily="2" charset="2"/>
                  <a:buChar char="19."/>
                  <a:tabLst>
                    <a:tab pos="685800" algn="l"/>
                  </a:tabLst>
                </a:pPr>
                <a:r>
                  <a:rPr lang="en-US" sz="1200" dirty="0">
                    <a:effectLst/>
                  </a:rPr>
                  <a:t>Wang JH and He A. Bio-based and biodegradable aliphatic polyesters modified by a continuous alcoholysis reaction. Green Polym Chem 2010; 29: 425-437.</a:t>
                </a:r>
              </a:p>
              <a:p>
                <a:pPr lvl="0" indent="-285750" marL="533400">
                  <a:lnSpc>
                    <a:spcPct val="120000"/>
                  </a:lnSpc>
                  <a:buFont typeface="Symbol" pitchFamily="2" charset="2"/>
                  <a:buChar char="20."/>
                  <a:tabLst>
                    <a:tab pos="685800" algn="l"/>
                  </a:tabLst>
                </a:pPr>
                <a:r>
                  <a:rPr lang="en-US" sz="1200" dirty="0">
                    <a:effectLst/>
                  </a:rPr>
                  <a:t>Xu J, Ban H, Ye C, et al. The long-term stress aging on the structure and properties of nylon 6. Polym Mater Sci Eng 2010; 26(6): 79-85.</a:t>
                </a:r>
              </a:p>
              <a:p>
                <a:pPr lvl="0" indent="-285750" marL="533400">
                  <a:lnSpc>
                    <a:spcPct val="120000"/>
                  </a:lnSpc>
                  <a:buFont typeface="Symbol" pitchFamily="2" charset="2"/>
                  <a:buChar char="21."/>
                  <a:tabLst>
                    <a:tab pos="685800" algn="l"/>
                  </a:tabLst>
                </a:pPr>
                <a:r>
                  <a:rPr lang="en-US" sz="1200" dirty="0">
                    <a:effectLst/>
                  </a:rPr>
                  <a:t>Fu Y, Liu Y, Zhang L, et al. Molecular simulation of the glass transition of different configuration of polypropylene. J Mol Sci 2009; 25(1): 1-4.</a:t>
                </a:r>
              </a:p>
              <a:p>
                <a:pPr lvl="0" indent="-285750" marL="533400">
                  <a:lnSpc>
                    <a:spcPct val="120000"/>
                  </a:lnSpc>
                  <a:buFont typeface="Symbol" pitchFamily="2" charset="2"/>
                  <a:buChar char="22."/>
                  <a:tabLst>
                    <a:tab pos="685800" algn="l"/>
                  </a:tabLst>
                </a:pPr>
                <a:r>
                  <a:rPr lang="en-US" sz="1200" dirty="0">
                    <a:effectLst/>
                  </a:rPr>
                  <a:t>Tao J, Song C, Cao M, et al. Thermal properties and degradability of poly(propylene carbonate)/poly( </a:t>
                </a:r>
                <a:r>
                  <a:rPr lang="en-US" sz="1200" dirty="0">
                    <a:effectLst/>
                  </a:rPr>
                  <a:t>​</a:t>
                </a:r>
                <a14:m>
                  <m:oMath>
                    <m:r>
                      <m:rPr>
                        <m:sty m:val="i"/>
                      </m:rPr>
                      <a:rPr lang="en-US" sz="1200" dirty="0">
                        <a:solidFill>
                          <a:srgbClr val="000000"/>
                        </a:solidFill>
                        <a:effectLst/>
                      </a:rPr>
                      <m:t>β</m:t>
                    </m:r>
                  </m:oMath>
                </a14:m>
                <a:r>
                  <a:rPr lang="en-US" sz="1200" dirty="0">
                    <a:effectLst/>
                  </a:rPr>
                  <a:t> hydroxybutyrate-co- </a:t>
                </a:r>
                <a:r>
                  <a:rPr lang="en-US" sz="1200" dirty="0">
                    <a:effectLst/>
                  </a:rPr>
                  <a:t>​</a:t>
                </a:r>
                <a14:m>
                  <m:oMath>
                    <m:r>
                      <m:rPr>
                        <m:sty m:val="i"/>
                      </m:rPr>
                      <a:rPr lang="en-US" sz="1200" dirty="0">
                        <a:solidFill>
                          <a:srgbClr val="000000"/>
                        </a:solidFill>
                        <a:effectLst/>
                      </a:rPr>
                      <m:t>β</m:t>
                    </m:r>
                  </m:oMath>
                </a14:m>
                <a:r>
                  <a:rPr lang="en-US" sz="1200" dirty="0">
                    <a:effectLst/>
                  </a:rPr>
                  <a:t>-hydroxyvalerate)(PPC/PHBV) blends. Polym Degrad Stab 2009; 94: 575-583.</a:t>
                </a:r>
              </a:p>
            </p:txBody>
          </p:sp>
        </mc:Choic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1828800"/>
          </a:xfrm>
          <a:prstGeom prst="rect">
            <a:avLst/>
          </a:prstGeom>
        </p:spPr>
        <p:txBody>
          <a:bodyPr anchor="t" lIns="0" tIns="0" rIns="0" bIns="0">
            <a:noAutofit/>
          </a:bodyPr>
          <a:lstStyle/>
          <a:p>
            <a:pPr lvl="0" indent="-285750" marL="533400">
              <a:lnSpc>
                <a:spcPct val="120000"/>
              </a:lnSpc>
              <a:buFont typeface="Symbol" pitchFamily="2" charset="2"/>
              <a:buChar char="23."/>
              <a:tabLst>
                <a:tab pos="685800" algn="l"/>
              </a:tabLst>
            </a:pPr>
            <a:r>
              <a:rPr lang="en-US" sz="1200" dirty="0">
                <a:effectLst/>
              </a:rPr>
              <a:t>Diao JZ, Yang HF, Zhang JM, et al. Preparation and characterization of PP and PP-g-(MAH-co-St)/hyperbranched poly(amide-ester) blends. Iran Polym J 2007; 16(2): 97-104.</a:t>
            </a:r>
          </a:p>
          <a:p>
            <a:pPr lvl="0" indent="-285750" marL="533400">
              <a:lnSpc>
                <a:spcPct val="120000"/>
              </a:lnSpc>
              <a:buFont typeface="Symbol" pitchFamily="2" charset="2"/>
              <a:buChar char="24."/>
              <a:tabLst>
                <a:tab pos="685800" algn="l"/>
              </a:tabLst>
            </a:pPr>
            <a:r>
              <a:rPr lang="en-US" sz="1200" dirty="0">
                <a:effectLst/>
              </a:rPr>
              <a:t>Kim HS, Lee BH, Choi SW, et al. The effect of types of maleic anhydride-grafted properties of bio-flour-filled polypropylene composites. Compos Part A 2007; 38: 1473-1482.</a:t>
            </a:r>
          </a:p>
          <a:p>
            <a:pPr lvl="0" indent="-285750" marL="533400">
              <a:lnSpc>
                <a:spcPct val="120000"/>
              </a:lnSpc>
              <a:buFont typeface="Symbol" pitchFamily="2" charset="2"/>
              <a:buChar char="25."/>
              <a:tabLst>
                <a:tab pos="685800" algn="l"/>
              </a:tabLst>
            </a:pPr>
            <a:r>
              <a:rPr lang="en-US" sz="1200" dirty="0">
                <a:effectLst/>
              </a:rPr>
              <a:t>Dedecker K and Groeninckx G. Interfacial graft copolymer formation during reactive melt blending of polyamide 6 and styrene-maleic anhydride copolymers. Macromolecules 1999; 32: 2472-2479.</a:t>
            </a:r>
          </a:p>
          <a:p>
            <a:pPr lvl="0" indent="-285750" marL="533400">
              <a:lnSpc>
                <a:spcPct val="120000"/>
              </a:lnSpc>
              <a:buFont typeface="Symbol" pitchFamily="2" charset="2"/>
              <a:buChar char="26."/>
              <a:tabLst>
                <a:tab pos="685800" algn="l"/>
              </a:tabLst>
            </a:pPr>
            <a:r>
              <a:rPr lang="en-US" sz="1200" dirty="0">
                <a:effectLst/>
              </a:rPr>
              <a:t>Tang T, Chen H, Zhang X, et al. Molecular state of polymer in the interfacial area of polyolefin and polar polymers. Acta Polym Sin 1996; 3: 336-341.</a:t>
            </a:r>
          </a:p>
        </p:txBody>
      </p:sp>
      <p:cxnSp>
        <p:nvCxnSpPr>
          <p:cNvPr id="2" name="Straight Connector 1"/>
          <p:cNvCxnSpPr/>
          <p:nvPr/>
        </p:nvCxnSpPr>
        <p:spPr>
          <a:xfrm>
            <a:off x="1524000" y="24384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
              <p:cNvSpPr/>
              <p:nvPr/>
            </p:nvSpPr>
            <p:spPr>
              <a:xfrm>
                <a:off x="1524000" y="2533650"/>
                <a:ext cx="9144000" cy="13716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Key Laboratory of Advanced Materials of Tropical Island Resources of Ministry of Education, School of Chemical Engineering and Technology, Hainan University, Haikou, Hainan, China</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Dencare(Chongqing) Oral Care Co., Ltd, Chongqing, China</a:t>
                </a:r>
                <a:br>
                  <a:rPr lang="en-US" sz="1200" dirty="0"/>
                </a:br>
                <a:r>
                  <a:rPr lang="en-US" sz="1200" dirty="0">
                    <a:effectLst/>
                  </a:rPr>
                  <a:t> Corresponding author:</a:t>
                </a:r>
                <a:br>
                  <a:rPr lang="en-US" sz="1200" dirty="0"/>
                </a:br>
                <a:r>
                  <a:rPr lang="en-US" sz="1200" dirty="0">
                    <a:effectLst/>
                  </a:rPr>
                  <a:t> Lisha Pan, Hainan University, Haikou 570228, China.</a:t>
                </a:r>
                <a:br>
                  <a:rPr lang="en-US" sz="1200" dirty="0"/>
                </a:br>
                <a:r>
                  <a:rPr lang="en-US" sz="1200" dirty="0">
                    <a:effectLst/>
                  </a:rPr>
                  <a:t> Email: </a:t>
                </a:r>
                <a:r>
                  <a:rPr lang="en-US" sz="1200" dirty="0">
                    <a:effectLst/>
                    <a:hlinkClick r:id="rId2"/>
                  </a:rPr>
                  <a:t>happylisap@hainanu.edu.cn</a:t>
                </a:r>
              </a:p>
            </p:txBody>
          </p:sp>
        </mc:Choice>
        <mc:Fallback/>
      </mc:AlternateContent>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2026-09-14T07:13:48.609Z</dcterms:created>
  <dcterms:modified xsi:type="dcterms:W3CDTF">2026-09-14T07:13:48.609Z</dcterms:modified>
</cp:coreProperties>
</file>