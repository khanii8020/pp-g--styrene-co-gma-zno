
<file path=[Content_Types].xml><?xml version="1.0" encoding="utf-8"?>
<Types xmlns="http://schemas.openxmlformats.org/package/2006/content-types">
  <Default Extension="rels" ContentType="application/vnd.openxmlformats-package.relationships+xml"/>
  <Default Extension="jpeg" ContentType="image/jpeg"/>
  <Default Extension="png" ContentType="image/png"/>
  <Default Extension="svg" ContentType="image/svg+xml"/>
  <Default Extension="jpg" ContentType="image/jp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9525" cmpd="sng">
              <a:solidFill>
                <a:schemeClr val="tx1"/>
              </a:solidFill>
            </a:ln>
          </a:left>
          <a:right>
            <a:ln w="12700" cmpd="sng">
              <a:solidFill>
                <a:schemeClr val="tx1"/>
              </a:solidFill>
            </a:ln>
          </a:right>
          <a:top>
            <a:ln w="9525" cmpd="sng">
              <a:solidFill>
                <a:schemeClr val="tx1"/>
              </a:solidFill>
            </a:ln>
          </a:top>
          <a:bottom>
            <a:ln w="9525" cmpd="sng">
              <a:solidFill>
                <a:schemeClr val="tx1"/>
              </a:solidFill>
            </a:ln>
          </a:bottom>
          <a:insideH>
            <a:ln w="9525" cmpd="sng">
              <a:solidFill>
                <a:schemeClr val="tx1"/>
              </a:solidFill>
            </a:ln>
          </a:insideH>
          <a:insideV>
            <a:ln w="9525"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n-lt"/>
          <a:ea typeface="+mn-ea"/>
          <a:cs typeface="+mn-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6c0d2eb1f6ce298690f4282fe9c705caca2b164.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7dcab449e73d93b4a484284d16001191d0e1f9.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703182c1f28a221cce73f485c38c7164b3329b.jp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c8f501f323e68a45bfce8c6d5499be13bcdbdea.jp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a30b2b44e417e6811b434702bd8b73d950a6d3d8.jp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4fdaf55b39ab522ee815f775966f5a7a33e700.jpg"/></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b760fee07bdab2170968a6cf1162ee0537591ab.jpg"/></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d7162716be4a5dd3af26ea4978a5792fb210eff6.jpg"/></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33cce4a85f8e35131746c5dc2369e7b7316a7f3.jpg"/></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0d598555a295f8f2d8913e9a2741a98842f05aa9.jpg"/></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5402/2011/265415" TargetMode="Externa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1007/s10965-018-1517-3" TargetMode="Externa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1016/j.nimb" TargetMode="Externa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sayant.s@ubu.ac.th" TargetMode="External"/><Relationship Id="rId3" Type="http://schemas.openxmlformats.org/officeDocument/2006/relationships/hyperlink" Target="mailto:sayants181@gmail.com"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095375"/>
          </a:xfrm>
          <a:prstGeom prst="rect">
            <a:avLst/>
          </a:prstGeom>
        </p:spPr>
        <p:txBody>
          <a:bodyPr anchor="t" lIns="0" tIns="0" rIns="0" bIns="0">
            <a:noAutofit/>
          </a:bodyPr>
          <a:lstStyle/>
          <a:p>
            <a:pPr algn="ctr">
              <a:lnSpc>
                <a:spcPct val="96700"/>
              </a:lnSpc>
            </a:pPr>
            <a:r>
              <a:rPr lang="en-US" sz="2400" dirty="0" b="1">
                <a:effectLst/>
              </a:rPr>
              <a:t>Styrene-assisted acrylic acid grafting onto polypropylene surfaces: preparation, characterization, and an automatically latex-coagulating application</a:t>
            </a:r>
          </a:p>
        </p:txBody>
      </p:sp>
      <mc:AlternateContent xmlns:mc="http://schemas.openxmlformats.org/markup-compatibility/2006">
        <mc:Choice xmlns:a14="http://schemas.microsoft.com/office/drawing/2010/main" Requires="a14">
          <p:sp>
            <p:nvSpPr>
              <p:cNvPr id="2" name="Text"/>
              <p:cNvSpPr/>
              <p:nvPr/>
            </p:nvSpPr>
            <p:spPr>
              <a:xfrm>
                <a:off x="3810000" y="1857375"/>
                <a:ext cx="4572000" cy="609600"/>
              </a:xfrm>
              <a:prstGeom prst="rect">
                <a:avLst/>
              </a:prstGeom>
            </p:spPr>
            <p:txBody>
              <a:bodyPr anchor="t" lIns="0" tIns="0" rIns="0" bIns="0">
                <a:noAutofit/>
              </a:bodyPr>
              <a:lstStyle/>
              <a:p>
                <a:pPr algn="ctr" marL="133350">
                  <a:lnSpc>
                    <a:spcPct val="120000"/>
                  </a:lnSpc>
                  <a:spcAft>
                    <a:spcPts val="1200"/>
                  </a:spcAft>
                </a:pPr>
                <a:r>
                  <a:rPr lang="en-US" sz="1200" dirty="0">
                    <a:effectLst/>
                  </a:rPr>
                  <a:t>Chaiwute Vudjung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 Pranee Nuinu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 Ponsakda Yupas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 Rattapong Seelakun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 Sayant Saengsuwan </a:t>
                </a:r>
                <a:r>
                  <a:rPr lang="en-US" sz="1200" dirty="0">
                    <a:effectLst/>
                  </a:rPr>
                  <a:t>​</a:t>
                </a:r>
                <a14:m>
                  <m:oMath>
                    <m:sSup>
                      <m:sSupPr>
                        <m:ctrlPr>
                          <a:rPr sz="1200">
                            <a:latin typeface="Cambria Math" panose="02040503050406030204" pitchFamily="18" charset="0"/>
                          </a:rPr>
                        </m:ctrlPr>
                      </m:sSupPr>
                      <m:e>
                        <m:r>
                          <m:t xml:space="preserve"> </m:t>
                        </m:r>
                      </m:e>
                      <m:sup>
                        <m:r>
                          <m:rPr>
                            <m:sty m:val="b"/>
                          </m:rPr>
                          <a:rPr lang="en-US" sz="1200" dirty="0">
                            <a:solidFill>
                              <a:srgbClr val="000000"/>
                            </a:solidFill>
                            <a:effectLst/>
                          </a:rPr>
                          <m:t>1</m:t>
                        </m:r>
                        <m:r>
                          <m:rPr>
                            <m:sty m:val="b"/>
                          </m:rPr>
                          <a:rPr lang="en-US" sz="1200" dirty="0">
                            <a:solidFill>
                              <a:srgbClr val="000000"/>
                            </a:solidFill>
                            <a:effectLst/>
                          </a:rPr>
                          <m:t>,</m:t>
                        </m:r>
                        <m:r>
                          <m:rPr>
                            <m:sty m:val="b"/>
                          </m:rPr>
                          <a:rPr lang="en-US" sz="1200" dirty="0">
                            <a:solidFill>
                              <a:srgbClr val="000000"/>
                            </a:solidFill>
                            <a:effectLst/>
                          </a:rPr>
                          <m:t>2</m:t>
                        </m:r>
                      </m:sup>
                    </m:sSup>
                  </m:oMath>
                </a14:m>
                <a:r>
                  <a:rPr lang="en-US" sz="1200" dirty="0">
                    <a:effectLst/>
                  </a:rPr>
                  <a:t> ®</a:t>
                </a:r>
              </a:p>
            </p:txBody>
          </p:sp>
        </mc:Choice>
        <mc:Fallback/>
      </mc:AlternateContent>
      <p:sp>
        <p:nvSpPr>
          <p:cNvPr id="2" name="Text"/>
          <p:cNvSpPr/>
          <p:nvPr/>
        </p:nvSpPr>
        <p:spPr>
          <a:xfrm>
            <a:off x="1524000" y="2619375"/>
            <a:ext cx="9144000" cy="457200"/>
          </a:xfrm>
          <a:prstGeom prst="rect">
            <a:avLst/>
          </a:prstGeom>
        </p:spPr>
        <p:txBody>
          <a:bodyPr anchor="t" lIns="0" tIns="0" rIns="0" bIns="0">
            <a:noAutofit/>
          </a:bodyPr>
          <a:lstStyle/>
          <a:p>
            <a:pPr>
              <a:lnSpc>
                <a:spcPct val="120000"/>
              </a:lnSpc>
            </a:pPr>
            <a:r>
              <a:rPr lang="en-US" sz="1200" dirty="0">
                <a:effectLst/>
              </a:rPr>
              <a:t>Received: 12 October 2021 / Revised: 21 February 2022 / Accepted: 22 May 2022</a:t>
            </a:r>
            <a:br>
              <a:rPr lang="en-US" sz="1200" dirty="0"/>
            </a:br>
            <a:r>
              <a:rPr lang="en-US" sz="1200" dirty="0">
                <a:effectLst/>
              </a:rPr>
              <a:t> © The Author(s), under exclusive licence to Springer-Verlag GmbH Germany, part of Springer Nature 2022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2438400" y="457200"/>
                <a:ext cx="7315200" cy="3400425"/>
              </a:xfrm>
              <a:prstGeom prst="rect">
                <a:avLst/>
              </a:prstGeom>
            </p:spPr>
            <p:txBody>
              <a:bodyPr anchor="t" lIns="0" tIns="0" rIns="0" bIns="0">
                <a:noAutofit/>
              </a:bodyPr>
              <a:lstStyle/>
              <a:p>
                <a:pPr algn="ctr">
                  <a:lnSpc>
                    <a:spcPct val="122100"/>
                  </a:lnSpc>
                  <a:spcAft>
                    <a:spcPts val="1600"/>
                  </a:spcAft>
                </a:pPr>
                <a:r>
                  <a:rPr lang="en-US" sz="1180" dirty="0" b="1">
                    <a:effectLst/>
                  </a:rPr>
                  <a:t>Abstract</a:t>
                </a:r>
              </a:p>
              <a:p>
                <a:pPr>
                  <a:lnSpc>
                    <a:spcPct val="120000"/>
                  </a:lnSpc>
                </a:pPr>
                <a:r>
                  <a:rPr lang="en-US" sz="1200" dirty="0">
                    <a:effectLst/>
                  </a:rPr>
                  <a:t>This work aimed to modify the polypropylene (PP) surface by grafting with acrylic acid (AA) monomer in toluene solution using styrene (ST) and benzoyl peroxide (BPO) as comonomer and initiator, respectively, for potential application as an automatically latex-coagulating cup. The grafting percentage of PP- </a:t>
                </a:r>
                <a:r>
                  <a:rPr lang="en-US" sz="1200" dirty="0">
                    <a:effectLst/>
                  </a:rPr>
                  <a:t>​</a:t>
                </a:r>
                <a14:m>
                  <m:oMath>
                    <m:r>
                      <m:rPr>
                        <m:sty m:val="i"/>
                      </m:rPr>
                      <a:rPr lang="en-US" sz="1200" dirty="0">
                        <a:solidFill>
                          <a:srgbClr val="000000"/>
                        </a:solidFill>
                        <a:effectLst/>
                      </a:rPr>
                      <m:t>g</m:t>
                    </m:r>
                  </m:oMath>
                </a14:m>
                <a:r>
                  <a:rPr lang="en-US" sz="1200" dirty="0">
                    <a:effectLst/>
                  </a:rPr>
                  <a:t>-PAA was slightly increased with increasing time of surface activation, grafting reaction time, and concentrations BPO and AA. Interestingly, the presence of ST comonomer significantly improved the grafting percentage of AA onto PP sheets (PP- </a:t>
                </a:r>
                <a:r>
                  <a:rPr lang="en-US" sz="1200" dirty="0">
                    <a:effectLst/>
                  </a:rPr>
                  <a:t>​</a:t>
                </a:r>
                <a14:m>
                  <m:oMath>
                    <m:r>
                      <m:rPr>
                        <m:sty m:val="i"/>
                      </m:rPr>
                      <a:rPr lang="en-US" sz="1200" dirty="0">
                        <a:solidFill>
                          <a:srgbClr val="000000"/>
                        </a:solidFill>
                        <a:effectLst/>
                      </a:rPr>
                      <m:t>g</m:t>
                    </m:r>
                  </m:oMath>
                </a14:m>
                <a:r>
                  <a:rPr lang="en-US" sz="1200" dirty="0">
                    <a:effectLst/>
                  </a:rPr>
                  <a:t>-P(ST-co-AA)) and its ion exchange capacity from 5.76 to 25% and </a:t>
                </a:r>
                <a:r>
                  <a:rPr lang="en-US" sz="1200" dirty="0">
                    <a:effectLst/>
                  </a:rPr>
                  <a:t>​</a:t>
                </a:r>
                <a14:m>
                  <m:oMath>
                    <m:r>
                      <m:rPr>
                        <m:sty m:val="p"/>
                      </m:rPr>
                      <a:rPr lang="en-US" sz="1200" dirty="0">
                        <a:solidFill>
                          <a:srgbClr val="000000"/>
                        </a:solidFill>
                        <a:effectLst/>
                      </a:rPr>
                      <m:t>8.87</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5</m:t>
                        </m:r>
                      </m:sup>
                    </m:sSup>
                  </m:oMath>
                </a14:m>
                <a:r>
                  <a:rPr lang="en-US" sz="1200" dirty="0">
                    <a:effectLst/>
                  </a:rPr>
                  <a:t> to </a:t>
                </a:r>
                <a:r>
                  <a:rPr lang="en-US" sz="1200" dirty="0">
                    <a:effectLst/>
                  </a:rPr>
                  <a:t>​</a:t>
                </a:r>
                <a14:m>
                  <m:oMath>
                    <m:r>
                      <m:rPr>
                        <m:sty m:val="p"/>
                      </m:rPr>
                      <a:rPr lang="en-US" sz="1200" dirty="0">
                        <a:solidFill>
                          <a:srgbClr val="000000"/>
                        </a:solidFill>
                        <a:effectLst/>
                      </a:rPr>
                      <m:t>43.1</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5</m:t>
                        </m:r>
                      </m:sup>
                    </m:sSup>
                    <m:r>
                      <m:rPr>
                        <m:sty m:val="p"/>
                      </m:rPr>
                      <a:rPr lang="en-US" sz="1200" dirty="0">
                        <a:solidFill>
                          <a:srgbClr val="000000"/>
                        </a:solidFill>
                        <a:effectLst/>
                      </a:rPr>
                      <m:t>meq</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respectively. This indicated that the incorporation of ST could significantly enhance the grafting reaction of AA onto the PP surfaces. The possible mechanism of grafting reaction was also described and demonstrated. Besides, the PP- </a:t>
                </a:r>
                <a:r>
                  <a:rPr lang="en-US" sz="1200" dirty="0">
                    <a:effectLst/>
                  </a:rPr>
                  <a:t>​</a:t>
                </a:r>
                <a14:m>
                  <m:oMath>
                    <m:r>
                      <m:rPr>
                        <m:sty m:val="i"/>
                      </m:rPr>
                      <a:rPr lang="en-US" sz="1200" dirty="0">
                        <a:solidFill>
                          <a:srgbClr val="000000"/>
                        </a:solidFill>
                        <a:effectLst/>
                      </a:rPr>
                      <m:t>g</m:t>
                    </m:r>
                  </m:oMath>
                </a14:m>
                <a:r>
                  <a:rPr lang="en-US" sz="1200" dirty="0">
                    <a:effectLst/>
                  </a:rPr>
                  <a:t>-P(ST-co-AA)25 exhibited high coagulum performance of natural rubber latex (NRL) of 93.8% and high NRL coagulation rate of 63.5% %/h. Thus, the grafted PP with ST/ AA monomers as an automatically latex-coagulating cup/container could offer not only the lower production cost and lesser environmental problems but also improved properties, qualities, and price of cup lump products.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994785"/>
                <a:ext cx="9144000" cy="228600"/>
              </a:xfrm>
              <a:prstGeom prst="rect">
                <a:avLst/>
              </a:prstGeom>
            </p:spPr>
            <p:txBody>
              <a:bodyPr anchor="t" lIns="0" tIns="0" rIns="0" bIns="0">
                <a:noAutofit/>
              </a:bodyPr>
              <a:lstStyle/>
              <a:p>
                <a:pPr>
                  <a:lnSpc>
                    <a:spcPct val="120000"/>
                  </a:lnSpc>
                </a:pPr>
                <a:r>
                  <a:rPr lang="en-US" sz="1200" dirty="0">
                    <a:effectLst/>
                  </a:rPr>
                  <a:t>Keywords Surface modification </a:t>
                </a:r>
                <a:r>
                  <a:rPr lang="en-US" sz="1200" dirty="0">
                    <a:effectLst/>
                  </a:rPr>
                  <a:t>​</a:t>
                </a:r>
                <a14:m>
                  <m:oMath>
                    <m:r>
                      <m:rPr>
                        <m:sty m:val="p"/>
                      </m:rPr>
                      <a:rPr lang="en-US" sz="1200" dirty="0">
                        <a:solidFill>
                          <a:srgbClr val="000000"/>
                        </a:solidFill>
                        <a:effectLst/>
                      </a:rPr>
                      <m:t>⋅</m:t>
                    </m:r>
                  </m:oMath>
                </a14:m>
                <a:r>
                  <a:rPr lang="en-US" sz="1200" dirty="0">
                    <a:effectLst/>
                  </a:rPr>
                  <a:t> Natural rubber </a:t>
                </a:r>
                <a:r>
                  <a:rPr lang="en-US" sz="1200" dirty="0">
                    <a:effectLst/>
                  </a:rPr>
                  <a:t>​</a:t>
                </a:r>
                <a14:m>
                  <m:oMath>
                    <m:r>
                      <m:rPr>
                        <m:sty m:val="p"/>
                      </m:rPr>
                      <a:rPr lang="en-US" sz="1200" dirty="0">
                        <a:solidFill>
                          <a:srgbClr val="000000"/>
                        </a:solidFill>
                        <a:effectLst/>
                      </a:rPr>
                      <m:t>⋅</m:t>
                    </m:r>
                  </m:oMath>
                </a14:m>
                <a:r>
                  <a:rPr lang="en-US" sz="1200" dirty="0">
                    <a:effectLst/>
                  </a:rPr>
                  <a:t> Ion exchange capacity </a:t>
                </a:r>
                <a:r>
                  <a:rPr lang="en-US" sz="1200" dirty="0">
                    <a:effectLst/>
                  </a:rPr>
                  <a:t>​</a:t>
                </a:r>
                <a14:m>
                  <m:oMath>
                    <m:r>
                      <m:rPr>
                        <m:sty m:val="p"/>
                      </m:rPr>
                      <a:rPr lang="en-US" sz="1200" dirty="0">
                        <a:solidFill>
                          <a:srgbClr val="000000"/>
                        </a:solidFill>
                        <a:effectLst/>
                      </a:rPr>
                      <m:t>⋅</m:t>
                    </m:r>
                  </m:oMath>
                </a14:m>
                <a:r>
                  <a:rPr lang="en-US" sz="1200" dirty="0">
                    <a:effectLst/>
                  </a:rPr>
                  <a:t> Cup lump • Acetic acid</a:t>
                </a:r>
              </a:p>
            </p:txBody>
          </p:sp>
        </mc:Choice>
        <mc:Fallback/>
      </mc:AlternateContent>
      <p:sp>
        <p:nvSpPr>
          <p:cNvPr id="2" name="Text"/>
          <p:cNvSpPr/>
          <p:nvPr/>
        </p:nvSpPr>
        <p:spPr>
          <a:xfrm>
            <a:off x="1524000" y="4375785"/>
            <a:ext cx="9144000" cy="342900"/>
          </a:xfrm>
          <a:prstGeom prst="rect">
            <a:avLst/>
          </a:prstGeom>
        </p:spPr>
        <p:txBody>
          <a:bodyPr anchor="t" lIns="0" tIns="0" rIns="0" bIns="0">
            <a:noAutofit/>
          </a:bodyPr>
          <a:lstStyle/>
          <a:p>
            <a:pPr>
              <a:lnSpc>
                <a:spcPct val="120000"/>
              </a:lnSpc>
            </a:pPr>
            <a:r>
              <a:rPr lang="en-US" sz="1800" dirty="0" b="1">
                <a:effectLst/>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5943600"/>
              </a:xfrm>
              <a:prstGeom prst="rect">
                <a:avLst/>
              </a:prstGeom>
            </p:spPr>
            <p:txBody>
              <a:bodyPr anchor="t" lIns="0" tIns="0" rIns="0" bIns="0">
                <a:noAutofit/>
              </a:bodyPr>
              <a:lstStyle/>
              <a:p>
                <a:pPr>
                  <a:lnSpc>
                    <a:spcPct val="120000"/>
                  </a:lnSpc>
                </a:pPr>
                <a:r>
                  <a:rPr lang="en-US" sz="1200" dirty="0">
                    <a:effectLst/>
                  </a:rPr>
                  <a:t>Generally, cup lump is an upstream and important product in natural rubber (NR) industries which is mostly supplied for block rubber productions [1]. Cup lump is produced by coagulation process of the field natural rubber latex (NRL) in a cup container. The rubber particles of NRL have a core-shell structure consisting of cis-1,4-polyisoprene as a core and mixed membranes of proteins and lipids as a shell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4</m:t>
                    </m:r>
                    <m:r>
                      <m:rPr>
                        <m:sty m:val="p"/>
                      </m:rPr>
                      <a:rPr lang="en-US" sz="1200" dirty="0">
                        <a:solidFill>
                          <a:srgbClr val="000000"/>
                        </a:solidFill>
                        <a:effectLst/>
                      </a:rPr>
                      <m:t>]</m:t>
                    </m:r>
                  </m:oMath>
                </a14:m>
                <a:r>
                  <a:rPr lang="en-US" sz="1200" dirty="0">
                    <a:effectLst/>
                  </a:rPr>
                  <a:t>. To harvest latex in the solid state, the NRL can be coagulated by either natural or chemical coagulations using the bacteria action or weak acid, respectively [2-5]. However, the natural coagulation of NRL takes very long time. Thus, weak acid is normally used instead to lessen the coagulation time. Formic and acetic acids are recommended as latex coagulant for the upstream production of NR manufacturing such as rubber sheet and cup lump but sulfuric acid </a:t>
                </a:r>
                <a:r>
                  <a:rPr lang="en-US" sz="1200" dirty="0">
                    <a:effectLst/>
                  </a:rPr>
                  <a:t>​</a:t>
                </a:r>
                <a14:m>
                  <m:oMath>
                    <m:d>
                      <m:dPr>
                        <m:begChr m:val="("/>
                        <m:endChr m:val=")"/>
                        <m:ctrlPr>
                          <a:rPr sz="1200">
                            <a:latin typeface="Cambria Math" panose="02040503050406030204" pitchFamily="18" charset="0"/>
                          </a:rPr>
                        </m:ctrlPr>
                      </m:dPr>
                      <m:e>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e>
                    </m:d>
                  </m:oMath>
                </a14:m>
                <a:r>
                  <a:rPr lang="en-US" sz="1200" dirty="0">
                    <a:effectLst/>
                  </a:rPr>
                  <a:t> is more popular latex coagulant used by Thailand rubber farmers due to its low price and ready to use [6]. However, it causes the lower plasticity and low final properties of rubber blocks, compared to the Standard Thailand Rubber (STR). Besides, it generates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2</m:t>
                        </m:r>
                      </m:sub>
                    </m:sSub>
                    <m:sSub>
                      <m:sSubPr>
                        <m:ctrlPr>
                          <a:rPr sz="1200">
                            <a:latin typeface="Cambria Math" panose="02040503050406030204" pitchFamily="18" charset="0"/>
                          </a:rPr>
                        </m:ctrlPr>
                      </m:sSubPr>
                      <m:e>
                        <m:r>
                          <m:rPr>
                            <m:sty m:val="p"/>
                          </m:rPr>
                          <a:rPr lang="en-US" sz="1200" dirty="0">
                            <a:solidFill>
                              <a:srgbClr val="000000"/>
                            </a:solidFill>
                            <a:effectLst/>
                          </a:rPr>
                          <m:t>SO</m:t>
                        </m:r>
                      </m:e>
                      <m:sub>
                        <m:r>
                          <m:rPr>
                            <m:sty m:val="p"/>
                          </m:rPr>
                          <a:rPr lang="en-US" sz="1200" dirty="0">
                            <a:solidFill>
                              <a:srgbClr val="000000"/>
                            </a:solidFill>
                            <a:effectLst/>
                          </a:rPr>
                          <m:t>4</m:t>
                        </m:r>
                      </m:sub>
                    </m:sSub>
                  </m:oMath>
                </a14:m>
                <a:r>
                  <a:rPr lang="en-US" sz="1200" dirty="0">
                    <a:effectLst/>
                  </a:rPr>
                  <a:t> wastewater with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H</m:t>
                        </m:r>
                      </m:e>
                      <m:sub>
                        <m:r>
                          <m:rPr>
                            <m:sty m:val="p"/>
                          </m:rPr>
                          <a:rPr lang="en-US" sz="1200" dirty="0">
                            <a:solidFill>
                              <a:srgbClr val="000000"/>
                            </a:solidFill>
                            <a:effectLst/>
                          </a:rPr>
                          <m:t>2</m:t>
                        </m:r>
                      </m:sub>
                    </m:sSub>
                    <m:r>
                      <m:rPr>
                        <m:sty m:val="p"/>
                      </m:rPr>
                      <a:rPr lang="en-US" sz="1200" dirty="0">
                        <a:solidFill>
                          <a:srgbClr val="000000"/>
                        </a:solidFill>
                        <a:effectLst/>
                      </a:rPr>
                      <m:t xml:space="preserve"> </m:t>
                    </m:r>
                    <m:r>
                      <m:rPr>
                        <m:sty m:val="p"/>
                      </m:rPr>
                      <a:rPr lang="en-US" sz="1200" dirty="0">
                        <a:solidFill>
                          <a:srgbClr val="000000"/>
                        </a:solidFill>
                        <a:effectLst/>
                      </a:rPr>
                      <m:t>S</m:t>
                    </m:r>
                  </m:oMath>
                </a14:m>
                <a:r>
                  <a:rPr lang="en-US" sz="1200" dirty="0">
                    <a:effectLst/>
                  </a:rPr>
                  <a:t> toxic gases and rotten eggs smell [7]. Therefore, if the NRL can be automatically coagulated in a collecting cup without using any acids or with less acid content, it could not only reduce the labor time, production cost, and environmental impact but also improve the properties, qualities, and price of cup lump products. Polypropylene (PP) is well known as a commodity thermoplastic polymer used widely in several applications. It is a non-polar and mechanically rugged material with high chemical resistance and low price [8] Therefore, PP is extensively used as raw material for NRL container (cup) in Thailand. PP has also been modified for various applications such as textile dyeability, adhesion, and polarity improvement of packaging industry, plastic parts for many industries including consumer products, and elaborated membranes with specific properties [9]. Acrylic acid monomer (AA) is used as a raw material for proton exchange membrane because polyacrylic acid (PAA) is an anionic polyelectrolyte possessing the high charge density based on the dissociated carboxyl group [10]. The AA monomer is usually grafted with polyurethane and poly(ethylene terephthalate) for tissue engineering and antibacterial properties, respectively [11, 12]. Moreover, it is popularly chosen to modify the PP surface as reported by several researches [13-16]. For instance, AA monomers were grafted on PP films with grafting percentage of 34.55% by simultaneous radiation grafting reaction to improve hydrophilicity and their biodegradability [13]. The PP monofilaments were grafted with PAA by plasma-induced graft polymerization to immobilize chitosan onto the PP filaments for enhancing the antibacterial and antifungal properties [14]. In addition, PP film was grafted with AA using photo-initiated graft polymerization and the grafted PP film was assembled with chitosan and sodium alginate to remove the trace transition metal ions which catalyze the oxidation in food [15]. PAA was also grafted on the PP surface film by radical photo-grafting polymerization but its grafting percentage was just only </a:t>
                </a:r>
                <a:r>
                  <a:rPr lang="en-US" sz="1200" dirty="0">
                    <a:effectLst/>
                  </a:rPr>
                  <a:t>​</a:t>
                </a:r>
                <a14:m>
                  <m:oMath>
                    <m:r>
                      <m:rPr>
                        <m:sty m:val="p"/>
                      </m:rPr>
                      <a:rPr lang="en-US" sz="1200" dirty="0">
                        <a:solidFill>
                          <a:srgbClr val="000000"/>
                        </a:solidFill>
                        <a:effectLst/>
                      </a:rPr>
                      <m:t>12.9</m:t>
                    </m:r>
                    <m:r>
                      <m:rPr>
                        <m:sty m:val="p"/>
                      </m:rPr>
                      <a:rPr lang="en-US" sz="1200" dirty="0">
                        <a:solidFill>
                          <a:srgbClr val="000000"/>
                        </a:solidFill>
                        <a:effectLst/>
                      </a:rPr>
                      <m:t>%</m:t>
                    </m:r>
                  </m:oMath>
                </a14:m>
                <a:r>
                  <a:rPr lang="en-US" sz="1200" dirty="0">
                    <a:effectLst/>
                  </a:rPr>
                  <a:t> for covalent bonding with specific organic molecules (dye, antimicrobial or antifungal drugs, etc.) [16]. However, the grafting percentage of</a:t>
                </a:r>
              </a:p>
            </p:txBody>
          </p:sp>
        </mc:Choice>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4572000"/>
              </a:xfrm>
              <a:prstGeom prst="rect">
                <a:avLst/>
              </a:prstGeom>
            </p:spPr>
            <p:txBody>
              <a:bodyPr anchor="t" lIns="0" tIns="0" rIns="0" bIns="0">
                <a:noAutofit/>
              </a:bodyPr>
              <a:lstStyle/>
              <a:p>
                <a:pPr>
                  <a:lnSpc>
                    <a:spcPct val="120000"/>
                  </a:lnSpc>
                </a:pPr>
                <a:r>
                  <a:rPr lang="en-US" sz="1200" dirty="0">
                    <a:effectLst/>
                  </a:rPr>
                  <a:t>AA monomers onto the PP surface, in particular the solution free-radical polymerization, is normally low and thus inadequate to generate the enough positively charged ions for NRL coagulation process. To solve this drawback, improvement of the grafting percentage by grafting copolymerization could be an alternative pathway. Also, styrene (ST) as a comonomer is also found to be an effective way for improving the grafting degree of maleic anhydride (MA) onto the polymer matrix [17, 18]. The presence of ST comonomer generates electrons which can promote the MA activity and reduce its unsymmetrical structure and its </a:t>
                </a:r>
                <a:r>
                  <a:rPr lang="en-US" sz="1200" dirty="0">
                    <a:effectLst/>
                  </a:rPr>
                  <a:t>​</a:t>
                </a:r>
                <a14:m>
                  <m:oMath>
                    <m:r>
                      <m:rPr>
                        <m:sty m:val="i"/>
                      </m:rPr>
                      <a:rPr lang="en-US" sz="1200" dirty="0">
                        <a:solidFill>
                          <a:srgbClr val="000000"/>
                        </a:solidFill>
                        <a:effectLst/>
                      </a:rPr>
                      <m:t>π</m:t>
                    </m:r>
                  </m:oMath>
                </a14:m>
                <a:r>
                  <a:rPr lang="en-US" sz="1200" dirty="0">
                    <a:effectLst/>
                  </a:rPr>
                  <a:t> radicalanion bonds [17]. For example, Phadnis et al. [18] prepared the ST/AA comonomers grafted onto fluorinated ethylene propylene copolymer via pre-irradiation technique. The grafting degree increased with increasing monomer content, radiation dose, temperature, and reaction time. Moreover, considerable researches have been devoted to graft ST/AA comonomers onto the different polymers for several application such as hydrophilic fibers, ion exchange membranes, and environment fields [19, 20]. To the best of our knowledge and the above literature reviews, the surface modification of PP grafting with ST/AA comonomers prepared by using solution free-radical polymerization has been rarely reported especially an automatically NRL coagulating application. The main aim of this study was to improve the surface-grafting degree of PP sheet with ST/AA comonomers. The PP sheet was grafted with AA in toluene using benzoyl peroxide (BPO) as an initiator. More importantly, styrene (ST) comonomers were also incorporated to enhance the grafting degree of AA monomers on the PP surfaces. The effects of time of surface activation, grafting time, concentration of BPO and AA, and ratio of ST/AA on the grafting percentage were carried out. The grafted PP samples were then characterized by FTIR, EDX, SEM, and AFM techniques. Contact angle and ion exchange capacity (IEC) including hardness and impact strength of the grafted PP samples were also investigated. Finally, the coagulation of NRL by using the grafted PP sheets was also evaluated to see their efficiency. Results reveal that the presence of ST monomer significantly enhances the grafting percentage of PP- </a:t>
                </a:r>
                <a:r>
                  <a:rPr lang="en-US" sz="1200" dirty="0">
                    <a:effectLst/>
                  </a:rPr>
                  <a:t>​</a:t>
                </a:r>
                <a14:m>
                  <m:oMath>
                    <m:r>
                      <m:rPr>
                        <m:sty m:val="i"/>
                      </m:rPr>
                      <a:rPr lang="en-US" sz="1200" dirty="0">
                        <a:solidFill>
                          <a:srgbClr val="000000"/>
                        </a:solidFill>
                        <a:effectLst/>
                      </a:rPr>
                      <m:t>g</m:t>
                    </m:r>
                  </m:oMath>
                </a14:m>
                <a:r>
                  <a:rPr lang="en-US" sz="1200" dirty="0">
                    <a:effectLst/>
                  </a:rPr>
                  <a:t>-P(ST-co-AA) which is </a:t>
                </a:r>
                <a:r>
                  <a:rPr lang="en-US" sz="1200" dirty="0">
                    <a:effectLst/>
                  </a:rPr>
                  <a:t>​</a:t>
                </a:r>
                <a14:m>
                  <m:oMath>
                    <m:r>
                      <m:rPr>
                        <m:sty m:val="p"/>
                      </m:rPr>
                      <a:rPr lang="en-US" sz="1200" dirty="0">
                        <a:solidFill>
                          <a:srgbClr val="000000"/>
                        </a:solidFill>
                        <a:effectLst/>
                      </a:rPr>
                      <m:t>377</m:t>
                    </m:r>
                    <m:r>
                      <m:rPr>
                        <m:sty m:val="p"/>
                      </m:rPr>
                      <a:rPr lang="en-US" sz="1200" dirty="0">
                        <a:solidFill>
                          <a:srgbClr val="000000"/>
                        </a:solidFill>
                        <a:effectLst/>
                      </a:rPr>
                      <m:t>%</m:t>
                    </m:r>
                  </m:oMath>
                </a14:m>
                <a:r>
                  <a:rPr lang="en-US" sz="1200" dirty="0">
                    <a:effectLst/>
                  </a:rPr>
                  <a:t> higher than that of PP- </a:t>
                </a:r>
                <a:r>
                  <a:rPr lang="en-US" sz="1200" dirty="0">
                    <a:effectLst/>
                  </a:rPr>
                  <a:t>​</a:t>
                </a:r>
                <a14:m>
                  <m:oMath>
                    <m:r>
                      <m:rPr>
                        <m:sty m:val="i"/>
                      </m:rPr>
                      <a:rPr lang="en-US" sz="1200" dirty="0">
                        <a:solidFill>
                          <a:srgbClr val="000000"/>
                        </a:solidFill>
                        <a:effectLst/>
                      </a:rPr>
                      <m:t>g</m:t>
                    </m:r>
                  </m:oMath>
                </a14:m>
                <a:r>
                  <a:rPr lang="en-US" sz="1200" dirty="0">
                    <a:effectLst/>
                  </a:rPr>
                  <a:t>-AA. And the obtained PP- </a:t>
                </a:r>
                <a:r>
                  <a:rPr lang="en-US" sz="1200" dirty="0">
                    <a:effectLst/>
                  </a:rPr>
                  <a:t>​</a:t>
                </a:r>
                <a14:m>
                  <m:oMath>
                    <m:r>
                      <m:rPr>
                        <m:sty m:val="i"/>
                      </m:rPr>
                      <a:rPr lang="en-US" sz="1200" dirty="0">
                        <a:solidFill>
                          <a:srgbClr val="000000"/>
                        </a:solidFill>
                        <a:effectLst/>
                      </a:rPr>
                      <m:t>g</m:t>
                    </m:r>
                  </m:oMath>
                </a14:m>
                <a:r>
                  <a:rPr lang="en-US" sz="1200" dirty="0">
                    <a:effectLst/>
                  </a:rPr>
                  <a:t>-P(ST-co-AA)25 sheet can be applied as an automatically latexcoagulating material and exhibits the excellent coagulum content of 93.8%.</a:t>
                </a:r>
              </a:p>
            </p:txBody>
          </p:sp>
        </mc:Choice>
        <mc:Fallback/>
      </mc:AlternateContent>
      <p:sp>
        <p:nvSpPr>
          <p:cNvPr id="2" name="Text"/>
          <p:cNvSpPr/>
          <p:nvPr/>
        </p:nvSpPr>
        <p:spPr>
          <a:xfrm>
            <a:off x="1524000" y="5181600"/>
            <a:ext cx="9144000" cy="342900"/>
          </a:xfrm>
          <a:prstGeom prst="rect">
            <a:avLst/>
          </a:prstGeom>
        </p:spPr>
        <p:txBody>
          <a:bodyPr anchor="t" lIns="0" tIns="0" rIns="0" bIns="0">
            <a:noAutofit/>
          </a:bodyPr>
          <a:lstStyle/>
          <a:p>
            <a:pPr>
              <a:lnSpc>
                <a:spcPct val="120000"/>
              </a:lnSpc>
            </a:pPr>
            <a:r>
              <a:rPr lang="en-US" sz="1800" dirty="0" b="1">
                <a:effectLst/>
              </a:rPr>
              <a:t>Experiments</a:t>
            </a:r>
          </a:p>
        </p:txBody>
      </p:sp>
      <p:sp>
        <p:nvSpPr>
          <p:cNvPr id="2" name="Text"/>
          <p:cNvSpPr/>
          <p:nvPr/>
        </p:nvSpPr>
        <p:spPr>
          <a:xfrm>
            <a:off x="1524000" y="5714239"/>
            <a:ext cx="9144000" cy="342900"/>
          </a:xfrm>
          <a:prstGeom prst="rect">
            <a:avLst/>
          </a:prstGeom>
        </p:spPr>
        <p:txBody>
          <a:bodyPr anchor="t" lIns="0" tIns="0" rIns="0" bIns="0">
            <a:noAutofit/>
          </a:bodyPr>
          <a:lstStyle/>
          <a:p>
            <a:pPr>
              <a:lnSpc>
                <a:spcPct val="120000"/>
              </a:lnSpc>
            </a:pPr>
            <a:r>
              <a:rPr lang="en-US" sz="1800" dirty="0" b="1">
                <a:effectLst/>
              </a:rPr>
              <a:t>Materials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Isotactic polypropylene (PP, 1100PK POLIMAXX) produced for rubber cup injection molding was obtained from IRPC Public Co. Ltd, Thailand. The official data sheet of manufacturer has reported that PP has a melt flow index = 15 g/10 min (230 °C and 2.16 kg, ASTM D1238), and tensile strength and elongation at yield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36</m:t>
                    </m:r>
                    <m:r>
                      <m:rPr>
                        <m:sty m:val="p"/>
                      </m:rPr>
                      <a:rPr lang="en-US" sz="1200" dirty="0">
                        <a:solidFill>
                          <a:srgbClr val="000000"/>
                        </a:solidFill>
                        <a:effectLst/>
                      </a:rPr>
                      <m:t xml:space="preserve"> </m:t>
                    </m:r>
                    <m:r>
                      <m:rPr>
                        <m:sty m:val="p"/>
                      </m:rPr>
                      <a:rPr lang="en-US" sz="1200" dirty="0">
                        <a:solidFill>
                          <a:srgbClr val="000000"/>
                        </a:solidFill>
                        <a:effectLst/>
                      </a:rPr>
                      <m:t>N</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mm</m:t>
                        </m:r>
                      </m:e>
                      <m:sup>
                        <m:r>
                          <m:rPr>
                            <m:sty m:val="p"/>
                          </m:rPr>
                          <a:rPr lang="en-US" sz="1200" dirty="0">
                            <a:solidFill>
                              <a:srgbClr val="000000"/>
                            </a:solidFill>
                            <a:effectLst/>
                          </a:rPr>
                          <m:t>2</m:t>
                        </m:r>
                      </m:sup>
                    </m:sSup>
                  </m:oMath>
                </a14:m>
                <a:r>
                  <a:rPr lang="en-US" sz="1200" dirty="0">
                    <a:effectLst/>
                  </a:rPr>
                  <a:t> and 26%, respectively. Acrylic acid (AA; Loba Chemie PVT. Co. Ltd., India), styrene (ST; Arcos Organic Co. Ltd., Belgium), and benzoyl peroxide (BPO; Arcos Organic Co. Ltd, Belgium, as initiator) were obtained for use in this work. The ST and AA monomers were firstly purified by distillation prior to use.</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752600"/>
                <a:ext cx="9144000" cy="685800"/>
              </a:xfrm>
              <a:prstGeom prst="rect">
                <a:avLst/>
              </a:prstGeom>
            </p:spPr>
            <p:txBody>
              <a:bodyPr anchor="t" lIns="0" tIns="0" rIns="0" bIns="0">
                <a:noAutofit/>
              </a:bodyPr>
              <a:lstStyle/>
              <a:p>
                <a:pPr>
                  <a:lnSpc>
                    <a:spcPct val="120000"/>
                  </a:lnSpc>
                </a:pPr>
                <a:r>
                  <a:rPr lang="en-US" sz="1200" dirty="0">
                    <a:effectLst/>
                  </a:rPr>
                  <a:t>Acetone, xylene, toluene, NaOH, and NaCl were obtained from Fisher Chemical Co. Ltd., USA. The field natural rubber latex (NRL) was harvested from rubber trees clones RRIM 600 cultivated by Faculty of Agriculture, Ubon Ratchathani University, Thailand. The field NRL without alkaline preservation was ca. </a:t>
                </a:r>
                <a:r>
                  <a:rPr lang="en-US" sz="1200" dirty="0">
                    <a:effectLst/>
                  </a:rPr>
                  <a:t>​</a:t>
                </a:r>
                <a14:m>
                  <m:oMath>
                    <m:r>
                      <m:rPr>
                        <m:sty m:val="p"/>
                      </m:rPr>
                      <a:rPr lang="en-US" sz="1200" dirty="0">
                        <a:solidFill>
                          <a:srgbClr val="000000"/>
                        </a:solidFill>
                        <a:effectLst/>
                      </a:rPr>
                      <m:t>30</m:t>
                    </m:r>
                    <m:r>
                      <m:rPr>
                        <m:sty m:val="p"/>
                      </m:rPr>
                      <a:rPr lang="en-US" sz="1200" dirty="0">
                        <a:solidFill>
                          <a:srgbClr val="000000"/>
                        </a:solidFill>
                        <a:effectLst/>
                      </a:rPr>
                      <m:t>%</m:t>
                    </m:r>
                  </m:oMath>
                </a14:m>
                <a:r>
                  <a:rPr lang="en-US" sz="1200" dirty="0">
                    <a:effectLst/>
                  </a:rPr>
                  <a:t> dry rubber content (DRC).</a:t>
                </a:r>
              </a:p>
            </p:txBody>
          </p:sp>
        </mc:Choice>
        <mc:Fallback/>
      </mc:AlternateContent>
      <p:sp>
        <p:nvSpPr>
          <p:cNvPr id="2" name="Text"/>
          <p:cNvSpPr/>
          <p:nvPr/>
        </p:nvSpPr>
        <p:spPr>
          <a:xfrm>
            <a:off x="1524000" y="2590800"/>
            <a:ext cx="9144000" cy="342900"/>
          </a:xfrm>
          <a:prstGeom prst="rect">
            <a:avLst/>
          </a:prstGeom>
        </p:spPr>
        <p:txBody>
          <a:bodyPr anchor="t" lIns="0" tIns="0" rIns="0" bIns="0">
            <a:noAutofit/>
          </a:bodyPr>
          <a:lstStyle/>
          <a:p>
            <a:pPr>
              <a:lnSpc>
                <a:spcPct val="120000"/>
              </a:lnSpc>
            </a:pPr>
            <a:r>
              <a:rPr lang="en-US" sz="1800" dirty="0" b="1">
                <a:effectLst/>
              </a:rPr>
              <a:t>Preparation of polypropylene (PP) sheet</a:t>
            </a:r>
          </a:p>
        </p:txBody>
      </p:sp>
      <mc:AlternateContent xmlns:mc="http://schemas.openxmlformats.org/markup-compatibility/2006">
        <mc:Choice xmlns:a14="http://schemas.microsoft.com/office/drawing/2010/main" Requires="a14">
          <p:sp>
            <p:nvSpPr>
              <p:cNvPr id="2" name="Text"/>
              <p:cNvSpPr/>
              <p:nvPr/>
            </p:nvSpPr>
            <p:spPr>
              <a:xfrm>
                <a:off x="1524000" y="3123439"/>
                <a:ext cx="9144000" cy="685800"/>
              </a:xfrm>
              <a:prstGeom prst="rect">
                <a:avLst/>
              </a:prstGeom>
            </p:spPr>
            <p:txBody>
              <a:bodyPr anchor="t" lIns="0" tIns="0" rIns="0" bIns="0">
                <a:noAutofit/>
              </a:bodyPr>
              <a:lstStyle/>
              <a:p>
                <a:pPr>
                  <a:lnSpc>
                    <a:spcPct val="120000"/>
                  </a:lnSpc>
                </a:pPr>
                <a:r>
                  <a:rPr lang="en-US" sz="1200" dirty="0">
                    <a:effectLst/>
                  </a:rPr>
                  <a:t>PP pellets were molded into a sheet (7 mm thick) by a compression molding at 210 °C for 7 min and rapidly cooled down to room temperature in cooling press. The prepared PP sheets were then cut into a rectangle bar of </a:t>
                </a:r>
                <a:r>
                  <a:rPr lang="en-US" sz="1200" dirty="0">
                    <a:effectLst/>
                  </a:rPr>
                  <a:t>​</a:t>
                </a:r>
                <a14:m>
                  <m:oMath>
                    <m:r>
                      <m:rPr>
                        <m:sty m:val="p"/>
                      </m:rPr>
                      <a:rPr lang="en-US" sz="1200" dirty="0">
                        <a:solidFill>
                          <a:srgbClr val="000000"/>
                        </a:solidFill>
                        <a:effectLst/>
                      </a:rPr>
                      <m:t>13</m:t>
                    </m:r>
                    <m:r>
                      <m:rPr>
                        <m:sty m:val="p"/>
                      </m:rPr>
                      <a:rPr lang="en-US" sz="1200" dirty="0">
                        <a:solidFill>
                          <a:srgbClr val="000000"/>
                        </a:solidFill>
                        <a:effectLst/>
                      </a:rPr>
                      <m:t>×</m:t>
                    </m:r>
                    <m:r>
                      <m:rPr>
                        <m:sty m:val="p"/>
                      </m:rPr>
                      <a:rPr lang="en-US" sz="1200" dirty="0">
                        <a:solidFill>
                          <a:srgbClr val="000000"/>
                        </a:solidFill>
                        <a:effectLst/>
                      </a:rPr>
                      <m:t>64</m:t>
                    </m:r>
                    <m:r>
                      <m:rPr>
                        <m:sty m:val="p"/>
                      </m:rPr>
                      <a:rPr lang="en-US" sz="1200" dirty="0">
                        <a:solidFill>
                          <a:srgbClr val="000000"/>
                        </a:solidFill>
                        <a:effectLst/>
                      </a:rPr>
                      <m:t>×</m:t>
                    </m:r>
                    <m:r>
                      <m:rPr>
                        <m:sty m:val="p"/>
                      </m:rPr>
                      <a:rPr lang="en-US" sz="1200" dirty="0">
                        <a:solidFill>
                          <a:srgbClr val="000000"/>
                        </a:solidFill>
                        <a:effectLst/>
                      </a:rPr>
                      <m:t>7</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mm</m:t>
                        </m:r>
                      </m:e>
                      <m:sup>
                        <m:r>
                          <m:rPr>
                            <m:sty m:val="p"/>
                          </m:rPr>
                          <a:rPr lang="en-US" sz="1200" dirty="0">
                            <a:solidFill>
                              <a:srgbClr val="000000"/>
                            </a:solidFill>
                            <a:effectLst/>
                          </a:rPr>
                          <m:t>3</m:t>
                        </m:r>
                      </m:sup>
                    </m:sSup>
                  </m:oMath>
                </a14:m>
                <a:r>
                  <a:rPr lang="en-US" sz="1200" dirty="0">
                    <a:effectLst/>
                  </a:rPr>
                  <a:t> and washed with an excess acetone for 10 min to remove any impurity adhered on its surface.</a:t>
                </a:r>
              </a:p>
            </p:txBody>
          </p:sp>
        </mc:Choice>
        <mc:Fallback/>
      </mc:AlternateContent>
      <p:sp>
        <p:nvSpPr>
          <p:cNvPr id="2" name="Text"/>
          <p:cNvSpPr/>
          <p:nvPr/>
        </p:nvSpPr>
        <p:spPr>
          <a:xfrm>
            <a:off x="1524000" y="3961639"/>
            <a:ext cx="9144000" cy="342900"/>
          </a:xfrm>
          <a:prstGeom prst="rect">
            <a:avLst/>
          </a:prstGeom>
        </p:spPr>
        <p:txBody>
          <a:bodyPr anchor="t" lIns="0" tIns="0" rIns="0" bIns="0">
            <a:noAutofit/>
          </a:bodyPr>
          <a:lstStyle/>
          <a:p>
            <a:pPr>
              <a:lnSpc>
                <a:spcPct val="120000"/>
              </a:lnSpc>
            </a:pPr>
            <a:r>
              <a:rPr lang="en-US" sz="1800" dirty="0" b="1">
                <a:effectLst/>
              </a:rPr>
              <a:t>Grafting reaction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286000"/>
              </a:xfrm>
              <a:prstGeom prst="rect">
                <a:avLst/>
              </a:prstGeom>
            </p:spPr>
            <p:txBody>
              <a:bodyPr anchor="t" lIns="0" tIns="0" rIns="0" bIns="0">
                <a:noAutofit/>
              </a:bodyPr>
              <a:lstStyle/>
              <a:p>
                <a:pPr>
                  <a:lnSpc>
                    <a:spcPct val="120000"/>
                  </a:lnSpc>
                </a:pPr>
                <a:r>
                  <a:rPr lang="en-US" sz="1200" dirty="0">
                    <a:effectLst/>
                  </a:rPr>
                  <a:t>In order to produce PP sheet with automatically latex-coagulating properties, the PP surface was modified by a free-radical grafting reaction with AA and ST monomers in toluene adopted from Wang et al. [21] The PP sheets were firstly washed and placed into a three-necked reaction flask with an overhead stirrer, a thermometer, a reflux condenser, and nitrogen supply. The grafting procedure can be divided into two steps as follows. In the first step, the surface activation), toluene (250 mL), and BPO (15-25 wt% of PP) were added into the flask and kept for 0.5-2.5 h at </a:t>
                </a:r>
                <a:r>
                  <a:rPr lang="en-US" sz="1200" dirty="0">
                    <a:effectLst/>
                  </a:rPr>
                  <a:t>​</a:t>
                </a:r>
                <a14:m>
                  <m:oMath>
                    <m:r>
                      <m:rPr>
                        <m:sty m:val="p"/>
                      </m:rPr>
                      <a:rPr lang="en-US" sz="1200" dirty="0">
                        <a:solidFill>
                          <a:srgbClr val="000000"/>
                        </a:solidFill>
                        <a:effectLst/>
                      </a:rPr>
                      <m:t>95</m:t>
                    </m:r>
                    <m:r>
                      <m:rPr>
                        <m:sty m:val="p"/>
                      </m:rPr>
                      <a:rPr lang="en-US" sz="1200" dirty="0">
                        <a:solidFill>
                          <a:srgbClr val="000000"/>
                        </a:solidFill>
                        <a:effectLst/>
                      </a:rPr>
                      <m:t>±</m:t>
                    </m:r>
                    <m:r>
                      <m:rPr>
                        <m:sty m:val="p"/>
                      </m:rPr>
                      <a:rPr lang="en-US" sz="1200" dirty="0">
                        <a:solidFill>
                          <a:srgbClr val="000000"/>
                        </a:solidFill>
                        <a:effectLst/>
                      </a:rPr>
                      <m:t>5</m:t>
                    </m:r>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oMath>
                </a14:m>
                <a:r>
                  <a:rPr lang="en-US" sz="1200" dirty="0">
                    <a:effectLst/>
                  </a:rPr>
                  <a:t>. In the latter step, the grafting reaction, various AA/ST mixed solutions (150-350 mL) at volume ratios of 100/0, 90/10, 80/20, 70/30, 60/40, and 50/50 were added in the reaction flask and the grafting reaction was performed under </a:t>
                </a:r>
                <a:r>
                  <a:rPr lang="en-US" sz="1200" dirty="0">
                    <a:effectLst/>
                  </a:rPr>
                  <a:t>​</a:t>
                </a:r>
                <a14:m>
                  <m:oMath>
                    <m:sSub>
                      <m:sSubPr>
                        <m:ctrlPr>
                          <a:rPr sz="1200">
                            <a:latin typeface="Cambria Math" panose="02040503050406030204" pitchFamily="18" charset="0"/>
                          </a:rPr>
                        </m:ctrlPr>
                      </m:sSubPr>
                      <m:e>
                        <m:r>
                          <m:rPr>
                            <m:sty m:val="p"/>
                          </m:rPr>
                          <a:rPr lang="en-US" sz="1200" dirty="0">
                            <a:solidFill>
                              <a:srgbClr val="000000"/>
                            </a:solidFill>
                            <a:effectLst/>
                          </a:rPr>
                          <m:t>N</m:t>
                        </m:r>
                      </m:e>
                      <m:sub>
                        <m:r>
                          <m:rPr>
                            <m:sty m:val="p"/>
                          </m:rPr>
                          <a:rPr lang="en-US" sz="1200" dirty="0">
                            <a:solidFill>
                              <a:srgbClr val="000000"/>
                            </a:solidFill>
                            <a:effectLst/>
                          </a:rPr>
                          <m:t>2</m:t>
                        </m:r>
                      </m:sub>
                    </m:sSub>
                  </m:oMath>
                </a14:m>
                <a:r>
                  <a:rPr lang="en-US" sz="1200" dirty="0">
                    <a:effectLst/>
                  </a:rPr>
                  <a:t> atmosphere for 1-9 h. At the predetermined time, the reaction was cooled down quickly in water bath to yield the PP- </a:t>
                </a:r>
                <a:r>
                  <a:rPr lang="en-US" sz="1200" dirty="0">
                    <a:effectLst/>
                  </a:rPr>
                  <a:t>​</a:t>
                </a:r>
                <a14:m>
                  <m:oMath>
                    <m:r>
                      <m:rPr>
                        <m:sty m:val="i"/>
                      </m:rPr>
                      <a:rPr lang="en-US" sz="1200" dirty="0">
                        <a:solidFill>
                          <a:srgbClr val="000000"/>
                        </a:solidFill>
                        <a:effectLst/>
                      </a:rPr>
                      <m:t>g</m:t>
                    </m:r>
                  </m:oMath>
                </a14:m>
                <a:r>
                  <a:rPr lang="en-US" sz="1200" dirty="0">
                    <a:effectLst/>
                  </a:rPr>
                  <a:t>-P(ST-co-AA) sheets. For comparison, the grafted PP without ST comonomer (the PP- </a:t>
                </a:r>
                <a:r>
                  <a:rPr lang="en-US" sz="1200" dirty="0">
                    <a:effectLst/>
                  </a:rPr>
                  <a:t>​</a:t>
                </a:r>
                <a14:m>
                  <m:oMath>
                    <m:r>
                      <m:rPr>
                        <m:sty m:val="i"/>
                      </m:rPr>
                      <a:rPr lang="en-US" sz="1200" dirty="0">
                        <a:solidFill>
                          <a:srgbClr val="000000"/>
                        </a:solidFill>
                        <a:effectLst/>
                      </a:rPr>
                      <m:t>g</m:t>
                    </m:r>
                  </m:oMath>
                </a14:m>
                <a:r>
                  <a:rPr lang="en-US" sz="1200" dirty="0">
                    <a:effectLst/>
                  </a:rPr>
                  <a:t>-PAA) was also prepared with the same procedures without using ST in the reaction. The chemical compositions and reaction conditions for preparation of PP- </a:t>
                </a:r>
                <a:r>
                  <a:rPr lang="en-US" sz="1200" dirty="0">
                    <a:effectLst/>
                  </a:rPr>
                  <a:t>​</a:t>
                </a:r>
                <a14:m>
                  <m:oMath>
                    <m:r>
                      <m:rPr>
                        <m:sty m:val="i"/>
                      </m:rPr>
                      <a:rPr lang="en-US" sz="1200" dirty="0">
                        <a:solidFill>
                          <a:srgbClr val="000000"/>
                        </a:solidFill>
                        <a:effectLst/>
                      </a:rPr>
                      <m:t>g</m:t>
                    </m:r>
                  </m:oMath>
                </a14:m>
                <a:r>
                  <a:rPr lang="en-US" sz="1200" dirty="0">
                    <a:effectLst/>
                  </a:rPr>
                  <a:t>-PAA and PP- </a:t>
                </a:r>
                <a:r>
                  <a:rPr lang="en-US" sz="1200" dirty="0">
                    <a:effectLst/>
                  </a:rPr>
                  <a:t>​</a:t>
                </a:r>
                <a14:m>
                  <m:oMath>
                    <m:r>
                      <m:rPr>
                        <m:sty m:val="i"/>
                      </m:rPr>
                      <a:rPr lang="en-US" sz="1200" dirty="0">
                        <a:solidFill>
                          <a:srgbClr val="000000"/>
                        </a:solidFill>
                        <a:effectLst/>
                      </a:rPr>
                      <m:t>g</m:t>
                    </m:r>
                  </m:oMath>
                </a14:m>
                <a:r>
                  <a:rPr lang="en-US" sz="1200" dirty="0">
                    <a:effectLst/>
                  </a:rPr>
                  <a:t>-P(ST-co-AA) samples are summarized in Table 1.</a:t>
                </a:r>
              </a:p>
            </p:txBody>
          </p:sp>
        </mc:Choice>
        <mc:Fallback/>
      </mc:AlternateContent>
      <p:sp>
        <p:nvSpPr>
          <p:cNvPr id="2" name="Text"/>
          <p:cNvSpPr/>
          <p:nvPr/>
        </p:nvSpPr>
        <p:spPr>
          <a:xfrm>
            <a:off x="1524000" y="2895600"/>
            <a:ext cx="9144000" cy="342900"/>
          </a:xfrm>
          <a:prstGeom prst="rect">
            <a:avLst/>
          </a:prstGeom>
        </p:spPr>
        <p:txBody>
          <a:bodyPr anchor="t" lIns="0" tIns="0" rIns="0" bIns="0">
            <a:noAutofit/>
          </a:bodyPr>
          <a:lstStyle/>
          <a:p>
            <a:pPr>
              <a:lnSpc>
                <a:spcPct val="120000"/>
              </a:lnSpc>
            </a:pPr>
            <a:r>
              <a:rPr lang="en-US" sz="1800" dirty="0" b="1">
                <a:effectLst/>
              </a:rPr>
              <a:t>Purification of grafted PP products</a:t>
            </a:r>
          </a:p>
        </p:txBody>
      </p:sp>
      <p:sp>
        <p:nvSpPr>
          <p:cNvPr id="2" name="Text"/>
          <p:cNvSpPr/>
          <p:nvPr/>
        </p:nvSpPr>
        <p:spPr>
          <a:xfrm>
            <a:off x="1524000" y="3428239"/>
            <a:ext cx="9144000" cy="685800"/>
          </a:xfrm>
          <a:prstGeom prst="rect">
            <a:avLst/>
          </a:prstGeom>
        </p:spPr>
        <p:txBody>
          <a:bodyPr anchor="t" lIns="0" tIns="0" rIns="0" bIns="0">
            <a:noAutofit/>
          </a:bodyPr>
          <a:lstStyle/>
          <a:p>
            <a:pPr>
              <a:lnSpc>
                <a:spcPct val="120000"/>
              </a:lnSpc>
            </a:pPr>
            <a:r>
              <a:rPr lang="en-US" sz="1200" dirty="0">
                <a:effectLst/>
              </a:rPr>
              <a:t>The grafted PP products were washed with acetone and xylene mixture (1:1 ratio) for 1 h to remove the unreacted AA, ST, and AA/ST reactants and then dried in a vacuum oven at 80 °C for 15 h until weight constants. The grafting percentage is calculated by using Eq. (1) [12].</a:t>
            </a:r>
          </a:p>
        </p:txBody>
      </p:sp>
      <mc:AlternateContent xmlns:mc="http://schemas.openxmlformats.org/markup-compatibility/2006">
        <mc:Choice xmlns:a14="http://schemas.microsoft.com/office/drawing/2010/main" Requires="a14">
          <p:sp>
            <p:nvSpPr>
              <p:cNvPr id="2" name="Text"/>
              <p:cNvSpPr/>
              <p:nvPr/>
            </p:nvSpPr>
            <p:spPr>
              <a:xfrm>
                <a:off x="1524000" y="4266439"/>
                <a:ext cx="9144000" cy="3905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 Grafting percentage </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w</m:t>
                                </m:r>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i"/>
                                      </m:rPr>
                                      <a:rPr lang="en-US" sz="1200" dirty="0">
                                        <a:solidFill>
                                          <a:srgbClr val="000000"/>
                                        </a:solidFill>
                                        <a:effectLst/>
                                      </a:rPr>
                                      <m:t>o</m:t>
                                    </m:r>
                                  </m:sub>
                                </m:sSub>
                              </m:num>
                              <m:den>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i"/>
                                      </m:rPr>
                                      <a:rPr lang="en-US" sz="1200" dirty="0">
                                        <a:solidFill>
                                          <a:srgbClr val="000000"/>
                                        </a:solidFill>
                                        <a:effectLst/>
                                      </a:rPr>
                                      <m:t>o</m:t>
                                    </m:r>
                                  </m:sub>
                                </m:sSub>
                              </m:den>
                            </m:f>
                            <m:r>
                              <m:rPr>
                                <m:sty m:val="p"/>
                              </m:rPr>
                              <a:rPr lang="en-US" sz="1200" dirty="0">
                                <a:solidFill>
                                  <a:srgbClr val="000000"/>
                                </a:solidFill>
                                <a:effectLst/>
                              </a:rPr>
                              <m:t>×</m:t>
                            </m:r>
                            <m:r>
                              <m:rPr>
                                <m:sty m:val="p"/>
                              </m:rPr>
                              <a:rPr lang="en-US" sz="1200" dirty="0">
                                <a:solidFill>
                                  <a:srgbClr val="000000"/>
                                </a:solidFill>
                                <a:effectLst/>
                              </a:rPr>
                              <m:t>100</m:t>
                            </m:r>
                          </m:e>
                          <m:e>
                            <m:r>
                              <m:rPr>
                                <m:sty m:val="p"/>
                              </m:rPr>
                              <a:rPr lang="en-US" sz="1200" dirty="0">
                                <a:solidFill>
                                  <a:srgbClr val="000000"/>
                                </a:solidFill>
                                <a:effectLst/>
                              </a:rPr>
                              <m:t>(1)</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809364"/>
                <a:ext cx="9144000" cy="2286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w</m:t>
                    </m:r>
                  </m:oMath>
                </a14:m>
                <a:r>
                  <a:rPr lang="en-US" sz="1200" dirty="0">
                    <a:effectLst/>
                  </a:rPr>
                  <a:t> is weight of the grafted PP sheets after washing with acetone and xylene,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i"/>
                          </m:rPr>
                          <a:rPr lang="en-US" sz="1200" dirty="0">
                            <a:solidFill>
                              <a:srgbClr val="000000"/>
                            </a:solidFill>
                            <a:effectLst/>
                          </a:rPr>
                          <m:t>o</m:t>
                        </m:r>
                      </m:sub>
                    </m:sSub>
                  </m:oMath>
                </a14:m>
                <a:r>
                  <a:rPr lang="en-US" sz="1200" dirty="0">
                    <a:effectLst/>
                  </a:rPr>
                  <a:t> is weight of PP sheet before grafting.</a:t>
                </a:r>
              </a:p>
            </p:txBody>
          </p:sp>
        </mc:Choice>
        <mc:Fallback/>
      </mc:AlternateContent>
      <p:sp>
        <p:nvSpPr>
          <p:cNvPr id="2" name="Text"/>
          <p:cNvSpPr/>
          <p:nvPr/>
        </p:nvSpPr>
        <p:spPr>
          <a:xfrm>
            <a:off x="1524000" y="5190364"/>
            <a:ext cx="9144000" cy="228600"/>
          </a:xfrm>
          <a:prstGeom prst="rect">
            <a:avLst/>
          </a:prstGeom>
        </p:spPr>
        <p:txBody>
          <a:bodyPr anchor="t" lIns="0" tIns="0" rIns="0" bIns="0">
            <a:noAutofit/>
          </a:bodyPr>
          <a:lstStyle/>
          <a:p>
            <a:pPr>
              <a:lnSpc>
                <a:spcPct val="120000"/>
              </a:lnSpc>
            </a:pPr>
            <a:r>
              <a:rPr lang="en-US" sz="1200" dirty="0">
                <a:effectLst/>
              </a:rPr>
              <a:t>Table 1 Chemical compositions and reaction conditions for preparation of PP-g-PAA and PP-g-P(ST-co-AA) samples</a:t>
            </a:r>
          </a:p>
        </p:txBody>
      </p:sp>
      <mc:AlternateContent xmlns:mc="http://schemas.openxmlformats.org/markup-compatibility/2006">
        <mc:Choice xmlns:a14="http://schemas.microsoft.com/office/drawing/2010/main" Requires="a14">
          <p:graphicFrame>
            <p:nvGraphicFramePr>
              <p:cNvPr id="3" name="Table"/>
              <p:cNvGraphicFramePr>
                <a:graphicFrameLocks noGrp="1"/>
              </p:cNvGraphicFramePr>
              <p:nvPr/>
            </p:nvGraphicFramePr>
            <p:xfrm>
              <a:off x="3609975" y="5418964"/>
              <a:ext cx="4972050" cy="800100"/>
            </p:xfrm>
            <a:graphic>
              <a:graphicData uri="http://schemas.openxmlformats.org/drawingml/2006/table">
                <a:tbl>
                  <a:tblPr firstRow="1" firstCol="1" bandRow="1">
                    <a:tableStyleId>{5940675A-B579-460E-94D1-54222C63F5DA}</a:tableStyleId>
                  </a:tblPr>
                  <a:tblGrid>
                    <a:gridCol w="2247900"/>
                    <a:gridCol w="876300"/>
                    <a:gridCol w="183832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Sample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PP- </a:t>
                          </a:r>
                          <a:r>
                            <a:rPr lang="en-US" sz="1200" dirty="0">
                              <a:effectLst/>
                            </a:rPr>
                            <a:t>​</a:t>
                          </a:r>
                          <a14:m>
                            <m:oMathPara>
                              <m:oMathParaPr>
                                <m:jc m:val="left"/>
                              </m:oMathParaPr>
                              <m:oMath>
                                <m:r>
                                  <m:rPr>
                                    <m:sty m:val="i"/>
                                  </m:rPr>
                                  <a:rPr lang="en-US" sz="1200" dirty="0">
                                    <a:solidFill>
                                      <a:srgbClr val="000000"/>
                                    </a:solidFill>
                                    <a:effectLst/>
                                  </a:rPr>
                                  <m:t>g</m:t>
                                </m:r>
                              </m:oMath>
                            </m:oMathPara>
                          </a14:m>
                          <a:r>
                            <a:rPr lang="en-US" sz="1200" dirty="0">
                              <a:effectLst/>
                            </a:rPr>
                            <a:t>-PAA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PP- </a:t>
                          </a:r>
                          <a:r>
                            <a:rPr lang="en-US" sz="1200" dirty="0">
                              <a:effectLst/>
                            </a:rPr>
                            <a:t>​</a:t>
                          </a:r>
                          <a14:m>
                            <m:oMathPara>
                              <m:oMathParaPr>
                                <m:jc m:val="left"/>
                              </m:oMathParaPr>
                              <m:oMath>
                                <m:r>
                                  <m:rPr>
                                    <m:sty m:val="i"/>
                                  </m:rPr>
                                  <a:rPr lang="en-US" sz="1200" dirty="0">
                                    <a:solidFill>
                                      <a:srgbClr val="000000"/>
                                    </a:solidFill>
                                    <a:effectLst/>
                                  </a:rPr>
                                  <m:t>g</m:t>
                                </m:r>
                              </m:oMath>
                            </m:oMathPara>
                          </a14:m>
                          <a:r>
                            <a:rPr lang="en-US" sz="1200" dirty="0">
                              <a:effectLst/>
                            </a:rPr>
                            <a:t>-P(ST-co-AA)</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gridSpan="3">
                      <a:txBody>
                        <a:bodyPr anchor="t" lIns="76200" tIns="15240" rIns="0" bIns="0">
                          <a:noAutofit/>
                        </a:bodyPr>
                        <a:lstStyle/>
                        <a:p>
                          <a:pPr algn="l"/>
                          <a:r>
                            <a:rPr lang="en-US" sz="1200" dirty="0">
                              <a:effectLst/>
                            </a:rPr>
                            <a:t>Surface acting step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r>
                </a:tbl>
              </a:graphicData>
            </a:graphic>
          </p:graphicFrame>
        </mc:Choice>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Table"/>
              <p:cNvGraphicFramePr>
                <a:graphicFrameLocks noGrp="1"/>
              </p:cNvGraphicFramePr>
              <p:nvPr/>
            </p:nvGraphicFramePr>
            <p:xfrm>
              <a:off x="3609975" y="457200"/>
              <a:ext cx="4972050" cy="3200400"/>
            </p:xfrm>
            <a:graphic>
              <a:graphicData uri="http://schemas.openxmlformats.org/drawingml/2006/table">
                <a:tbl>
                  <a:tblPr firstRow="1" firstCol="1" bandRow="1">
                    <a:tableStyleId>{5940675A-B579-460E-94D1-54222C63F5DA}</a:tableStyleId>
                  </a:tblPr>
                  <a:tblGrid>
                    <a:gridCol w="2247900"/>
                    <a:gridCol w="876300"/>
                    <a:gridCol w="1838325"/>
                  </a:tblGrid>
                  <a:tr h="266700">
                    <a:tc>
                      <a:txBody>
                        <a:bodyPr anchor="t" lIns="76200" tIns="15240" rIns="0" bIns="0">
                          <a:noAutofit/>
                        </a:bodyPr>
                        <a:lstStyle/>
                        <a:p>
                          <a:pPr algn="l"/>
                          <a:r>
                            <a:rPr lang="en-US" sz="1200" dirty="0">
                              <a:effectLst/>
                            </a:rPr>
                            <a:t>PP sheets (g)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Toluene (mL)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BPO (wt% of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Reaction time (h)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0.5-2.5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Temperature (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oMath>
                            </m:oMathPara>
                          </a14:m>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95</m:t>
                                </m:r>
                                <m:r>
                                  <m:rPr>
                                    <m:sty m:val="p"/>
                                  </m:rPr>
                                  <a:rPr lang="en-US" sz="1200" dirty="0">
                                    <a:solidFill>
                                      <a:srgbClr val="000000"/>
                                    </a:solidFill>
                                    <a:effectLst/>
                                  </a:rPr>
                                  <m:t>±</m:t>
                                </m:r>
                                <m:r>
                                  <m:rPr>
                                    <m:sty m:val="p"/>
                                  </m:rPr>
                                  <a:rPr lang="en-US" sz="1200" dirty="0">
                                    <a:solidFill>
                                      <a:srgbClr val="000000"/>
                                    </a:solidFill>
                                    <a:effectLst/>
                                  </a:rPr>
                                  <m:t>5</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95</m:t>
                                </m:r>
                                <m:r>
                                  <m:rPr>
                                    <m:sty m:val="p"/>
                                  </m:rPr>
                                  <a:rPr lang="en-US" sz="1200" dirty="0">
                                    <a:solidFill>
                                      <a:srgbClr val="000000"/>
                                    </a:solidFill>
                                    <a:effectLst/>
                                  </a:rPr>
                                  <m:t>±</m:t>
                                </m:r>
                                <m:r>
                                  <m:rPr>
                                    <m:sty m:val="p"/>
                                  </m:rPr>
                                  <a:rPr lang="en-US" sz="1200" dirty="0">
                                    <a:solidFill>
                                      <a:srgbClr val="000000"/>
                                    </a:solidFill>
                                    <a:effectLst/>
                                  </a:rPr>
                                  <m:t>5</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gridSpan="3">
                      <a:txBody>
                        <a:bodyPr anchor="t" lIns="76200" tIns="15240" rIns="0" bIns="0">
                          <a:noAutofit/>
                        </a:bodyPr>
                        <a:lstStyle/>
                        <a:p>
                          <a:pPr algn="l"/>
                          <a:r>
                            <a:rPr lang="en-US" sz="1200" dirty="0">
                              <a:effectLst/>
                            </a:rPr>
                            <a:t>Grafting reaction step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hMerge="1">
                      <a:txBody>
                        <a:bodyPr/>
                        <a:lstStyle/>
                        <a:p>
                          <a:pPr/>
                          <a:endParaRPr/>
                        </a:p>
                      </a:txBody>
                      <a:tcPr marL="0" marR="0" marT="0" marB="0"/>
                    </a:tc>
                    <a:tc hMerge="1">
                      <a:txBody>
                        <a:bodyPr/>
                        <a:lstStyle/>
                        <a:p>
                          <a:pPr/>
                          <a:endParaRPr/>
                        </a:p>
                      </a:txBody>
                      <a:tcPr marL="0" marR="0" marT="0" marB="0"/>
                    </a:tc>
                  </a:tr>
                  <a:tr h="266700">
                    <a:tc>
                      <a:txBody>
                        <a:bodyPr anchor="t" lIns="76200" tIns="15240" rIns="0" bIns="0">
                          <a:noAutofit/>
                        </a:bodyPr>
                        <a:lstStyle/>
                        <a:p>
                          <a:pPr algn="l"/>
                          <a:r>
                            <a:rPr lang="en-US" sz="1200" dirty="0">
                              <a:effectLst/>
                            </a:rPr>
                            <a:t>AA (wt% of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0-350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AA/ST (wt%)</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100/0, 90/10, 80/20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(total weight </a:t>
                          </a:r>
                          <a:r>
                            <a:rPr lang="en-US" sz="1200" dirty="0">
                              <a:effectLst/>
                            </a:rPr>
                            <a:t>​</a:t>
                          </a:r>
                          <a14:m>
                            <m:oMathPara>
                              <m:oMathParaPr>
                                <m:jc m:val="left"/>
                              </m:oMathParaPr>
                              <m:oMath>
                                <m:r>
                                  <m:rPr>
                                    <m:sty m:val="p"/>
                                  </m:rPr>
                                  <a:rPr lang="en-US" sz="1200" dirty="0">
                                    <a:solidFill>
                                      <a:srgbClr val="000000"/>
                                    </a:solidFill>
                                    <a:effectLst/>
                                  </a:rPr>
                                  <m:t>=</m:t>
                                </m:r>
                                <m:r>
                                  <m:rPr>
                                    <m:sty m:val="p"/>
                                  </m:rPr>
                                  <a:rPr lang="en-US" sz="1200" dirty="0">
                                    <a:solidFill>
                                      <a:srgbClr val="000000"/>
                                    </a:solidFill>
                                    <a:effectLst/>
                                  </a:rPr>
                                  <m:t>250</m:t>
                                </m:r>
                                <m:r>
                                  <m:rPr>
                                    <m:sty m:val="p"/>
                                  </m:rPr>
                                  <a:rPr lang="en-US" sz="1200" dirty="0">
                                    <a:solidFill>
                                      <a:srgbClr val="000000"/>
                                    </a:solidFill>
                                    <a:effectLst/>
                                  </a:rPr>
                                  <m:t>wt</m:t>
                                </m:r>
                                <m:r>
                                  <m:rPr>
                                    <m:sty m:val="p"/>
                                  </m:rPr>
                                  <a:rPr lang="en-US" sz="1200" dirty="0">
                                    <a:solidFill>
                                      <a:srgbClr val="000000"/>
                                    </a:solidFill>
                                    <a:effectLst/>
                                  </a:rPr>
                                  <m:t>%</m:t>
                                </m:r>
                              </m:oMath>
                            </m:oMathPara>
                          </a14:m>
                          <a:r>
                            <a:rPr lang="en-US" sz="1200" dirty="0">
                              <a:effectLst/>
                            </a:rPr>
                            <a:t> of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70/30, 60/40 and 50/50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Monomer (wt% of PP)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150-350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Reaction time (h)</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1-9</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Temperature (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m:t>
                                    </m:r>
                                  </m:sup>
                                </m:sSup>
                                <m:r>
                                  <m:rPr>
                                    <m:sty m:val="p"/>
                                  </m:rPr>
                                  <a:rPr lang="en-US" sz="1200" dirty="0">
                                    <a:solidFill>
                                      <a:srgbClr val="000000"/>
                                    </a:solidFill>
                                    <a:effectLst/>
                                  </a:rPr>
                                  <m:t>C</m:t>
                                </m:r>
                              </m:oMath>
                            </m:oMathPara>
                          </a14:m>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95</m:t>
                                </m:r>
                                <m:r>
                                  <m:rPr>
                                    <m:sty m:val="p"/>
                                  </m:rPr>
                                  <a:rPr lang="en-US" sz="1200" dirty="0">
                                    <a:solidFill>
                                      <a:srgbClr val="000000"/>
                                    </a:solidFill>
                                    <a:effectLst/>
                                  </a:rPr>
                                  <m:t>±</m:t>
                                </m:r>
                                <m:r>
                                  <m:rPr>
                                    <m:sty m:val="p"/>
                                  </m:rPr>
                                  <a:rPr lang="en-US" sz="1200" dirty="0">
                                    <a:solidFill>
                                      <a:srgbClr val="000000"/>
                                    </a:solidFill>
                                    <a:effectLst/>
                                  </a:rPr>
                                  <m:t>5</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95</m:t>
                                </m:r>
                                <m:r>
                                  <m:rPr>
                                    <m:sty m:val="p"/>
                                  </m:rPr>
                                  <a:rPr lang="en-US" sz="1200" dirty="0">
                                    <a:solidFill>
                                      <a:srgbClr val="000000"/>
                                    </a:solidFill>
                                    <a:effectLst/>
                                  </a:rPr>
                                  <m:t>±</m:t>
                                </m:r>
                                <m:r>
                                  <m:rPr>
                                    <m:sty m:val="p"/>
                                  </m:rPr>
                                  <a:rPr lang="en-US" sz="1200" dirty="0">
                                    <a:solidFill>
                                      <a:srgbClr val="000000"/>
                                    </a:solidFill>
                                    <a:effectLst/>
                                  </a:rPr>
                                  <m:t>5</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3657600"/>
            <a:ext cx="9144000" cy="342900"/>
          </a:xfrm>
          <a:prstGeom prst="rect">
            <a:avLst/>
          </a:prstGeom>
        </p:spPr>
        <p:txBody>
          <a:bodyPr anchor="t" lIns="0" tIns="0" rIns="0" bIns="0">
            <a:noAutofit/>
          </a:bodyPr>
          <a:lstStyle/>
          <a:p>
            <a:pPr>
              <a:lnSpc>
                <a:spcPct val="120000"/>
              </a:lnSpc>
            </a:pPr>
            <a:r>
              <a:rPr lang="en-US" sz="1800" dirty="0" b="1">
                <a:effectLst/>
              </a:rPr>
              <a:t>Characterizations</a:t>
            </a:r>
          </a:p>
        </p:txBody>
      </p:sp>
      <p:sp>
        <p:nvSpPr>
          <p:cNvPr id="2" name="Text"/>
          <p:cNvSpPr/>
          <p:nvPr/>
        </p:nvSpPr>
        <p:spPr>
          <a:xfrm>
            <a:off x="1524000" y="4190239"/>
            <a:ext cx="9144000" cy="342900"/>
          </a:xfrm>
          <a:prstGeom prst="rect">
            <a:avLst/>
          </a:prstGeom>
        </p:spPr>
        <p:txBody>
          <a:bodyPr anchor="t" lIns="0" tIns="0" rIns="0" bIns="0">
            <a:noAutofit/>
          </a:bodyPr>
          <a:lstStyle/>
          <a:p>
            <a:pPr>
              <a:lnSpc>
                <a:spcPct val="120000"/>
              </a:lnSpc>
            </a:pPr>
            <a:r>
              <a:rPr lang="en-US" sz="1800" dirty="0" b="1">
                <a:effectLst/>
              </a:rPr>
              <a:t>FTIR spectroscopy</a:t>
            </a:r>
          </a:p>
        </p:txBody>
      </p:sp>
      <mc:AlternateContent xmlns:mc="http://schemas.openxmlformats.org/markup-compatibility/2006">
        <mc:Choice xmlns:a14="http://schemas.microsoft.com/office/drawing/2010/main" Requires="a14">
          <p:sp>
            <p:nvSpPr>
              <p:cNvPr id="2" name="Text"/>
              <p:cNvSpPr/>
              <p:nvPr/>
            </p:nvSpPr>
            <p:spPr>
              <a:xfrm>
                <a:off x="1524000" y="4722878"/>
                <a:ext cx="9144000" cy="685800"/>
              </a:xfrm>
              <a:prstGeom prst="rect">
                <a:avLst/>
              </a:prstGeom>
            </p:spPr>
            <p:txBody>
              <a:bodyPr anchor="t" lIns="0" tIns="0" rIns="0" bIns="0">
                <a:noAutofit/>
              </a:bodyPr>
              <a:lstStyle/>
              <a:p>
                <a:pPr>
                  <a:lnSpc>
                    <a:spcPct val="120000"/>
                  </a:lnSpc>
                </a:pPr>
                <a:r>
                  <a:rPr lang="en-US" sz="1200" dirty="0">
                    <a:effectLst/>
                  </a:rPr>
                  <a:t>The chemical compositions of unmodified PP, PP- </a:t>
                </a:r>
                <a:r>
                  <a:rPr lang="en-US" sz="1200" dirty="0">
                    <a:effectLst/>
                  </a:rPr>
                  <a:t>​</a:t>
                </a:r>
                <a14:m>
                  <m:oMath>
                    <m:r>
                      <m:rPr>
                        <m:sty m:val="i"/>
                      </m:rPr>
                      <a:rPr lang="en-US" sz="1200" dirty="0">
                        <a:solidFill>
                          <a:srgbClr val="000000"/>
                        </a:solidFill>
                        <a:effectLst/>
                      </a:rPr>
                      <m:t>g</m:t>
                    </m:r>
                  </m:oMath>
                </a14:m>
                <a:r>
                  <a:rPr lang="en-US" sz="1200" dirty="0">
                    <a:effectLst/>
                  </a:rPr>
                  <a:t>-PAA, and PP- </a:t>
                </a:r>
                <a:r>
                  <a:rPr lang="en-US" sz="1200" dirty="0">
                    <a:effectLst/>
                  </a:rPr>
                  <a:t>​</a:t>
                </a:r>
                <a14:m>
                  <m:oMath>
                    <m:r>
                      <m:rPr>
                        <m:sty m:val="i"/>
                      </m:rPr>
                      <a:rPr lang="en-US" sz="1200" dirty="0">
                        <a:solidFill>
                          <a:srgbClr val="000000"/>
                        </a:solidFill>
                        <a:effectLst/>
                      </a:rPr>
                      <m:t>g</m:t>
                    </m:r>
                  </m:oMath>
                </a14:m>
                <a:r>
                  <a:rPr lang="en-US" sz="1200" dirty="0">
                    <a:effectLst/>
                  </a:rPr>
                  <a:t>-P(ST-coAA) sheets were analyzed using an attenuated total reflectance Fourier transform infrared spectrometer (ATR-FTIR, Spectrum Two, Perkin Elmer) equipped with a diamond head for 16 scans in the range between 4000 and </a:t>
                </a:r>
                <a:r>
                  <a:rPr lang="en-US" sz="1200" dirty="0">
                    <a:effectLst/>
                  </a:rPr>
                  <a:t>​</a:t>
                </a:r>
                <a14:m>
                  <m:oMath>
                    <m:r>
                      <m:rPr>
                        <m:sty m:val="p"/>
                      </m:rPr>
                      <a:rPr lang="en-US" sz="1200" dirty="0">
                        <a:solidFill>
                          <a:srgbClr val="000000"/>
                        </a:solidFill>
                        <a:effectLst/>
                      </a:rPr>
                      <m:t>650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a:t>
                </a:r>
              </a:p>
            </p:txBody>
          </p:sp>
        </mc:Choice>
        <mc:Fallback/>
      </mc:AlternateContent>
      <p:sp>
        <p:nvSpPr>
          <p:cNvPr id="2" name="Text"/>
          <p:cNvSpPr/>
          <p:nvPr/>
        </p:nvSpPr>
        <p:spPr>
          <a:xfrm>
            <a:off x="1524000" y="5561078"/>
            <a:ext cx="9144000" cy="685800"/>
          </a:xfrm>
          <a:prstGeom prst="rect">
            <a:avLst/>
          </a:prstGeom>
        </p:spPr>
        <p:txBody>
          <a:bodyPr anchor="t" lIns="0" tIns="0" rIns="0" bIns="0">
            <a:noAutofit/>
          </a:bodyPr>
          <a:lstStyle/>
          <a:p>
            <a:pPr>
              <a:lnSpc>
                <a:spcPct val="120000"/>
              </a:lnSpc>
            </a:pPr>
            <a:r>
              <a:rPr lang="en-US" sz="1800" dirty="0" b="1">
                <a:effectLst/>
              </a:rPr>
              <a:t>Scanning electron microscopy (SEM) and energy-dispersive X-ray spectroscopy (EDX)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A field emission scanning electron microscopy (FESEM, JSM-7610F Plus, JEOL, Japan) was used to observe the surface morphology of the unmodified PP, PP</a:t>
                </a:r>
                <a:r>
                  <a:rPr lang="en-US" sz="1200" dirty="0">
                    <a:effectLst/>
                  </a:rPr>
                  <a:t>​</a:t>
                </a:r>
                <a14:m>
                  <m:oMath>
                    <m:r>
                      <m:rPr>
                        <m:sty m:val="i"/>
                      </m:rPr>
                      <a:rPr lang="en-US" sz="1200" dirty="0">
                        <a:solidFill>
                          <a:srgbClr val="000000"/>
                        </a:solidFill>
                        <a:effectLst/>
                      </a:rPr>
                      <m:t>g</m:t>
                    </m:r>
                  </m:oMath>
                </a14:m>
                <a:r>
                  <a:rPr lang="en-US" sz="1200" dirty="0">
                    <a:effectLst/>
                  </a:rPr>
                  <a:t>-PAA, and PP- </a:t>
                </a:r>
                <a:r>
                  <a:rPr lang="en-US" sz="1200" dirty="0">
                    <a:effectLst/>
                  </a:rPr>
                  <a:t>​</a:t>
                </a:r>
                <a14:m>
                  <m:oMath>
                    <m:r>
                      <m:rPr>
                        <m:sty m:val="i"/>
                      </m:rPr>
                      <a:rPr lang="en-US" sz="1200" dirty="0">
                        <a:solidFill>
                          <a:srgbClr val="000000"/>
                        </a:solidFill>
                        <a:effectLst/>
                      </a:rPr>
                      <m:t>g</m:t>
                    </m:r>
                  </m:oMath>
                </a14:m>
                <a:r>
                  <a:rPr lang="en-US" sz="1200" dirty="0">
                    <a:effectLst/>
                  </a:rPr>
                  <a:t>-P(ST-co-AA) sheets previously dried in an oven at 80 °C for 30 min . All specimens were firstly mounted onto stubs and then coated with gold plasma before observation. The SEM morphology of gold-coated samples was later taken at various magnifications. Besides, energy-dispersive X-ray spectroscopic (EDX) technique was also performed. The acquisition time was set to 196.6 s.</a:t>
                </a:r>
              </a:p>
            </p:txBody>
          </p:sp>
        </mc:Choice>
        <mc:Fallback/>
      </mc:AlternateContent>
      <p:sp>
        <p:nvSpPr>
          <p:cNvPr id="2" name="Text"/>
          <p:cNvSpPr/>
          <p:nvPr/>
        </p:nvSpPr>
        <p:spPr>
          <a:xfrm>
            <a:off x="1524000" y="1752600"/>
            <a:ext cx="9144000" cy="342900"/>
          </a:xfrm>
          <a:prstGeom prst="rect">
            <a:avLst/>
          </a:prstGeom>
        </p:spPr>
        <p:txBody>
          <a:bodyPr anchor="t" lIns="0" tIns="0" rIns="0" bIns="0">
            <a:noAutofit/>
          </a:bodyPr>
          <a:lstStyle/>
          <a:p>
            <a:pPr>
              <a:lnSpc>
                <a:spcPct val="120000"/>
              </a:lnSpc>
            </a:pPr>
            <a:r>
              <a:rPr lang="en-US" sz="1800" dirty="0" b="1">
                <a:effectLst/>
              </a:rPr>
              <a:t>Atomic force microscopy (AFM)</a:t>
            </a:r>
          </a:p>
        </p:txBody>
      </p:sp>
      <mc:AlternateContent xmlns:mc="http://schemas.openxmlformats.org/markup-compatibility/2006">
        <mc:Choice xmlns:a14="http://schemas.microsoft.com/office/drawing/2010/main" Requires="a14">
          <p:sp>
            <p:nvSpPr>
              <p:cNvPr id="2" name="Text"/>
              <p:cNvSpPr/>
              <p:nvPr/>
            </p:nvSpPr>
            <p:spPr>
              <a:xfrm>
                <a:off x="1524000" y="2285239"/>
                <a:ext cx="9144000" cy="914400"/>
              </a:xfrm>
              <a:prstGeom prst="rect">
                <a:avLst/>
              </a:prstGeom>
            </p:spPr>
            <p:txBody>
              <a:bodyPr anchor="t" lIns="0" tIns="0" rIns="0" bIns="0">
                <a:noAutofit/>
              </a:bodyPr>
              <a:lstStyle/>
              <a:p>
                <a:pPr>
                  <a:lnSpc>
                    <a:spcPct val="120000"/>
                  </a:lnSpc>
                </a:pPr>
                <a:r>
                  <a:rPr lang="en-US" sz="1200" dirty="0">
                    <a:effectLst/>
                  </a:rPr>
                  <a:t>The AFM morphology of all the specimens (unmodified PP, PP- </a:t>
                </a:r>
                <a:r>
                  <a:rPr lang="en-US" sz="1200" dirty="0">
                    <a:effectLst/>
                  </a:rPr>
                  <a:t>​</a:t>
                </a:r>
                <a14:m>
                  <m:oMath>
                    <m:r>
                      <m:rPr>
                        <m:sty m:val="i"/>
                      </m:rPr>
                      <a:rPr lang="en-US" sz="1200" dirty="0">
                        <a:solidFill>
                          <a:srgbClr val="000000"/>
                        </a:solidFill>
                        <a:effectLst/>
                      </a:rPr>
                      <m:t>g</m:t>
                    </m:r>
                  </m:oMath>
                </a14:m>
                <a:r>
                  <a:rPr lang="en-US" sz="1200" dirty="0">
                    <a:effectLst/>
                  </a:rPr>
                  <a:t>-PAA and PP</a:t>
                </a:r>
                <a:r>
                  <a:rPr lang="en-US" sz="1200" dirty="0">
                    <a:effectLst/>
                  </a:rPr>
                  <a:t>​</a:t>
                </a:r>
                <a14:m>
                  <m:oMath>
                    <m:r>
                      <m:rPr>
                        <m:sty m:val="i"/>
                      </m:rPr>
                      <a:rPr lang="en-US" sz="1200" dirty="0">
                        <a:solidFill>
                          <a:srgbClr val="000000"/>
                        </a:solidFill>
                        <a:effectLst/>
                      </a:rPr>
                      <m:t>g</m:t>
                    </m:r>
                  </m:oMath>
                </a14:m>
                <a:r>
                  <a:rPr lang="en-US" sz="1200" dirty="0">
                    <a:effectLst/>
                  </a:rPr>
                  <a:t>-P(ST-co-AA) sheets) was taken by Park XE100 instrument (Parks Systems, South Korea). Scanning was carried out in tapping mode and collected with a unique XY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30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r>
                      <m:rPr>
                        <m:sty m:val="p"/>
                      </m:rPr>
                      <a:rPr lang="en-US" sz="1200" dirty="0">
                        <a:solidFill>
                          <a:srgbClr val="000000"/>
                        </a:solidFill>
                        <a:effectLst/>
                      </a:rPr>
                      <m:t>)</m:t>
                    </m:r>
                  </m:oMath>
                </a14:m>
                <a:r>
                  <a:rPr lang="en-US" sz="1200" dirty="0">
                    <a:effectLst/>
                  </a:rPr>
                  <a:t> axis at a scan rate of </a:t>
                </a:r>
                <a:r>
                  <a:rPr lang="en-US" sz="1200" dirty="0">
                    <a:effectLst/>
                  </a:rPr>
                  <a:t>​</a:t>
                </a:r>
                <a14:m>
                  <m:oMath>
                    <m:r>
                      <m:rPr>
                        <m:sty m:val="p"/>
                      </m:rPr>
                      <a:rPr lang="en-US" sz="1200" dirty="0">
                        <a:solidFill>
                          <a:srgbClr val="000000"/>
                        </a:solidFill>
                        <a:effectLst/>
                      </a:rPr>
                      <m:t>2</m:t>
                    </m:r>
                    <m:r>
                      <m:rPr>
                        <m:sty m:val="p"/>
                      </m:rPr>
                      <a:rPr lang="en-US" sz="1200" dirty="0">
                        <a:solidFill>
                          <a:srgbClr val="000000"/>
                        </a:solidFill>
                        <a:effectLst/>
                      </a:rPr>
                      <m:t>−</m:t>
                    </m:r>
                    <m:r>
                      <m:rPr>
                        <m:sty m:val="p"/>
                      </m:rPr>
                      <a:rPr lang="en-US" sz="1200" dirty="0">
                        <a:solidFill>
                          <a:srgbClr val="000000"/>
                        </a:solidFill>
                        <a:effectLst/>
                      </a:rPr>
                      <m:t>4</m:t>
                    </m:r>
                  </m:oMath>
                </a14:m>
                <a:r>
                  <a:rPr lang="en-US" sz="1200" dirty="0">
                    <a:effectLst/>
                  </a:rPr>
                  <a:t> lines/s in ambient conditions. The tested</a:t>
                </a:r>
                <a:br>
                  <a:rPr lang="en-US" sz="1200" dirty="0"/>
                </a:br>
                <a:r>
                  <a:rPr lang="en-US" sz="1200" dirty="0">
                    <a:effectLst/>
                  </a:rPr>
                  <a:t> specimens were mounted onto a double-sided tape on magnetic AFM sample stubs before observation.</a:t>
                </a:r>
              </a:p>
            </p:txBody>
          </p:sp>
        </mc:Choice>
        <mc:Fallback/>
      </mc:AlternateContent>
      <p:sp>
        <p:nvSpPr>
          <p:cNvPr id="2" name="Text"/>
          <p:cNvSpPr/>
          <p:nvPr/>
        </p:nvSpPr>
        <p:spPr>
          <a:xfrm>
            <a:off x="1524000" y="3352039"/>
            <a:ext cx="9144000" cy="342900"/>
          </a:xfrm>
          <a:prstGeom prst="rect">
            <a:avLst/>
          </a:prstGeom>
        </p:spPr>
        <p:txBody>
          <a:bodyPr anchor="t" lIns="0" tIns="0" rIns="0" bIns="0">
            <a:noAutofit/>
          </a:bodyPr>
          <a:lstStyle/>
          <a:p>
            <a:pPr>
              <a:lnSpc>
                <a:spcPct val="120000"/>
              </a:lnSpc>
            </a:pPr>
            <a:r>
              <a:rPr lang="en-US" sz="1800" dirty="0" b="1">
                <a:effectLst/>
              </a:rPr>
              <a:t>Contact angle measurement</a:t>
            </a:r>
          </a:p>
        </p:txBody>
      </p:sp>
      <mc:AlternateContent xmlns:mc="http://schemas.openxmlformats.org/markup-compatibility/2006">
        <mc:Choice xmlns:a14="http://schemas.microsoft.com/office/drawing/2010/main" Requires="a14">
          <p:sp>
            <p:nvSpPr>
              <p:cNvPr id="2" name="Text"/>
              <p:cNvSpPr/>
              <p:nvPr/>
            </p:nvSpPr>
            <p:spPr>
              <a:xfrm>
                <a:off x="1524000" y="3884678"/>
                <a:ext cx="9144000" cy="914400"/>
              </a:xfrm>
              <a:prstGeom prst="rect">
                <a:avLst/>
              </a:prstGeom>
            </p:spPr>
            <p:txBody>
              <a:bodyPr anchor="t" lIns="0" tIns="0" rIns="0" bIns="0">
                <a:noAutofit/>
              </a:bodyPr>
              <a:lstStyle/>
              <a:p>
                <a:pPr>
                  <a:lnSpc>
                    <a:spcPct val="120000"/>
                  </a:lnSpc>
                </a:pPr>
                <a:r>
                  <a:rPr lang="en-US" sz="1200" dirty="0">
                    <a:effectLst/>
                  </a:rPr>
                  <a:t>The unmodified PP, PP- </a:t>
                </a:r>
                <a:r>
                  <a:rPr lang="en-US" sz="1200" dirty="0">
                    <a:effectLst/>
                  </a:rPr>
                  <a:t>​</a:t>
                </a:r>
                <a14:m>
                  <m:oMath>
                    <m:r>
                      <m:rPr>
                        <m:sty m:val="i"/>
                      </m:rPr>
                      <a:rPr lang="en-US" sz="1200" dirty="0">
                        <a:solidFill>
                          <a:srgbClr val="000000"/>
                        </a:solidFill>
                        <a:effectLst/>
                      </a:rPr>
                      <m:t>g</m:t>
                    </m:r>
                  </m:oMath>
                </a14:m>
                <a:r>
                  <a:rPr lang="en-US" sz="1200" dirty="0">
                    <a:effectLst/>
                  </a:rPr>
                  <a:t>-PAA, and PP- </a:t>
                </a:r>
                <a:r>
                  <a:rPr lang="en-US" sz="1200" dirty="0">
                    <a:effectLst/>
                  </a:rPr>
                  <a:t>​</a:t>
                </a:r>
                <a14:m>
                  <m:oMath>
                    <m:r>
                      <m:rPr>
                        <m:sty m:val="i"/>
                      </m:rPr>
                      <a:rPr lang="en-US" sz="1200" dirty="0">
                        <a:solidFill>
                          <a:srgbClr val="000000"/>
                        </a:solidFill>
                        <a:effectLst/>
                      </a:rPr>
                      <m:t>g</m:t>
                    </m:r>
                  </m:oMath>
                </a14:m>
                <a:r>
                  <a:rPr lang="en-US" sz="1200" dirty="0">
                    <a:effectLst/>
                  </a:rPr>
                  <a:t>-P(ST-co-AA) sheets were cut into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1.0</m:t>
                    </m:r>
                    <m:r>
                      <m:rPr>
                        <m:sty m:val="p"/>
                      </m:rPr>
                      <a:rPr lang="en-US" sz="1200" dirty="0">
                        <a:solidFill>
                          <a:srgbClr val="000000"/>
                        </a:solidFill>
                        <a:effectLst/>
                      </a:rPr>
                      <m:t>×</m:t>
                    </m:r>
                    <m:r>
                      <m:rPr>
                        <m:sty m:val="p"/>
                      </m:rPr>
                      <a:rPr lang="en-US" sz="1200" dirty="0">
                        <a:solidFill>
                          <a:srgbClr val="000000"/>
                        </a:solidFill>
                        <a:effectLst/>
                      </a:rPr>
                      <m:t>4.0</m:t>
                    </m:r>
                    <m:r>
                      <m:rPr>
                        <m:sty m:val="p"/>
                      </m:rPr>
                      <a:rPr lang="en-US" sz="1200" dirty="0">
                        <a:solidFill>
                          <a:srgbClr val="000000"/>
                        </a:solidFill>
                        <a:effectLst/>
                      </a:rPr>
                      <m:t>×</m:t>
                    </m:r>
                    <m:r>
                      <m:rPr>
                        <m:sty m:val="p"/>
                      </m:rPr>
                      <a:rPr lang="en-US" sz="1200" dirty="0">
                        <a:solidFill>
                          <a:srgbClr val="000000"/>
                        </a:solidFill>
                        <a:effectLst/>
                      </a:rPr>
                      <m:t>0.1</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3</m:t>
                        </m:r>
                      </m:sup>
                    </m:sSup>
                  </m:oMath>
                </a14:m>
                <a:r>
                  <a:rPr lang="en-US" sz="1200" dirty="0">
                    <a:effectLst/>
                  </a:rPr>
                  <a:t> dimension. The contact angle of deionized water as a test liquid on the samples was also analyzed at room temperature using a goniometer equipped with a system of drop shape analysis (DM-CE2, Kyowa, Japan). The contact angle values of all samples with maximum values of five measurements were averaged and reported.</a:t>
                </a:r>
              </a:p>
            </p:txBody>
          </p:sp>
        </mc:Choice>
        <mc:Fallback/>
      </mc:AlternateContent>
      <p:sp>
        <p:nvSpPr>
          <p:cNvPr id="2" name="Text"/>
          <p:cNvSpPr/>
          <p:nvPr/>
        </p:nvSpPr>
        <p:spPr>
          <a:xfrm>
            <a:off x="1524000" y="4951478"/>
            <a:ext cx="9144000" cy="342900"/>
          </a:xfrm>
          <a:prstGeom prst="rect">
            <a:avLst/>
          </a:prstGeom>
        </p:spPr>
        <p:txBody>
          <a:bodyPr anchor="t" lIns="0" tIns="0" rIns="0" bIns="0">
            <a:noAutofit/>
          </a:bodyPr>
          <a:lstStyle/>
          <a:p>
            <a:pPr>
              <a:lnSpc>
                <a:spcPct val="120000"/>
              </a:lnSpc>
            </a:pPr>
            <a:r>
              <a:rPr lang="en-US" sz="1800" dirty="0" b="1">
                <a:effectLst/>
              </a:rPr>
              <a:t>Ion exchange capacity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a:lnSpc>
                    <a:spcPct val="120000"/>
                  </a:lnSpc>
                </a:pPr>
                <a:r>
                  <a:rPr lang="en-US" sz="1200" dirty="0">
                    <a:effectLst/>
                  </a:rPr>
                  <a:t>Ion exchange capacity (IEC) of the grafted PP sheets is defined as the number of exchangeable ions per dry weight of the sample (meq/g). Titration method was used, in this work, to determine the IEC of the surface of modified PP sheets, adopting from El-Arnaouty et al. [22] and Jiang and Ladewing [23]. All the grafted PP sheets (in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H</m:t>
                        </m:r>
                      </m:e>
                      <m:sup>
                        <m:r>
                          <m:rPr>
                            <m:sty m:val="p"/>
                          </m:rPr>
                          <a:rPr lang="en-US" sz="1200" dirty="0">
                            <a:solidFill>
                              <a:srgbClr val="000000"/>
                            </a:solidFill>
                            <a:effectLst/>
                          </a:rPr>
                          <m:t>+</m:t>
                        </m:r>
                      </m:sup>
                    </m:sSup>
                  </m:oMath>
                </a14:m>
                <a:r>
                  <a:rPr lang="en-US" sz="1200" dirty="0">
                    <a:effectLst/>
                  </a:rPr>
                  <a:t>form) were immersed in 3 M NaCl solution for 24 h to convert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H</m:t>
                        </m:r>
                      </m:e>
                      <m:sup>
                        <m:r>
                          <m:rPr>
                            <m:sty m:val="p"/>
                          </m:rPr>
                          <a:rPr lang="en-US" sz="1200" dirty="0">
                            <a:solidFill>
                              <a:srgbClr val="000000"/>
                            </a:solidFill>
                            <a:effectLst/>
                          </a:rPr>
                          <m:t>+</m:t>
                        </m:r>
                      </m:sup>
                    </m:sSup>
                  </m:oMath>
                </a14:m>
                <a:r>
                  <a:rPr lang="en-US" sz="1200" dirty="0">
                    <a:effectLst/>
                  </a:rPr>
                  <a:t>into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Na</m:t>
                        </m:r>
                      </m:e>
                      <m:sup>
                        <m:r>
                          <m:rPr>
                            <m:sty m:val="p"/>
                          </m:rPr>
                          <a:rPr lang="en-US" sz="1200" dirty="0">
                            <a:solidFill>
                              <a:srgbClr val="000000"/>
                            </a:solidFill>
                            <a:effectLst/>
                          </a:rPr>
                          <m:t>+</m:t>
                        </m:r>
                      </m:sup>
                    </m:sSup>
                  </m:oMath>
                </a14:m>
                <a:r>
                  <a:rPr lang="en-US" sz="1200" dirty="0">
                    <a:effectLst/>
                  </a:rPr>
                  <a:t> forms. During the conversion process, the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H</m:t>
                        </m:r>
                      </m:e>
                      <m:sup>
                        <m:r>
                          <m:rPr>
                            <m:sty m:val="p"/>
                          </m:rPr>
                          <a:rPr lang="en-US" sz="1200" dirty="0">
                            <a:solidFill>
                              <a:srgbClr val="000000"/>
                            </a:solidFill>
                            <a:effectLst/>
                          </a:rPr>
                          <m:t>+</m:t>
                        </m:r>
                      </m:sup>
                    </m:sSup>
                  </m:oMath>
                </a14:m>
                <a:r>
                  <a:rPr lang="en-US" sz="1200" dirty="0">
                    <a:effectLst/>
                  </a:rPr>
                  <a:t>ions were released into the solution. The grafted PP sample was then removed from the solution and completely washed with DI water. Then, the released solution was titrated with 0.01 M NaOH using phenolphthalein as an indicator. The IEC value of the grafted PP samples was determined by using Eq. (2).</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1981200"/>
                <a:ext cx="9144000" cy="4286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ICE</m:t>
                            </m:r>
                            <m:r>
                              <m:rPr>
                                <m:sty m:val="p"/>
                              </m:rPr>
                              <a:rPr lang="en-US" sz="1200" dirty="0">
                                <a:solidFill>
                                  <a:srgbClr val="000000"/>
                                </a:solidFill>
                                <a:effectLst/>
                              </a:rPr>
                              <m:t>(</m:t>
                            </m:r>
                            <m:r>
                              <m:rPr>
                                <m:sty m:val="p"/>
                              </m:rPr>
                              <a:rPr lang="en-US" sz="1200" dirty="0">
                                <a:solidFill>
                                  <a:srgbClr val="000000"/>
                                </a:solidFill>
                                <a:effectLst/>
                              </a:rPr>
                              <m:t>meq</m:t>
                            </m:r>
                            <m:r>
                              <m:rPr>
                                <m:sty m:val="p"/>
                              </m:rPr>
                              <a:rPr lang="en-US" sz="1200" dirty="0">
                                <a:solidFill>
                                  <a:srgbClr val="000000"/>
                                </a:solidFill>
                                <a:effectLst/>
                              </a:rPr>
                              <m:t>/</m:t>
                            </m:r>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m:t>
                            </m:r>
                            <m:f>
                              <m:fPr>
                                <m:ctrlPr>
                                  <a:rPr sz="1200">
                                    <a:latin typeface="Cambria Math" panose="02040503050406030204" pitchFamily="18" charset="0"/>
                                  </a:rPr>
                                </m:ctrlPr>
                              </m:fPr>
                              <m:num>
                                <m:r>
                                  <m:rPr>
                                    <m:sty m:val="i"/>
                                  </m:rPr>
                                  <a:rPr lang="en-US" sz="1200" dirty="0">
                                    <a:solidFill>
                                      <a:srgbClr val="000000"/>
                                    </a:solidFill>
                                    <a:effectLst/>
                                  </a:rPr>
                                  <m:t>C</m:t>
                                </m:r>
                                <m:r>
                                  <m:rPr>
                                    <m:sty m:val="i"/>
                                  </m:rPr>
                                  <a:rPr lang="en-US" sz="1200" dirty="0">
                                    <a:solidFill>
                                      <a:srgbClr val="000000"/>
                                    </a:solidFill>
                                    <a:effectLst/>
                                  </a:rPr>
                                  <m:t>V</m:t>
                                </m:r>
                              </m:num>
                              <m:den>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i"/>
                                      </m:rPr>
                                      <a:rPr lang="en-US" sz="1200" dirty="0">
                                        <a:solidFill>
                                          <a:srgbClr val="000000"/>
                                        </a:solidFill>
                                        <a:effectLst/>
                                      </a:rPr>
                                      <m:t>d</m:t>
                                    </m:r>
                                    <m:r>
                                      <m:rPr>
                                        <m:sty m:val="i"/>
                                      </m:rPr>
                                      <a:rPr lang="en-US" sz="1200" dirty="0">
                                        <a:solidFill>
                                          <a:srgbClr val="000000"/>
                                        </a:solidFill>
                                        <a:effectLst/>
                                      </a:rPr>
                                      <m:t>r</m:t>
                                    </m:r>
                                    <m:r>
                                      <m:rPr>
                                        <m:sty m:val="i"/>
                                      </m:rPr>
                                      <a:rPr lang="en-US" sz="1200" dirty="0">
                                        <a:solidFill>
                                          <a:srgbClr val="000000"/>
                                        </a:solidFill>
                                        <a:effectLst/>
                                      </a:rPr>
                                      <m:t>y</m:t>
                                    </m:r>
                                  </m:sub>
                                </m:sSub>
                              </m:den>
                            </m:f>
                          </m:e>
                          <m:e>
                            <m:r>
                              <m:rPr>
                                <m:sty m:val="p"/>
                              </m:rPr>
                              <a:rPr lang="en-US" sz="1200" dirty="0">
                                <a:solidFill>
                                  <a:srgbClr val="000000"/>
                                </a:solidFill>
                                <a:effectLst/>
                              </a:rPr>
                              <m:t>(2)</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2562225"/>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r>
                      <m:rPr>
                        <m:sty m:val="i"/>
                      </m:rPr>
                      <a:rPr lang="en-US" sz="1200" dirty="0">
                        <a:solidFill>
                          <a:srgbClr val="000000"/>
                        </a:solidFill>
                        <a:effectLst/>
                      </a:rPr>
                      <m:t>C</m:t>
                    </m:r>
                  </m:oMath>
                </a14:m>
                <a:r>
                  <a:rPr lang="en-US" sz="1200" dirty="0">
                    <a:effectLst/>
                  </a:rPr>
                  <a:t> and </a:t>
                </a:r>
                <a:r>
                  <a:rPr lang="en-US" sz="1200" dirty="0">
                    <a:effectLst/>
                  </a:rPr>
                  <a:t>​</a:t>
                </a:r>
                <a14:m>
                  <m:oMath>
                    <m:r>
                      <m:rPr>
                        <m:sty m:val="i"/>
                      </m:rPr>
                      <a:rPr lang="en-US" sz="1200" dirty="0">
                        <a:solidFill>
                          <a:srgbClr val="000000"/>
                        </a:solidFill>
                        <a:effectLst/>
                      </a:rPr>
                      <m:t>V</m:t>
                    </m:r>
                  </m:oMath>
                </a14:m>
                <a:r>
                  <a:rPr lang="en-US" sz="1200" dirty="0">
                    <a:effectLst/>
                  </a:rPr>
                  <a:t> are the concentration and consumed volume of NaOH solution, respectively,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dry </m:t>
                        </m:r>
                      </m:sub>
                    </m:sSub>
                  </m:oMath>
                </a14:m>
                <a:r>
                  <a:rPr lang="en-US" sz="1200" dirty="0">
                    <a:effectLst/>
                  </a:rPr>
                  <a:t> is the dry weight of the grafted PP sample in the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H</m:t>
                        </m:r>
                      </m:e>
                      <m:sup>
                        <m:r>
                          <m:rPr>
                            <m:sty m:val="p"/>
                          </m:rPr>
                          <a:rPr lang="en-US" sz="1200" dirty="0">
                            <a:solidFill>
                              <a:srgbClr val="000000"/>
                            </a:solidFill>
                            <a:effectLst/>
                          </a:rPr>
                          <m:t>+</m:t>
                        </m:r>
                      </m:sup>
                    </m:sSup>
                  </m:oMath>
                </a14:m>
                <a:r>
                  <a:rPr lang="en-US" sz="1200" dirty="0">
                    <a:effectLst/>
                  </a:rPr>
                  <a:t>forms.</a:t>
                </a:r>
              </a:p>
            </p:txBody>
          </p:sp>
        </mc:Choice>
        <mc:Fallback/>
      </mc:AlternateContent>
      <p:sp>
        <p:nvSpPr>
          <p:cNvPr id="2" name="Text"/>
          <p:cNvSpPr/>
          <p:nvPr/>
        </p:nvSpPr>
        <p:spPr>
          <a:xfrm>
            <a:off x="1524000" y="3171825"/>
            <a:ext cx="9144000" cy="342900"/>
          </a:xfrm>
          <a:prstGeom prst="rect">
            <a:avLst/>
          </a:prstGeom>
        </p:spPr>
        <p:txBody>
          <a:bodyPr anchor="t" lIns="0" tIns="0" rIns="0" bIns="0">
            <a:noAutofit/>
          </a:bodyPr>
          <a:lstStyle/>
          <a:p>
            <a:pPr>
              <a:lnSpc>
                <a:spcPct val="120000"/>
              </a:lnSpc>
            </a:pPr>
            <a:r>
              <a:rPr lang="en-US" sz="1800" dirty="0" b="1">
                <a:effectLst/>
              </a:rPr>
              <a:t>Hardness analysis</a:t>
            </a:r>
          </a:p>
        </p:txBody>
      </p:sp>
      <mc:AlternateContent xmlns:mc="http://schemas.openxmlformats.org/markup-compatibility/2006">
        <mc:Choice xmlns:a14="http://schemas.microsoft.com/office/drawing/2010/main" Requires="a14">
          <p:sp>
            <p:nvSpPr>
              <p:cNvPr id="2" name="Text"/>
              <p:cNvSpPr/>
              <p:nvPr/>
            </p:nvSpPr>
            <p:spPr>
              <a:xfrm>
                <a:off x="1524000" y="3704464"/>
                <a:ext cx="9144000" cy="685800"/>
              </a:xfrm>
              <a:prstGeom prst="rect">
                <a:avLst/>
              </a:prstGeom>
            </p:spPr>
            <p:txBody>
              <a:bodyPr anchor="t" lIns="0" tIns="0" rIns="0" bIns="0">
                <a:noAutofit/>
              </a:bodyPr>
              <a:lstStyle/>
              <a:p>
                <a:pPr>
                  <a:lnSpc>
                    <a:spcPct val="120000"/>
                  </a:lnSpc>
                </a:pPr>
                <a:r>
                  <a:rPr lang="en-US" sz="1200" dirty="0">
                    <a:effectLst/>
                  </a:rPr>
                  <a:t>The hardness of the unmodified PP, PP- </a:t>
                </a:r>
                <a:r>
                  <a:rPr lang="en-US" sz="1200" dirty="0">
                    <a:effectLst/>
                  </a:rPr>
                  <a:t>​</a:t>
                </a:r>
                <a14:m>
                  <m:oMath>
                    <m:r>
                      <m:rPr>
                        <m:sty m:val="i"/>
                      </m:rPr>
                      <a:rPr lang="en-US" sz="1200" dirty="0">
                        <a:solidFill>
                          <a:srgbClr val="000000"/>
                        </a:solidFill>
                        <a:effectLst/>
                      </a:rPr>
                      <m:t>g</m:t>
                    </m:r>
                  </m:oMath>
                </a14:m>
                <a:r>
                  <a:rPr lang="en-US" sz="1200" dirty="0">
                    <a:effectLst/>
                  </a:rPr>
                  <a:t>-PAA, and PP- </a:t>
                </a:r>
                <a:r>
                  <a:rPr lang="en-US" sz="1200" dirty="0">
                    <a:effectLst/>
                  </a:rPr>
                  <a:t>​</a:t>
                </a:r>
                <a14:m>
                  <m:oMath>
                    <m:r>
                      <m:rPr>
                        <m:sty m:val="i"/>
                      </m:rPr>
                      <a:rPr lang="en-US" sz="1200" dirty="0">
                        <a:solidFill>
                          <a:srgbClr val="000000"/>
                        </a:solidFill>
                        <a:effectLst/>
                      </a:rPr>
                      <m:t>g</m:t>
                    </m:r>
                  </m:oMath>
                </a14:m>
                <a:r>
                  <a:rPr lang="en-US" sz="1200" dirty="0">
                    <a:effectLst/>
                  </a:rPr>
                  <a:t>-P(ST-co-AA) sheets were measured using Shore durometer (Durometer GS-706G, Teclock, Japan). The hardness test was conducted on specimens according to ASTM D2240 standards, each reading was 6 mm in between each point. The maximum hardness values of 5 measurements were averaged and reported.</a:t>
                </a:r>
              </a:p>
            </p:txBody>
          </p:sp>
        </mc:Choice>
        <mc:Fallback/>
      </mc:AlternateContent>
      <p:sp>
        <p:nvSpPr>
          <p:cNvPr id="2" name="Text"/>
          <p:cNvSpPr/>
          <p:nvPr/>
        </p:nvSpPr>
        <p:spPr>
          <a:xfrm>
            <a:off x="1524000" y="4542664"/>
            <a:ext cx="9144000" cy="342900"/>
          </a:xfrm>
          <a:prstGeom prst="rect">
            <a:avLst/>
          </a:prstGeom>
        </p:spPr>
        <p:txBody>
          <a:bodyPr anchor="t" lIns="0" tIns="0" rIns="0" bIns="0">
            <a:noAutofit/>
          </a:bodyPr>
          <a:lstStyle/>
          <a:p>
            <a:pPr>
              <a:lnSpc>
                <a:spcPct val="120000"/>
              </a:lnSpc>
            </a:pPr>
            <a:r>
              <a:rPr lang="en-US" sz="1800" dirty="0" b="1">
                <a:effectLst/>
              </a:rPr>
              <a:t>Impact strength</a:t>
            </a:r>
          </a:p>
        </p:txBody>
      </p:sp>
      <mc:AlternateContent xmlns:mc="http://schemas.openxmlformats.org/markup-compatibility/2006">
        <mc:Choice xmlns:a14="http://schemas.microsoft.com/office/drawing/2010/main" Requires="a14">
          <p:sp>
            <p:nvSpPr>
              <p:cNvPr id="2" name="Text"/>
              <p:cNvSpPr/>
              <p:nvPr/>
            </p:nvSpPr>
            <p:spPr>
              <a:xfrm>
                <a:off x="1524000" y="5075303"/>
                <a:ext cx="9144000" cy="1143000"/>
              </a:xfrm>
              <a:prstGeom prst="rect">
                <a:avLst/>
              </a:prstGeom>
            </p:spPr>
            <p:txBody>
              <a:bodyPr anchor="t" lIns="0" tIns="0" rIns="0" bIns="0">
                <a:noAutofit/>
              </a:bodyPr>
              <a:lstStyle/>
              <a:p>
                <a:pPr>
                  <a:lnSpc>
                    <a:spcPct val="120000"/>
                  </a:lnSpc>
                </a:pPr>
                <a:r>
                  <a:rPr lang="en-US" sz="1200" dirty="0">
                    <a:effectLst/>
                  </a:rPr>
                  <a:t>The impact strength of the unmodified PP, PP- </a:t>
                </a:r>
                <a:r>
                  <a:rPr lang="en-US" sz="1200" dirty="0">
                    <a:effectLst/>
                  </a:rPr>
                  <a:t>​</a:t>
                </a:r>
                <a14:m>
                  <m:oMath>
                    <m:r>
                      <m:rPr>
                        <m:sty m:val="i"/>
                      </m:rPr>
                      <a:rPr lang="en-US" sz="1200" dirty="0">
                        <a:solidFill>
                          <a:srgbClr val="000000"/>
                        </a:solidFill>
                        <a:effectLst/>
                      </a:rPr>
                      <m:t>g</m:t>
                    </m:r>
                  </m:oMath>
                </a14:m>
                <a:r>
                  <a:rPr lang="en-US" sz="1200" dirty="0">
                    <a:effectLst/>
                  </a:rPr>
                  <a:t>-PAA, and PP- </a:t>
                </a:r>
                <a:r>
                  <a:rPr lang="en-US" sz="1200" dirty="0">
                    <a:effectLst/>
                  </a:rPr>
                  <a:t>​</a:t>
                </a:r>
                <a14:m>
                  <m:oMath>
                    <m:r>
                      <m:rPr>
                        <m:sty m:val="i"/>
                      </m:rPr>
                      <a:rPr lang="en-US" sz="1200" dirty="0">
                        <a:solidFill>
                          <a:srgbClr val="000000"/>
                        </a:solidFill>
                        <a:effectLst/>
                      </a:rPr>
                      <m:t>g</m:t>
                    </m:r>
                  </m:oMath>
                </a14:m>
                <a:r>
                  <a:rPr lang="en-US" sz="1200" dirty="0">
                    <a:effectLst/>
                  </a:rPr>
                  <a:t>-P(ST-co-AA) sheets were measured using Izod Impact Tester (GT 7045 Impact tester, GOTECH, Taiwan). The impact test was conducted on specimens according to ASTM D 256 standard. Dimension of Izod type impact test specimen was </a:t>
                </a:r>
                <a:r>
                  <a:rPr lang="en-US" sz="1200" dirty="0">
                    <a:effectLst/>
                  </a:rPr>
                  <a:t>​</a:t>
                </a:r>
                <a14:m>
                  <m:oMath>
                    <m:r>
                      <m:rPr>
                        <m:sty m:val="p"/>
                      </m:rPr>
                      <a:rPr lang="en-US" sz="1200" dirty="0">
                        <a:solidFill>
                          <a:srgbClr val="000000"/>
                        </a:solidFill>
                        <a:effectLst/>
                      </a:rPr>
                      <m:t>64</m:t>
                    </m:r>
                    <m:r>
                      <m:rPr>
                        <m:sty m:val="p"/>
                      </m:rPr>
                      <a:rPr lang="en-US" sz="1200" dirty="0">
                        <a:solidFill>
                          <a:srgbClr val="000000"/>
                        </a:solidFill>
                        <a:effectLst/>
                      </a:rPr>
                      <m:t>×</m:t>
                    </m:r>
                    <m:r>
                      <m:rPr>
                        <m:sty m:val="p"/>
                      </m:rPr>
                      <a:rPr lang="en-US" sz="1200" dirty="0">
                        <a:solidFill>
                          <a:srgbClr val="000000"/>
                        </a:solidFill>
                        <a:effectLst/>
                      </a:rPr>
                      <m:t>12.7</m:t>
                    </m:r>
                    <m:r>
                      <m:rPr>
                        <m:sty m:val="p"/>
                      </m:rPr>
                      <a:rPr lang="en-US" sz="1200" dirty="0">
                        <a:solidFill>
                          <a:srgbClr val="000000"/>
                        </a:solidFill>
                        <a:effectLst/>
                      </a:rPr>
                      <m:t>×</m:t>
                    </m:r>
                    <m:r>
                      <m:rPr>
                        <m:sty m:val="p"/>
                      </m:rPr>
                      <a:rPr lang="en-US" sz="1200" dirty="0">
                        <a:solidFill>
                          <a:srgbClr val="000000"/>
                        </a:solidFill>
                        <a:effectLst/>
                      </a:rPr>
                      <m:t>3.2</m:t>
                    </m:r>
                    <m:r>
                      <m:rPr>
                        <m:sty m:val="p"/>
                      </m:rPr>
                      <a:rPr lang="en-US" sz="1200" dirty="0">
                        <a:solidFill>
                          <a:srgbClr val="000000"/>
                        </a:solidFill>
                        <a:effectLst/>
                      </a:rPr>
                      <m:t xml:space="preserve"> </m:t>
                    </m:r>
                    <m:r>
                      <m:rPr>
                        <m:sty m:val="p"/>
                      </m:rPr>
                      <a:rPr lang="en-US" sz="1200" dirty="0">
                        <a:solidFill>
                          <a:srgbClr val="000000"/>
                        </a:solidFill>
                        <a:effectLst/>
                      </a:rPr>
                      <m:t>mm</m:t>
                    </m:r>
                  </m:oMath>
                </a14:m>
                <a:r>
                  <a:rPr lang="en-US" sz="1200" dirty="0">
                    <a:effectLst/>
                  </a:rPr>
                  <a:t>. Notching was made on the impact specimens in v-notch with an angle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60</m:t>
                        </m:r>
                      </m:e>
                      <m:sup>
                        <m:r>
                          <m:rPr>
                            <m:sty m:val="p"/>
                          </m:rPr>
                          <a:rPr lang="en-US" sz="1200" dirty="0">
                            <a:solidFill>
                              <a:srgbClr val="000000"/>
                            </a:solidFill>
                            <a:effectLst/>
                          </a:rPr>
                          <m:t>∘</m:t>
                        </m:r>
                      </m:sup>
                    </m:sSup>
                  </m:oMath>
                </a14:m>
                <a:r>
                  <a:rPr lang="en-US" sz="1200" dirty="0">
                    <a:effectLst/>
                  </a:rPr>
                  <a:t> and</a:t>
                </a:r>
                <a:br>
                  <a:rPr lang="en-US" sz="1200" dirty="0"/>
                </a:br>
                <a:r>
                  <a:rPr lang="en-US" sz="1200" dirty="0">
                    <a:effectLst/>
                  </a:rPr>
                  <a:t> a width of 0.25 mm. At least five replicates of each specimen were made for the impact test and the average values were reported.</a:t>
                </a:r>
              </a:p>
            </p:txBody>
          </p:sp>
        </mc:Choice>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Evaluation of latex coagulation</a:t>
            </a:r>
          </a:p>
        </p:txBody>
      </p:sp>
      <mc:AlternateContent xmlns:mc="http://schemas.openxmlformats.org/markup-compatibility/2006">
        <mc:Choice xmlns:a14="http://schemas.microsoft.com/office/drawing/2010/main" Requires="a14">
          <p:sp>
            <p:nvSpPr>
              <p:cNvPr id="2" name="Text"/>
              <p:cNvSpPr/>
              <p:nvPr/>
            </p:nvSpPr>
            <p:spPr>
              <a:xfrm>
                <a:off x="1524000" y="989839"/>
                <a:ext cx="9144000" cy="2057400"/>
              </a:xfrm>
              <a:prstGeom prst="rect">
                <a:avLst/>
              </a:prstGeom>
            </p:spPr>
            <p:txBody>
              <a:bodyPr anchor="t" lIns="0" tIns="0" rIns="0" bIns="0">
                <a:noAutofit/>
              </a:bodyPr>
              <a:lstStyle/>
              <a:p>
                <a:pPr>
                  <a:lnSpc>
                    <a:spcPct val="120000"/>
                  </a:lnSpc>
                </a:pPr>
                <a:r>
                  <a:rPr lang="en-US" sz="1200" dirty="0">
                    <a:effectLst/>
                  </a:rPr>
                  <a:t>The possible application of the grafted PP sheets as an automatically latex-coagulating container was evaluated from the efficiency of the field NRL coagulation. The coagulum content or sieve residue was chosen as coagulation of latex in this research adapting from the ISO 706. The unmodified PP, PP- </a:t>
                </a:r>
                <a:r>
                  <a:rPr lang="en-US" sz="1200" dirty="0">
                    <a:effectLst/>
                  </a:rPr>
                  <a:t>​</a:t>
                </a:r>
                <a14:m>
                  <m:oMath>
                    <m:r>
                      <m:rPr>
                        <m:sty m:val="i"/>
                      </m:rPr>
                      <a:rPr lang="en-US" sz="1200" dirty="0">
                        <a:solidFill>
                          <a:srgbClr val="000000"/>
                        </a:solidFill>
                        <a:effectLst/>
                      </a:rPr>
                      <m:t>g</m:t>
                    </m:r>
                  </m:oMath>
                </a14:m>
                <a:r>
                  <a:rPr lang="en-US" sz="1200" dirty="0">
                    <a:effectLst/>
                  </a:rPr>
                  <a:t>-PAA4, and PP-</a:t>
                </a:r>
                <a:r>
                  <a:rPr lang="en-US" sz="1200" dirty="0">
                    <a:effectLst/>
                  </a:rPr>
                  <a:t>​</a:t>
                </a:r>
                <a14:m>
                  <m:oMath>
                    <m:r>
                      <m:rPr>
                        <m:sty m:val="i"/>
                      </m:rPr>
                      <a:rPr lang="en-US" sz="1200" dirty="0">
                        <a:solidFill>
                          <a:srgbClr val="000000"/>
                        </a:solidFill>
                        <a:effectLst/>
                      </a:rPr>
                      <m:t>g</m:t>
                    </m:r>
                  </m:oMath>
                </a14:m>
                <a:r>
                  <a:rPr lang="en-US" sz="1200" dirty="0">
                    <a:effectLst/>
                  </a:rPr>
                  <a:t>-P(ST-co-AA)25 sheets (64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12.7</m:t>
                    </m:r>
                    <m:r>
                      <m:rPr>
                        <m:sty m:val="p"/>
                      </m:rPr>
                      <a:rPr lang="en-US" sz="1200" dirty="0">
                        <a:solidFill>
                          <a:srgbClr val="000000"/>
                        </a:solidFill>
                        <a:effectLst/>
                      </a:rPr>
                      <m:t>×</m:t>
                    </m:r>
                    <m:r>
                      <m:rPr>
                        <m:sty m:val="p"/>
                      </m:rPr>
                      <a:rPr lang="en-US" sz="1200" dirty="0">
                        <a:solidFill>
                          <a:srgbClr val="000000"/>
                        </a:solidFill>
                        <a:effectLst/>
                      </a:rPr>
                      <m:t>3.2</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mm</m:t>
                        </m:r>
                      </m:e>
                      <m:sup>
                        <m:r>
                          <m:rPr>
                            <m:sty m:val="p"/>
                          </m:rPr>
                          <a:rPr lang="en-US" sz="1200" dirty="0">
                            <a:solidFill>
                              <a:srgbClr val="000000"/>
                            </a:solidFill>
                            <a:effectLst/>
                          </a:rPr>
                          <m:t>3</m:t>
                        </m:r>
                      </m:sup>
                    </m:sSup>
                  </m:oMath>
                </a14:m>
                <a:r>
                  <a:rPr lang="en-US" sz="1200" dirty="0">
                    <a:effectLst/>
                  </a:rPr>
                  <a:t> ) were immersed in the field NRL (100 g) with impurity filtered and without alkaline preservation for 1-3 h to evaluate their coagulation efficiency. At time interval of 30 min, the coagulated NRL (including coagulum, rubberized-trapped on PP sheets, stable latex) was filtered by a sieve or stainless-steel wire cloth with an average aperture width of </a:t>
                </a:r>
                <a:r>
                  <a:rPr lang="en-US" sz="1200" dirty="0">
                    <a:effectLst/>
                  </a:rPr>
                  <a:t>​</a:t>
                </a:r>
                <a14:m>
                  <m:oMath>
                    <m:r>
                      <m:rPr>
                        <m:sty m:val="p"/>
                      </m:rPr>
                      <a:rPr lang="en-US" sz="1200" dirty="0">
                        <a:solidFill>
                          <a:srgbClr val="000000"/>
                        </a:solidFill>
                        <a:effectLst/>
                      </a:rPr>
                      <m:t>180</m:t>
                    </m:r>
                    <m:r>
                      <m:rPr>
                        <m:sty m:val="p"/>
                      </m:rPr>
                      <a:rPr lang="en-US" sz="1200" dirty="0">
                        <a:solidFill>
                          <a:srgbClr val="000000"/>
                        </a:solidFill>
                        <a:effectLst/>
                      </a:rPr>
                      <m:t>±</m:t>
                    </m:r>
                    <m:r>
                      <m:rPr>
                        <m:sty m:val="p"/>
                      </m:rPr>
                      <a:rPr lang="en-US" sz="1200" dirty="0">
                        <a:solidFill>
                          <a:srgbClr val="000000"/>
                        </a:solidFill>
                        <a:effectLst/>
                      </a:rPr>
                      <m:t>10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to obtain the residue coagulum on sieve (larger coagulum was also taken from the surface of PP sheets to combine with the residue coagulum on sieve). The obtained coagulum was then compressed between two-steel rolls where the excess of serum was squeezed out and dried at </a:t>
                </a:r>
                <a:r>
                  <a:rPr lang="en-US" sz="1200" dirty="0">
                    <a:effectLst/>
                  </a:rPr>
                  <a:t>​</a:t>
                </a:r>
                <a14:m>
                  <m:oMath>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5</m:t>
                    </m:r>
                  </m:oMath>
                </a14:m>
                <a:r>
                  <a:rPr lang="en-US" sz="1200" dirty="0">
                    <a:effectLst/>
                  </a:rPr>
                  <a:t> °C until the weight was constant. The coagulum content was then calculated by using Eq. (3).</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199639"/>
                <a:ext cx="9144000" cy="390525"/>
              </a:xfrm>
              <a:prstGeom prst="rect">
                <a:avLst/>
              </a:prstGeom>
            </p:spPr>
            <p:txBody>
              <a:bodyPr anchor="ctr" lIns="0" tIns="0" rIns="0" bIns="0">
                <a:noAutofit/>
              </a:bodyPr>
              <a:lstStyle/>
              <a:p>
                <a:pPr algn="ctr"/>
                <a14:m>
                  <m:oMathPara>
                    <m:oMath>
                      <m:m>
                        <m:mPr>
                          <m:plcHide m:val="1"/>
                          <m:cGpRule m:val="0"/>
                          <m:mcs>
                            <m:mc>
                              <m:mcPr>
                                <m:count m:val="1"/>
                                <m:mcJc m:val="center"/>
                              </m:mcPr>
                            </m:mc>
                          </m:mcs>
                          <m:ctrlPr>
                            <a:rPr sz="1200" i="1">
                              <a:latin typeface="Cambria Math" panose="02040503050406030204" pitchFamily="18" charset="0"/>
                            </a:rPr>
                          </m:ctrlPr>
                        </m:mPr>
                        <m:mr>
                          <m:e>
                            <m:r>
                              <m:rPr>
                                <m:sty m:val="p"/>
                              </m:rPr>
                              <a:rPr lang="en-US" sz="1200" dirty="0">
                                <a:solidFill>
                                  <a:srgbClr val="000000"/>
                                </a:solidFill>
                                <a:effectLst/>
                              </a:rPr>
                              <m:t> Coagulum content </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m:t>
                            </m:r>
                            <m:f>
                              <m:fPr>
                                <m:ctrlPr>
                                  <a:rPr sz="1200">
                                    <a:latin typeface="Cambria Math" panose="02040503050406030204" pitchFamily="18" charset="0"/>
                                  </a:rPr>
                                </m:ctrlPr>
                              </m:fPr>
                              <m:num>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2</m:t>
                                    </m:r>
                                  </m:sub>
                                </m:sSub>
                                <m:r>
                                  <m:rPr>
                                    <m:sty m:val="p"/>
                                  </m:rPr>
                                  <a:rPr lang="en-US" sz="1200" dirty="0">
                                    <a:solidFill>
                                      <a:srgbClr val="000000"/>
                                    </a:solidFill>
                                    <a:effectLst/>
                                  </a:rPr>
                                  <m:t>−</m:t>
                                </m:r>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1</m:t>
                                    </m:r>
                                  </m:sub>
                                </m:sSub>
                              </m:num>
                              <m:den>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i"/>
                                      </m:rPr>
                                      <a:rPr lang="en-US" sz="1200" dirty="0">
                                        <a:solidFill>
                                          <a:srgbClr val="000000"/>
                                        </a:solidFill>
                                        <a:effectLst/>
                                      </a:rPr>
                                      <m:t>o</m:t>
                                    </m:r>
                                  </m:sub>
                                </m:sSub>
                              </m:den>
                            </m:f>
                            <m:r>
                              <m:rPr>
                                <m:sty m:val="p"/>
                              </m:rPr>
                              <a:rPr lang="en-US" sz="1200" dirty="0">
                                <a:solidFill>
                                  <a:srgbClr val="000000"/>
                                </a:solidFill>
                                <a:effectLst/>
                              </a:rPr>
                              <m:t>×</m:t>
                            </m:r>
                            <m:r>
                              <m:rPr>
                                <m:sty m:val="p"/>
                              </m:rPr>
                              <a:rPr lang="en-US" sz="1200" dirty="0">
                                <a:solidFill>
                                  <a:srgbClr val="000000"/>
                                </a:solidFill>
                                <a:effectLst/>
                              </a:rPr>
                              <m:t>100</m:t>
                            </m:r>
                          </m:e>
                          <m:e>
                            <m:r>
                              <m:rPr>
                                <m:sty m:val="p"/>
                              </m:rPr>
                              <a:rPr lang="en-US" sz="1200" dirty="0">
                                <a:solidFill>
                                  <a:srgbClr val="000000"/>
                                </a:solidFill>
                                <a:effectLst/>
                              </a:rPr>
                              <m:t>(3)</m:t>
                            </m:r>
                          </m:e>
                        </m:mr>
                      </m:m>
                    </m:oMath>
                  </m:oMathPara>
                </a14:m>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3742564"/>
                <a:ext cx="9144000" cy="457200"/>
              </a:xfrm>
              <a:prstGeom prst="rect">
                <a:avLst/>
              </a:prstGeom>
            </p:spPr>
            <p:txBody>
              <a:bodyPr anchor="t" lIns="0" tIns="0" rIns="0" bIns="0">
                <a:noAutofit/>
              </a:bodyPr>
              <a:lstStyle/>
              <a:p>
                <a:pPr>
                  <a:lnSpc>
                    <a:spcPct val="120000"/>
                  </a:lnSpc>
                </a:pPr>
                <a:r>
                  <a:rPr lang="en-US" sz="1200" dirty="0">
                    <a:effectLst/>
                  </a:rPr>
                  <a:t>where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i"/>
                          </m:rPr>
                          <a:rPr lang="en-US" sz="1200" dirty="0">
                            <a:solidFill>
                              <a:srgbClr val="000000"/>
                            </a:solidFill>
                            <a:effectLst/>
                          </a:rPr>
                          <m:t>o</m:t>
                        </m:r>
                      </m:sub>
                    </m:sSub>
                  </m:oMath>
                </a14:m>
                <a:r>
                  <a:rPr lang="en-US" sz="1200" dirty="0">
                    <a:effectLst/>
                  </a:rPr>
                  <a:t> is the weight of dry rubber in the field NRL before coagulation testing,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1</m:t>
                        </m:r>
                      </m:sub>
                    </m:sSub>
                  </m:oMath>
                </a14:m>
                <a:r>
                  <a:rPr lang="en-US" sz="1200" dirty="0">
                    <a:effectLst/>
                  </a:rPr>
                  <a:t> is the weight of test sieve or stainless-steel wire cloth, and </a:t>
                </a:r>
                <a:r>
                  <a:rPr lang="en-US" sz="1200" dirty="0">
                    <a:effectLst/>
                  </a:rPr>
                  <a:t>​</a:t>
                </a:r>
                <a14:m>
                  <m:oMath>
                    <m:sSub>
                      <m:sSubPr>
                        <m:ctrlPr>
                          <a:rPr sz="1200">
                            <a:latin typeface="Cambria Math" panose="02040503050406030204" pitchFamily="18" charset="0"/>
                          </a:rPr>
                        </m:ctrlPr>
                      </m:sSubPr>
                      <m:e>
                        <m:r>
                          <m:rPr>
                            <m:sty m:val="i"/>
                          </m:rPr>
                          <a:rPr lang="en-US" sz="1200" dirty="0">
                            <a:solidFill>
                              <a:srgbClr val="000000"/>
                            </a:solidFill>
                            <a:effectLst/>
                          </a:rPr>
                          <m:t>w</m:t>
                        </m:r>
                      </m:e>
                      <m:sub>
                        <m:r>
                          <m:rPr>
                            <m:sty m:val="p"/>
                          </m:rPr>
                          <a:rPr lang="en-US" sz="1200" dirty="0">
                            <a:solidFill>
                              <a:srgbClr val="000000"/>
                            </a:solidFill>
                            <a:effectLst/>
                          </a:rPr>
                          <m:t>2</m:t>
                        </m:r>
                      </m:sub>
                    </m:sSub>
                  </m:oMath>
                </a14:m>
                <a:r>
                  <a:rPr lang="en-US" sz="1200" dirty="0">
                    <a:effectLst/>
                  </a:rPr>
                  <a:t> is the dry weight of dried residue (coagulum) and sieve.</a:t>
                </a:r>
              </a:p>
            </p:txBody>
          </p:sp>
        </mc:Choice>
        <mc:Fallback/>
      </mc:AlternateContent>
      <p:sp>
        <p:nvSpPr>
          <p:cNvPr id="2" name="Text"/>
          <p:cNvSpPr/>
          <p:nvPr/>
        </p:nvSpPr>
        <p:spPr>
          <a:xfrm>
            <a:off x="1524000" y="4352164"/>
            <a:ext cx="9144000" cy="342900"/>
          </a:xfrm>
          <a:prstGeom prst="rect">
            <a:avLst/>
          </a:prstGeom>
        </p:spPr>
        <p:txBody>
          <a:bodyPr anchor="t" lIns="0" tIns="0" rIns="0" bIns="0">
            <a:noAutofit/>
          </a:bodyPr>
          <a:lstStyle/>
          <a:p>
            <a:pPr>
              <a:lnSpc>
                <a:spcPct val="120000"/>
              </a:lnSpc>
            </a:pPr>
            <a:r>
              <a:rPr lang="en-US" sz="1800" dirty="0" b="1">
                <a:effectLst/>
              </a:rPr>
              <a:t>Results and discussion</a:t>
            </a:r>
          </a:p>
        </p:txBody>
      </p:sp>
      <p:sp>
        <p:nvSpPr>
          <p:cNvPr id="2" name="Text"/>
          <p:cNvSpPr/>
          <p:nvPr/>
        </p:nvSpPr>
        <p:spPr>
          <a:xfrm>
            <a:off x="1524000" y="4884803"/>
            <a:ext cx="9144000" cy="342900"/>
          </a:xfrm>
          <a:prstGeom prst="rect">
            <a:avLst/>
          </a:prstGeom>
        </p:spPr>
        <p:txBody>
          <a:bodyPr anchor="t" lIns="0" tIns="0" rIns="0" bIns="0">
            <a:noAutofit/>
          </a:bodyPr>
          <a:lstStyle/>
          <a:p>
            <a:pPr>
              <a:lnSpc>
                <a:spcPct val="120000"/>
              </a:lnSpc>
            </a:pPr>
            <a:r>
              <a:rPr lang="en-US" sz="1800" dirty="0" b="1">
                <a:effectLst/>
              </a:rPr>
              <a:t>Preparation of PP-g-PAA and PP-g-P(ST-co-AA) sheets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057400"/>
              </a:xfrm>
              <a:prstGeom prst="rect">
                <a:avLst/>
              </a:prstGeom>
            </p:spPr>
            <p:txBody>
              <a:bodyPr anchor="t" lIns="0" tIns="0" rIns="0" bIns="0">
                <a:noAutofit/>
              </a:bodyPr>
              <a:lstStyle/>
              <a:p>
                <a:pPr>
                  <a:lnSpc>
                    <a:spcPct val="120000"/>
                  </a:lnSpc>
                </a:pPr>
                <a:r>
                  <a:rPr lang="en-US" sz="1200" dirty="0">
                    <a:effectLst/>
                  </a:rPr>
                  <a:t>The main purpose of this study was to fabricate the PP sheets with the released ability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H</m:t>
                        </m:r>
                      </m:e>
                      <m:sup>
                        <m:r>
                          <m:rPr>
                            <m:sty m:val="p"/>
                          </m:rPr>
                          <a:rPr lang="en-US" sz="1200" dirty="0">
                            <a:solidFill>
                              <a:srgbClr val="000000"/>
                            </a:solidFill>
                            <a:effectLst/>
                          </a:rPr>
                          <m:t>+</m:t>
                        </m:r>
                      </m:sup>
                    </m:sSup>
                  </m:oMath>
                </a14:m>
                <a:r>
                  <a:rPr lang="en-US" sz="1200" dirty="0">
                    <a:effectLst/>
                  </a:rPr>
                  <a:t>or positively charged ions for an automatically latex-coagulating application. To reach the goal, the AA monomer was carefully chosen to graft on the surface of PP for delivering the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H</m:t>
                        </m:r>
                      </m:e>
                      <m:sup>
                        <m:r>
                          <m:rPr>
                            <m:sty m:val="p"/>
                          </m:rPr>
                          <a:rPr lang="en-US" sz="1200" dirty="0">
                            <a:solidFill>
                              <a:srgbClr val="000000"/>
                            </a:solidFill>
                            <a:effectLst/>
                          </a:rPr>
                          <m:t>+</m:t>
                        </m:r>
                      </m:sup>
                    </m:sSup>
                  </m:oMath>
                </a14:m>
                <a:r>
                  <a:rPr lang="en-US" sz="1200" dirty="0">
                    <a:effectLst/>
                  </a:rPr>
                  <a:t>ions from its carboxylic groups (-COOH). Firstly, the reaction conditions of grafting polymerization; time of surface activation (forming the radical species on the PP surfaces), grafting time, BPO, and AA monomer concentrations were thus optimized, as shown in Fig. 1, to gain the best grafting percentage of AA onto the PP sheet. It can be seen that the grafting percentages of AA on the PP sheet are increased with increasing time of surface activation (see Fig. 1A) and BPO concentration (see Fig. 1B), yielding a maximum value at 2 h and 25 wt% of PP, respectively. This could be due to the increase in active sites on the PP surface with increasing the time of surface activation and BPO concentration. In other words, the higher active sites result in the higher free radicals on the PP surface, subsequently accelerating the grafting reaction.</a:t>
                </a:r>
              </a:p>
            </p:txBody>
          </p:sp>
        </mc:Choice>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6c0d2eb1f6ce298690f4282fe9c705caca2b164.jpg"/>
          <p:cNvPicPr/>
          <p:nvPr/>
        </p:nvPicPr>
        <p:blipFill>
          <a:blip r:embed="rId2" cstate="print"/>
          <a:srcRect/>
          <a:stretch>
            <a:fillRect/>
          </a:stretch>
        </p:blipFill>
        <p:spPr>
          <a:xfrm>
            <a:off x="1524000" y="457200"/>
            <a:ext cx="7162800" cy="59436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 1 The effect of (A) time of surface activation, (B) BPO concentration, (C) grafting time, and (D) AA concentration on the grafting percentage of AA on the PP surface</a:t>
            </a:r>
          </a:p>
        </p:txBody>
      </p:sp>
      <mc:AlternateContent xmlns:mc="http://schemas.openxmlformats.org/markup-compatibility/2006">
        <mc:Choice xmlns:a14="http://schemas.microsoft.com/office/drawing/2010/main" Requires="a14">
          <p:sp>
            <p:nvSpPr>
              <p:cNvPr id="2" name="Text"/>
              <p:cNvSpPr/>
              <p:nvPr/>
            </p:nvSpPr>
            <p:spPr>
              <a:xfrm>
                <a:off x="1524000" y="914400"/>
                <a:ext cx="9144000" cy="2514600"/>
              </a:xfrm>
              <a:prstGeom prst="rect">
                <a:avLst/>
              </a:prstGeom>
            </p:spPr>
            <p:txBody>
              <a:bodyPr anchor="t" lIns="0" tIns="0" rIns="0" bIns="0">
                <a:noAutofit/>
              </a:bodyPr>
              <a:lstStyle/>
              <a:p>
                <a:pPr>
                  <a:lnSpc>
                    <a:spcPct val="120000"/>
                  </a:lnSpc>
                </a:pPr>
                <a:r>
                  <a:rPr lang="en-US" sz="1200" dirty="0">
                    <a:effectLst/>
                  </a:rPr>
                  <a:t>However, when the time of surface activation and BPO concentration were higher than 2 h and 25 wt% of PP, respectively, the grafting percentage was slightly decreased. This may be due to the fact that when density of active sites on the PP surface was too high, the PP surface was bombarded and etched violently [24], resulting in the weight loss and the decrease of grafting percentage of AA onto the PP sheets. The effect of grafting/reaction time and AA concentration on the grafting percentage of AA onto the PP surface is also presented in Fig. 1C and D, respectively. It is obviously seen that the grafting percentage is initially increased and tends to remain steady with increasing the grafting time and AA concentration. The grafting percentage trends to linearly increase in the first 1-5 h of reaction time and reaches the maximum grafting percentage of </a:t>
                </a:r>
                <a:r>
                  <a:rPr lang="en-US" sz="1200" dirty="0">
                    <a:effectLst/>
                  </a:rPr>
                  <a:t>​</a:t>
                </a:r>
                <a14:m>
                  <m:oMath>
                    <m:r>
                      <m:rPr>
                        <m:sty m:val="p"/>
                      </m:rPr>
                      <a:rPr lang="en-US" sz="1200" dirty="0">
                        <a:solidFill>
                          <a:srgbClr val="000000"/>
                        </a:solidFill>
                        <a:effectLst/>
                      </a:rPr>
                      <m:t>5.43</m:t>
                    </m:r>
                    <m:r>
                      <m:rPr>
                        <m:sty m:val="p"/>
                      </m:rPr>
                      <a:rPr lang="en-US" sz="1200" dirty="0">
                        <a:solidFill>
                          <a:srgbClr val="000000"/>
                        </a:solidFill>
                        <a:effectLst/>
                      </a:rPr>
                      <m:t>%</m:t>
                    </m:r>
                  </m:oMath>
                </a14:m>
                <a:r>
                  <a:rPr lang="en-US" sz="1200" dirty="0">
                    <a:effectLst/>
                  </a:rPr>
                  <a:t> at 7 h of reaction time. In the first 5 h of reaction time, the AA monomers could fully contact in the rapid chain-growth reaction of PAA. After 5 h of reaction time, the active sites on the PP surface could be decreased, resulting in the reduction of grafting reaction and the termination of chain growth reaction (Fig. 1C). However, when AA concentration was higher than 250 wt% (Fig. 1D), the grafting percentage is somewhat decreased due to the physical absorption of AA monomers onto the grafted PP surfaces and the PAA formation on the PP surface [12]. In</a:t>
                </a:r>
              </a:p>
            </p:txBody>
          </p:sp>
        </mc:Choice>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429125"/>
              </a:xfrm>
              <a:prstGeom prst="rect">
                <a:avLst/>
              </a:prstGeom>
            </p:spPr>
            <p:txBody>
              <a:bodyPr anchor="t" lIns="0" tIns="0" rIns="0" bIns="0">
                <a:noAutofit/>
              </a:bodyPr>
              <a:lstStyle/>
              <a:p>
                <a:pPr>
                  <a:lnSpc>
                    <a:spcPct val="120000"/>
                  </a:lnSpc>
                </a:pPr>
                <a:r>
                  <a:rPr lang="en-US" sz="1200" dirty="0">
                    <a:effectLst/>
                  </a:rPr>
                  <a:t> summary, the optimum conditions to obtain the highest grafting percentage of AA monomer onto the PP surface without ST monomer (5.43%) were found to be as follows; time of surface activation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2</m:t>
                    </m:r>
                    <m:r>
                      <m:rPr>
                        <m:sty m:val="p"/>
                      </m:rPr>
                      <a:rPr lang="en-US" sz="1200" dirty="0">
                        <a:solidFill>
                          <a:srgbClr val="000000"/>
                        </a:solidFill>
                        <a:effectLst/>
                      </a:rPr>
                      <m:t xml:space="preserve"> </m:t>
                    </m:r>
                    <m:r>
                      <m:rPr>
                        <m:sty m:val="p"/>
                      </m:rPr>
                      <a:rPr lang="en-US" sz="1200" dirty="0">
                        <a:solidFill>
                          <a:srgbClr val="000000"/>
                        </a:solidFill>
                        <a:effectLst/>
                      </a:rPr>
                      <m:t>h</m:t>
                    </m:r>
                    <m:r>
                      <m:rPr>
                        <m:sty m:val="p"/>
                      </m:rPr>
                      <a:rPr lang="en-US" sz="1200" dirty="0">
                        <a:solidFill>
                          <a:srgbClr val="000000"/>
                        </a:solidFill>
                        <a:effectLst/>
                      </a:rPr>
                      <m:t>,</m:t>
                    </m:r>
                    <m:r>
                      <m:rPr>
                        <m:sty m:val="p"/>
                      </m:rPr>
                      <a:rPr lang="en-US" sz="1200" dirty="0">
                        <a:solidFill>
                          <a:srgbClr val="000000"/>
                        </a:solidFill>
                        <a:effectLst/>
                      </a:rPr>
                      <m:t>BPO</m:t>
                    </m:r>
                  </m:oMath>
                </a14:m>
                <a:r>
                  <a:rPr lang="en-US" sz="1200" dirty="0">
                    <a:effectLst/>
                  </a:rPr>
                  <a:t> content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25</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of PP, grafting reaction time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7</m:t>
                    </m:r>
                    <m:r>
                      <m:rPr>
                        <m:sty m:val="p"/>
                      </m:rPr>
                      <a:rPr lang="en-US" sz="1200" dirty="0">
                        <a:solidFill>
                          <a:srgbClr val="000000"/>
                        </a:solidFill>
                        <a:effectLst/>
                      </a:rPr>
                      <m:t xml:space="preserve"> </m:t>
                    </m:r>
                    <m:r>
                      <m:rPr>
                        <m:sty m:val="p"/>
                      </m:rPr>
                      <a:rPr lang="en-US" sz="1200" dirty="0">
                        <a:solidFill>
                          <a:srgbClr val="000000"/>
                        </a:solidFill>
                        <a:effectLst/>
                      </a:rPr>
                      <m:t>h</m:t>
                    </m:r>
                  </m:oMath>
                </a14:m>
                <a:r>
                  <a:rPr lang="en-US" sz="1200" dirty="0">
                    <a:effectLst/>
                  </a:rPr>
                  <a:t> and AA concentration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250</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at a fixed temperature of 95 °C. However, these optimized conditions still provided the very low grafting percentage of AA monomer onto the PP surface which could not practically apply for an automatically latex-coagulating method in the cup lump production. In order to promote the grafting percentage of AA onto the PP surface, the graft copolymerization technique of AA and ST monomers onto the PP surface has been chosen and applied by variation of AA/ST ratios (total weight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250</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of PP). The various ratios of AA/ST at 100/0, 90/10, 80/20, 70/30, 60/40, and 50/50 wt% were carried out using the optimized conditions listed in Table 1. Figure 2 shows the effect of AA/ST ratios on the grafting percentage of AA/ST onto PP surfaces. It is apparent that the grafting percentage of AA on the PP surface are sharply increased with the presence of ST monomer compared to the absence one (PP- </a:t>
                </a:r>
                <a:r>
                  <a:rPr lang="en-US" sz="1200" dirty="0">
                    <a:effectLst/>
                  </a:rPr>
                  <a:t>​</a:t>
                </a:r>
                <a14:m>
                  <m:oMath>
                    <m:r>
                      <m:rPr>
                        <m:sty m:val="i"/>
                      </m:rPr>
                      <a:rPr lang="en-US" sz="1200" dirty="0">
                        <a:solidFill>
                          <a:srgbClr val="000000"/>
                        </a:solidFill>
                        <a:effectLst/>
                      </a:rPr>
                      <m:t>g</m:t>
                    </m:r>
                  </m:oMath>
                </a14:m>
                <a:r>
                  <a:rPr lang="en-US" sz="1200" dirty="0">
                    <a:effectLst/>
                  </a:rPr>
                  <a:t>-PAA; AA/ST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100</m:t>
                    </m:r>
                    <m:r>
                      <m:rPr>
                        <m:sty m:val="p"/>
                      </m:rPr>
                      <a:rPr lang="en-US" sz="1200" dirty="0">
                        <a:solidFill>
                          <a:srgbClr val="000000"/>
                        </a:solidFill>
                        <a:effectLst/>
                      </a:rPr>
                      <m:t>/</m:t>
                    </m:r>
                    <m:r>
                      <m:rPr>
                        <m:sty m:val="p"/>
                      </m:rPr>
                      <a:rPr lang="en-US" sz="1200" dirty="0">
                        <a:solidFill>
                          <a:srgbClr val="000000"/>
                        </a:solidFill>
                        <a:effectLst/>
                      </a:rPr>
                      <m:t>0</m:t>
                    </m:r>
                  </m:oMath>
                </a14:m>
                <a:r>
                  <a:rPr lang="en-US" sz="1200" dirty="0">
                    <a:effectLst/>
                  </a:rPr>
                  <a:t> ). The grafting percentages of AA onto the PP surfaces are slightly increased with increasing AA/ST ratio of 90/10 wt% and increased sharply to the maximum value of </a:t>
                </a:r>
                <a:r>
                  <a:rPr lang="en-US" sz="1200" dirty="0">
                    <a:effectLst/>
                  </a:rPr>
                  <a:t>​</a:t>
                </a:r>
                <a14:m>
                  <m:oMath>
                    <m:r>
                      <m:rPr>
                        <m:sty m:val="p"/>
                      </m:rPr>
                      <a:rPr lang="en-US" sz="1200" dirty="0">
                        <a:solidFill>
                          <a:srgbClr val="000000"/>
                        </a:solidFill>
                        <a:effectLst/>
                      </a:rPr>
                      <m:t>25.91</m:t>
                    </m:r>
                    <m:r>
                      <m:rPr>
                        <m:sty m:val="p"/>
                      </m:rPr>
                      <a:rPr lang="en-US" sz="1200" dirty="0">
                        <a:solidFill>
                          <a:srgbClr val="000000"/>
                        </a:solidFill>
                        <a:effectLst/>
                      </a:rPr>
                      <m:t>%</m:t>
                    </m:r>
                  </m:oMath>
                </a14:m>
                <a:r>
                  <a:rPr lang="en-US" sz="1200" dirty="0">
                    <a:effectLst/>
                  </a:rPr>
                  <a:t> at the AA/ST ratio of </a:t>
                </a:r>
                <a:r>
                  <a:rPr lang="en-US" sz="1200" dirty="0">
                    <a:effectLst/>
                  </a:rPr>
                  <a:t>​</a:t>
                </a:r>
                <a14:m>
                  <m:oMath>
                    <m:r>
                      <m:rPr>
                        <m:sty m:val="p"/>
                      </m:rPr>
                      <a:rPr lang="en-US" sz="1200" dirty="0">
                        <a:solidFill>
                          <a:srgbClr val="000000"/>
                        </a:solidFill>
                        <a:effectLst/>
                      </a:rPr>
                      <m:t>80</m:t>
                    </m:r>
                    <m:r>
                      <m:rPr>
                        <m:sty m:val="p"/>
                      </m:rPr>
                      <a:rPr lang="en-US" sz="1200" dirty="0">
                        <a:solidFill>
                          <a:srgbClr val="000000"/>
                        </a:solidFill>
                        <a:effectLst/>
                      </a:rPr>
                      <m:t>/</m:t>
                    </m:r>
                    <m:r>
                      <m:rPr>
                        <m:sty m:val="p"/>
                      </m:rPr>
                      <a:rPr lang="en-US" sz="1200" dirty="0">
                        <a:solidFill>
                          <a:srgbClr val="000000"/>
                        </a:solidFill>
                        <a:effectLst/>
                      </a:rPr>
                      <m:t>20</m:t>
                    </m:r>
                  </m:oMath>
                </a14:m>
                <a:r>
                  <a:rPr lang="en-US" sz="1200" dirty="0">
                    <a:effectLst/>
                  </a:rPr>
                  <a:t> wt%, after that they are slightly decreased. Therefore, the optimum AA/ST ratio for obtaining the highest grafting percentage of AA onto the PP sheet was 80/20 </a:t>
                </a:r>
                <a:r>
                  <a:rPr lang="en-US" sz="1200" dirty="0">
                    <a:effectLst/>
                  </a:rPr>
                  <a:t>​</a:t>
                </a:r>
                <a14:m>
                  <m:oMath>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The highest grafting percentage of PP- </a:t>
                </a:r>
                <a:r>
                  <a:rPr lang="en-US" sz="1200" dirty="0">
                    <a:effectLst/>
                  </a:rPr>
                  <a:t>​</a:t>
                </a:r>
                <a14:m>
                  <m:oMath>
                    <m:r>
                      <m:rPr>
                        <m:sty m:val="i"/>
                      </m:rPr>
                      <a:rPr lang="en-US" sz="1200" dirty="0">
                        <a:solidFill>
                          <a:srgbClr val="000000"/>
                        </a:solidFill>
                        <a:effectLst/>
                      </a:rPr>
                      <m:t>g</m:t>
                    </m:r>
                  </m:oMath>
                </a14:m>
                <a:r>
                  <a:rPr lang="en-US" sz="1200" dirty="0">
                    <a:effectLst/>
                  </a:rPr>
                  <a:t>-P(ST-co-AA) (25.91%) is found to be about 377% higher than that of the PP- </a:t>
                </a:r>
                <a:r>
                  <a:rPr lang="en-US" sz="1200" dirty="0">
                    <a:effectLst/>
                  </a:rPr>
                  <a:t>​</a:t>
                </a:r>
                <a14:m>
                  <m:oMath>
                    <m:r>
                      <m:rPr>
                        <m:sty m:val="i"/>
                      </m:rPr>
                      <a:rPr lang="en-US" sz="1200" dirty="0">
                        <a:solidFill>
                          <a:srgbClr val="000000"/>
                        </a:solidFill>
                        <a:effectLst/>
                      </a:rPr>
                      <m:t>g</m:t>
                    </m:r>
                  </m:oMath>
                </a14:m>
                <a:r>
                  <a:rPr lang="en-US" sz="1200" dirty="0">
                    <a:effectLst/>
                  </a:rPr>
                  <a:t>-PAA sample without ST (5.43%). This could be due to the more miscibility and wettability between reactive grafting ST molecules and the PP substrates [18], resulting in the higher reactivity of grafting reactions and the higher grafting percentages. Besides, it is found that solubility parameter of ST monomer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9.1</m:t>
                        </m:r>
                        <m:sSup>
                          <m:sSupPr>
                            <m:ctrlPr>
                              <a:rPr sz="1200">
                                <a:latin typeface="Cambria Math" panose="02040503050406030204" pitchFamily="18" charset="0"/>
                              </a:rPr>
                            </m:ctrlPr>
                          </m:sSupPr>
                          <m:e>
                            <m:d>
                              <m:dPr>
                                <m:begChr m:val="("/>
                                <m:endChr m:val=")"/>
                                <m:ctrlPr>
                                  <a:rPr sz="1200">
                                    <a:latin typeface="Cambria Math" panose="02040503050406030204" pitchFamily="18" charset="0"/>
                                  </a:rPr>
                                </m:ctrlPr>
                              </m:dPr>
                              <m:e>
                                <m:r>
                                  <m:rPr>
                                    <m:sty m:val="p"/>
                                  </m:rPr>
                                  <a:rPr lang="en-US" sz="1200" dirty="0">
                                    <a:solidFill>
                                      <a:srgbClr val="000000"/>
                                    </a:solidFill>
                                    <a:effectLst/>
                                  </a:rPr>
                                  <m:t>cal</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3</m:t>
                                    </m:r>
                                  </m:sup>
                                </m:sSup>
                              </m:e>
                            </m:d>
                          </m:e>
                          <m:sup>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2</m:t>
                            </m:r>
                          </m:sup>
                        </m:sSup>
                      </m:e>
                    </m:d>
                  </m:oMath>
                </a14:m>
                <a:r>
                  <a:rPr lang="en-US" sz="1200" dirty="0">
                    <a:effectLst/>
                  </a:rPr>
                  <a:t> is almost similar to that of PP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8.08</m:t>
                        </m:r>
                        <m:sSup>
                          <m:sSupPr>
                            <m:ctrlPr>
                              <a:rPr sz="1200">
                                <a:latin typeface="Cambria Math" panose="02040503050406030204" pitchFamily="18" charset="0"/>
                              </a:rPr>
                            </m:ctrlPr>
                          </m:sSupPr>
                          <m:e>
                            <m:d>
                              <m:dPr>
                                <m:begChr m:val="("/>
                                <m:endChr m:val=")"/>
                                <m:ctrlPr>
                                  <a:rPr sz="1200">
                                    <a:latin typeface="Cambria Math" panose="02040503050406030204" pitchFamily="18" charset="0"/>
                                  </a:rPr>
                                </m:ctrlPr>
                              </m:dPr>
                              <m:e>
                                <m:r>
                                  <m:rPr>
                                    <m:sty m:val="p"/>
                                  </m:rPr>
                                  <a:rPr lang="en-US" sz="1200" dirty="0">
                                    <a:solidFill>
                                      <a:srgbClr val="000000"/>
                                    </a:solidFill>
                                    <a:effectLst/>
                                  </a:rPr>
                                  <m:t>cal</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3</m:t>
                                    </m:r>
                                  </m:sup>
                                </m:sSup>
                              </m:e>
                            </m:d>
                          </m:e>
                          <m:sup>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2</m:t>
                            </m:r>
                          </m:sup>
                        </m:sSup>
                      </m:e>
                    </m:d>
                  </m:oMath>
                </a14:m>
                <a:r>
                  <a:rPr lang="en-US" sz="1200" dirty="0">
                    <a:effectLst/>
                  </a:rPr>
                  <a:t> and toluene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8.9</m:t>
                        </m:r>
                        <m:sSup>
                          <m:sSupPr>
                            <m:ctrlPr>
                              <a:rPr sz="1200">
                                <a:latin typeface="Cambria Math" panose="02040503050406030204" pitchFamily="18" charset="0"/>
                              </a:rPr>
                            </m:ctrlPr>
                          </m:sSupPr>
                          <m:e>
                            <m:d>
                              <m:dPr>
                                <m:begChr m:val="("/>
                                <m:endChr m:val=")"/>
                                <m:ctrlPr>
                                  <a:rPr sz="1200">
                                    <a:latin typeface="Cambria Math" panose="02040503050406030204" pitchFamily="18" charset="0"/>
                                  </a:rPr>
                                </m:ctrlPr>
                              </m:dPr>
                              <m:e>
                                <m:r>
                                  <m:rPr>
                                    <m:sty m:val="p"/>
                                  </m:rPr>
                                  <a:rPr lang="en-US" sz="1200" dirty="0">
                                    <a:solidFill>
                                      <a:srgbClr val="000000"/>
                                    </a:solidFill>
                                    <a:effectLst/>
                                  </a:rPr>
                                  <m:t>cal</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3</m:t>
                                    </m:r>
                                  </m:sup>
                                </m:sSup>
                              </m:e>
                            </m:d>
                          </m:e>
                          <m:sup>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2</m:t>
                            </m:r>
                          </m:sup>
                        </m:sSup>
                      </m:e>
                    </m:d>
                  </m:oMath>
                </a14:m>
                <a:r>
                  <a:rPr lang="en-US" sz="1200" dirty="0">
                    <a:effectLst/>
                  </a:rPr>
                  <a:t> [25, 26]. Consequently, the ST monomer could interact strongly with the PP surface and react effectively with the active sites on the PP surfaces. In contrast, the grafting percentage of AA onto the PP surface without ST monomer is significantly deteriorated because the solubility parameter of AA monomer ( </a:t>
                </a:r>
                <a:r>
                  <a:rPr lang="en-US" sz="1200" dirty="0">
                    <a:effectLst/>
                  </a:rPr>
                  <a:t>​</a:t>
                </a:r>
                <a14:m>
                  <m:oMath>
                    <m:r>
                      <m:rPr>
                        <m:sty m:val="p"/>
                      </m:rPr>
                      <a:rPr lang="en-US" sz="1200" dirty="0">
                        <a:solidFill>
                          <a:srgbClr val="000000"/>
                        </a:solidFill>
                        <a:effectLst/>
                      </a:rPr>
                      <m:t>14.04</m:t>
                    </m:r>
                    <m:sSup>
                      <m:sSupPr>
                        <m:ctrlPr>
                          <a:rPr sz="1200">
                            <a:latin typeface="Cambria Math" panose="02040503050406030204" pitchFamily="18" charset="0"/>
                          </a:rPr>
                        </m:ctrlPr>
                      </m:sSupPr>
                      <m:e>
                        <m:d>
                          <m:dPr>
                            <m:begChr m:val="("/>
                            <m:endChr m:val=")"/>
                            <m:ctrlPr>
                              <a:rPr sz="1200">
                                <a:latin typeface="Cambria Math" panose="02040503050406030204" pitchFamily="18" charset="0"/>
                              </a:rPr>
                            </m:ctrlPr>
                          </m:dPr>
                          <m:e>
                            <m:r>
                              <m:rPr>
                                <m:sty m:val="p"/>
                              </m:rPr>
                              <a:rPr lang="en-US" sz="1200" dirty="0">
                                <a:solidFill>
                                  <a:srgbClr val="000000"/>
                                </a:solidFill>
                                <a:effectLst/>
                              </a:rPr>
                              <m:t>cal</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3</m:t>
                                </m:r>
                              </m:sup>
                            </m:sSup>
                          </m:e>
                        </m:d>
                      </m:e>
                      <m:sup>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2</m:t>
                        </m:r>
                      </m:sup>
                    </m:sSup>
                  </m:oMath>
                </a14:m>
                <a:r>
                  <a:rPr lang="en-US" sz="1200" dirty="0">
                    <a:effectLst/>
                  </a:rPr>
                  <a:t> ) is much different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5038725"/>
                <a:ext cx="9144000" cy="228600"/>
              </a:xfrm>
              <a:prstGeom prst="rect">
                <a:avLst/>
              </a:prstGeom>
            </p:spPr>
            <p:txBody>
              <a:bodyPr anchor="t" lIns="0" tIns="0" rIns="0" bIns="0">
                <a:noAutofit/>
              </a:bodyPr>
              <a:lstStyle/>
              <a:p>
                <a:pPr>
                  <a:lnSpc>
                    <a:spcPct val="120000"/>
                  </a:lnSpc>
                </a:pPr>
                <a:r>
                  <a:rPr lang="en-US" sz="1200" dirty="0">
                    <a:effectLst/>
                  </a:rPr>
                  <a:t>Fig. 2 The effect of AA/ST weight ratios (total weight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250</m:t>
                    </m:r>
                  </m:oMath>
                </a14:m>
                <a:r>
                  <a:rPr lang="en-US" sz="1200" dirty="0">
                    <a:effectLst/>
                  </a:rPr>
                  <a:t> </a:t>
                </a:r>
                <a:r>
                  <a:rPr lang="en-US" sz="1200" dirty="0">
                    <a:effectLst/>
                  </a:rPr>
                  <a:t>​</a:t>
                </a:r>
                <a14:m>
                  <m:oMath>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of PP) on the grafting percentage of AA/ST onto the PP surface</a:t>
                </a:r>
              </a:p>
            </p:txBody>
          </p:sp>
        </mc:Choice>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187dcab449e73d93b4a484284d16001191d0e1f9.jpg"/>
          <p:cNvPicPr/>
          <p:nvPr/>
        </p:nvPicPr>
        <p:blipFill>
          <a:blip r:embed="rId2" cstate="print"/>
          <a:srcRect/>
          <a:stretch>
            <a:fillRect/>
          </a:stretch>
        </p:blipFill>
        <p:spPr>
          <a:xfrm>
            <a:off x="1524000" y="457200"/>
            <a:ext cx="6105525" cy="52006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2809875"/>
              </a:xfrm>
              <a:prstGeom prst="rect">
                <a:avLst/>
              </a:prstGeom>
            </p:spPr>
            <p:txBody>
              <a:bodyPr anchor="t" lIns="0" tIns="0" rIns="0" bIns="0">
                <a:noAutofit/>
              </a:bodyPr>
              <a:lstStyle/>
              <a:p>
                <a:pPr>
                  <a:lnSpc>
                    <a:spcPct val="120000"/>
                  </a:lnSpc>
                </a:pPr>
                <a:r>
                  <a:rPr lang="en-US" sz="1200" dirty="0">
                    <a:effectLst/>
                  </a:rPr>
                  <a:t>from that of the PP substrates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8.08</m:t>
                        </m:r>
                        <m:sSup>
                          <m:sSupPr>
                            <m:ctrlPr>
                              <a:rPr sz="1200">
                                <a:latin typeface="Cambria Math" panose="02040503050406030204" pitchFamily="18" charset="0"/>
                              </a:rPr>
                            </m:ctrlPr>
                          </m:sSupPr>
                          <m:e>
                            <m:d>
                              <m:dPr>
                                <m:begChr m:val="("/>
                                <m:endChr m:val=")"/>
                                <m:ctrlPr>
                                  <a:rPr sz="1200">
                                    <a:latin typeface="Cambria Math" panose="02040503050406030204" pitchFamily="18" charset="0"/>
                                  </a:rPr>
                                </m:ctrlPr>
                              </m:dPr>
                              <m:e>
                                <m:r>
                                  <m:rPr>
                                    <m:sty m:val="p"/>
                                  </m:rPr>
                                  <a:rPr lang="en-US" sz="1200" dirty="0">
                                    <a:solidFill>
                                      <a:srgbClr val="000000"/>
                                    </a:solidFill>
                                    <a:effectLst/>
                                  </a:rPr>
                                  <m:t>cal</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3</m:t>
                                    </m:r>
                                  </m:sup>
                                </m:sSup>
                              </m:e>
                            </m:d>
                          </m:e>
                          <m:sup>
                            <m:r>
                              <m:rPr>
                                <m:sty m:val="p"/>
                              </m:rPr>
                              <a:rPr lang="en-US" sz="1200" dirty="0">
                                <a:solidFill>
                                  <a:srgbClr val="000000"/>
                                </a:solidFill>
                                <a:effectLst/>
                              </a:rPr>
                              <m:t>1</m:t>
                            </m:r>
                            <m:r>
                              <m:rPr>
                                <m:sty m:val="p"/>
                              </m:rPr>
                              <a:rPr lang="en-US" sz="1200" dirty="0">
                                <a:solidFill>
                                  <a:srgbClr val="000000"/>
                                </a:solidFill>
                                <a:effectLst/>
                              </a:rPr>
                              <m:t>/</m:t>
                            </m:r>
                            <m:r>
                              <m:rPr>
                                <m:sty m:val="p"/>
                              </m:rPr>
                              <a:rPr lang="en-US" sz="1200" dirty="0">
                                <a:solidFill>
                                  <a:srgbClr val="000000"/>
                                </a:solidFill>
                                <a:effectLst/>
                              </a:rPr>
                              <m:t>2</m:t>
                            </m:r>
                          </m:sup>
                        </m:sSup>
                      </m:e>
                    </m:d>
                  </m:oMath>
                </a14:m>
                <a:r>
                  <a:rPr lang="en-US" sz="1200" dirty="0">
                    <a:effectLst/>
                  </a:rPr>
                  <a:t> [25]. Moreover, AA monomer has lesser reactivity with PP, compared to the ST monomer [27]. Similar behavior was also observed in the deproteinized NR grafted with maleic anhydride (MA) using ST monomer as an assistant monomer in the graft copolymerization. It was reported that the strong improvement of grafting percentage of MA onto the PP was because the ST molecules acted as an electron donor to activate the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C</m:t>
                    </m:r>
                  </m:oMath>
                </a14:m>
                <a:r>
                  <a:rPr lang="en-US" sz="1200" dirty="0">
                    <a:effectLst/>
                  </a:rPr>
                  <a:t> bonds of MA molecules by generating a charge transfer complex between them, leading to highly activates the weakly reactive double bonds of MA toward the rubber macroradicals [28]. However, it is found that when the AA/ST ratios are lower or higher than 80/20 wt%, their AA grafting percentages are significantly lower than at the optimum ratio. At the lower ST content (10 wt%), the free radicals on the surface of PP surface were fully contacted with ST monomers, resulting in the rapidly chain-growth reactions of ST and AA monomers. While, at the higher ST content (30-50 wt%), the active sites on the PP surface were decreased and the chain-growth reaction was thus gradually slowed down [24]. Moreover, with the richer phase of ST monomers, polystyrene formed by the ST self-polymerization and the previous P(ST-co-AA) grafted onto the PP surface could prevent the diffusion of ST and AA molecules onto the PP surfaces, resulting in a significant lower grafting reaction and eventually low grafting percentage [29, 30].</a:t>
                </a:r>
              </a:p>
            </p:txBody>
          </p:sp>
        </mc:Choice>
        <mc:Fallback/>
      </mc:AlternateContent>
      <p:sp>
        <p:nvSpPr>
          <p:cNvPr id="2" name="Text"/>
          <p:cNvSpPr/>
          <p:nvPr/>
        </p:nvSpPr>
        <p:spPr>
          <a:xfrm>
            <a:off x="1524000" y="3419475"/>
            <a:ext cx="9144000" cy="342900"/>
          </a:xfrm>
          <a:prstGeom prst="rect">
            <a:avLst/>
          </a:prstGeom>
        </p:spPr>
        <p:txBody>
          <a:bodyPr anchor="t" lIns="0" tIns="0" rIns="0" bIns="0">
            <a:noAutofit/>
          </a:bodyPr>
          <a:lstStyle/>
          <a:p>
            <a:pPr>
              <a:lnSpc>
                <a:spcPct val="120000"/>
              </a:lnSpc>
            </a:pPr>
            <a:r>
              <a:rPr lang="en-US" sz="1800" dirty="0" b="1">
                <a:effectLst/>
              </a:rPr>
              <a:t>FTIR analysis and possible mechanism of PP-g-PAA and PP-g-P(ST-co-AA)</a:t>
            </a:r>
          </a:p>
        </p:txBody>
      </p:sp>
      <mc:AlternateContent xmlns:mc="http://schemas.openxmlformats.org/markup-compatibility/2006">
        <mc:Choice xmlns:a14="http://schemas.microsoft.com/office/drawing/2010/main" Requires="a14">
          <p:sp>
            <p:nvSpPr>
              <p:cNvPr id="2" name="Text"/>
              <p:cNvSpPr/>
              <p:nvPr/>
            </p:nvSpPr>
            <p:spPr>
              <a:xfrm>
                <a:off x="1524000" y="3952114"/>
                <a:ext cx="9144000" cy="457200"/>
              </a:xfrm>
              <a:prstGeom prst="rect">
                <a:avLst/>
              </a:prstGeom>
            </p:spPr>
            <p:txBody>
              <a:bodyPr anchor="t" lIns="0" tIns="0" rIns="0" bIns="0">
                <a:noAutofit/>
              </a:bodyPr>
              <a:lstStyle/>
              <a:p>
                <a:pPr>
                  <a:lnSpc>
                    <a:spcPct val="120000"/>
                  </a:lnSpc>
                </a:pPr>
                <a:r>
                  <a:rPr lang="en-US" sz="1200" dirty="0">
                    <a:effectLst/>
                  </a:rPr>
                  <a:t>The chemical structures of PP- </a:t>
                </a:r>
                <a:r>
                  <a:rPr lang="en-US" sz="1200" dirty="0">
                    <a:effectLst/>
                  </a:rPr>
                  <a:t>​</a:t>
                </a:r>
                <a14:m>
                  <m:oMath>
                    <m:r>
                      <m:rPr>
                        <m:sty m:val="i"/>
                      </m:rPr>
                      <a:rPr lang="en-US" sz="1200" dirty="0">
                        <a:solidFill>
                          <a:srgbClr val="000000"/>
                        </a:solidFill>
                        <a:effectLst/>
                      </a:rPr>
                      <m:t>g</m:t>
                    </m:r>
                  </m:oMath>
                </a14:m>
                <a:r>
                  <a:rPr lang="en-US" sz="1200" dirty="0">
                    <a:effectLst/>
                  </a:rPr>
                  <a:t>-PAA and PP- </a:t>
                </a:r>
                <a:r>
                  <a:rPr lang="en-US" sz="1200" dirty="0">
                    <a:effectLst/>
                  </a:rPr>
                  <a:t>​</a:t>
                </a:r>
                <a14:m>
                  <m:oMath>
                    <m:r>
                      <m:rPr>
                        <m:sty m:val="i"/>
                      </m:rPr>
                      <a:rPr lang="en-US" sz="1200" dirty="0">
                        <a:solidFill>
                          <a:srgbClr val="000000"/>
                        </a:solidFill>
                        <a:effectLst/>
                      </a:rPr>
                      <m:t>g</m:t>
                    </m:r>
                  </m:oMath>
                </a14:m>
                <a:r>
                  <a:rPr lang="en-US" sz="1200" dirty="0">
                    <a:effectLst/>
                  </a:rPr>
                  <a:t>-P(ST-co-AA) samples washed with acetone and xylene were examined by FTIR technique as shown in Fig. 3.</a:t>
                </a:r>
              </a:p>
            </p:txBody>
          </p:sp>
        </mc:Choice>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10703182c1f28a221cce73f485c38c7164b3329b.jpg"/>
          <p:cNvPicPr/>
          <p:nvPr/>
        </p:nvPicPr>
        <p:blipFill>
          <a:blip r:embed="rId2" cstate="print"/>
          <a:srcRect/>
          <a:stretch>
            <a:fillRect/>
          </a:stretch>
        </p:blipFill>
        <p:spPr>
          <a:xfrm>
            <a:off x="1524000" y="457200"/>
            <a:ext cx="7362825" cy="5943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 3 ATR-FTIR spectra of unmodified PP, PP- </a:t>
                </a:r>
                <a:r>
                  <a:rPr lang="en-US" sz="1200" dirty="0">
                    <a:effectLst/>
                  </a:rPr>
                  <a:t>​</a:t>
                </a:r>
                <a14:m>
                  <m:oMath>
                    <m:r>
                      <m:rPr>
                        <m:sty m:val="i"/>
                      </m:rPr>
                      <a:rPr lang="en-US" sz="1200" dirty="0">
                        <a:solidFill>
                          <a:srgbClr val="000000"/>
                        </a:solidFill>
                        <a:effectLst/>
                      </a:rPr>
                      <m:t>g</m:t>
                    </m:r>
                  </m:oMath>
                </a14:m>
                <a:r>
                  <a:rPr lang="en-US" sz="1200" dirty="0">
                    <a:effectLst/>
                  </a:rPr>
                  <a:t>-PAA, and PP- </a:t>
                </a:r>
                <a:r>
                  <a:rPr lang="en-US" sz="1200" dirty="0">
                    <a:effectLst/>
                  </a:rPr>
                  <a:t>​</a:t>
                </a:r>
                <a14:m>
                  <m:oMath>
                    <m:r>
                      <m:rPr>
                        <m:sty m:val="i"/>
                      </m:rPr>
                      <a:rPr lang="en-US" sz="1200" dirty="0">
                        <a:solidFill>
                          <a:srgbClr val="000000"/>
                        </a:solidFill>
                        <a:effectLst/>
                      </a:rPr>
                      <m:t>g</m:t>
                    </m:r>
                  </m:oMath>
                </a14:m>
                <a:r>
                  <a:rPr lang="en-US" sz="1200" dirty="0">
                    <a:effectLst/>
                  </a:rPr>
                  <a:t>-P(ST-co-AA) samples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685800"/>
                <a:ext cx="9144000" cy="5029200"/>
              </a:xfrm>
              <a:prstGeom prst="rect">
                <a:avLst/>
              </a:prstGeom>
            </p:spPr>
            <p:txBody>
              <a:bodyPr anchor="t" lIns="0" tIns="0" rIns="0" bIns="0">
                <a:noAutofit/>
              </a:bodyPr>
              <a:lstStyle/>
              <a:p>
                <a:pPr>
                  <a:lnSpc>
                    <a:spcPct val="120000"/>
                  </a:lnSpc>
                </a:pPr>
                <a:r>
                  <a:rPr lang="en-US" sz="1200" dirty="0">
                    <a:effectLst/>
                  </a:rPr>
                  <a:t>The PP- </a:t>
                </a:r>
                <a:r>
                  <a:rPr lang="en-US" sz="1200" dirty="0">
                    <a:effectLst/>
                  </a:rPr>
                  <a:t>​</a:t>
                </a:r>
                <a14:m>
                  <m:oMath>
                    <m:r>
                      <m:rPr>
                        <m:sty m:val="i"/>
                      </m:rPr>
                      <a:rPr lang="en-US" sz="1200" dirty="0">
                        <a:solidFill>
                          <a:srgbClr val="000000"/>
                        </a:solidFill>
                        <a:effectLst/>
                      </a:rPr>
                      <m:t>g</m:t>
                    </m:r>
                  </m:oMath>
                </a14:m>
                <a:r>
                  <a:rPr lang="en-US" sz="1200" dirty="0">
                    <a:effectLst/>
                  </a:rPr>
                  <a:t>-PAA with grafting percentage of </a:t>
                </a:r>
                <a:r>
                  <a:rPr lang="en-US" sz="1200" dirty="0">
                    <a:effectLst/>
                  </a:rPr>
                  <a:t>​</a:t>
                </a:r>
                <a14:m>
                  <m:oMath>
                    <m:r>
                      <m:rPr>
                        <m:sty m:val="p"/>
                      </m:rPr>
                      <a:rPr lang="en-US" sz="1200" dirty="0">
                        <a:solidFill>
                          <a:srgbClr val="000000"/>
                        </a:solidFill>
                        <a:effectLst/>
                      </a:rPr>
                      <m:t>2.86</m:t>
                    </m:r>
                    <m:r>
                      <m:rPr>
                        <m:sty m:val="p"/>
                      </m:rPr>
                      <a:rPr lang="en-US" sz="1200" dirty="0">
                        <a:solidFill>
                          <a:srgbClr val="000000"/>
                        </a:solidFill>
                        <a:effectLst/>
                      </a:rPr>
                      <m:t>%</m:t>
                    </m:r>
                  </m:oMath>
                </a14:m>
                <a:r>
                  <a:rPr lang="en-US" sz="1200" dirty="0">
                    <a:effectLst/>
                  </a:rPr>
                  <a:t> and </a:t>
                </a:r>
                <a:r>
                  <a:rPr lang="en-US" sz="1200" dirty="0">
                    <a:effectLst/>
                  </a:rPr>
                  <a:t>​</a:t>
                </a:r>
                <a14:m>
                  <m:oMath>
                    <m:r>
                      <m:rPr>
                        <m:sty m:val="p"/>
                      </m:rPr>
                      <a:rPr lang="en-US" sz="1200" dirty="0">
                        <a:solidFill>
                          <a:srgbClr val="000000"/>
                        </a:solidFill>
                        <a:effectLst/>
                      </a:rPr>
                      <m:t>4.49</m:t>
                    </m:r>
                    <m:r>
                      <m:rPr>
                        <m:sty m:val="p"/>
                      </m:rPr>
                      <a:rPr lang="en-US" sz="1200" dirty="0">
                        <a:solidFill>
                          <a:srgbClr val="000000"/>
                        </a:solidFill>
                        <a:effectLst/>
                      </a:rPr>
                      <m:t>%</m:t>
                    </m:r>
                  </m:oMath>
                </a14:m>
                <a:r>
                  <a:rPr lang="en-US" sz="1200" dirty="0">
                    <a:effectLst/>
                  </a:rPr>
                  <a:t> and PP- </a:t>
                </a:r>
                <a:r>
                  <a:rPr lang="en-US" sz="1200" dirty="0">
                    <a:effectLst/>
                  </a:rPr>
                  <a:t>​</a:t>
                </a:r>
                <a14:m>
                  <m:oMath>
                    <m:r>
                      <m:rPr>
                        <m:sty m:val="i"/>
                      </m:rPr>
                      <a:rPr lang="en-US" sz="1200" dirty="0">
                        <a:solidFill>
                          <a:srgbClr val="000000"/>
                        </a:solidFill>
                        <a:effectLst/>
                      </a:rPr>
                      <m:t>g</m:t>
                    </m:r>
                  </m:oMath>
                </a14:m>
                <a:r>
                  <a:rPr lang="en-US" sz="1200" dirty="0">
                    <a:effectLst/>
                  </a:rPr>
                  <a:t>-P(ST-coAA) with grafting percentage of 4.77% and 25.91% were labeled as PP- </a:t>
                </a:r>
                <a:r>
                  <a:rPr lang="en-US" sz="1200" dirty="0">
                    <a:effectLst/>
                  </a:rPr>
                  <a:t>​</a:t>
                </a:r>
                <a14:m>
                  <m:oMath>
                    <m:r>
                      <m:rPr>
                        <m:sty m:val="i"/>
                      </m:rPr>
                      <a:rPr lang="en-US" sz="1200" dirty="0">
                        <a:solidFill>
                          <a:srgbClr val="000000"/>
                        </a:solidFill>
                        <a:effectLst/>
                      </a:rPr>
                      <m:t>g</m:t>
                    </m:r>
                  </m:oMath>
                </a14:m>
                <a:r>
                  <a:rPr lang="en-US" sz="1200" dirty="0">
                    <a:effectLst/>
                  </a:rPr>
                  <a:t>-PAA2, PP- </a:t>
                </a:r>
                <a:r>
                  <a:rPr lang="en-US" sz="1200" dirty="0">
                    <a:effectLst/>
                  </a:rPr>
                  <a:t>​</a:t>
                </a:r>
                <a14:m>
                  <m:oMath>
                    <m:r>
                      <m:rPr>
                        <m:sty m:val="i"/>
                      </m:rPr>
                      <a:rPr lang="en-US" sz="1200" dirty="0">
                        <a:solidFill>
                          <a:srgbClr val="000000"/>
                        </a:solidFill>
                        <a:effectLst/>
                      </a:rPr>
                      <m:t>g</m:t>
                    </m:r>
                  </m:oMath>
                </a14:m>
                <a:r>
                  <a:rPr lang="en-US" sz="1200" dirty="0">
                    <a:effectLst/>
                  </a:rPr>
                  <a:t>-PAA4, and PP- </a:t>
                </a:r>
                <a:r>
                  <a:rPr lang="en-US" sz="1200" dirty="0">
                    <a:effectLst/>
                  </a:rPr>
                  <a:t>​</a:t>
                </a:r>
                <a14:m>
                  <m:oMath>
                    <m:r>
                      <m:rPr>
                        <m:sty m:val="i"/>
                      </m:rPr>
                      <a:rPr lang="en-US" sz="1200" dirty="0">
                        <a:solidFill>
                          <a:srgbClr val="000000"/>
                        </a:solidFill>
                        <a:effectLst/>
                      </a:rPr>
                      <m:t>g</m:t>
                    </m:r>
                  </m:oMath>
                </a14:m>
                <a:r>
                  <a:rPr lang="en-US" sz="1200" dirty="0">
                    <a:effectLst/>
                  </a:rPr>
                  <a:t>-P(ST-co-AA)4, PP- </a:t>
                </a:r>
                <a:r>
                  <a:rPr lang="en-US" sz="1200" dirty="0">
                    <a:effectLst/>
                  </a:rPr>
                  <a:t>​</a:t>
                </a:r>
                <a14:m>
                  <m:oMath>
                    <m:r>
                      <m:rPr>
                        <m:sty m:val="i"/>
                      </m:rPr>
                      <a:rPr lang="en-US" sz="1200" dirty="0">
                        <a:solidFill>
                          <a:srgbClr val="000000"/>
                        </a:solidFill>
                        <a:effectLst/>
                      </a:rPr>
                      <m:t>g</m:t>
                    </m:r>
                  </m:oMath>
                </a14:m>
                <a:r>
                  <a:rPr lang="en-US" sz="1200" dirty="0">
                    <a:effectLst/>
                  </a:rPr>
                  <a:t>-P(ST-co-AA)25, respectively, as representative samples. For the unmodified PP sheet, it exhibits the characteristic absorption bands of -CH stretching vibration at </a:t>
                </a:r>
                <a:r>
                  <a:rPr lang="en-US" sz="1200" dirty="0">
                    <a:effectLst/>
                  </a:rPr>
                  <a:t>​</a:t>
                </a:r>
                <a14:m>
                  <m:oMath>
                    <m:r>
                      <m:rPr>
                        <m:sty m:val="p"/>
                      </m:rPr>
                      <a:rPr lang="en-US" sz="1200" dirty="0">
                        <a:solidFill>
                          <a:srgbClr val="000000"/>
                        </a:solidFill>
                        <a:effectLst/>
                      </a:rPr>
                      <m:t>3000</m:t>
                    </m:r>
                    <m:r>
                      <m:rPr>
                        <m:sty m:val="p"/>
                      </m:rPr>
                      <a:rPr lang="en-US" sz="1200" dirty="0">
                        <a:solidFill>
                          <a:srgbClr val="000000"/>
                        </a:solidFill>
                        <a:effectLst/>
                      </a:rPr>
                      <m:t>−</m:t>
                    </m:r>
                    <m:r>
                      <m:rPr>
                        <m:sty m:val="p"/>
                      </m:rPr>
                      <a:rPr lang="en-US" sz="1200" dirty="0">
                        <a:solidFill>
                          <a:srgbClr val="000000"/>
                        </a:solidFill>
                        <a:effectLst/>
                      </a:rPr>
                      <m:t>2850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r>
                      <m:rPr>
                        <m:sty m:val="p"/>
                      </m:rPr>
                      <a:rPr lang="en-US" sz="1200" dirty="0">
                        <a:solidFill>
                          <a:srgbClr val="000000"/>
                        </a:solidFill>
                        <a:effectLst/>
                      </a:rPr>
                      <m:t>,</m:t>
                    </m:r>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3</m:t>
                        </m:r>
                      </m:sub>
                    </m:sSub>
                  </m:oMath>
                </a14:m>
                <a:r>
                  <a:rPr lang="en-US" sz="1200" dirty="0">
                    <a:effectLst/>
                  </a:rPr>
                  <a:t> bending vibration at 1458 and </a:t>
                </a:r>
                <a:r>
                  <a:rPr lang="en-US" sz="1200" dirty="0">
                    <a:effectLst/>
                  </a:rPr>
                  <a:t>​</a:t>
                </a:r>
                <a14:m>
                  <m:oMath>
                    <m:r>
                      <m:rPr>
                        <m:sty m:val="p"/>
                      </m:rPr>
                      <a:rPr lang="en-US" sz="1200" dirty="0">
                        <a:solidFill>
                          <a:srgbClr val="000000"/>
                        </a:solidFill>
                        <a:effectLst/>
                      </a:rPr>
                      <m:t>1375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a:t>
                </a:r>
                <a:r>
                  <a:rPr lang="en-US" sz="1200" dirty="0">
                    <a:effectLst/>
                  </a:rPr>
                  <a:t>​</a:t>
                </a:r>
                <a14:m>
                  <m:oMath>
                    <m:r>
                      <m:rPr>
                        <m:sty m:val="p"/>
                      </m:rPr>
                      <a:rPr lang="en-US" sz="1200" dirty="0">
                        <a:solidFill>
                          <a:srgbClr val="000000"/>
                        </a:solidFill>
                        <a:effectLst/>
                      </a:rPr>
                      <m:t>−</m:t>
                    </m:r>
                    <m:sSub>
                      <m:sSubPr>
                        <m:ctrlPr>
                          <a:rPr sz="1200">
                            <a:latin typeface="Cambria Math" panose="02040503050406030204" pitchFamily="18" charset="0"/>
                          </a:rPr>
                        </m:ctrlPr>
                      </m:sSubPr>
                      <m:e>
                        <m:r>
                          <m:rPr>
                            <m:sty m:val="p"/>
                          </m:rPr>
                          <a:rPr lang="en-US" sz="1200" dirty="0">
                            <a:solidFill>
                              <a:srgbClr val="000000"/>
                            </a:solidFill>
                            <a:effectLst/>
                          </a:rPr>
                          <m:t>CH</m:t>
                        </m:r>
                      </m:e>
                      <m:sub>
                        <m:r>
                          <m:rPr>
                            <m:sty m:val="p"/>
                          </m:rPr>
                          <a:rPr lang="en-US" sz="1200" dirty="0">
                            <a:solidFill>
                              <a:srgbClr val="000000"/>
                            </a:solidFill>
                            <a:effectLst/>
                          </a:rPr>
                          <m:t>2</m:t>
                        </m:r>
                      </m:sub>
                    </m:sSub>
                  </m:oMath>
                </a14:m>
                <a:r>
                  <a:rPr lang="en-US" sz="1200" dirty="0">
                    <a:effectLst/>
                  </a:rPr>
                  <a:t> bending vibration at </a:t>
                </a:r>
                <a:r>
                  <a:rPr lang="en-US" sz="1200" dirty="0">
                    <a:effectLst/>
                  </a:rPr>
                  <a:t>​</a:t>
                </a:r>
                <a14:m>
                  <m:oMath>
                    <m:r>
                      <m:rPr>
                        <m:sty m:val="p"/>
                      </m:rPr>
                      <a:rPr lang="en-US" sz="1200" dirty="0">
                        <a:solidFill>
                          <a:srgbClr val="000000"/>
                        </a:solidFill>
                        <a:effectLst/>
                      </a:rPr>
                      <m:t>1465</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For PP-g-PAA, the presence of absorption bands at 1559 and </a:t>
                </a:r>
                <a:r>
                  <a:rPr lang="en-US" sz="1200" dirty="0">
                    <a:effectLst/>
                  </a:rPr>
                  <a:t>​</a:t>
                </a:r>
                <a14:m>
                  <m:oMath>
                    <m:r>
                      <m:rPr>
                        <m:sty m:val="p"/>
                      </m:rPr>
                      <a:rPr lang="en-US" sz="1200" dirty="0">
                        <a:solidFill>
                          <a:srgbClr val="000000"/>
                        </a:solidFill>
                        <a:effectLst/>
                      </a:rPr>
                      <m:t>1406</m:t>
                    </m:r>
                    <m:r>
                      <m:rPr>
                        <m:sty m:val="p"/>
                      </m:rPr>
                      <a:rPr lang="en-US" sz="1200" dirty="0">
                        <a:solidFill>
                          <a:srgbClr val="000000"/>
                        </a:solidFill>
                        <a:effectLst/>
                      </a:rPr>
                      <m:t>−</m:t>
                    </m:r>
                    <m:r>
                      <m:rPr>
                        <m:sty m:val="p"/>
                      </m:rPr>
                      <a:rPr lang="en-US" sz="1200" dirty="0">
                        <a:solidFill>
                          <a:srgbClr val="000000"/>
                        </a:solidFill>
                        <a:effectLst/>
                      </a:rPr>
                      <m:t>1410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is attributed to the stretching vibrations of carboxylate groups (-COOH) in the AA fractions. In addition, three new peaks appeared at </a:t>
                </a:r>
                <a:r>
                  <a:rPr lang="en-US" sz="1200" dirty="0">
                    <a:effectLst/>
                  </a:rPr>
                  <a:t>​</a:t>
                </a:r>
                <a14:m>
                  <m:oMath>
                    <m:r>
                      <m:rPr>
                        <m:sty m:val="p"/>
                      </m:rPr>
                      <a:rPr lang="en-US" sz="1200" dirty="0">
                        <a:solidFill>
                          <a:srgbClr val="000000"/>
                        </a:solidFill>
                        <a:effectLst/>
                      </a:rPr>
                      <m:t>3000</m:t>
                    </m:r>
                    <m:r>
                      <m:rPr>
                        <m:sty m:val="p"/>
                      </m:rPr>
                      <a:rPr lang="en-US" sz="1200" dirty="0">
                        <a:solidFill>
                          <a:srgbClr val="000000"/>
                        </a:solidFill>
                        <a:effectLst/>
                      </a:rPr>
                      <m:t>−</m:t>
                    </m:r>
                    <m:r>
                      <m:rPr>
                        <m:sty m:val="p"/>
                      </m:rPr>
                      <a:rPr lang="en-US" sz="1200" dirty="0">
                        <a:solidFill>
                          <a:srgbClr val="000000"/>
                        </a:solidFill>
                        <a:effectLst/>
                      </a:rPr>
                      <m:t>3600</m:t>
                    </m:r>
                    <m:r>
                      <m:rPr>
                        <m:sty m:val="p"/>
                      </m:rPr>
                      <a:rPr lang="en-US" sz="1200" dirty="0">
                        <a:solidFill>
                          <a:srgbClr val="000000"/>
                        </a:solidFill>
                        <a:effectLst/>
                      </a:rPr>
                      <m:t>,</m:t>
                    </m:r>
                    <m:r>
                      <m:rPr>
                        <m:sty m:val="p"/>
                      </m:rPr>
                      <a:rPr lang="en-US" sz="1200" dirty="0">
                        <a:solidFill>
                          <a:srgbClr val="000000"/>
                        </a:solidFill>
                        <a:effectLst/>
                      </a:rPr>
                      <m:t>1727</m:t>
                    </m:r>
                  </m:oMath>
                </a14:m>
                <a:r>
                  <a:rPr lang="en-US" sz="1200" dirty="0">
                    <a:effectLst/>
                  </a:rPr>
                  <a:t> and </a:t>
                </a:r>
                <a:r>
                  <a:rPr lang="en-US" sz="1200" dirty="0">
                    <a:effectLst/>
                  </a:rPr>
                  <a:t>​</a:t>
                </a:r>
                <a14:m>
                  <m:oMath>
                    <m:r>
                      <m:rPr>
                        <m:sty m:val="p"/>
                      </m:rPr>
                      <a:rPr lang="en-US" sz="1200" dirty="0">
                        <a:solidFill>
                          <a:srgbClr val="000000"/>
                        </a:solidFill>
                        <a:effectLst/>
                      </a:rPr>
                      <m:t>1167</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are ascribed to the stretching vibrations of -OH,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O</m:t>
                    </m:r>
                  </m:oMath>
                </a14:m>
                <a:r>
                  <a:rPr lang="en-US" sz="1200" dirty="0">
                    <a:effectLst/>
                  </a:rPr>
                  <a:t> and C-O of carboxylic groups, respectively [31]. For the FTIR spectra of PP- </a:t>
                </a:r>
                <a:r>
                  <a:rPr lang="en-US" sz="1200" dirty="0">
                    <a:effectLst/>
                  </a:rPr>
                  <a:t>​</a:t>
                </a:r>
                <a14:m>
                  <m:oMath>
                    <m:r>
                      <m:rPr>
                        <m:sty m:val="i"/>
                      </m:rPr>
                      <a:rPr lang="en-US" sz="1200" dirty="0">
                        <a:solidFill>
                          <a:srgbClr val="000000"/>
                        </a:solidFill>
                        <a:effectLst/>
                      </a:rPr>
                      <m:t>g</m:t>
                    </m:r>
                  </m:oMath>
                </a14:m>
                <a:r>
                  <a:rPr lang="en-US" sz="1200" dirty="0">
                    <a:effectLst/>
                  </a:rPr>
                  <a:t>-P(ST-co-AA) sheets, the characteristic bands of CH stretching ( </a:t>
                </a:r>
                <a:r>
                  <a:rPr lang="en-US" sz="1200" dirty="0">
                    <a:effectLst/>
                  </a:rPr>
                  <a:t>​</a:t>
                </a:r>
                <a14:m>
                  <m:oMath>
                    <m:r>
                      <m:rPr>
                        <m:sty m:val="p"/>
                      </m:rPr>
                      <a:rPr lang="en-US" sz="1200" dirty="0">
                        <a:solidFill>
                          <a:srgbClr val="000000"/>
                        </a:solidFill>
                        <a:effectLst/>
                      </a:rPr>
                      <m:t>3028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and </a:t>
                </a:r>
                <a:r>
                  <a:rPr lang="en-US" sz="1200" dirty="0">
                    <a:effectLst/>
                  </a:rPr>
                  <a:t>​</a:t>
                </a:r>
                <a14:m>
                  <m:oMath>
                    <m:r>
                      <m:rPr>
                        <m:sty m:val="p"/>
                      </m:rPr>
                      <a:rPr lang="en-US" sz="1200" dirty="0">
                        <a:solidFill>
                          <a:srgbClr val="000000"/>
                        </a:solidFill>
                        <a:effectLst/>
                      </a:rPr>
                      <m:t>C</m:t>
                    </m:r>
                    <m:r>
                      <m:rPr>
                        <m:sty m:val="p"/>
                      </m:rPr>
                      <a:rPr lang="en-US" sz="1200" dirty="0">
                        <a:solidFill>
                          <a:srgbClr val="000000"/>
                        </a:solidFill>
                        <a:effectLst/>
                      </a:rPr>
                      <m:t>=</m:t>
                    </m:r>
                    <m:r>
                      <m:rPr>
                        <m:sty m:val="p"/>
                      </m:rPr>
                      <a:rPr lang="en-US" sz="1200" dirty="0">
                        <a:solidFill>
                          <a:srgbClr val="000000"/>
                        </a:solidFill>
                        <a:effectLst/>
                      </a:rPr>
                      <m:t>C</m:t>
                    </m:r>
                  </m:oMath>
                </a14:m>
                <a:r>
                  <a:rPr lang="en-US" sz="1200" dirty="0">
                    <a:effectLst/>
                  </a:rPr>
                  <a:t> out of plane bending ( 754 and </a:t>
                </a:r>
                <a:r>
                  <a:rPr lang="en-US" sz="1200" dirty="0">
                    <a:effectLst/>
                  </a:rPr>
                  <a:t>​</a:t>
                </a:r>
                <a14:m>
                  <m:oMath>
                    <m:r>
                      <m:rPr>
                        <m:sty m:val="p"/>
                      </m:rPr>
                      <a:rPr lang="en-US" sz="1200" dirty="0">
                        <a:solidFill>
                          <a:srgbClr val="000000"/>
                        </a:solidFill>
                        <a:effectLst/>
                      </a:rPr>
                      <m:t>698</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 of aromatics in the styrene structure are clearly observed [32]. Moreover, the carboxylic groups of AA monomers exhibit OH stretching vibration at </a:t>
                </a:r>
                <a:r>
                  <a:rPr lang="en-US" sz="1200" dirty="0">
                    <a:effectLst/>
                  </a:rPr>
                  <a:t>​</a:t>
                </a:r>
                <a14:m>
                  <m:oMath>
                    <m:r>
                      <m:rPr>
                        <m:sty m:val="p"/>
                      </m:rPr>
                      <a:rPr lang="en-US" sz="1200" dirty="0">
                        <a:solidFill>
                          <a:srgbClr val="000000"/>
                        </a:solidFill>
                        <a:effectLst/>
                      </a:rPr>
                      <m:t>3000</m:t>
                    </m:r>
                    <m:r>
                      <m:rPr>
                        <m:sty m:val="p"/>
                      </m:rPr>
                      <a:rPr lang="en-US" sz="1200" dirty="0">
                        <a:solidFill>
                          <a:srgbClr val="000000"/>
                        </a:solidFill>
                        <a:effectLst/>
                      </a:rPr>
                      <m:t>−</m:t>
                    </m:r>
                    <m:r>
                      <m:rPr>
                        <m:sty m:val="p"/>
                      </m:rPr>
                      <a:rPr lang="en-US" sz="1200" dirty="0">
                        <a:solidFill>
                          <a:srgbClr val="000000"/>
                        </a:solidFill>
                        <a:effectLst/>
                      </a:rPr>
                      <m:t>3600</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C=O stretching at </a:t>
                </a:r>
                <a:r>
                  <a:rPr lang="en-US" sz="1200" dirty="0">
                    <a:effectLst/>
                  </a:rPr>
                  <a:t>​</a:t>
                </a:r>
                <a14:m>
                  <m:oMath>
                    <m:r>
                      <m:rPr>
                        <m:sty m:val="p"/>
                      </m:rPr>
                      <a:rPr lang="en-US" sz="1200" dirty="0">
                        <a:solidFill>
                          <a:srgbClr val="000000"/>
                        </a:solidFill>
                        <a:effectLst/>
                      </a:rPr>
                      <m:t>1727</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and C-O stretching at </a:t>
                </a:r>
                <a:r>
                  <a:rPr lang="en-US" sz="1200" dirty="0">
                    <a:effectLst/>
                  </a:rPr>
                  <a:t>​</a:t>
                </a:r>
                <a14:m>
                  <m:oMath>
                    <m:r>
                      <m:rPr>
                        <m:sty m:val="p"/>
                      </m:rPr>
                      <a:rPr lang="en-US" sz="1200" dirty="0">
                        <a:solidFill>
                          <a:srgbClr val="000000"/>
                        </a:solidFill>
                        <a:effectLst/>
                      </a:rPr>
                      <m:t>1167</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Certainly, the intensity of OH, C=O and C-O peaks are found to strongly increase with increasing grafting percentage values of the PP- </a:t>
                </a:r>
                <a:r>
                  <a:rPr lang="en-US" sz="1200" dirty="0">
                    <a:effectLst/>
                  </a:rPr>
                  <a:t>​</a:t>
                </a:r>
                <a14:m>
                  <m:oMath>
                    <m:r>
                      <m:rPr>
                        <m:sty m:val="i"/>
                      </m:rPr>
                      <a:rPr lang="en-US" sz="1200" dirty="0">
                        <a:solidFill>
                          <a:srgbClr val="000000"/>
                        </a:solidFill>
                        <a:effectLst/>
                      </a:rPr>
                      <m:t>g</m:t>
                    </m:r>
                  </m:oMath>
                </a14:m>
                <a:r>
                  <a:rPr lang="en-US" sz="1200" dirty="0">
                    <a:effectLst/>
                  </a:rPr>
                  <a:t>-P(ST-co-AA) samples. Besides, the peak at around </a:t>
                </a:r>
                <a:r>
                  <a:rPr lang="en-US" sz="1200" dirty="0">
                    <a:effectLst/>
                  </a:rPr>
                  <a:t>​</a:t>
                </a:r>
                <a14:m>
                  <m:oMath>
                    <m:r>
                      <m:rPr>
                        <m:sty m:val="p"/>
                      </m:rPr>
                      <a:rPr lang="en-US" sz="1200" dirty="0">
                        <a:solidFill>
                          <a:srgbClr val="000000"/>
                        </a:solidFill>
                        <a:effectLst/>
                      </a:rPr>
                      <m:t>704</m:t>
                    </m:r>
                    <m:sSup>
                      <m:sSupPr>
                        <m:ctrlPr>
                          <a:rPr sz="1200">
                            <a:latin typeface="Cambria Math" panose="02040503050406030204" pitchFamily="18" charset="0"/>
                          </a:rPr>
                        </m:ctrlPr>
                      </m:sSupPr>
                      <m:e>
                        <m:r>
                          <m:rPr>
                            <m:sty m:val="p"/>
                          </m:rPr>
                          <a:rPr lang="en-US" sz="1200" dirty="0">
                            <a:solidFill>
                              <a:srgbClr val="000000"/>
                            </a:solidFill>
                            <a:effectLst/>
                          </a:rPr>
                          <m:t xml:space="preserve"> </m:t>
                        </m:r>
                        <m:r>
                          <m:rPr>
                            <m:sty m:val="p"/>
                          </m:rPr>
                          <a:rPr lang="en-US" sz="1200" dirty="0">
                            <a:solidFill>
                              <a:srgbClr val="000000"/>
                            </a:solidFill>
                            <a:effectLst/>
                          </a:rPr>
                          <m:t>cm</m:t>
                        </m:r>
                      </m:e>
                      <m:sup>
                        <m:r>
                          <m:rPr>
                            <m:sty m:val="p"/>
                          </m:rPr>
                          <a:rPr lang="en-US" sz="1200" dirty="0">
                            <a:solidFill>
                              <a:srgbClr val="000000"/>
                            </a:solidFill>
                            <a:effectLst/>
                          </a:rPr>
                          <m:t>−</m:t>
                        </m:r>
                        <m:r>
                          <m:rPr>
                            <m:sty m:val="p"/>
                          </m:rPr>
                          <a:rPr lang="en-US" sz="1200" dirty="0">
                            <a:solidFill>
                              <a:srgbClr val="000000"/>
                            </a:solidFill>
                            <a:effectLst/>
                          </a:rPr>
                          <m:t>1</m:t>
                        </m:r>
                      </m:sup>
                    </m:sSup>
                  </m:oMath>
                </a14:m>
                <a:r>
                  <a:rPr lang="en-US" sz="1200" dirty="0">
                    <a:effectLst/>
                  </a:rPr>
                  <a:t> is assigned to out-of-plane deformation of the benzene rings of ST molecules. Subsequently, these evidences could confirm that the P(ST-co-AA) copolymers were fruitfully grafted onto the PP surfaces, producing the successful PP- </a:t>
                </a:r>
                <a:r>
                  <a:rPr lang="en-US" sz="1200" dirty="0">
                    <a:effectLst/>
                  </a:rPr>
                  <a:t>​</a:t>
                </a:r>
                <a14:m>
                  <m:oMath>
                    <m:r>
                      <m:rPr>
                        <m:sty m:val="i"/>
                      </m:rPr>
                      <a:rPr lang="en-US" sz="1200" dirty="0">
                        <a:solidFill>
                          <a:srgbClr val="000000"/>
                        </a:solidFill>
                        <a:effectLst/>
                      </a:rPr>
                      <m:t>g</m:t>
                    </m:r>
                  </m:oMath>
                </a14:m>
                <a:r>
                  <a:rPr lang="en-US" sz="1200" dirty="0">
                    <a:effectLst/>
                  </a:rPr>
                  <a:t>-P(ST-co-AA) samples. As previous described, the surface modification of PP grafted with AA and ST monomers was carried out through the chemical free radical reactions in toluene solution using BPO initiator. The possible mechanism of grafting reaction of the PP- </a:t>
                </a:r>
                <a:r>
                  <a:rPr lang="en-US" sz="1200" dirty="0">
                    <a:effectLst/>
                  </a:rPr>
                  <a:t>​</a:t>
                </a:r>
                <a14:m>
                  <m:oMath>
                    <m:r>
                      <m:rPr>
                        <m:sty m:val="i"/>
                      </m:rPr>
                      <a:rPr lang="en-US" sz="1200" dirty="0">
                        <a:solidFill>
                          <a:srgbClr val="000000"/>
                        </a:solidFill>
                        <a:effectLst/>
                      </a:rPr>
                      <m:t>g</m:t>
                    </m:r>
                  </m:oMath>
                </a14:m>
                <a:r>
                  <a:rPr lang="en-US" sz="1200" dirty="0">
                    <a:effectLst/>
                  </a:rPr>
                  <a:t>-P(ST-co-AA) is graphically presented in Scheme 1. Firstly, the BPO initiator is decomposed by thermal heating at 95 °C [31] to generate two macroradicals which then interacts with hydrogen atoms (H) on the PP molecular chains to deliver the free radicals (-C) on the PP surface (see Scheme 1A). Then, these free radicals will react with the AA monomers resulting in the polymerization of AA monomers to form the PP- </a:t>
                </a:r>
                <a:r>
                  <a:rPr lang="en-US" sz="1200" dirty="0">
                    <a:effectLst/>
                  </a:rPr>
                  <a:t>​</a:t>
                </a:r>
                <a14:m>
                  <m:oMath>
                    <m:r>
                      <m:rPr>
                        <m:sty m:val="i"/>
                      </m:rPr>
                      <a:rPr lang="en-US" sz="1200" dirty="0">
                        <a:solidFill>
                          <a:srgbClr val="000000"/>
                        </a:solidFill>
                        <a:effectLst/>
                      </a:rPr>
                      <m:t>g</m:t>
                    </m:r>
                  </m:oMath>
                </a14:m>
                <a:r>
                  <a:rPr lang="en-US" sz="1200" dirty="0">
                    <a:effectLst/>
                  </a:rPr>
                  <a:t>-PAA (see Scheme 1B). In the presence of ST monomers having more reactivity, and more miscibility and wettability with PP than the AA monomers, hence in the first stage, the C radicals on the PP surface could firstly reacted with the ST monomers to polymerize with ST monomers to produce PP- </a:t>
                </a:r>
                <a:r>
                  <a:rPr lang="en-US" sz="1200" dirty="0">
                    <a:effectLst/>
                  </a:rPr>
                  <a:t>​</a:t>
                </a:r>
                <a14:m>
                  <m:oMath>
                    <m:r>
                      <m:rPr>
                        <m:sty m:val="i"/>
                      </m:rPr>
                      <a:rPr lang="en-US" sz="1200" dirty="0">
                        <a:solidFill>
                          <a:srgbClr val="000000"/>
                        </a:solidFill>
                        <a:effectLst/>
                      </a:rPr>
                      <m:t>g</m:t>
                    </m:r>
                  </m:oMath>
                </a14:m>
                <a:r>
                  <a:rPr lang="en-US" sz="1200" dirty="0">
                    <a:effectLst/>
                  </a:rPr>
                  <a:t>-PST with radicals at the ends. In the second stage, the PP- </a:t>
                </a:r>
                <a:r>
                  <a:rPr lang="en-US" sz="1200" dirty="0">
                    <a:effectLst/>
                  </a:rPr>
                  <a:t>​</a:t>
                </a:r>
                <a14:m>
                  <m:oMath>
                    <m:r>
                      <m:rPr>
                        <m:sty m:val="i"/>
                      </m:rPr>
                      <a:rPr lang="en-US" sz="1200" dirty="0">
                        <a:solidFill>
                          <a:srgbClr val="000000"/>
                        </a:solidFill>
                        <a:effectLst/>
                      </a:rPr>
                      <m:t>g</m:t>
                    </m:r>
                  </m:oMath>
                </a14:m>
                <a:r>
                  <a:rPr lang="en-US" sz="1200" dirty="0">
                    <a:effectLst/>
                  </a:rPr>
                  <a:t>-PST sections could further react with the AA monomers to produce the PP- </a:t>
                </a:r>
                <a:r>
                  <a:rPr lang="en-US" sz="1200" dirty="0">
                    <a:effectLst/>
                  </a:rPr>
                  <a:t>​</a:t>
                </a:r>
                <a14:m>
                  <m:oMath>
                    <m:r>
                      <m:rPr>
                        <m:sty m:val="i"/>
                      </m:rPr>
                      <a:rPr lang="en-US" sz="1200" dirty="0">
                        <a:solidFill>
                          <a:srgbClr val="000000"/>
                        </a:solidFill>
                        <a:effectLst/>
                      </a:rPr>
                      <m:t>g</m:t>
                    </m:r>
                  </m:oMath>
                </a14:m>
                <a:r>
                  <a:rPr lang="en-US" sz="1200" dirty="0">
                    <a:effectLst/>
                  </a:rPr>
                  <a:t>-P(ST-co-AA) (see Scheme 1C).</a:t>
                </a:r>
              </a:p>
            </p:txBody>
          </p:sp>
        </mc:Choice>
        <mc:Fallback/>
      </mc:AlternateContent>
      <p:sp>
        <p:nvSpPr>
          <p:cNvPr id="2" name="Text"/>
          <p:cNvSpPr/>
          <p:nvPr/>
        </p:nvSpPr>
        <p:spPr>
          <a:xfrm>
            <a:off x="1524000" y="5867400"/>
            <a:ext cx="9144000" cy="342900"/>
          </a:xfrm>
          <a:prstGeom prst="rect">
            <a:avLst/>
          </a:prstGeom>
        </p:spPr>
        <p:txBody>
          <a:bodyPr anchor="t" lIns="0" tIns="0" rIns="0" bIns="0">
            <a:noAutofit/>
          </a:bodyPr>
          <a:lstStyle/>
          <a:p>
            <a:pPr>
              <a:lnSpc>
                <a:spcPct val="120000"/>
              </a:lnSpc>
            </a:pPr>
            <a:r>
              <a:rPr lang="en-US" sz="1800" dirty="0" b="1">
                <a:effectLst/>
              </a:rPr>
              <a:t>Surface morphology of PP-g-PAA and PP-g-P(ST-co-AA)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1143000"/>
          </a:xfrm>
          <a:prstGeom prst="rect">
            <a:avLst/>
          </a:prstGeom>
        </p:spPr>
        <p:txBody>
          <a:bodyPr anchor="t" lIns="0" tIns="0" rIns="0" bIns="0">
            <a:noAutofit/>
          </a:bodyPr>
          <a:lstStyle/>
          <a:p>
            <a:pPr>
              <a:lnSpc>
                <a:spcPct val="120000"/>
              </a:lnSpc>
            </a:pPr>
            <a:r>
              <a:rPr lang="en-US" sz="1200" dirty="0">
                <a:effectLst/>
              </a:rPr>
              <a:t>Morphology, elemental quality and quantity, and topography of the unmodified PP and grafted PP sheets were performed by scanning electron microscopy (SEM), energy-dispersive X-ray spectroscopy (EDX), and atomic force microscopy (AFM) as revealed in Fig. 4. It is seen that the surface of unmodified PP sheet (Fig. 4A) is rather smooth with no wrinkles on the surface totally differing from the grafted PP sheets. While, the surface of grafted PP sheet is heterogeneous and non-uniform surface due to the considerable deposition of AA and ST monomers onto the PP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c8f501f323e68a45bfce8c6d5499be13bcdbdea.jpg"/>
          <p:cNvPicPr/>
          <p:nvPr/>
        </p:nvPicPr>
        <p:blipFill>
          <a:blip r:embed="rId2" cstate="print"/>
          <a:srcRect/>
          <a:stretch>
            <a:fillRect/>
          </a:stretch>
        </p:blipFill>
        <p:spPr>
          <a:xfrm>
            <a:off x="1524000" y="457200"/>
            <a:ext cx="4324350" cy="5943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Scheme 1 The possible mechanism of PP grafted with PAA and P(ST-co-AA); (A) surface acting step, (B) PP- </a:t>
                </a:r>
                <a:r>
                  <a:rPr lang="en-US" sz="1200" dirty="0">
                    <a:effectLst/>
                  </a:rPr>
                  <a:t>​</a:t>
                </a:r>
                <a14:m>
                  <m:oMath>
                    <m:r>
                      <m:rPr>
                        <m:sty m:val="i"/>
                      </m:rPr>
                      <a:rPr lang="en-US" sz="1200" dirty="0">
                        <a:solidFill>
                          <a:srgbClr val="000000"/>
                        </a:solidFill>
                        <a:effectLst/>
                      </a:rPr>
                      <m:t>g</m:t>
                    </m:r>
                  </m:oMath>
                </a14:m>
                <a:r>
                  <a:rPr lang="en-US" sz="1200" dirty="0">
                    <a:effectLst/>
                  </a:rPr>
                  <a:t>-PAA, and (C) PP- </a:t>
                </a:r>
                <a:r>
                  <a:rPr lang="en-US" sz="1200" dirty="0">
                    <a:effectLst/>
                  </a:rPr>
                  <a:t>​</a:t>
                </a:r>
                <a14:m>
                  <m:oMath>
                    <m:r>
                      <m:rPr>
                        <m:sty m:val="i"/>
                      </m:rPr>
                      <a:rPr lang="en-US" sz="1200" dirty="0">
                        <a:solidFill>
                          <a:srgbClr val="000000"/>
                        </a:solidFill>
                        <a:effectLst/>
                      </a:rPr>
                      <m:t>g</m:t>
                    </m:r>
                  </m:oMath>
                </a14:m>
                <a:r>
                  <a:rPr lang="en-US" sz="1200" dirty="0">
                    <a:effectLst/>
                  </a:rPr>
                  <a:t>-P(ST-co-AA)</a:t>
                </a:r>
              </a:p>
            </p:txBody>
          </p:sp>
        </mc:Choice>
        <mc:Fallback/>
      </mc:AlternateContent>
      <p:sp>
        <p:nvSpPr>
          <p:cNvPr id="2" name="Text"/>
          <p:cNvSpPr/>
          <p:nvPr/>
        </p:nvSpPr>
        <p:spPr>
          <a:xfrm>
            <a:off x="1524000" y="914400"/>
            <a:ext cx="9144000" cy="457200"/>
          </a:xfrm>
          <a:prstGeom prst="rect">
            <a:avLst/>
          </a:prstGeom>
        </p:spPr>
        <p:txBody>
          <a:bodyPr anchor="t" lIns="0" tIns="0" rIns="0" bIns="0">
            <a:noAutofit/>
          </a:bodyPr>
          <a:lstStyle/>
          <a:p>
            <a:pPr>
              <a:lnSpc>
                <a:spcPct val="120000"/>
              </a:lnSpc>
            </a:pPr>
            <a:r>
              <a:rPr lang="en-US" sz="1200" dirty="0">
                <a:effectLst/>
              </a:rPr>
              <a:t>surfaces [13, 33]. The AFM analysis is usually employed to observe the surface morphology and the average surface roughness (Ra) of polymer after the grafting process. The topographical surface morphologies of the unmodified PP and all the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a30b2b44e417e6811b434702bd8b73d950a6d3d8.jpg"/>
          <p:cNvPicPr/>
          <p:nvPr/>
        </p:nvPicPr>
        <p:blipFill>
          <a:blip r:embed="rId2" cstate="print"/>
          <a:srcRect/>
          <a:stretch>
            <a:fillRect/>
          </a:stretch>
        </p:blipFill>
        <p:spPr>
          <a:xfrm>
            <a:off x="1524000" y="457200"/>
            <a:ext cx="4124325" cy="59436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 4 SEM (left), AFM (middle), and EDX spectra (right) of (A) unmodified PP, (B) PP- </a:t>
                </a:r>
                <a:r>
                  <a:rPr lang="en-US" sz="1200" dirty="0">
                    <a:effectLst/>
                  </a:rPr>
                  <a:t>​</a:t>
                </a:r>
                <a14:m>
                  <m:oMath>
                    <m:r>
                      <m:rPr>
                        <m:sty m:val="i"/>
                      </m:rPr>
                      <a:rPr lang="en-US" sz="1200" dirty="0">
                        <a:solidFill>
                          <a:srgbClr val="000000"/>
                        </a:solidFill>
                        <a:effectLst/>
                      </a:rPr>
                      <m:t>g</m:t>
                    </m:r>
                  </m:oMath>
                </a14:m>
                <a:r>
                  <a:rPr lang="en-US" sz="1200" dirty="0">
                    <a:effectLst/>
                  </a:rPr>
                  <a:t>-PAA2, (C) PP- </a:t>
                </a:r>
                <a:r>
                  <a:rPr lang="en-US" sz="1200" dirty="0">
                    <a:effectLst/>
                  </a:rPr>
                  <a:t>​</a:t>
                </a:r>
                <a14:m>
                  <m:oMath>
                    <m:r>
                      <m:rPr>
                        <m:sty m:val="i"/>
                      </m:rPr>
                      <a:rPr lang="en-US" sz="1200" dirty="0">
                        <a:solidFill>
                          <a:srgbClr val="000000"/>
                        </a:solidFill>
                        <a:effectLst/>
                      </a:rPr>
                      <m:t>g</m:t>
                    </m:r>
                  </m:oMath>
                </a14:m>
                <a:r>
                  <a:rPr lang="en-US" sz="1200" dirty="0">
                    <a:effectLst/>
                  </a:rPr>
                  <a:t>-PAA4, (D) PP- </a:t>
                </a:r>
                <a:r>
                  <a:rPr lang="en-US" sz="1200" dirty="0">
                    <a:effectLst/>
                  </a:rPr>
                  <a:t>​</a:t>
                </a:r>
                <a14:m>
                  <m:oMath>
                    <m:r>
                      <m:rPr>
                        <m:sty m:val="i"/>
                      </m:rPr>
                      <a:rPr lang="en-US" sz="1200" dirty="0">
                        <a:solidFill>
                          <a:srgbClr val="000000"/>
                        </a:solidFill>
                        <a:effectLst/>
                      </a:rPr>
                      <m:t>g</m:t>
                    </m:r>
                  </m:oMath>
                </a14:m>
                <a:r>
                  <a:rPr lang="en-US" sz="1200" dirty="0">
                    <a:effectLst/>
                  </a:rPr>
                  <a:t>-P(ST-co-AA)4, and (E) PP- </a:t>
                </a:r>
                <a:r>
                  <a:rPr lang="en-US" sz="1200" dirty="0">
                    <a:effectLst/>
                  </a:rPr>
                  <a:t>​</a:t>
                </a:r>
                <a14:m>
                  <m:oMath>
                    <m:r>
                      <m:rPr>
                        <m:sty m:val="i"/>
                      </m:rPr>
                      <a:rPr lang="en-US" sz="1200" dirty="0">
                        <a:solidFill>
                          <a:srgbClr val="000000"/>
                        </a:solidFill>
                        <a:effectLst/>
                      </a:rPr>
                      <m:t>g</m:t>
                    </m:r>
                  </m:oMath>
                </a14:m>
                <a:r>
                  <a:rPr lang="en-US" sz="1200" dirty="0">
                    <a:effectLst/>
                  </a:rPr>
                  <a:t>-P(ST-co-AA)25 sheets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914400"/>
                <a:ext cx="9144000" cy="5257800"/>
              </a:xfrm>
              <a:prstGeom prst="rect">
                <a:avLst/>
              </a:prstGeom>
            </p:spPr>
            <p:txBody>
              <a:bodyPr anchor="t" lIns="0" tIns="0" rIns="0" bIns="0">
                <a:noAutofit/>
              </a:bodyPr>
              <a:lstStyle/>
              <a:p>
                <a:pPr>
                  <a:lnSpc>
                    <a:spcPct val="120000"/>
                  </a:lnSpc>
                </a:pPr>
                <a:r>
                  <a:rPr lang="en-US" sz="1200" dirty="0">
                    <a:effectLst/>
                  </a:rPr>
                  <a:t>grafted PP sheets were therefore investigated by AFM as displayed in Fig. 4 (middle column). It is found that the surface roughness of unmodified PP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Ra</m:t>
                    </m:r>
                    <m:r>
                      <m:rPr>
                        <m:sty m:val="p"/>
                      </m:rPr>
                      <a:rPr lang="en-US" sz="1200" dirty="0">
                        <a:solidFill>
                          <a:srgbClr val="000000"/>
                        </a:solidFill>
                        <a:effectLst/>
                      </a:rPr>
                      <m:t>=</m:t>
                    </m:r>
                    <m:r>
                      <m:rPr>
                        <m:sty m:val="p"/>
                      </m:rPr>
                      <a:rPr lang="en-US" sz="1200" dirty="0">
                        <a:solidFill>
                          <a:srgbClr val="000000"/>
                        </a:solidFill>
                        <a:effectLst/>
                      </a:rPr>
                      <m:t>0.22</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r>
                      <m:rPr>
                        <m:sty m:val="p"/>
                      </m:rPr>
                      <a:rPr lang="en-US" sz="1200" dirty="0">
                        <a:solidFill>
                          <a:srgbClr val="000000"/>
                        </a:solidFill>
                        <a:effectLst/>
                      </a:rPr>
                      <m:t>)</m:t>
                    </m:r>
                  </m:oMath>
                </a14:m>
                <a:r>
                  <a:rPr lang="en-US" sz="1200" dirty="0">
                    <a:effectLst/>
                  </a:rPr>
                  <a:t> is smoother than that of all the grafted PP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Ra</m:t>
                    </m:r>
                    <m:r>
                      <m:rPr>
                        <m:sty m:val="p"/>
                      </m:rPr>
                      <a:rPr lang="en-US" sz="1200" dirty="0">
                        <a:solidFill>
                          <a:srgbClr val="000000"/>
                        </a:solidFill>
                        <a:effectLst/>
                      </a:rPr>
                      <m:t>=</m:t>
                    </m:r>
                    <m:r>
                      <m:rPr>
                        <m:sty m:val="p"/>
                      </m:rPr>
                      <a:rPr lang="en-US" sz="1200" dirty="0">
                        <a:solidFill>
                          <a:srgbClr val="000000"/>
                        </a:solidFill>
                        <a:effectLst/>
                      </a:rPr>
                      <m:t>0.63</m:t>
                    </m:r>
                    <m:r>
                      <m:rPr>
                        <m:sty m:val="p"/>
                      </m:rPr>
                      <a:rPr lang="en-US" sz="1200" dirty="0">
                        <a:solidFill>
                          <a:srgbClr val="000000"/>
                        </a:solidFill>
                        <a:effectLst/>
                      </a:rPr>
                      <m:t>−</m:t>
                    </m:r>
                    <m:r>
                      <m:rPr>
                        <m:sty m:val="p"/>
                      </m:rPr>
                      <a:rPr lang="en-US" sz="1200" dirty="0">
                        <a:solidFill>
                          <a:srgbClr val="000000"/>
                        </a:solidFill>
                        <a:effectLst/>
                      </a:rPr>
                      <m:t>0.76</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r>
                      <m:rPr>
                        <m:sty m:val="p"/>
                      </m:rPr>
                      <a:rPr lang="en-US" sz="1200" dirty="0">
                        <a:solidFill>
                          <a:srgbClr val="000000"/>
                        </a:solidFill>
                        <a:effectLst/>
                      </a:rPr>
                      <m:t>)</m:t>
                    </m:r>
                  </m:oMath>
                </a14:m>
                <a:r>
                  <a:rPr lang="en-US" sz="1200" dirty="0">
                    <a:effectLst/>
                  </a:rPr>
                  <a:t>. In addition, the grafting percentage of both the PP- </a:t>
                </a:r>
                <a:r>
                  <a:rPr lang="en-US" sz="1200" dirty="0">
                    <a:effectLst/>
                  </a:rPr>
                  <a:t>​</a:t>
                </a:r>
                <a14:m>
                  <m:oMath>
                    <m:r>
                      <m:rPr>
                        <m:sty m:val="i"/>
                      </m:rPr>
                      <a:rPr lang="en-US" sz="1200" dirty="0">
                        <a:solidFill>
                          <a:srgbClr val="000000"/>
                        </a:solidFill>
                        <a:effectLst/>
                      </a:rPr>
                      <m:t>g</m:t>
                    </m:r>
                  </m:oMath>
                </a14:m>
                <a:r>
                  <a:rPr lang="en-US" sz="1200" dirty="0">
                    <a:effectLst/>
                  </a:rPr>
                  <a:t>-PAA and PP- </a:t>
                </a:r>
                <a:r>
                  <a:rPr lang="en-US" sz="1200" dirty="0">
                    <a:effectLst/>
                  </a:rPr>
                  <a:t>​</a:t>
                </a:r>
                <a14:m>
                  <m:oMath>
                    <m:r>
                      <m:rPr>
                        <m:sty m:val="i"/>
                      </m:rPr>
                      <a:rPr lang="en-US" sz="1200" dirty="0">
                        <a:solidFill>
                          <a:srgbClr val="000000"/>
                        </a:solidFill>
                        <a:effectLst/>
                      </a:rPr>
                      <m:t>g</m:t>
                    </m:r>
                  </m:oMath>
                </a14:m>
                <a:r>
                  <a:rPr lang="en-US" sz="1200" dirty="0">
                    <a:effectLst/>
                  </a:rPr>
                  <a:t>-P(ST-co-AA) samples are increased with increasing the surface roughness of the grafted PP samples. The surface roughness of PP is mostly related to the sites of graft initiation, frequently taking place in the amorphous regions rather than in the crystalline sections [33]. Furthermore, it is seen that the surfaces of all the grafted PP samples exhibit hill-valley structures with significant heterogeneity. However, it is also observed that the increase in grafting percentage may response to the increase in the flattening surface of the PP surface, possibly resulting from the incorporation and/or agglomeration of the P(ST-co-AA) polymer chains within the valleys (see Fig. 4D). Obviously, it is seen from Fig. 4D and E (left and middle column, respectively) that the Ra is significantly decreased from </a:t>
                </a:r>
                <a:r>
                  <a:rPr lang="en-US" sz="1200" dirty="0">
                    <a:effectLst/>
                  </a:rPr>
                  <a:t>​</a:t>
                </a:r>
                <a14:m>
                  <m:oMath>
                    <m:r>
                      <m:rPr>
                        <m:sty m:val="p"/>
                      </m:rPr>
                      <a:rPr lang="en-US" sz="1200" dirty="0">
                        <a:solidFill>
                          <a:srgbClr val="000000"/>
                        </a:solidFill>
                        <a:effectLst/>
                      </a:rPr>
                      <m:t>0.72</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to </a:t>
                </a:r>
                <a:r>
                  <a:rPr lang="en-US" sz="1200" dirty="0">
                    <a:effectLst/>
                  </a:rPr>
                  <a:t>​</a:t>
                </a:r>
                <a14:m>
                  <m:oMath>
                    <m:r>
                      <m:rPr>
                        <m:sty m:val="p"/>
                      </m:rPr>
                      <a:rPr lang="en-US" sz="1200" dirty="0">
                        <a:solidFill>
                          <a:srgbClr val="000000"/>
                        </a:solidFill>
                        <a:effectLst/>
                      </a:rPr>
                      <m:t>0.33</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m</m:t>
                    </m:r>
                  </m:oMath>
                </a14:m>
                <a:r>
                  <a:rPr lang="en-US" sz="1200" dirty="0">
                    <a:effectLst/>
                  </a:rPr>
                  <a:t> when the grafting percentage is increased from 4.77% to 25.91%, respectively. In this case, the smoother surface of PP- </a:t>
                </a:r>
                <a:r>
                  <a:rPr lang="en-US" sz="1200" dirty="0">
                    <a:effectLst/>
                  </a:rPr>
                  <a:t>​</a:t>
                </a:r>
                <a14:m>
                  <m:oMath>
                    <m:r>
                      <m:rPr>
                        <m:sty m:val="i"/>
                      </m:rPr>
                      <a:rPr lang="en-US" sz="1200" dirty="0">
                        <a:solidFill>
                          <a:srgbClr val="000000"/>
                        </a:solidFill>
                        <a:effectLst/>
                      </a:rPr>
                      <m:t>g</m:t>
                    </m:r>
                  </m:oMath>
                </a14:m>
                <a:r>
                  <a:rPr lang="en-US" sz="1200" dirty="0">
                    <a:effectLst/>
                  </a:rPr>
                  <a:t>-P(ST-co-AA) Samples at the higher grafting levels could be due to the higher extent of homogenization [14, 34]. Similar trends of the morphological arrangement were also observed in the chitosan immobilization on the PP- </a:t>
                </a:r>
                <a:r>
                  <a:rPr lang="en-US" sz="1200" dirty="0">
                    <a:effectLst/>
                  </a:rPr>
                  <a:t>​</a:t>
                </a:r>
                <a14:m>
                  <m:oMath>
                    <m:r>
                      <m:rPr>
                        <m:sty m:val="i"/>
                      </m:rPr>
                      <a:rPr lang="en-US" sz="1200" dirty="0">
                        <a:solidFill>
                          <a:srgbClr val="000000"/>
                        </a:solidFill>
                        <a:effectLst/>
                      </a:rPr>
                      <m:t>g</m:t>
                    </m:r>
                  </m:oMath>
                </a14:m>
                <a:r>
                  <a:rPr lang="en-US" sz="1200" dirty="0">
                    <a:effectLst/>
                  </a:rPr>
                  <a:t>-PAA monofilament surfaces [14] and the glassy and rubbery polymer brush layers [34]. Therefore, from these results, it could be concluded that the P(ST-co-AA) fractions were successfully grafted on the PP surface. In order to confirm the existence of PAA on the grafted PP samples, EDX analysis was also performed in this work to detect the oxygen (O) atoms derived from the carboxylate groups (Fig. 4 (right column)). It is found that the O atoms amount on the unmodified PP surface is detected to be very low just </a:t>
                </a:r>
                <a:r>
                  <a:rPr lang="en-US" sz="1200" dirty="0">
                    <a:effectLst/>
                  </a:rPr>
                  <a:t>​</a:t>
                </a:r>
                <a14:m>
                  <m:oMath>
                    <m:r>
                      <m:rPr>
                        <m:sty m:val="p"/>
                      </m:rPr>
                      <a:rPr lang="en-US" sz="1200" dirty="0">
                        <a:solidFill>
                          <a:srgbClr val="000000"/>
                        </a:solidFill>
                        <a:effectLst/>
                      </a:rPr>
                      <m:t>0.69</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resulting from some oxidation reactions took place on the surface of PP sheet during the processing at high temperature [32]. After the grafting process, the O atom amounts on all the grafted PP surfaces are found to be strongly increased when compared to that of the unmodified PP sample. For the PP- </a:t>
                </a:r>
                <a:r>
                  <a:rPr lang="en-US" sz="1200" dirty="0">
                    <a:effectLst/>
                  </a:rPr>
                  <a:t>​</a:t>
                </a:r>
                <a14:m>
                  <m:oMath>
                    <m:r>
                      <m:rPr>
                        <m:sty m:val="i"/>
                      </m:rPr>
                      <a:rPr lang="en-US" sz="1200" dirty="0">
                        <a:solidFill>
                          <a:srgbClr val="000000"/>
                        </a:solidFill>
                        <a:effectLst/>
                      </a:rPr>
                      <m:t>g</m:t>
                    </m:r>
                  </m:oMath>
                </a14:m>
                <a:r>
                  <a:rPr lang="en-US" sz="1200" dirty="0">
                    <a:effectLst/>
                  </a:rPr>
                  <a:t>-PAA samples, the O atom fractions increase from </a:t>
                </a:r>
                <a:r>
                  <a:rPr lang="en-US" sz="1200" dirty="0">
                    <a:effectLst/>
                  </a:rPr>
                  <a:t>​</a:t>
                </a:r>
                <a14:m>
                  <m:oMath>
                    <m:r>
                      <m:rPr>
                        <m:sty m:val="p"/>
                      </m:rPr>
                      <a:rPr lang="en-US" sz="1200" dirty="0">
                        <a:solidFill>
                          <a:srgbClr val="000000"/>
                        </a:solidFill>
                        <a:effectLst/>
                      </a:rPr>
                      <m:t>3.80</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to </a:t>
                </a:r>
                <a:r>
                  <a:rPr lang="en-US" sz="1200" dirty="0">
                    <a:effectLst/>
                  </a:rPr>
                  <a:t>​</a:t>
                </a:r>
                <a14:m>
                  <m:oMath>
                    <m:r>
                      <m:rPr>
                        <m:sty m:val="p"/>
                      </m:rPr>
                      <a:rPr lang="en-US" sz="1200" dirty="0">
                        <a:solidFill>
                          <a:srgbClr val="000000"/>
                        </a:solidFill>
                        <a:effectLst/>
                      </a:rPr>
                      <m:t>6.19</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with increasing the grafting percentage from </a:t>
                </a:r>
                <a:r>
                  <a:rPr lang="en-US" sz="1200" dirty="0">
                    <a:effectLst/>
                  </a:rPr>
                  <a:t>​</a:t>
                </a:r>
                <a14:m>
                  <m:oMath>
                    <m:r>
                      <m:rPr>
                        <m:sty m:val="p"/>
                      </m:rPr>
                      <a:rPr lang="en-US" sz="1200" dirty="0">
                        <a:solidFill>
                          <a:srgbClr val="000000"/>
                        </a:solidFill>
                        <a:effectLst/>
                      </a:rPr>
                      <m:t>2.86</m:t>
                    </m:r>
                    <m:r>
                      <m:rPr>
                        <m:sty m:val="p"/>
                      </m:rPr>
                      <a:rPr lang="en-US" sz="1200" dirty="0">
                        <a:solidFill>
                          <a:srgbClr val="000000"/>
                        </a:solidFill>
                        <a:effectLst/>
                      </a:rPr>
                      <m:t>%</m:t>
                    </m:r>
                  </m:oMath>
                </a14:m>
                <a:r>
                  <a:rPr lang="en-US" sz="1200" dirty="0">
                    <a:effectLst/>
                  </a:rPr>
                  <a:t> to </a:t>
                </a:r>
                <a:r>
                  <a:rPr lang="en-US" sz="1200" dirty="0">
                    <a:effectLst/>
                  </a:rPr>
                  <a:t>​</a:t>
                </a:r>
                <a14:m>
                  <m:oMath>
                    <m:r>
                      <m:rPr>
                        <m:sty m:val="p"/>
                      </m:rPr>
                      <a:rPr lang="en-US" sz="1200" dirty="0">
                        <a:solidFill>
                          <a:srgbClr val="000000"/>
                        </a:solidFill>
                        <a:effectLst/>
                      </a:rPr>
                      <m:t>4.49</m:t>
                    </m:r>
                    <m:r>
                      <m:rPr>
                        <m:sty m:val="p"/>
                      </m:rPr>
                      <a:rPr lang="en-US" sz="1200" dirty="0">
                        <a:solidFill>
                          <a:srgbClr val="000000"/>
                        </a:solidFill>
                        <a:effectLst/>
                      </a:rPr>
                      <m:t>%</m:t>
                    </m:r>
                  </m:oMath>
                </a14:m>
                <a:r>
                  <a:rPr lang="en-US" sz="1200" dirty="0">
                    <a:effectLst/>
                  </a:rPr>
                  <a:t>, respectively. Fascinatingly, for the PP- </a:t>
                </a:r>
                <a:r>
                  <a:rPr lang="en-US" sz="1200" dirty="0">
                    <a:effectLst/>
                  </a:rPr>
                  <a:t>​</a:t>
                </a:r>
                <a14:m>
                  <m:oMath>
                    <m:r>
                      <m:rPr>
                        <m:sty m:val="i"/>
                      </m:rPr>
                      <a:rPr lang="en-US" sz="1200" dirty="0">
                        <a:solidFill>
                          <a:srgbClr val="000000"/>
                        </a:solidFill>
                        <a:effectLst/>
                      </a:rPr>
                      <m:t>g</m:t>
                    </m:r>
                    <m:r>
                      <m:rPr>
                        <m:sty m:val="p"/>
                      </m:rPr>
                      <a:rPr lang="en-US" sz="1200" dirty="0">
                        <a:solidFill>
                          <a:srgbClr val="000000"/>
                        </a:solidFill>
                        <a:effectLst/>
                      </a:rPr>
                      <m:t>−</m:t>
                    </m:r>
                  </m:oMath>
                </a14:m>
                <a:r>
                  <a:rPr lang="en-US" sz="1200" dirty="0">
                    <a:effectLst/>
                  </a:rPr>
                  <a:t> P(ST-co-AA) samples, the fractions of O atom are reported to be </a:t>
                </a:r>
                <a:r>
                  <a:rPr lang="en-US" sz="1200" dirty="0">
                    <a:effectLst/>
                  </a:rPr>
                  <a:t>​</a:t>
                </a:r>
                <a14:m>
                  <m:oMath>
                    <m:r>
                      <m:rPr>
                        <m:sty m:val="p"/>
                      </m:rPr>
                      <a:rPr lang="en-US" sz="1200" dirty="0">
                        <a:solidFill>
                          <a:srgbClr val="000000"/>
                        </a:solidFill>
                        <a:effectLst/>
                      </a:rPr>
                      <m:t>7.14</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and </a:t>
                </a:r>
                <a:r>
                  <a:rPr lang="en-US" sz="1200" dirty="0">
                    <a:effectLst/>
                  </a:rPr>
                  <a:t>​</a:t>
                </a:r>
                <a14:m>
                  <m:oMath>
                    <m:r>
                      <m:rPr>
                        <m:sty m:val="p"/>
                      </m:rPr>
                      <a:rPr lang="en-US" sz="1200" dirty="0">
                        <a:solidFill>
                          <a:srgbClr val="000000"/>
                        </a:solidFill>
                        <a:effectLst/>
                      </a:rPr>
                      <m:t>21.37</m:t>
                    </m:r>
                    <m:r>
                      <m:rPr>
                        <m:sty m:val="p"/>
                      </m:rPr>
                      <a:rPr lang="en-US" sz="1200" dirty="0">
                        <a:solidFill>
                          <a:srgbClr val="000000"/>
                        </a:solidFill>
                        <a:effectLst/>
                      </a:rPr>
                      <m:t>wt</m:t>
                    </m:r>
                    <m:r>
                      <m:rPr>
                        <m:sty m:val="p"/>
                      </m:rPr>
                      <a:rPr lang="en-US" sz="1200" dirty="0">
                        <a:solidFill>
                          <a:srgbClr val="000000"/>
                        </a:solidFill>
                        <a:effectLst/>
                      </a:rPr>
                      <m:t>%</m:t>
                    </m:r>
                  </m:oMath>
                </a14:m>
                <a:r>
                  <a:rPr lang="en-US" sz="1200" dirty="0">
                    <a:effectLst/>
                  </a:rPr>
                  <a:t> when the grafting percentages are increased from 4.77% to 25.91%, respectively, which are about 1.67-5.43 times higher than those of the PP- </a:t>
                </a:r>
                <a:r>
                  <a:rPr lang="en-US" sz="1200" dirty="0">
                    <a:effectLst/>
                  </a:rPr>
                  <a:t>​</a:t>
                </a:r>
                <a14:m>
                  <m:oMath>
                    <m:r>
                      <m:rPr>
                        <m:sty m:val="i"/>
                      </m:rPr>
                      <a:rPr lang="en-US" sz="1200" dirty="0">
                        <a:solidFill>
                          <a:srgbClr val="000000"/>
                        </a:solidFill>
                        <a:effectLst/>
                      </a:rPr>
                      <m:t>g</m:t>
                    </m:r>
                  </m:oMath>
                </a14:m>
                <a:r>
                  <a:rPr lang="en-US" sz="1200" dirty="0">
                    <a:effectLst/>
                  </a:rPr>
                  <a:t>-PAA samples. These results are in good agreement with the SEM, AFM, and FTIR results. Therefore, the remarkable improvement of grafting percentage of PAA on the PP surface can be successfully obtained by using the styrene-assisted grafting reaction pathway which was already reported by many researches [35-37].</a:t>
                </a:r>
              </a:p>
            </p:txBody>
          </p:sp>
        </mc:Choice>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342900"/>
          </a:xfrm>
          <a:prstGeom prst="rect">
            <a:avLst/>
          </a:prstGeom>
        </p:spPr>
        <p:txBody>
          <a:bodyPr anchor="t" lIns="0" tIns="0" rIns="0" bIns="0">
            <a:noAutofit/>
          </a:bodyPr>
          <a:lstStyle/>
          <a:p>
            <a:pPr>
              <a:lnSpc>
                <a:spcPct val="120000"/>
              </a:lnSpc>
            </a:pPr>
            <a:r>
              <a:rPr lang="en-US" sz="1800" dirty="0" b="1">
                <a:effectLst/>
              </a:rPr>
              <a:t>Contact angle of PP-g-PAA and PP-g-P(ST-co-AA) sheets</a:t>
            </a:r>
          </a:p>
        </p:txBody>
      </p:sp>
      <p:sp>
        <p:nvSpPr>
          <p:cNvPr id="2" name="Text"/>
          <p:cNvSpPr/>
          <p:nvPr/>
        </p:nvSpPr>
        <p:spPr>
          <a:xfrm>
            <a:off x="1524000" y="989839"/>
            <a:ext cx="9144000" cy="914400"/>
          </a:xfrm>
          <a:prstGeom prst="rect">
            <a:avLst/>
          </a:prstGeom>
        </p:spPr>
        <p:txBody>
          <a:bodyPr anchor="t" lIns="0" tIns="0" rIns="0" bIns="0">
            <a:noAutofit/>
          </a:bodyPr>
          <a:lstStyle/>
          <a:p>
            <a:pPr>
              <a:lnSpc>
                <a:spcPct val="120000"/>
              </a:lnSpc>
            </a:pPr>
            <a:r>
              <a:rPr lang="en-US" sz="1200" dirty="0">
                <a:effectLst/>
              </a:rPr>
              <a:t>Fundamentally, the contact angle is very sensitive to the chemical and structural changes occurred on the polymer surfaces because the liquid contacts outermost molecular layer of the surface [36]. In order to investigate the structural change of the unmodified PP and grafted PP surfaces, the contact angle measurement was also thus performed. The values of water contact angle on the sample sheets with different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364fdaf55b39ab522ee815f775966f5a7a33e700.jpg"/>
          <p:cNvPicPr/>
          <p:nvPr/>
        </p:nvPicPr>
        <p:blipFill>
          <a:blip r:embed="rId2" cstate="print"/>
          <a:srcRect/>
          <a:stretch>
            <a:fillRect/>
          </a:stretch>
        </p:blipFill>
        <p:spPr>
          <a:xfrm>
            <a:off x="1524000" y="457200"/>
            <a:ext cx="2286000" cy="59436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 5 (A) Contact angle, IEC and impact strength of the unmodified PP, PP- </a:t>
                </a:r>
                <a:r>
                  <a:rPr lang="en-US" sz="1200" dirty="0">
                    <a:effectLst/>
                  </a:rPr>
                  <a:t>​</a:t>
                </a:r>
                <a14:m>
                  <m:oMath>
                    <m:r>
                      <m:rPr>
                        <m:sty m:val="i"/>
                      </m:rPr>
                      <a:rPr lang="en-US" sz="1200" dirty="0">
                        <a:solidFill>
                          <a:srgbClr val="000000"/>
                        </a:solidFill>
                        <a:effectLst/>
                      </a:rPr>
                      <m:t>g</m:t>
                    </m:r>
                  </m:oMath>
                </a14:m>
                <a:r>
                  <a:rPr lang="en-US" sz="1200" dirty="0">
                    <a:effectLst/>
                  </a:rPr>
                  <a:t>-PAA, and PP- </a:t>
                </a:r>
                <a:r>
                  <a:rPr lang="en-US" sz="1200" dirty="0">
                    <a:effectLst/>
                  </a:rPr>
                  <a:t>​</a:t>
                </a:r>
                <a14:m>
                  <m:oMath>
                    <m:r>
                      <m:rPr>
                        <m:sty m:val="i"/>
                      </m:rPr>
                      <a:rPr lang="en-US" sz="1200" dirty="0">
                        <a:solidFill>
                          <a:srgbClr val="000000"/>
                        </a:solidFill>
                        <a:effectLst/>
                      </a:rPr>
                      <m:t>g</m:t>
                    </m:r>
                  </m:oMath>
                </a14:m>
                <a:r>
                  <a:rPr lang="en-US" sz="1200" dirty="0">
                    <a:effectLst/>
                  </a:rPr>
                  <a:t>-P(ST-co-AA) sheets and (B) the relationship of grafting percentage and ICE versus the O contents of the grafted PP sheets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914400"/>
                <a:ext cx="9144000" cy="2743200"/>
              </a:xfrm>
              <a:prstGeom prst="rect">
                <a:avLst/>
              </a:prstGeom>
            </p:spPr>
            <p:txBody>
              <a:bodyPr anchor="t" lIns="0" tIns="0" rIns="0" bIns="0">
                <a:noAutofit/>
              </a:bodyPr>
              <a:lstStyle/>
              <a:p>
                <a:pPr>
                  <a:lnSpc>
                    <a:spcPct val="120000"/>
                  </a:lnSpc>
                </a:pPr>
                <a:r>
                  <a:rPr lang="en-US" sz="1200" dirty="0">
                    <a:effectLst/>
                  </a:rPr>
                  <a:t>grafting percentages are illustrated in Fig. 5A (black line). It is seen that the value of water contact angle on the unmodified PP sheet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p"/>
                              </m:rPr>
                              <a:rPr lang="en-US" sz="1200" dirty="0">
                                <a:solidFill>
                                  <a:srgbClr val="000000"/>
                                </a:solidFill>
                                <a:effectLst/>
                              </a:rPr>
                              <m:t>101.7</m:t>
                            </m:r>
                          </m:e>
                          <m:sup>
                            <m:r>
                              <m:rPr>
                                <m:sty m:val="p"/>
                              </m:rPr>
                              <a:rPr lang="en-US" sz="1200" dirty="0">
                                <a:solidFill>
                                  <a:srgbClr val="000000"/>
                                </a:solidFill>
                                <a:effectLst/>
                              </a:rPr>
                              <m:t>∘</m:t>
                            </m:r>
                          </m:sup>
                        </m:sSup>
                      </m:e>
                    </m:d>
                  </m:oMath>
                </a14:m>
                <a:r>
                  <a:rPr lang="en-US" sz="1200" dirty="0">
                    <a:effectLst/>
                  </a:rPr>
                  <a:t> is the largest value compared to all values of the grafted PP sheets (88.2-97.7°). Besides, it is observed that the contact angle values tend to decrease with increasing the grafting percentage of AA onto the PP surfaces. The lowest value of contact angle (88.2°) is exhibited by the PP-</a:t>
                </a:r>
                <a:r>
                  <a:rPr lang="en-US" sz="1200" dirty="0">
                    <a:effectLst/>
                  </a:rPr>
                  <a:t>​</a:t>
                </a:r>
                <a14:m>
                  <m:oMath>
                    <m:r>
                      <m:rPr>
                        <m:sty m:val="i"/>
                      </m:rPr>
                      <a:rPr lang="en-US" sz="1200" dirty="0">
                        <a:solidFill>
                          <a:srgbClr val="000000"/>
                        </a:solidFill>
                        <a:effectLst/>
                      </a:rPr>
                      <m:t>g</m:t>
                    </m:r>
                  </m:oMath>
                </a14:m>
                <a:r>
                  <a:rPr lang="en-US" sz="1200" dirty="0">
                    <a:effectLst/>
                  </a:rPr>
                  <a:t>-P(ST-co-AA)25 sample containing the AA grafting percentage of </a:t>
                </a:r>
                <a:r>
                  <a:rPr lang="en-US" sz="1200" dirty="0">
                    <a:effectLst/>
                  </a:rPr>
                  <a:t>​</a:t>
                </a:r>
                <a14:m>
                  <m:oMath>
                    <m:r>
                      <m:rPr>
                        <m:sty m:val="p"/>
                      </m:rPr>
                      <a:rPr lang="en-US" sz="1200" dirty="0">
                        <a:solidFill>
                          <a:srgbClr val="000000"/>
                        </a:solidFill>
                        <a:effectLst/>
                      </a:rPr>
                      <m:t>25.91</m:t>
                    </m:r>
                    <m:r>
                      <m:rPr>
                        <m:sty m:val="p"/>
                      </m:rPr>
                      <a:rPr lang="en-US" sz="1200" dirty="0">
                        <a:solidFill>
                          <a:srgbClr val="000000"/>
                        </a:solidFill>
                        <a:effectLst/>
                      </a:rPr>
                      <m:t>%</m:t>
                    </m:r>
                  </m:oMath>
                </a14:m>
                <a:r>
                  <a:rPr lang="en-US" sz="1200" dirty="0">
                    <a:effectLst/>
                  </a:rPr>
                  <a:t>. This result indicates that surfaces of the grafted PP sheets have more significant polarity compared to the unmodified PP sheet due to the presence of more carboxylate groups of PAA on their surfaces. Similar behavior was also observed in the PAA grafted on the PP surface films by a radical photo-grafting polymerization [16, 38]. For example, Fasce et al. [16] reported that the values of liquid contact angle of the surface of PP- </a:t>
                </a:r>
                <a:r>
                  <a:rPr lang="en-US" sz="1200" dirty="0">
                    <a:effectLst/>
                  </a:rPr>
                  <a:t>​</a:t>
                </a:r>
                <a14:m>
                  <m:oMath>
                    <m:r>
                      <m:rPr>
                        <m:sty m:val="i"/>
                      </m:rPr>
                      <a:rPr lang="en-US" sz="1200" dirty="0">
                        <a:solidFill>
                          <a:srgbClr val="000000"/>
                        </a:solidFill>
                        <a:effectLst/>
                      </a:rPr>
                      <m:t>g</m:t>
                    </m:r>
                  </m:oMath>
                </a14:m>
                <a:r>
                  <a:rPr lang="en-US" sz="1200" dirty="0">
                    <a:effectLst/>
                  </a:rPr>
                  <a:t>-PAA were decreased from 79.7 ± 1.1° (the unmodified PP) to 18.6±3.5° (the grafted PP). Li et al. [38] also studied the adaptation and kinetics of random copolymerization composed of ST and AA monomers and reported that the receding contact angle was decreased with increasing the AA content. In conclusion, the growth of polar components could mainly contribute to the improved affinity of the grafting surfaces, directly resulting in the decrease of contact angle values and the increase of grafting percentages of AA onto the PP surfaces.</a:t>
                </a:r>
              </a:p>
            </p:txBody>
          </p:sp>
        </mc:Choice>
        <mc:Fallback/>
      </mc:AlternateContent>
      <p:sp>
        <p:nvSpPr>
          <p:cNvPr id="2" name="Text"/>
          <p:cNvSpPr/>
          <p:nvPr/>
        </p:nvSpPr>
        <p:spPr>
          <a:xfrm>
            <a:off x="1524000" y="3810000"/>
            <a:ext cx="9144000" cy="342900"/>
          </a:xfrm>
          <a:prstGeom prst="rect">
            <a:avLst/>
          </a:prstGeom>
        </p:spPr>
        <p:txBody>
          <a:bodyPr anchor="t" lIns="0" tIns="0" rIns="0" bIns="0">
            <a:noAutofit/>
          </a:bodyPr>
          <a:lstStyle/>
          <a:p>
            <a:pPr>
              <a:lnSpc>
                <a:spcPct val="120000"/>
              </a:lnSpc>
            </a:pPr>
            <a:r>
              <a:rPr lang="en-US" sz="1800" dirty="0" b="1">
                <a:effectLst/>
              </a:rPr>
              <a:t>Ion exchange capacity (IEC) of the unmodified PP and grafted PP sheets</a:t>
            </a:r>
          </a:p>
        </p:txBody>
      </p:sp>
      <mc:AlternateContent xmlns:mc="http://schemas.openxmlformats.org/markup-compatibility/2006">
        <mc:Choice xmlns:a14="http://schemas.microsoft.com/office/drawing/2010/main" Requires="a14">
          <p:sp>
            <p:nvSpPr>
              <p:cNvPr id="2" name="Text"/>
              <p:cNvSpPr/>
              <p:nvPr/>
            </p:nvSpPr>
            <p:spPr>
              <a:xfrm>
                <a:off x="1524000" y="4342639"/>
                <a:ext cx="9144000" cy="1143000"/>
              </a:xfrm>
              <a:prstGeom prst="rect">
                <a:avLst/>
              </a:prstGeom>
            </p:spPr>
            <p:txBody>
              <a:bodyPr anchor="t" lIns="0" tIns="0" rIns="0" bIns="0">
                <a:noAutofit/>
              </a:bodyPr>
              <a:lstStyle/>
              <a:p>
                <a:pPr>
                  <a:lnSpc>
                    <a:spcPct val="120000"/>
                  </a:lnSpc>
                </a:pPr>
                <a:r>
                  <a:rPr lang="en-US" sz="1200" dirty="0">
                    <a:effectLst/>
                  </a:rPr>
                  <a:t>Fundamentally, ion exchange capacity (IEC) informs us about the ion exchangeable groups presenting in a polymer matrix. The ICE values are accountable for the conduction of protons and therefore it is an indirect and reliable estimation of the proton conductivity [22, 23, 39]. The IEC values of all the grafted PP sheets are plotted in Fig. 5A (red line). It is seen that the IEC values of the grafted PP samples tend to increase with increasing the grafting percentages as shown in Fig. 5B. The IEC values of the PP-</a:t>
                </a:r>
                <a:r>
                  <a:rPr lang="en-US" sz="1200" dirty="0">
                    <a:effectLst/>
                  </a:rPr>
                  <a:t>​</a:t>
                </a:r>
                <a14:m>
                  <m:oMath>
                    <m:r>
                      <m:rPr>
                        <m:sty m:val="i"/>
                      </m:rPr>
                      <a:rPr lang="en-US" sz="1200" dirty="0">
                        <a:solidFill>
                          <a:srgbClr val="000000"/>
                        </a:solidFill>
                        <a:effectLst/>
                      </a:rPr>
                      <m:t>g</m:t>
                    </m:r>
                  </m:oMath>
                </a14:m>
                <a:r>
                  <a:rPr lang="en-US" sz="1200" dirty="0">
                    <a:effectLst/>
                  </a:rPr>
                  <a:t>-PAA samples are increased from </a:t>
                </a:r>
                <a:r>
                  <a:rPr lang="en-US" sz="1200" dirty="0">
                    <a:effectLst/>
                  </a:rPr>
                  <a:t>​</a:t>
                </a:r>
                <a14:m>
                  <m:oMath>
                    <m:r>
                      <m:rPr>
                        <m:sty m:val="p"/>
                      </m:rPr>
                      <a:rPr lang="en-US" sz="1200" dirty="0">
                        <a:solidFill>
                          <a:srgbClr val="000000"/>
                        </a:solidFill>
                        <a:effectLst/>
                      </a:rPr>
                      <m:t>5.32</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5</m:t>
                        </m:r>
                      </m:sup>
                    </m:sSup>
                  </m:oMath>
                </a14:m>
                <a:r>
                  <a:rPr lang="en-US" sz="1200" dirty="0">
                    <a:effectLst/>
                  </a:rPr>
                  <a:t> to </a:t>
                </a:r>
                <a:r>
                  <a:rPr lang="en-US" sz="1200" dirty="0">
                    <a:effectLst/>
                  </a:rPr>
                  <a:t>​</a:t>
                </a:r>
                <a14:m>
                  <m:oMath>
                    <m:r>
                      <m:rPr>
                        <m:sty m:val="p"/>
                      </m:rPr>
                      <a:rPr lang="en-US" sz="1200" dirty="0">
                        <a:solidFill>
                          <a:srgbClr val="000000"/>
                        </a:solidFill>
                        <a:effectLst/>
                      </a:rPr>
                      <m:t>8.87</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5</m:t>
                        </m:r>
                      </m:sup>
                    </m:sSup>
                    <m:r>
                      <m:rPr>
                        <m:sty m:val="p"/>
                      </m:rPr>
                      <a:rPr lang="en-US" sz="1200" dirty="0">
                        <a:solidFill>
                          <a:srgbClr val="000000"/>
                        </a:solidFill>
                        <a:effectLst/>
                      </a:rPr>
                      <m:t>meq</m:t>
                    </m:r>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when the grafting percentages are increased from 2.28% to 4.77%, respectively.</a:t>
                </a:r>
              </a:p>
            </p:txBody>
          </p:sp>
        </mc:Choice>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Similar behavior is also observed in the PP- </a:t>
                </a:r>
                <a:r>
                  <a:rPr lang="en-US" sz="1200" dirty="0">
                    <a:effectLst/>
                  </a:rPr>
                  <a:t>​</a:t>
                </a:r>
                <a14:m>
                  <m:oMath>
                    <m:r>
                      <m:rPr>
                        <m:sty m:val="i"/>
                      </m:rPr>
                      <a:rPr lang="en-US" sz="1200" dirty="0">
                        <a:solidFill>
                          <a:srgbClr val="000000"/>
                        </a:solidFill>
                        <a:effectLst/>
                      </a:rPr>
                      <m:t>g</m:t>
                    </m:r>
                  </m:oMath>
                </a14:m>
                <a:r>
                  <a:rPr lang="en-US" sz="1200" dirty="0">
                    <a:effectLst/>
                  </a:rPr>
                  <a:t>-P(ST-co-AA) sheets. The IEC values of the PP- </a:t>
                </a:r>
                <a:r>
                  <a:rPr lang="en-US" sz="1200" dirty="0">
                    <a:effectLst/>
                  </a:rPr>
                  <a:t>​</a:t>
                </a:r>
                <a14:m>
                  <m:oMath>
                    <m:r>
                      <m:rPr>
                        <m:sty m:val="i"/>
                      </m:rPr>
                      <a:rPr lang="en-US" sz="1200" dirty="0">
                        <a:solidFill>
                          <a:srgbClr val="000000"/>
                        </a:solidFill>
                        <a:effectLst/>
                      </a:rPr>
                      <m:t>g</m:t>
                    </m:r>
                  </m:oMath>
                </a14:m>
                <a:r>
                  <a:rPr lang="en-US" sz="1200" dirty="0">
                    <a:effectLst/>
                  </a:rPr>
                  <a:t>-P(ST-co-AA)4 and PP- </a:t>
                </a:r>
                <a:r>
                  <a:rPr lang="en-US" sz="1200" dirty="0">
                    <a:effectLst/>
                  </a:rPr>
                  <a:t>​</a:t>
                </a:r>
                <a14:m>
                  <m:oMath>
                    <m:r>
                      <m:rPr>
                        <m:sty m:val="i"/>
                      </m:rPr>
                      <a:rPr lang="en-US" sz="1200" dirty="0">
                        <a:solidFill>
                          <a:srgbClr val="000000"/>
                        </a:solidFill>
                        <a:effectLst/>
                      </a:rPr>
                      <m:t>g</m:t>
                    </m:r>
                  </m:oMath>
                </a14:m>
                <a:r>
                  <a:rPr lang="en-US" sz="1200" dirty="0">
                    <a:effectLst/>
                  </a:rPr>
                  <a:t>-P(ST-co-AA)25 samples are found to be </a:t>
                </a:r>
                <a:r>
                  <a:rPr lang="en-US" sz="1200" dirty="0">
                    <a:effectLst/>
                  </a:rPr>
                  <a:t>​</a:t>
                </a:r>
                <a14:m>
                  <m:oMath>
                    <m:r>
                      <m:rPr>
                        <m:sty m:val="p"/>
                      </m:rPr>
                      <a:rPr lang="en-US" sz="1200" dirty="0">
                        <a:solidFill>
                          <a:srgbClr val="000000"/>
                        </a:solidFill>
                        <a:effectLst/>
                      </a:rPr>
                      <m:t>9.4</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5</m:t>
                        </m:r>
                      </m:sup>
                    </m:sSup>
                  </m:oMath>
                </a14:m>
                <a:r>
                  <a:rPr lang="en-US" sz="1200" dirty="0">
                    <a:effectLst/>
                  </a:rPr>
                  <a:t> and </a:t>
                </a:r>
                <a:r>
                  <a:rPr lang="en-US" sz="1200" dirty="0">
                    <a:effectLst/>
                  </a:rPr>
                  <a:t>​</a:t>
                </a:r>
                <a14:m>
                  <m:oMath>
                    <m:r>
                      <m:rPr>
                        <m:sty m:val="p"/>
                      </m:rPr>
                      <a:rPr lang="en-US" sz="1200" dirty="0">
                        <a:solidFill>
                          <a:srgbClr val="000000"/>
                        </a:solidFill>
                        <a:effectLst/>
                      </a:rPr>
                      <m:t>43.1</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10</m:t>
                        </m:r>
                      </m:e>
                      <m:sup>
                        <m:r>
                          <m:rPr>
                            <m:sty m:val="p"/>
                          </m:rPr>
                          <a:rPr lang="en-US" sz="1200" dirty="0">
                            <a:solidFill>
                              <a:srgbClr val="000000"/>
                            </a:solidFill>
                            <a:effectLst/>
                          </a:rPr>
                          <m:t>−</m:t>
                        </m:r>
                        <m:r>
                          <m:rPr>
                            <m:sty m:val="p"/>
                          </m:rPr>
                          <a:rPr lang="en-US" sz="1200" dirty="0">
                            <a:solidFill>
                              <a:srgbClr val="000000"/>
                            </a:solidFill>
                            <a:effectLst/>
                          </a:rPr>
                          <m:t>5</m:t>
                        </m:r>
                      </m:sup>
                    </m:sSup>
                  </m:oMath>
                </a14:m>
                <a:r>
                  <a:rPr lang="en-US" sz="1200" dirty="0">
                    <a:effectLst/>
                  </a:rPr>
                  <a:t> meq </a:t>
                </a:r>
                <a:r>
                  <a:rPr lang="en-US" sz="1200" dirty="0">
                    <a:effectLst/>
                  </a:rPr>
                  <a:t>​</a:t>
                </a:r>
                <a14:m>
                  <m:oMath>
                    <m:r>
                      <m:rPr>
                        <m:sty m:val="p"/>
                      </m:rPr>
                      <a:rPr lang="en-US" sz="1200" dirty="0">
                        <a:solidFill>
                          <a:srgbClr val="000000"/>
                        </a:solidFill>
                        <a:effectLst/>
                      </a:rPr>
                      <m:t>/</m:t>
                    </m:r>
                    <m:r>
                      <m:rPr>
                        <m:sty m:val="p"/>
                      </m:rPr>
                      <a:rPr lang="en-US" sz="1200" dirty="0">
                        <a:solidFill>
                          <a:srgbClr val="000000"/>
                        </a:solidFill>
                        <a:effectLst/>
                      </a:rPr>
                      <m:t>g</m:t>
                    </m:r>
                  </m:oMath>
                </a14:m>
                <a:r>
                  <a:rPr lang="en-US" sz="1200" dirty="0">
                    <a:effectLst/>
                  </a:rPr>
                  <a:t>, respectively. The increment of ICE values is in good agreement with the amount of oxygen atoms in the grafted PP sheets (see Fig. 4 (right column) and Fig. 5B), especially in the PP- </a:t>
                </a:r>
                <a:r>
                  <a:rPr lang="en-US" sz="1200" dirty="0">
                    <a:effectLst/>
                  </a:rPr>
                  <a:t>​</a:t>
                </a:r>
                <a14:m>
                  <m:oMath>
                    <m:r>
                      <m:rPr>
                        <m:sty m:val="i"/>
                      </m:rPr>
                      <a:rPr lang="en-US" sz="1200" dirty="0">
                        <a:solidFill>
                          <a:srgbClr val="000000"/>
                        </a:solidFill>
                        <a:effectLst/>
                      </a:rPr>
                      <m:t>g</m:t>
                    </m:r>
                  </m:oMath>
                </a14:m>
                <a:r>
                  <a:rPr lang="en-US" sz="1200" dirty="0">
                    <a:effectLst/>
                  </a:rPr>
                  <a:t>-P(ST-co-AA)25 sample. Hence, the relation between grafting percentage values, ICE values, and O contents of all the grafted PP sheets is plotted as shown in Fig. 5B. As expectedly, it is found that the increase in oxygen (O) contents results in the similar behavior of both the grafting percentages of AA onto the PP surfaces and the ICE values of the grafted PP specimen. In other words, the grafting percentages and the ICE values are correlated very well with increasing O contents on the grafted PP sheets, confirming the successful grafting reaction of AA monomers onto the PP surfaces.</a:t>
                </a:r>
              </a:p>
            </p:txBody>
          </p:sp>
        </mc:Choice>
        <mc:Fallback/>
      </mc:AlternateContent>
      <p:sp>
        <p:nvSpPr>
          <p:cNvPr id="2" name="Text"/>
          <p:cNvSpPr/>
          <p:nvPr/>
        </p:nvSpPr>
        <p:spPr>
          <a:xfrm>
            <a:off x="1524000" y="2438400"/>
            <a:ext cx="9144000" cy="342900"/>
          </a:xfrm>
          <a:prstGeom prst="rect">
            <a:avLst/>
          </a:prstGeom>
        </p:spPr>
        <p:txBody>
          <a:bodyPr anchor="t" lIns="0" tIns="0" rIns="0" bIns="0">
            <a:noAutofit/>
          </a:bodyPr>
          <a:lstStyle/>
          <a:p>
            <a:pPr>
              <a:lnSpc>
                <a:spcPct val="120000"/>
              </a:lnSpc>
            </a:pPr>
            <a:r>
              <a:rPr lang="en-US" sz="1800" dirty="0" b="1">
                <a:effectLst/>
              </a:rPr>
              <a:t>Mechanical properties of the unmodified PP and grafted PP sheets</a:t>
            </a:r>
          </a:p>
        </p:txBody>
      </p:sp>
      <mc:AlternateContent xmlns:mc="http://schemas.openxmlformats.org/markup-compatibility/2006">
        <mc:Choice xmlns:a14="http://schemas.microsoft.com/office/drawing/2010/main" Requires="a14">
          <p:sp>
            <p:nvSpPr>
              <p:cNvPr id="2" name="Text"/>
              <p:cNvSpPr/>
              <p:nvPr/>
            </p:nvSpPr>
            <p:spPr>
              <a:xfrm>
                <a:off x="1524000" y="2971039"/>
                <a:ext cx="9144000" cy="2514600"/>
              </a:xfrm>
              <a:prstGeom prst="rect">
                <a:avLst/>
              </a:prstGeom>
            </p:spPr>
            <p:txBody>
              <a:bodyPr anchor="t" lIns="0" tIns="0" rIns="0" bIns="0">
                <a:noAutofit/>
              </a:bodyPr>
              <a:lstStyle/>
              <a:p>
                <a:pPr>
                  <a:lnSpc>
                    <a:spcPct val="120000"/>
                  </a:lnSpc>
                </a:pPr>
                <a:r>
                  <a:rPr lang="en-US" sz="1200" dirty="0">
                    <a:effectLst/>
                  </a:rPr>
                  <a:t>In general, the surface modification of PP sheets via grafting copolymerization may also cause some degradations of the polymer chains. Hence, the attention needs to be taken to ensure that the mechanical properties of the PP- </a:t>
                </a:r>
                <a:r>
                  <a:rPr lang="en-US" sz="1200" dirty="0">
                    <a:effectLst/>
                  </a:rPr>
                  <a:t>​</a:t>
                </a:r>
                <a14:m>
                  <m:oMath>
                    <m:r>
                      <m:rPr>
                        <m:sty m:val="i"/>
                      </m:rPr>
                      <a:rPr lang="en-US" sz="1200" dirty="0">
                        <a:solidFill>
                          <a:srgbClr val="000000"/>
                        </a:solidFill>
                        <a:effectLst/>
                      </a:rPr>
                      <m:t>g</m:t>
                    </m:r>
                  </m:oMath>
                </a14:m>
                <a:r>
                  <a:rPr lang="en-US" sz="1200" dirty="0">
                    <a:effectLst/>
                  </a:rPr>
                  <a:t>-PAA and PP- </a:t>
                </a:r>
                <a:r>
                  <a:rPr lang="en-US" sz="1200" dirty="0">
                    <a:effectLst/>
                  </a:rPr>
                  <a:t>​</a:t>
                </a:r>
                <a14:m>
                  <m:oMath>
                    <m:r>
                      <m:rPr>
                        <m:sty m:val="i"/>
                      </m:rPr>
                      <a:rPr lang="en-US" sz="1200" dirty="0">
                        <a:solidFill>
                          <a:srgbClr val="000000"/>
                        </a:solidFill>
                        <a:effectLst/>
                      </a:rPr>
                      <m:t>g</m:t>
                    </m:r>
                  </m:oMath>
                </a14:m>
                <a:r>
                  <a:rPr lang="en-US" sz="1200" dirty="0">
                    <a:effectLst/>
                  </a:rPr>
                  <a:t>-P(ST-co-AA) samples did not suffer from the treatment. The impact strength and hardness as basic properties of the unmodified PP and grafted PP samples are measured and presented in Fig. 5A (blue line). It is seen that the impact strength of the grafted PP sheets is slightly increased with increasing grafting percentages up to 4% and then slightly decreased. The slight increase in impact strength could be due to the formation of physical crosslinking of the grafted polymer chains and the intermolecular hydrogen bonding interactions between the grafted PAA chains [31]. However, it is found that the grafting copolymerization and the grafting percentages of AA onto the PP surface sheets did not affect significantly on the hardness properties of all PP sheets because the thickness of PAA grafted films attached onto the PP surface is very thin. As a result, the hardness values were determined to be </a:t>
                </a:r>
                <a:r>
                  <a:rPr lang="en-US" sz="1200" dirty="0">
                    <a:effectLst/>
                  </a:rPr>
                  <a:t>​</a:t>
                </a:r>
                <a14:m>
                  <m:oMath>
                    <m:r>
                      <m:rPr>
                        <m:sty m:val="p"/>
                      </m:rPr>
                      <a:rPr lang="en-US" sz="1200" dirty="0">
                        <a:solidFill>
                          <a:srgbClr val="000000"/>
                        </a:solidFill>
                        <a:effectLst/>
                      </a:rPr>
                      <m:t>69.9</m:t>
                    </m:r>
                    <m:r>
                      <m:rPr>
                        <m:sty m:val="p"/>
                      </m:rPr>
                      <a:rPr lang="en-US" sz="1200" dirty="0">
                        <a:solidFill>
                          <a:srgbClr val="000000"/>
                        </a:solidFill>
                        <a:effectLst/>
                      </a:rPr>
                      <m:t>±</m:t>
                    </m:r>
                    <m:r>
                      <m:rPr>
                        <m:sty m:val="p"/>
                      </m:rPr>
                      <a:rPr lang="en-US" sz="1200" dirty="0">
                        <a:solidFill>
                          <a:srgbClr val="000000"/>
                        </a:solidFill>
                        <a:effectLst/>
                      </a:rPr>
                      <m:t>0.4</m:t>
                    </m:r>
                    <m:r>
                      <m:rPr>
                        <m:sty m:val="p"/>
                      </m:rPr>
                      <a:rPr lang="en-US" sz="1200" dirty="0">
                        <a:solidFill>
                          <a:srgbClr val="000000"/>
                        </a:solidFill>
                        <a:effectLst/>
                      </a:rPr>
                      <m:t>,</m:t>
                    </m:r>
                    <m:r>
                      <m:rPr>
                        <m:sty m:val="p"/>
                      </m:rPr>
                      <a:rPr lang="en-US" sz="1200" dirty="0">
                        <a:solidFill>
                          <a:srgbClr val="000000"/>
                        </a:solidFill>
                        <a:effectLst/>
                      </a:rPr>
                      <m:t>71.3</m:t>
                    </m:r>
                    <m:r>
                      <m:rPr>
                        <m:sty m:val="p"/>
                      </m:rPr>
                      <a:rPr lang="en-US" sz="1200" dirty="0">
                        <a:solidFill>
                          <a:srgbClr val="000000"/>
                        </a:solidFill>
                        <a:effectLst/>
                      </a:rPr>
                      <m:t>±</m:t>
                    </m:r>
                    <m:r>
                      <m:rPr>
                        <m:sty m:val="p"/>
                      </m:rPr>
                      <a:rPr lang="en-US" sz="1200" dirty="0">
                        <a:solidFill>
                          <a:srgbClr val="000000"/>
                        </a:solidFill>
                        <a:effectLst/>
                      </a:rPr>
                      <m:t>0.3</m:t>
                    </m:r>
                    <m:r>
                      <m:rPr>
                        <m:sty m:val="p"/>
                      </m:rPr>
                      <a:rPr lang="en-US" sz="1200" dirty="0">
                        <a:solidFill>
                          <a:srgbClr val="000000"/>
                        </a:solidFill>
                        <a:effectLst/>
                      </a:rPr>
                      <m:t>,</m:t>
                    </m:r>
                    <m:r>
                      <m:rPr>
                        <m:sty m:val="p"/>
                      </m:rPr>
                      <a:rPr lang="en-US" sz="1200" dirty="0">
                        <a:solidFill>
                          <a:srgbClr val="000000"/>
                        </a:solidFill>
                        <a:effectLst/>
                      </a:rPr>
                      <m:t>70.1</m:t>
                    </m:r>
                    <m:r>
                      <m:rPr>
                        <m:sty m:val="p"/>
                      </m:rPr>
                      <a:rPr lang="en-US" sz="1200" dirty="0">
                        <a:solidFill>
                          <a:srgbClr val="000000"/>
                        </a:solidFill>
                        <a:effectLst/>
                      </a:rPr>
                      <m:t>±</m:t>
                    </m:r>
                    <m:r>
                      <m:rPr>
                        <m:sty m:val="p"/>
                      </m:rPr>
                      <a:rPr lang="en-US" sz="1200" dirty="0">
                        <a:solidFill>
                          <a:srgbClr val="000000"/>
                        </a:solidFill>
                        <a:effectLst/>
                      </a:rPr>
                      <m:t>0.1</m:t>
                    </m:r>
                    <m:r>
                      <m:rPr>
                        <m:sty m:val="p"/>
                      </m:rPr>
                      <a:rPr lang="en-US" sz="1200" dirty="0">
                        <a:solidFill>
                          <a:srgbClr val="000000"/>
                        </a:solidFill>
                        <a:effectLst/>
                      </a:rPr>
                      <m:t>,</m:t>
                    </m:r>
                    <m:r>
                      <m:rPr>
                        <m:sty m:val="p"/>
                      </m:rPr>
                      <a:rPr lang="en-US" sz="1200" dirty="0">
                        <a:solidFill>
                          <a:srgbClr val="000000"/>
                        </a:solidFill>
                        <a:effectLst/>
                      </a:rPr>
                      <m:t>70.6</m:t>
                    </m:r>
                    <m:r>
                      <m:rPr>
                        <m:sty m:val="p"/>
                      </m:rPr>
                      <a:rPr lang="en-US" sz="1200" dirty="0">
                        <a:solidFill>
                          <a:srgbClr val="000000"/>
                        </a:solidFill>
                        <a:effectLst/>
                      </a:rPr>
                      <m:t>±</m:t>
                    </m:r>
                    <m:r>
                      <m:rPr>
                        <m:sty m:val="p"/>
                      </m:rPr>
                      <a:rPr lang="en-US" sz="1200" dirty="0">
                        <a:solidFill>
                          <a:srgbClr val="000000"/>
                        </a:solidFill>
                        <a:effectLst/>
                      </a:rPr>
                      <m:t>0.4</m:t>
                    </m:r>
                  </m:oMath>
                </a14:m>
                <a:r>
                  <a:rPr lang="en-US" sz="1200" dirty="0">
                    <a:effectLst/>
                  </a:rPr>
                  <a:t> and </a:t>
                </a:r>
                <a:r>
                  <a:rPr lang="en-US" sz="1200" dirty="0">
                    <a:effectLst/>
                  </a:rPr>
                  <a:t>​</a:t>
                </a:r>
                <a14:m>
                  <m:oMath>
                    <m:r>
                      <m:rPr>
                        <m:sty m:val="p"/>
                      </m:rPr>
                      <a:rPr lang="en-US" sz="1200" dirty="0">
                        <a:solidFill>
                          <a:srgbClr val="000000"/>
                        </a:solidFill>
                        <a:effectLst/>
                      </a:rPr>
                      <m:t>67.9</m:t>
                    </m:r>
                    <m:r>
                      <m:rPr>
                        <m:sty m:val="p"/>
                      </m:rPr>
                      <a:rPr lang="en-US" sz="1200" dirty="0">
                        <a:solidFill>
                          <a:srgbClr val="000000"/>
                        </a:solidFill>
                        <a:effectLst/>
                      </a:rPr>
                      <m:t>±</m:t>
                    </m:r>
                    <m:r>
                      <m:rPr>
                        <m:sty m:val="p"/>
                      </m:rPr>
                      <a:rPr lang="en-US" sz="1200" dirty="0">
                        <a:solidFill>
                          <a:srgbClr val="000000"/>
                        </a:solidFill>
                        <a:effectLst/>
                      </a:rPr>
                      <m:t>1.8</m:t>
                    </m:r>
                  </m:oMath>
                </a14:m>
                <a:r>
                  <a:rPr lang="en-US" sz="1200" dirty="0">
                    <a:effectLst/>
                  </a:rPr>
                  <a:t> Shore D for the unmodified PP, PP- </a:t>
                </a:r>
                <a:r>
                  <a:rPr lang="en-US" sz="1200" dirty="0">
                    <a:effectLst/>
                  </a:rPr>
                  <a:t>​</a:t>
                </a:r>
                <a14:m>
                  <m:oMath>
                    <m:r>
                      <m:rPr>
                        <m:sty m:val="i"/>
                      </m:rPr>
                      <a:rPr lang="en-US" sz="1200" dirty="0">
                        <a:solidFill>
                          <a:srgbClr val="000000"/>
                        </a:solidFill>
                        <a:effectLst/>
                      </a:rPr>
                      <m:t>g</m:t>
                    </m:r>
                  </m:oMath>
                </a14:m>
                <a:r>
                  <a:rPr lang="en-US" sz="1200" dirty="0">
                    <a:effectLst/>
                  </a:rPr>
                  <a:t>-PAA2, PP- </a:t>
                </a:r>
                <a:r>
                  <a:rPr lang="en-US" sz="1200" dirty="0">
                    <a:effectLst/>
                  </a:rPr>
                  <a:t>​</a:t>
                </a:r>
                <a14:m>
                  <m:oMath>
                    <m:r>
                      <m:rPr>
                        <m:sty m:val="i"/>
                      </m:rPr>
                      <a:rPr lang="en-US" sz="1200" dirty="0">
                        <a:solidFill>
                          <a:srgbClr val="000000"/>
                        </a:solidFill>
                        <a:effectLst/>
                      </a:rPr>
                      <m:t>g</m:t>
                    </m:r>
                  </m:oMath>
                </a14:m>
                <a:r>
                  <a:rPr lang="en-US" sz="1200" dirty="0">
                    <a:effectLst/>
                  </a:rPr>
                  <a:t>-PAA4, PP- </a:t>
                </a:r>
                <a:r>
                  <a:rPr lang="en-US" sz="1200" dirty="0">
                    <a:effectLst/>
                  </a:rPr>
                  <a:t>​</a:t>
                </a:r>
                <a14:m>
                  <m:oMath>
                    <m:r>
                      <m:rPr>
                        <m:sty m:val="i"/>
                      </m:rPr>
                      <a:rPr lang="en-US" sz="1200" dirty="0">
                        <a:solidFill>
                          <a:srgbClr val="000000"/>
                        </a:solidFill>
                        <a:effectLst/>
                      </a:rPr>
                      <m:t>g</m:t>
                    </m:r>
                  </m:oMath>
                </a14:m>
                <a:r>
                  <a:rPr lang="en-US" sz="1200" dirty="0">
                    <a:effectLst/>
                  </a:rPr>
                  <a:t>-P(ST-co-AA)4, and PP- </a:t>
                </a:r>
                <a:r>
                  <a:rPr lang="en-US" sz="1200" dirty="0">
                    <a:effectLst/>
                  </a:rPr>
                  <a:t>​</a:t>
                </a:r>
                <a14:m>
                  <m:oMath>
                    <m:r>
                      <m:rPr>
                        <m:sty m:val="i"/>
                      </m:rPr>
                      <a:rPr lang="en-US" sz="1200" dirty="0">
                        <a:solidFill>
                          <a:srgbClr val="000000"/>
                        </a:solidFill>
                        <a:effectLst/>
                      </a:rPr>
                      <m:t>g</m:t>
                    </m:r>
                  </m:oMath>
                </a14:m>
                <a:r>
                  <a:rPr lang="en-US" sz="1200" dirty="0">
                    <a:effectLst/>
                  </a:rPr>
                  <a:t>-P(ST-co-AA)25 sample, respectively.</a:t>
                </a:r>
              </a:p>
            </p:txBody>
          </p:sp>
        </mc:Choice>
        <mc:Fallback/>
      </mc:AlternateContent>
      <p:sp>
        <p:nvSpPr>
          <p:cNvPr id="2" name="Text"/>
          <p:cNvSpPr/>
          <p:nvPr/>
        </p:nvSpPr>
        <p:spPr>
          <a:xfrm>
            <a:off x="1524000" y="5638039"/>
            <a:ext cx="9144000" cy="342900"/>
          </a:xfrm>
          <a:prstGeom prst="rect">
            <a:avLst/>
          </a:prstGeom>
        </p:spPr>
        <p:txBody>
          <a:bodyPr anchor="t" lIns="0" tIns="0" rIns="0" bIns="0">
            <a:noAutofit/>
          </a:bodyPr>
          <a:lstStyle/>
          <a:p>
            <a:pPr>
              <a:lnSpc>
                <a:spcPct val="120000"/>
              </a:lnSpc>
            </a:pPr>
            <a:r>
              <a:rPr lang="en-US" sz="1800" dirty="0" b="1">
                <a:effectLst/>
              </a:rPr>
              <a:t>Evaluation of latex coagulation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685800"/>
              </a:xfrm>
              <a:prstGeom prst="rect">
                <a:avLst/>
              </a:prstGeom>
            </p:spPr>
            <p:txBody>
              <a:bodyPr anchor="t" lIns="0" tIns="0" rIns="0" bIns="0">
                <a:noAutofit/>
              </a:bodyPr>
              <a:lstStyle/>
              <a:p>
                <a:pPr>
                  <a:lnSpc>
                    <a:spcPct val="120000"/>
                  </a:lnSpc>
                </a:pPr>
                <a:r>
                  <a:rPr lang="en-US" sz="1200" dirty="0">
                    <a:effectLst/>
                  </a:rPr>
                  <a:t>To explore the efficiency of the grafted PP sheets as an automatically latex-coagulating materials, the field NRL sample was immersed by the grafted PP sheets for 3 h to investigate the coagulum content (%). The unmodified PP, PP- </a:t>
                </a:r>
                <a:r>
                  <a:rPr lang="en-US" sz="1200" dirty="0">
                    <a:effectLst/>
                  </a:rPr>
                  <a:t>​</a:t>
                </a:r>
                <a14:m>
                  <m:oMath>
                    <m:r>
                      <m:rPr>
                        <m:sty m:val="i"/>
                      </m:rPr>
                      <a:rPr lang="en-US" sz="1200" dirty="0">
                        <a:solidFill>
                          <a:srgbClr val="000000"/>
                        </a:solidFill>
                        <a:effectLst/>
                      </a:rPr>
                      <m:t>g</m:t>
                    </m:r>
                  </m:oMath>
                </a14:m>
                <a:r>
                  <a:rPr lang="en-US" sz="1200" dirty="0">
                    <a:effectLst/>
                  </a:rPr>
                  <a:t>-PAA4 and PP- </a:t>
                </a:r>
                <a:r>
                  <a:rPr lang="en-US" sz="1200" dirty="0">
                    <a:effectLst/>
                  </a:rPr>
                  <a:t>​</a:t>
                </a:r>
                <a14:m>
                  <m:oMath>
                    <m:r>
                      <m:rPr>
                        <m:sty m:val="i"/>
                      </m:rPr>
                      <a:rPr lang="en-US" sz="1200" dirty="0">
                        <a:solidFill>
                          <a:srgbClr val="000000"/>
                        </a:solidFill>
                        <a:effectLst/>
                      </a:rPr>
                      <m:t>g</m:t>
                    </m:r>
                  </m:oMath>
                </a14:m>
                <a:r>
                  <a:rPr lang="en-US" sz="1200" dirty="0">
                    <a:effectLst/>
                  </a:rPr>
                  <a:t>-P(ST-co-AA)25 sheets were used as representative samples. The efficiency of</a:t>
                </a:r>
              </a:p>
            </p:txBody>
          </p:sp>
        </mc:Choice>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6b760fee07bdab2170968a6cf1162ee0537591ab.jpg"/>
          <p:cNvPicPr/>
          <p:nvPr/>
        </p:nvPicPr>
        <p:blipFill>
          <a:blip r:embed="rId2" cstate="print"/>
          <a:srcRect/>
          <a:stretch>
            <a:fillRect/>
          </a:stretch>
        </p:blipFill>
        <p:spPr>
          <a:xfrm>
            <a:off x="1524000" y="457200"/>
            <a:ext cx="7210425" cy="59436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57200"/>
              </a:xfrm>
              <a:prstGeom prst="rect">
                <a:avLst/>
              </a:prstGeom>
            </p:spPr>
            <p:txBody>
              <a:bodyPr anchor="t" lIns="0" tIns="0" rIns="0" bIns="0">
                <a:noAutofit/>
              </a:bodyPr>
              <a:lstStyle/>
              <a:p>
                <a:pPr>
                  <a:lnSpc>
                    <a:spcPct val="120000"/>
                  </a:lnSpc>
                </a:pPr>
                <a:r>
                  <a:rPr lang="en-US" sz="1200" dirty="0">
                    <a:effectLst/>
                  </a:rPr>
                  <a:t>Fig. 6 The coagulum content (%) of the unmodified PP, PP- </a:t>
                </a:r>
                <a:r>
                  <a:rPr lang="en-US" sz="1200" dirty="0">
                    <a:effectLst/>
                  </a:rPr>
                  <a:t>​</a:t>
                </a:r>
                <a14:m>
                  <m:oMath>
                    <m:r>
                      <m:rPr>
                        <m:sty m:val="i"/>
                      </m:rPr>
                      <a:rPr lang="en-US" sz="1200" dirty="0">
                        <a:solidFill>
                          <a:srgbClr val="000000"/>
                        </a:solidFill>
                        <a:effectLst/>
                      </a:rPr>
                      <m:t>g</m:t>
                    </m:r>
                  </m:oMath>
                </a14:m>
                <a:r>
                  <a:rPr lang="en-US" sz="1200" dirty="0">
                    <a:effectLst/>
                  </a:rPr>
                  <a:t>-PAA4, and PP- </a:t>
                </a:r>
                <a:r>
                  <a:rPr lang="en-US" sz="1200" dirty="0">
                    <a:effectLst/>
                  </a:rPr>
                  <a:t>​</a:t>
                </a:r>
                <a14:m>
                  <m:oMath>
                    <m:r>
                      <m:rPr>
                        <m:sty m:val="i"/>
                      </m:rPr>
                      <a:rPr lang="en-US" sz="1200" dirty="0">
                        <a:solidFill>
                          <a:srgbClr val="000000"/>
                        </a:solidFill>
                        <a:effectLst/>
                      </a:rPr>
                      <m:t>g</m:t>
                    </m:r>
                  </m:oMath>
                </a14:m>
                <a:r>
                  <a:rPr lang="en-US" sz="1200" dirty="0">
                    <a:effectLst/>
                  </a:rPr>
                  <a:t>-P(ST-co-AA)25 sheets as a function of immersing time (h) (dashed lines define the rate of NRL coagulum)</a:t>
                </a:r>
              </a:p>
            </p:txBody>
          </p:sp>
        </mc:Choice>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d7162716be4a5dd3af26ea4978a5792fb210eff6.jpg"/>
          <p:cNvPicPr/>
          <p:nvPr/>
        </p:nvPicPr>
        <p:blipFill>
          <a:blip r:embed="rId2" cstate="print"/>
          <a:srcRect/>
          <a:stretch>
            <a:fillRect/>
          </a:stretch>
        </p:blipFill>
        <p:spPr>
          <a:xfrm>
            <a:off x="1524000" y="457200"/>
            <a:ext cx="6143625" cy="59436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 7 Latex coagulation of (A) unmodified PP, (B) PP- </a:t>
                </a:r>
                <a:r>
                  <a:rPr lang="en-US" sz="1200" dirty="0">
                    <a:effectLst/>
                  </a:rPr>
                  <a:t>​</a:t>
                </a:r>
                <a14:m>
                  <m:oMath>
                    <m:r>
                      <m:rPr>
                        <m:sty m:val="i"/>
                      </m:rPr>
                      <a:rPr lang="en-US" sz="1200" dirty="0">
                        <a:solidFill>
                          <a:srgbClr val="000000"/>
                        </a:solidFill>
                        <a:effectLst/>
                      </a:rPr>
                      <m:t>g</m:t>
                    </m:r>
                  </m:oMath>
                </a14:m>
                <a:r>
                  <a:rPr lang="en-US" sz="1200" dirty="0">
                    <a:effectLst/>
                  </a:rPr>
                  <a:t>-PAA4, and (C) PP- </a:t>
                </a:r>
                <a:r>
                  <a:rPr lang="en-US" sz="1200" dirty="0">
                    <a:effectLst/>
                  </a:rPr>
                  <a:t>​</a:t>
                </a:r>
                <a14:m>
                  <m:oMath>
                    <m:r>
                      <m:rPr>
                        <m:sty m:val="i"/>
                      </m:rPr>
                      <a:rPr lang="en-US" sz="1200" dirty="0">
                        <a:solidFill>
                          <a:srgbClr val="000000"/>
                        </a:solidFill>
                        <a:effectLst/>
                      </a:rPr>
                      <m:t>g</m:t>
                    </m:r>
                  </m:oMath>
                </a14:m>
                <a:r>
                  <a:rPr lang="en-US" sz="1200" dirty="0">
                    <a:effectLst/>
                  </a:rPr>
                  <a:t>-P(ST-co-AA)25 sheet at different soaking times (h)</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685800"/>
                <a:ext cx="9144000" cy="2057400"/>
              </a:xfrm>
              <a:prstGeom prst="rect">
                <a:avLst/>
              </a:prstGeom>
            </p:spPr>
            <p:txBody>
              <a:bodyPr anchor="t" lIns="0" tIns="0" rIns="0" bIns="0">
                <a:noAutofit/>
              </a:bodyPr>
              <a:lstStyle/>
              <a:p>
                <a:pPr>
                  <a:lnSpc>
                    <a:spcPct val="120000"/>
                  </a:lnSpc>
                </a:pPr>
                <a:r>
                  <a:rPr lang="en-US" sz="1200" dirty="0">
                    <a:effectLst/>
                  </a:rPr>
                  <a:t>coagulation was reported as the obtained coagulum content (%) which is calculated using Eq. (3). The calculated results are presented in Fig. 6. Evidently, it is seen that the field NRL immersed with the unmodified PP sheet was stable in the latex state (see Fig. 7). Interestingly, the coagulum contents of the PP- </a:t>
                </a:r>
                <a:r>
                  <a:rPr lang="en-US" sz="1200" dirty="0">
                    <a:effectLst/>
                  </a:rPr>
                  <a:t>​</a:t>
                </a:r>
                <a14:m>
                  <m:oMath>
                    <m:r>
                      <m:rPr>
                        <m:sty m:val="i"/>
                      </m:rPr>
                      <a:rPr lang="en-US" sz="1200" dirty="0">
                        <a:solidFill>
                          <a:srgbClr val="000000"/>
                        </a:solidFill>
                        <a:effectLst/>
                      </a:rPr>
                      <m:t>g</m:t>
                    </m:r>
                  </m:oMath>
                </a14:m>
                <a:r>
                  <a:rPr lang="en-US" sz="1200" dirty="0">
                    <a:effectLst/>
                  </a:rPr>
                  <a:t>-PAA4 and PP-g-P(ST-co-AA)25 sheets at 3 h were significantly higher than that of the unmodified PP sheet. As can be seen from Fig. 6, at the immersion time of 1.0-1.5 h, the rates of coagulum content of the PP- </a:t>
                </a:r>
                <a:r>
                  <a:rPr lang="en-US" sz="1200" dirty="0">
                    <a:effectLst/>
                  </a:rPr>
                  <a:t>​</a:t>
                </a:r>
                <a14:m>
                  <m:oMath>
                    <m:r>
                      <m:rPr>
                        <m:sty m:val="i"/>
                      </m:rPr>
                      <a:rPr lang="en-US" sz="1200" dirty="0">
                        <a:solidFill>
                          <a:srgbClr val="000000"/>
                        </a:solidFill>
                        <a:effectLst/>
                      </a:rPr>
                      <m:t>g</m:t>
                    </m:r>
                  </m:oMath>
                </a14:m>
                <a:r>
                  <a:rPr lang="en-US" sz="1200" dirty="0">
                    <a:effectLst/>
                  </a:rPr>
                  <a:t>-PAA4 and PP- </a:t>
                </a:r>
                <a:r>
                  <a:rPr lang="en-US" sz="1200" dirty="0">
                    <a:effectLst/>
                  </a:rPr>
                  <a:t>​</a:t>
                </a:r>
                <a14:m>
                  <m:oMath>
                    <m:r>
                      <m:rPr>
                        <m:sty m:val="i"/>
                      </m:rPr>
                      <a:rPr lang="en-US" sz="1200" dirty="0">
                        <a:solidFill>
                          <a:srgbClr val="000000"/>
                        </a:solidFill>
                        <a:effectLst/>
                      </a:rPr>
                      <m:t>g</m:t>
                    </m:r>
                  </m:oMath>
                </a14:m>
                <a:r>
                  <a:rPr lang="en-US" sz="1200" dirty="0">
                    <a:effectLst/>
                  </a:rPr>
                  <a:t>-P(ST-co-AA)25 samples are steadily increased with immersion time. However, the coagulum content of the PP-g-P(ST-co-AA)25 sheet is significantly higher than that of the PP- </a:t>
                </a:r>
                <a:r>
                  <a:rPr lang="en-US" sz="1200" dirty="0">
                    <a:effectLst/>
                  </a:rPr>
                  <a:t>​</a:t>
                </a:r>
                <a14:m>
                  <m:oMath>
                    <m:r>
                      <m:rPr>
                        <m:sty m:val="i"/>
                      </m:rPr>
                      <a:rPr lang="en-US" sz="1200" dirty="0">
                        <a:solidFill>
                          <a:srgbClr val="000000"/>
                        </a:solidFill>
                        <a:effectLst/>
                      </a:rPr>
                      <m:t>g</m:t>
                    </m:r>
                  </m:oMath>
                </a14:m>
                <a:r>
                  <a:rPr lang="en-US" sz="1200" dirty="0">
                    <a:effectLst/>
                  </a:rPr>
                  <a:t>-PAA4 sheet. The average coagulation rate of NRL over time was evaluated by dividing the change in coagulum content or concentration by the time interval used. The instantaneous rate (d[coagulum]/dt) of coagulation can thus be obtained from the slope of the plot of coagulation content (%) versus time (t) as presented in Fig. 6. It is obviously seen that the coagulation behavior of the NRL influenced by the grafted PP sheets</a:t>
                </a:r>
              </a:p>
            </p:txBody>
          </p:sp>
        </mc:Choice>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4343400"/>
              </a:xfrm>
              <a:prstGeom prst="rect">
                <a:avLst/>
              </a:prstGeom>
            </p:spPr>
            <p:txBody>
              <a:bodyPr anchor="t" lIns="0" tIns="0" rIns="0" bIns="0">
                <a:noAutofit/>
              </a:bodyPr>
              <a:lstStyle/>
              <a:p>
                <a:pPr>
                  <a:lnSpc>
                    <a:spcPct val="120000"/>
                  </a:lnSpc>
                </a:pPr>
                <a:r>
                  <a:rPr lang="en-US" sz="1200" dirty="0">
                    <a:effectLst/>
                  </a:rPr>
                  <a:t> contains three stages; initial (0-1.5 h), growth (1.5-2.5 h), and equilibrium stages (&gt;2.5 h). The calculated NRL coagulation rates of the unmodified PP, PP- </a:t>
                </a:r>
                <a:r>
                  <a:rPr lang="en-US" sz="1200" dirty="0">
                    <a:effectLst/>
                  </a:rPr>
                  <a:t>​</a:t>
                </a:r>
                <a14:m>
                  <m:oMath>
                    <m:r>
                      <m:rPr>
                        <m:sty m:val="i"/>
                      </m:rPr>
                      <a:rPr lang="en-US" sz="1200" dirty="0">
                        <a:solidFill>
                          <a:srgbClr val="000000"/>
                        </a:solidFill>
                        <a:effectLst/>
                      </a:rPr>
                      <m:t>g</m:t>
                    </m:r>
                  </m:oMath>
                </a14:m>
                <a:r>
                  <a:rPr lang="en-US" sz="1200" dirty="0">
                    <a:effectLst/>
                  </a:rPr>
                  <a:t>-PAA4, and PP- </a:t>
                </a:r>
                <a:r>
                  <a:rPr lang="en-US" sz="1200" dirty="0">
                    <a:effectLst/>
                  </a:rPr>
                  <a:t>​</a:t>
                </a:r>
                <a14:m>
                  <m:oMath>
                    <m:r>
                      <m:rPr>
                        <m:sty m:val="i"/>
                      </m:rPr>
                      <a:rPr lang="en-US" sz="1200" dirty="0">
                        <a:solidFill>
                          <a:srgbClr val="000000"/>
                        </a:solidFill>
                        <a:effectLst/>
                      </a:rPr>
                      <m:t>g</m:t>
                    </m:r>
                  </m:oMath>
                </a14:m>
                <a:r>
                  <a:rPr lang="en-US" sz="1200" dirty="0">
                    <a:effectLst/>
                  </a:rPr>
                  <a:t>-P(ST-co-AA)25 samples, at the initial stage, are found to be 0.58, 4.12, and </a:t>
                </a:r>
                <a:r>
                  <a:rPr lang="en-US" sz="1200" dirty="0">
                    <a:effectLst/>
                  </a:rPr>
                  <a:t>​</a:t>
                </a:r>
                <a14:m>
                  <m:oMath>
                    <m:r>
                      <m:rPr>
                        <m:sty m:val="p"/>
                      </m:rPr>
                      <a:rPr lang="en-US" sz="1200" dirty="0">
                        <a:solidFill>
                          <a:srgbClr val="000000"/>
                        </a:solidFill>
                        <a:effectLst/>
                      </a:rPr>
                      <m:t>15.38</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h</m:t>
                    </m:r>
                  </m:oMath>
                </a14:m>
                <a:r>
                  <a:rPr lang="en-US" sz="1200" dirty="0">
                    <a:effectLst/>
                  </a:rPr>
                  <a:t>, respectively. While at the growth stage, the coagulum contents of the PP- </a:t>
                </a:r>
                <a:r>
                  <a:rPr lang="en-US" sz="1200" dirty="0">
                    <a:effectLst/>
                  </a:rPr>
                  <a:t>​</a:t>
                </a:r>
                <a14:m>
                  <m:oMath>
                    <m:r>
                      <m:rPr>
                        <m:sty m:val="i"/>
                      </m:rPr>
                      <a:rPr lang="en-US" sz="1200" dirty="0">
                        <a:solidFill>
                          <a:srgbClr val="000000"/>
                        </a:solidFill>
                        <a:effectLst/>
                      </a:rPr>
                      <m:t>g</m:t>
                    </m:r>
                  </m:oMath>
                </a14:m>
                <a:r>
                  <a:rPr lang="en-US" sz="1200" dirty="0">
                    <a:effectLst/>
                  </a:rPr>
                  <a:t>-P(ST-co-AA)25 and PP- </a:t>
                </a:r>
                <a:r>
                  <a:rPr lang="en-US" sz="1200" dirty="0">
                    <a:effectLst/>
                  </a:rPr>
                  <a:t>​</a:t>
                </a:r>
                <a14:m>
                  <m:oMath>
                    <m:r>
                      <m:rPr>
                        <m:sty m:val="i"/>
                      </m:rPr>
                      <a:rPr lang="en-US" sz="1200" dirty="0">
                        <a:solidFill>
                          <a:srgbClr val="000000"/>
                        </a:solidFill>
                        <a:effectLst/>
                      </a:rPr>
                      <m:t>g</m:t>
                    </m:r>
                  </m:oMath>
                </a14:m>
                <a:r>
                  <a:rPr lang="en-US" sz="1200" dirty="0">
                    <a:effectLst/>
                  </a:rPr>
                  <a:t>-PAA4 sheets are sharply increased from </a:t>
                </a:r>
                <a:r>
                  <a:rPr lang="en-US" sz="1200" dirty="0">
                    <a:effectLst/>
                  </a:rPr>
                  <a:t>​</a:t>
                </a:r>
                <a14:m>
                  <m:oMath>
                    <m:r>
                      <m:rPr>
                        <m:sty m:val="p"/>
                      </m:rPr>
                      <a:rPr lang="en-US" sz="1200" dirty="0">
                        <a:solidFill>
                          <a:srgbClr val="000000"/>
                        </a:solidFill>
                        <a:effectLst/>
                      </a:rPr>
                      <m:t>24.42</m:t>
                    </m:r>
                    <m:r>
                      <m:rPr>
                        <m:sty m:val="p"/>
                      </m:rPr>
                      <a:rPr lang="en-US" sz="1200" dirty="0">
                        <a:solidFill>
                          <a:srgbClr val="000000"/>
                        </a:solidFill>
                        <a:effectLst/>
                      </a:rPr>
                      <m:t>%</m:t>
                    </m:r>
                  </m:oMath>
                </a14:m>
                <a:r>
                  <a:rPr lang="en-US" sz="1200" dirty="0">
                    <a:effectLst/>
                  </a:rPr>
                  <a:t> to 93.8% and from 6.77% to 48.46%, respectively. The coagulation rates of NRL immersed with the unmodified PP, PP- </a:t>
                </a:r>
                <a:r>
                  <a:rPr lang="en-US" sz="1200" dirty="0">
                    <a:effectLst/>
                  </a:rPr>
                  <a:t>​</a:t>
                </a:r>
                <a14:m>
                  <m:oMath>
                    <m:r>
                      <m:rPr>
                        <m:sty m:val="i"/>
                      </m:rPr>
                      <a:rPr lang="en-US" sz="1200" dirty="0">
                        <a:solidFill>
                          <a:srgbClr val="000000"/>
                        </a:solidFill>
                        <a:effectLst/>
                      </a:rPr>
                      <m:t>g</m:t>
                    </m:r>
                  </m:oMath>
                </a14:m>
                <a:r>
                  <a:rPr lang="en-US" sz="1200" dirty="0">
                    <a:effectLst/>
                  </a:rPr>
                  <a:t>-PAA4, and PP- </a:t>
                </a:r>
                <a:r>
                  <a:rPr lang="en-US" sz="1200" dirty="0">
                    <a:effectLst/>
                  </a:rPr>
                  <a:t>​</a:t>
                </a:r>
                <a14:m>
                  <m:oMath>
                    <m:r>
                      <m:rPr>
                        <m:sty m:val="i"/>
                      </m:rPr>
                      <a:rPr lang="en-US" sz="1200" dirty="0">
                        <a:solidFill>
                          <a:srgbClr val="000000"/>
                        </a:solidFill>
                        <a:effectLst/>
                      </a:rPr>
                      <m:t>g</m:t>
                    </m:r>
                  </m:oMath>
                </a14:m>
                <a:r>
                  <a:rPr lang="en-US" sz="1200" dirty="0">
                    <a:effectLst/>
                  </a:rPr>
                  <a:t>-P(ST-co-AA)25 sheets are about 1.52, 41.69 and 63.48%/h, respectively. The significant increase in the NRL coagulation rate (63.48%/h) caused by the PP- </a:t>
                </a:r>
                <a:r>
                  <a:rPr lang="en-US" sz="1200" dirty="0">
                    <a:effectLst/>
                  </a:rPr>
                  <a:t>​</a:t>
                </a:r>
                <a14:m>
                  <m:oMath>
                    <m:r>
                      <m:rPr>
                        <m:sty m:val="i"/>
                      </m:rPr>
                      <a:rPr lang="en-US" sz="1200" dirty="0">
                        <a:solidFill>
                          <a:srgbClr val="000000"/>
                        </a:solidFill>
                        <a:effectLst/>
                      </a:rPr>
                      <m:t>g</m:t>
                    </m:r>
                  </m:oMath>
                </a14:m>
                <a:r>
                  <a:rPr lang="en-US" sz="1200" dirty="0">
                    <a:effectLst/>
                  </a:rPr>
                  <a:t>-P(ST-co-AA)25 could mainly be due to the incorporation of ST comonomer, facilitating the remarkable grafting percentage of the PAA fractions onto the PP surface sheet. The photographs of coagulation of the NRL immersed with the unmodified PP, PP- </a:t>
                </a:r>
                <a:r>
                  <a:rPr lang="en-US" sz="1200" dirty="0">
                    <a:effectLst/>
                  </a:rPr>
                  <a:t>​</a:t>
                </a:r>
                <a14:m>
                  <m:oMath>
                    <m:r>
                      <m:rPr>
                        <m:sty m:val="i"/>
                      </m:rPr>
                      <a:rPr lang="en-US" sz="1200" dirty="0">
                        <a:solidFill>
                          <a:srgbClr val="000000"/>
                        </a:solidFill>
                        <a:effectLst/>
                      </a:rPr>
                      <m:t>g</m:t>
                    </m:r>
                  </m:oMath>
                </a14:m>
                <a:r>
                  <a:rPr lang="en-US" sz="1200" dirty="0">
                    <a:effectLst/>
                  </a:rPr>
                  <a:t>-PAA4, and PP- </a:t>
                </a:r>
                <a:r>
                  <a:rPr lang="en-US" sz="1200" dirty="0">
                    <a:effectLst/>
                  </a:rPr>
                  <a:t>​</a:t>
                </a:r>
                <a14:m>
                  <m:oMath>
                    <m:r>
                      <m:rPr>
                        <m:sty m:val="i"/>
                      </m:rPr>
                      <a:rPr lang="en-US" sz="1200" dirty="0">
                        <a:solidFill>
                          <a:srgbClr val="000000"/>
                        </a:solidFill>
                        <a:effectLst/>
                      </a:rPr>
                      <m:t>g</m:t>
                    </m:r>
                  </m:oMath>
                </a14:m>
                <a:r>
                  <a:rPr lang="en-US" sz="1200" dirty="0">
                    <a:effectLst/>
                  </a:rPr>
                  <a:t>-P(ST-co-AA)25 sheets are presented in Fig. 7. It is seen that the NRL coagulum was trapped on the surface of PP sheets. The NRL coagulum were firstly trapped by the unmodified PP, PP- </a:t>
                </a:r>
                <a:r>
                  <a:rPr lang="en-US" sz="1200" dirty="0">
                    <a:effectLst/>
                  </a:rPr>
                  <a:t>​</a:t>
                </a:r>
                <a14:m>
                  <m:oMath>
                    <m:r>
                      <m:rPr>
                        <m:sty m:val="i"/>
                      </m:rPr>
                      <a:rPr lang="en-US" sz="1200" dirty="0">
                        <a:solidFill>
                          <a:srgbClr val="000000"/>
                        </a:solidFill>
                        <a:effectLst/>
                      </a:rPr>
                      <m:t>g</m:t>
                    </m:r>
                  </m:oMath>
                </a14:m>
                <a:r>
                  <a:rPr lang="en-US" sz="1200" dirty="0">
                    <a:effectLst/>
                  </a:rPr>
                  <a:t>-PAA4, and PP- </a:t>
                </a:r>
                <a:r>
                  <a:rPr lang="en-US" sz="1200" dirty="0">
                    <a:effectLst/>
                  </a:rPr>
                  <a:t>​</a:t>
                </a:r>
                <a14:m>
                  <m:oMath>
                    <m:r>
                      <m:rPr>
                        <m:sty m:val="i"/>
                      </m:rPr>
                      <a:rPr lang="en-US" sz="1200" dirty="0">
                        <a:solidFill>
                          <a:srgbClr val="000000"/>
                        </a:solidFill>
                        <a:effectLst/>
                      </a:rPr>
                      <m:t>g</m:t>
                    </m:r>
                  </m:oMath>
                </a14:m>
                <a:r>
                  <a:rPr lang="en-US" sz="1200" dirty="0">
                    <a:effectLst/>
                  </a:rPr>
                  <a:t>-P(ST-co-AA)25 sheets at 3, 2, and 1 h, respectively. The coagulum size was increased from the beginning of the first-trapped NRL and continuously improved with increasing the immersion time. This result indicates that the hydrogen ions </a:t>
                </a:r>
                <a:r>
                  <a:rPr lang="en-US" sz="1200" dirty="0">
                    <a:effectLst/>
                  </a:rPr>
                  <a:t>​</a:t>
                </a:r>
                <a14:m>
                  <m:oMath>
                    <m:d>
                      <m:dPr>
                        <m:begChr m:val="("/>
                        <m:endChr m:val=")"/>
                        <m:ctrlPr>
                          <a:rPr sz="1200">
                            <a:latin typeface="Cambria Math" panose="02040503050406030204" pitchFamily="18" charset="0"/>
                          </a:rPr>
                        </m:ctrlPr>
                      </m:dPr>
                      <m:e>
                        <m:sSup>
                          <m:sSupPr>
                            <m:ctrlPr>
                              <a:rPr sz="1200">
                                <a:latin typeface="Cambria Math" panose="02040503050406030204" pitchFamily="18" charset="0"/>
                              </a:rPr>
                            </m:ctrlPr>
                          </m:sSupPr>
                          <m:e>
                            <m:r>
                              <m:rPr>
                                <m:sty m:val="p"/>
                              </m:rPr>
                              <a:rPr lang="en-US" sz="1200" dirty="0">
                                <a:solidFill>
                                  <a:srgbClr val="000000"/>
                                </a:solidFill>
                                <a:effectLst/>
                              </a:rPr>
                              <m:t>H</m:t>
                            </m:r>
                          </m:e>
                          <m:sup>
                            <m:r>
                              <m:rPr>
                                <m:sty m:val="p"/>
                              </m:rPr>
                              <a:rPr lang="en-US" sz="1200" dirty="0">
                                <a:solidFill>
                                  <a:srgbClr val="000000"/>
                                </a:solidFill>
                                <a:effectLst/>
                              </a:rPr>
                              <m:t>+</m:t>
                            </m:r>
                          </m:sup>
                        </m:sSup>
                      </m:e>
                    </m:d>
                  </m:oMath>
                </a14:m>
                <a:r>
                  <a:rPr lang="en-US" sz="1200" dirty="0">
                    <a:effectLst/>
                  </a:rPr>
                  <a:t>located on the grafted PP surfaces could neutralize and coagulate the rubber particles as proposed by the possible mechanism of coagulum process (see Fig. 9). Furthermore, the coagulum contents of PP- </a:t>
                </a:r>
                <a:r>
                  <a:rPr lang="en-US" sz="1200" dirty="0">
                    <a:effectLst/>
                  </a:rPr>
                  <a:t>​</a:t>
                </a:r>
                <a14:m>
                  <m:oMath>
                    <m:r>
                      <m:rPr>
                        <m:sty m:val="i"/>
                      </m:rPr>
                      <a:rPr lang="en-US" sz="1200" dirty="0">
                        <a:solidFill>
                          <a:srgbClr val="000000"/>
                        </a:solidFill>
                        <a:effectLst/>
                      </a:rPr>
                      <m:t>g</m:t>
                    </m:r>
                  </m:oMath>
                </a14:m>
                <a:r>
                  <a:rPr lang="en-US" sz="1200" dirty="0">
                    <a:effectLst/>
                  </a:rPr>
                  <a:t>-P(ST-co-AA)25 sheet are significantly higher than that of the PP- </a:t>
                </a:r>
                <a:r>
                  <a:rPr lang="en-US" sz="1200" dirty="0">
                    <a:effectLst/>
                  </a:rPr>
                  <a:t>​</a:t>
                </a:r>
                <a14:m>
                  <m:oMath>
                    <m:r>
                      <m:rPr>
                        <m:sty m:val="i"/>
                      </m:rPr>
                      <a:rPr lang="en-US" sz="1200" dirty="0">
                        <a:solidFill>
                          <a:srgbClr val="000000"/>
                        </a:solidFill>
                        <a:effectLst/>
                      </a:rPr>
                      <m:t>g</m:t>
                    </m:r>
                  </m:oMath>
                </a14:m>
                <a:r>
                  <a:rPr lang="en-US" sz="1200" dirty="0">
                    <a:effectLst/>
                  </a:rPr>
                  <a:t>-PAA4 and unmodified PP sheets. This is because the positively charged ions generated from the PAA grafted on the PP surface cause the instability and coagulation of the NRL particles. Thus, from this result, it could summarize that the PP surface grafted with positively charged ions or proton donors is a promising candidate to produce an automatically latexcoagulating container. The effect of coagulating cycles on the coagulum content (%) of the PP- </a:t>
                </a:r>
                <a:r>
                  <a:rPr lang="en-US" sz="1200" dirty="0">
                    <a:effectLst/>
                  </a:rPr>
                  <a:t>​</a:t>
                </a:r>
                <a14:m>
                  <m:oMath>
                    <m:r>
                      <m:rPr>
                        <m:sty m:val="i"/>
                      </m:rPr>
                      <a:rPr lang="en-US" sz="1200" dirty="0">
                        <a:solidFill>
                          <a:srgbClr val="000000"/>
                        </a:solidFill>
                        <a:effectLst/>
                      </a:rPr>
                      <m:t>g</m:t>
                    </m:r>
                  </m:oMath>
                </a14:m>
                <a:r>
                  <a:rPr lang="en-US" sz="1200" dirty="0">
                    <a:effectLst/>
                  </a:rPr>
                  <a:t>-P(ST-co-AA)25 sheet was also investigated as shown in Fig. 8. The result demonstrates that the coagulum content of NRL decreases drastically with increasing the coagulating cycle. The coagulum contents in the 1st, 2nd, 3rd, and 4th cycles are found to be </a:t>
                </a:r>
                <a:r>
                  <a:rPr lang="en-US" sz="1200" dirty="0">
                    <a:effectLst/>
                  </a:rPr>
                  <a:t>​</a:t>
                </a:r>
                <a14:m>
                  <m:oMath>
                    <m:r>
                      <m:rPr>
                        <m:sty m:val="p"/>
                      </m:rPr>
                      <a:rPr lang="en-US" sz="1200" dirty="0">
                        <a:solidFill>
                          <a:srgbClr val="000000"/>
                        </a:solidFill>
                        <a:effectLst/>
                      </a:rPr>
                      <m:t>93.8</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45.0</m:t>
                    </m:r>
                    <m:r>
                      <m:rPr>
                        <m:sty m:val="p"/>
                      </m:rPr>
                      <a:rPr lang="en-US" sz="1200" dirty="0">
                        <a:solidFill>
                          <a:srgbClr val="000000"/>
                        </a:solidFill>
                        <a:effectLst/>
                      </a:rPr>
                      <m:t>%</m:t>
                    </m:r>
                    <m:r>
                      <m:rPr>
                        <m:sty m:val="p"/>
                      </m:rPr>
                      <a:rPr lang="en-US" sz="1200" dirty="0">
                        <a:solidFill>
                          <a:srgbClr val="000000"/>
                        </a:solidFill>
                        <a:effectLst/>
                      </a:rPr>
                      <m:t>,</m:t>
                    </m:r>
                    <m:r>
                      <m:rPr>
                        <m:sty m:val="p"/>
                      </m:rPr>
                      <a:rPr lang="en-US" sz="1200" dirty="0">
                        <a:solidFill>
                          <a:srgbClr val="000000"/>
                        </a:solidFill>
                        <a:effectLst/>
                      </a:rPr>
                      <m:t>23.7</m:t>
                    </m:r>
                    <m:r>
                      <m:rPr>
                        <m:sty m:val="p"/>
                      </m:rPr>
                      <a:rPr lang="en-US" sz="1200" dirty="0">
                        <a:solidFill>
                          <a:srgbClr val="000000"/>
                        </a:solidFill>
                        <a:effectLst/>
                      </a:rPr>
                      <m:t>%</m:t>
                    </m:r>
                  </m:oMath>
                </a14:m>
                <a:r>
                  <a:rPr lang="en-US" sz="1200" dirty="0">
                    <a:effectLst/>
                  </a:rPr>
                  <a:t>, and </a:t>
                </a:r>
                <a:r>
                  <a:rPr lang="en-US" sz="1200" dirty="0">
                    <a:effectLst/>
                  </a:rPr>
                  <a:t>​</a:t>
                </a:r>
                <a14:m>
                  <m:oMath>
                    <m:r>
                      <m:rPr>
                        <m:sty m:val="p"/>
                      </m:rPr>
                      <a:rPr lang="en-US" sz="1200" dirty="0">
                        <a:solidFill>
                          <a:srgbClr val="000000"/>
                        </a:solidFill>
                        <a:effectLst/>
                      </a:rPr>
                      <m:t>11.4</m:t>
                    </m:r>
                    <m:r>
                      <m:rPr>
                        <m:sty m:val="p"/>
                      </m:rPr>
                      <a:rPr lang="en-US" sz="1200" dirty="0">
                        <a:solidFill>
                          <a:srgbClr val="000000"/>
                        </a:solidFill>
                        <a:effectLst/>
                      </a:rPr>
                      <m:t>%</m:t>
                    </m:r>
                  </m:oMath>
                </a14:m>
                <a:r>
                  <a:rPr lang="en-US" sz="1200" dirty="0">
                    <a:effectLst/>
                  </a:rPr>
                  <a:t>, respectively. The significant</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4953000"/>
                <a:ext cx="9144000" cy="228600"/>
              </a:xfrm>
              <a:prstGeom prst="rect">
                <a:avLst/>
              </a:prstGeom>
            </p:spPr>
            <p:txBody>
              <a:bodyPr anchor="t" lIns="0" tIns="0" rIns="0" bIns="0">
                <a:noAutofit/>
              </a:bodyPr>
              <a:lstStyle/>
              <a:p>
                <a:pPr>
                  <a:lnSpc>
                    <a:spcPct val="120000"/>
                  </a:lnSpc>
                </a:pPr>
                <a:r>
                  <a:rPr lang="en-US" sz="1200" dirty="0">
                    <a:effectLst/>
                  </a:rPr>
                  <a:t>Fig. 8 The effect of coagulating cycles on the coagulum content (%) of PP- </a:t>
                </a:r>
                <a:r>
                  <a:rPr lang="en-US" sz="1200" dirty="0">
                    <a:effectLst/>
                  </a:rPr>
                  <a:t>​</a:t>
                </a:r>
                <a14:m>
                  <m:oMath>
                    <m:r>
                      <m:rPr>
                        <m:sty m:val="i"/>
                      </m:rPr>
                      <a:rPr lang="en-US" sz="1200" dirty="0">
                        <a:solidFill>
                          <a:srgbClr val="000000"/>
                        </a:solidFill>
                        <a:effectLst/>
                      </a:rPr>
                      <m:t>g</m:t>
                    </m:r>
                  </m:oMath>
                </a14:m>
                <a:r>
                  <a:rPr lang="en-US" sz="1200" dirty="0">
                    <a:effectLst/>
                  </a:rPr>
                  <a:t>-P(ST-co-AA)25 sample at 3 h</a:t>
                </a:r>
              </a:p>
            </p:txBody>
          </p:sp>
        </mc:Choice>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833cce4a85f8e35131746c5dc2369e7b7316a7f3.jpg"/>
          <p:cNvPicPr/>
          <p:nvPr/>
        </p:nvPicPr>
        <p:blipFill>
          <a:blip r:embed="rId2" cstate="print"/>
          <a:srcRect/>
          <a:stretch>
            <a:fillRect/>
          </a:stretch>
        </p:blipFill>
        <p:spPr>
          <a:xfrm>
            <a:off x="1524000" y="457200"/>
            <a:ext cx="6667500" cy="554355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pic>
        <p:nvPicPr>
          <p:cNvPr id="2" name="image-0d598555a295f8f2d8913e9a2741a98842f05aa9.jpg"/>
          <p:cNvPicPr/>
          <p:nvPr/>
        </p:nvPicPr>
        <p:blipFill>
          <a:blip r:embed="rId2" cstate="print"/>
          <a:srcRect/>
          <a:stretch>
            <a:fillRect/>
          </a:stretch>
        </p:blipFill>
        <p:spPr>
          <a:xfrm>
            <a:off x="1524000" y="457200"/>
            <a:ext cx="6248400" cy="59436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
              <p:cNvSpPr/>
              <p:nvPr/>
            </p:nvSpPr>
            <p:spPr>
              <a:xfrm>
                <a:off x="1524000" y="457200"/>
                <a:ext cx="9144000" cy="228600"/>
              </a:xfrm>
              <a:prstGeom prst="rect">
                <a:avLst/>
              </a:prstGeom>
            </p:spPr>
            <p:txBody>
              <a:bodyPr anchor="t" lIns="0" tIns="0" rIns="0" bIns="0">
                <a:noAutofit/>
              </a:bodyPr>
              <a:lstStyle/>
              <a:p>
                <a:pPr>
                  <a:lnSpc>
                    <a:spcPct val="120000"/>
                  </a:lnSpc>
                </a:pPr>
                <a:r>
                  <a:rPr lang="en-US" sz="1200" dirty="0">
                    <a:effectLst/>
                  </a:rPr>
                  <a:t>Fig. 9 Possible graphical mechanism of latex coagulation of the PP- </a:t>
                </a:r>
                <a:r>
                  <a:rPr lang="en-US" sz="1200" dirty="0">
                    <a:effectLst/>
                  </a:rPr>
                  <a:t>​</a:t>
                </a:r>
                <a14:m>
                  <m:oMath>
                    <m:r>
                      <m:rPr>
                        <m:sty m:val="i"/>
                      </m:rPr>
                      <a:rPr lang="en-US" sz="1200" dirty="0">
                        <a:solidFill>
                          <a:srgbClr val="000000"/>
                        </a:solidFill>
                        <a:effectLst/>
                      </a:rPr>
                      <m:t>g</m:t>
                    </m:r>
                  </m:oMath>
                </a14:m>
                <a:r>
                  <a:rPr lang="en-US" sz="1200" dirty="0">
                    <a:effectLst/>
                  </a:rPr>
                  <a:t>-PAA and PP- </a:t>
                </a:r>
                <a:r>
                  <a:rPr lang="en-US" sz="1200" dirty="0">
                    <a:effectLst/>
                  </a:rPr>
                  <a:t>​</a:t>
                </a:r>
                <a14:m>
                  <m:oMath>
                    <m:r>
                      <m:rPr>
                        <m:sty m:val="i"/>
                      </m:rPr>
                      <a:rPr lang="en-US" sz="1200" dirty="0">
                        <a:solidFill>
                          <a:srgbClr val="000000"/>
                        </a:solidFill>
                        <a:effectLst/>
                      </a:rPr>
                      <m:t>g</m:t>
                    </m:r>
                  </m:oMath>
                </a14:m>
                <a:r>
                  <a:rPr lang="en-US" sz="1200" dirty="0">
                    <a:effectLst/>
                  </a:rPr>
                  <a:t>-P(ST-co-AA) sheets</a:t>
                </a:r>
              </a:p>
            </p:txBody>
          </p:sp>
        </mc:Choice>
        <mc:Fallback/>
      </mc:AlternateContent>
      <mc:AlternateContent xmlns:mc="http://schemas.openxmlformats.org/markup-compatibility/2006">
        <mc:Choice xmlns:a14="http://schemas.microsoft.com/office/drawing/2010/main" Requires="a14">
          <p:sp>
            <p:nvSpPr>
              <p:cNvPr id="2" name="Text"/>
              <p:cNvSpPr/>
              <p:nvPr/>
            </p:nvSpPr>
            <p:spPr>
              <a:xfrm>
                <a:off x="1524000" y="685800"/>
                <a:ext cx="9144000" cy="1143000"/>
              </a:xfrm>
              <a:prstGeom prst="rect">
                <a:avLst/>
              </a:prstGeom>
            </p:spPr>
            <p:txBody>
              <a:bodyPr anchor="t" lIns="0" tIns="0" rIns="0" bIns="0">
                <a:noAutofit/>
              </a:bodyPr>
              <a:lstStyle/>
              <a:p>
                <a:pPr>
                  <a:lnSpc>
                    <a:spcPct val="120000"/>
                  </a:lnSpc>
                </a:pPr>
                <a:r>
                  <a:rPr lang="en-US" sz="1200" dirty="0">
                    <a:effectLst/>
                  </a:rPr>
                  <a:t>decrease in coagulum content with increasing the coagulating cycles could result from the reduction of the amount of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H</m:t>
                        </m:r>
                      </m:e>
                      <m:sup>
                        <m:r>
                          <m:rPr>
                            <m:sty m:val="p"/>
                          </m:rPr>
                          <a:rPr lang="en-US" sz="1200" dirty="0">
                            <a:solidFill>
                              <a:srgbClr val="000000"/>
                            </a:solidFill>
                            <a:effectLst/>
                          </a:rPr>
                          <m:t>+</m:t>
                        </m:r>
                      </m:sup>
                    </m:sSup>
                  </m:oMath>
                </a14:m>
                <a:r>
                  <a:rPr lang="en-US" sz="1200" dirty="0">
                    <a:effectLst/>
                  </a:rPr>
                  <a:t>ions which were used each coagulating cycle. Therefore, the PP- </a:t>
                </a:r>
                <a:r>
                  <a:rPr lang="en-US" sz="1200" dirty="0">
                    <a:effectLst/>
                  </a:rPr>
                  <a:t>​</a:t>
                </a:r>
                <a14:m>
                  <m:oMath>
                    <m:r>
                      <m:rPr>
                        <m:sty m:val="i"/>
                      </m:rPr>
                      <a:rPr lang="en-US" sz="1200" dirty="0">
                        <a:solidFill>
                          <a:srgbClr val="000000"/>
                        </a:solidFill>
                        <a:effectLst/>
                      </a:rPr>
                      <m:t>g</m:t>
                    </m:r>
                  </m:oMath>
                </a14:m>
                <a:r>
                  <a:rPr lang="en-US" sz="1200" dirty="0">
                    <a:effectLst/>
                  </a:rPr>
                  <a:t>-P(ST-co-AA) sheet developed in this research could be potentially applied for cup lump production, reducing an inappropriate coagulant used and being environmentally friendly. Furthermore, our result could provide the useful information for the further development of an automatically latex-coagulating PP container to have more coagulating cycles which can be eventually produced as a commercial product in the near future.</a:t>
                </a:r>
              </a:p>
            </p:txBody>
          </p:sp>
        </mc:Choice>
        <mc:Fallback/>
      </mc:AlternateContent>
      <p:sp>
        <p:nvSpPr>
          <p:cNvPr id="2" name="Text"/>
          <p:cNvSpPr/>
          <p:nvPr/>
        </p:nvSpPr>
        <p:spPr>
          <a:xfrm>
            <a:off x="1524000" y="1981200"/>
            <a:ext cx="9144000" cy="342900"/>
          </a:xfrm>
          <a:prstGeom prst="rect">
            <a:avLst/>
          </a:prstGeom>
        </p:spPr>
        <p:txBody>
          <a:bodyPr anchor="t" lIns="0" tIns="0" rIns="0" bIns="0">
            <a:noAutofit/>
          </a:bodyPr>
          <a:lstStyle/>
          <a:p>
            <a:pPr>
              <a:lnSpc>
                <a:spcPct val="120000"/>
              </a:lnSpc>
            </a:pPr>
            <a:r>
              <a:rPr lang="en-US" sz="1800" dirty="0" b="1">
                <a:effectLst/>
              </a:rPr>
              <a:t>Possible mechanism of latex coagulation by the grafted PP sheets</a:t>
            </a:r>
          </a:p>
        </p:txBody>
      </p:sp>
      <mc:AlternateContent xmlns:mc="http://schemas.openxmlformats.org/markup-compatibility/2006">
        <mc:Choice xmlns:a14="http://schemas.microsoft.com/office/drawing/2010/main" Requires="a14">
          <p:sp>
            <p:nvSpPr>
              <p:cNvPr id="2" name="Text"/>
              <p:cNvSpPr/>
              <p:nvPr/>
            </p:nvSpPr>
            <p:spPr>
              <a:xfrm>
                <a:off x="1524000" y="2513839"/>
                <a:ext cx="9144000" cy="2057400"/>
              </a:xfrm>
              <a:prstGeom prst="rect">
                <a:avLst/>
              </a:prstGeom>
            </p:spPr>
            <p:txBody>
              <a:bodyPr anchor="t" lIns="0" tIns="0" rIns="0" bIns="0">
                <a:noAutofit/>
              </a:bodyPr>
              <a:lstStyle/>
              <a:p>
                <a:pPr>
                  <a:lnSpc>
                    <a:spcPct val="120000"/>
                  </a:lnSpc>
                </a:pPr>
                <a:r>
                  <a:rPr lang="en-US" sz="1200" dirty="0">
                    <a:effectLst/>
                  </a:rPr>
                  <a:t>The possible mechanism of latex coagulation by the grafted PP sheet is schematically illustrated in Fig. 9. In the NRL state, each rubber particle is made up of rubber polymers covered by negative charges of protein membrane layers [40]. The negatively charged rubber particles repel each other, preventing themselves from</a:t>
                </a:r>
                <a:br>
                  <a:rPr lang="en-US" sz="1200" dirty="0"/>
                </a:br>
                <a:r>
                  <a:rPr lang="en-US" sz="1200" dirty="0">
                    <a:effectLst/>
                  </a:rPr>
                  <a:t> the combination and coagulation (see Fig. 9A). When the NRL is collected in the grafted PP container, the hydrogen ions </a:t>
                </a:r>
                <a:r>
                  <a:rPr lang="en-US" sz="1200" dirty="0">
                    <a:effectLst/>
                  </a:rPr>
                  <a:t>​</a:t>
                </a:r>
                <a14:m>
                  <m:oMath>
                    <m:d>
                      <m:dPr>
                        <m:begChr m:val="("/>
                        <m:endChr m:val=")"/>
                        <m:ctrlPr>
                          <a:rPr sz="1200">
                            <a:latin typeface="Cambria Math" panose="02040503050406030204" pitchFamily="18" charset="0"/>
                          </a:rPr>
                        </m:ctrlPr>
                      </m:dPr>
                      <m:e>
                        <m:r>
                          <m:rPr>
                            <m:sty m:val="p"/>
                          </m:rPr>
                          <a:rPr lang="en-US" sz="1200" dirty="0">
                            <a:solidFill>
                              <a:srgbClr val="000000"/>
                            </a:solidFill>
                            <a:effectLst/>
                          </a:rPr>
                          <m:t>H</m:t>
                        </m:r>
                        <m:sSup>
                          <m:sSupPr>
                            <m:ctrlPr>
                              <a:rPr sz="1200">
                                <a:latin typeface="Cambria Math" panose="02040503050406030204" pitchFamily="18" charset="0"/>
                              </a:rPr>
                            </m:ctrlPr>
                          </m:sSupPr>
                          <m:e>
                            <m:r>
                              <m:rPr>
                                <m:sty m:val="p"/>
                              </m:rPr>
                              <a:rPr lang="en-US" sz="1200" dirty="0">
                                <a:solidFill>
                                  <a:srgbClr val="000000"/>
                                </a:solidFill>
                                <a:effectLst/>
                              </a:rPr>
                              <m:t>.</m:t>
                            </m:r>
                          </m:e>
                          <m:sup>
                            <m:r>
                              <m:rPr>
                                <m:sty m:val="p"/>
                              </m:rPr>
                              <a:rPr lang="en-US" sz="1200" dirty="0">
                                <a:solidFill>
                                  <a:srgbClr val="000000"/>
                                </a:solidFill>
                                <a:effectLst/>
                              </a:rPr>
                              <m:t>+</m:t>
                            </m:r>
                          </m:sup>
                        </m:sSup>
                      </m:e>
                    </m:d>
                  </m:oMath>
                </a14:m>
                <a:r>
                  <a:rPr lang="en-US" sz="1200" dirty="0">
                    <a:effectLst/>
                  </a:rPr>
                  <a:t>as positive charges from the carboxylic groups on the surface of grafted PP sheet will neutralize the negative charges of rubber particles and thus neutral rubber particles is then generated (see Fig. 9B). In addition, when these neutral particles collide with each other, their outer membrane layers will be broken up (see Fig. 9C). The rubber polymers are then set free and start to be coagulated by combining each rubber particles together to form a larger lump of rubber polymer which is subsequently precipitated from the latex solution (see Fig. 9D and E).</a:t>
                </a:r>
              </a:p>
            </p:txBody>
          </p:sp>
        </mc:Choice>
        <mc:Fallback/>
      </mc:AlternateContent>
      <p:sp>
        <p:nvSpPr>
          <p:cNvPr id="2" name="Text"/>
          <p:cNvSpPr/>
          <p:nvPr/>
        </p:nvSpPr>
        <p:spPr>
          <a:xfrm>
            <a:off x="1524000" y="4723639"/>
            <a:ext cx="9144000" cy="342900"/>
          </a:xfrm>
          <a:prstGeom prst="rect">
            <a:avLst/>
          </a:prstGeom>
        </p:spPr>
        <p:txBody>
          <a:bodyPr anchor="t" lIns="0" tIns="0" rIns="0" bIns="0">
            <a:noAutofit/>
          </a:bodyPr>
          <a:lstStyle/>
          <a:p>
            <a:pPr>
              <a:lnSpc>
                <a:spcPct val="120000"/>
              </a:lnSpc>
            </a:pPr>
            <a:r>
              <a:rPr lang="en-US" sz="1800" dirty="0" b="1">
                <a:effectLst/>
              </a:rPr>
              <a:t>Comparison of percentage grafting values of AA onto PP and other substrates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828800"/>
              </a:xfrm>
              <a:prstGeom prst="rect">
                <a:avLst/>
              </a:prstGeom>
            </p:spPr>
            <p:txBody>
              <a:bodyPr anchor="t" lIns="0" tIns="0" rIns="0" bIns="0">
                <a:noAutofit/>
              </a:bodyPr>
              <a:lstStyle/>
              <a:p>
                <a:pPr>
                  <a:lnSpc>
                    <a:spcPct val="120000"/>
                  </a:lnSpc>
                </a:pPr>
                <a:r>
                  <a:rPr lang="en-US" sz="1200" dirty="0">
                    <a:effectLst/>
                  </a:rPr>
                  <a:t>In order to compare the grafting percentage value of AA onto the PP sheets and other substrates, the grafting efficiency (%), grafting methods, and potential applications are listed in Table 2. It is found that the grafting percentage of our grafted PP- </a:t>
                </a:r>
                <a:r>
                  <a:rPr lang="en-US" sz="1200" dirty="0">
                    <a:effectLst/>
                  </a:rPr>
                  <a:t>​</a:t>
                </a:r>
                <a14:m>
                  <m:oMath>
                    <m:r>
                      <m:rPr>
                        <m:sty m:val="i"/>
                      </m:rPr>
                      <a:rPr lang="en-US" sz="1200" dirty="0">
                        <a:solidFill>
                          <a:srgbClr val="000000"/>
                        </a:solidFill>
                        <a:effectLst/>
                      </a:rPr>
                      <m:t>g</m:t>
                    </m:r>
                  </m:oMath>
                </a14:m>
                <a:r>
                  <a:rPr lang="en-US" sz="1200" dirty="0">
                    <a:effectLst/>
                  </a:rPr>
                  <a:t>-P(ST-co-AA)25 sheet (25.91%) was in gradual range compared to that of other samples attained by other grafting methods. The grafting efficiency of AA onto the different substrates is varied from the low to very high measurement values. However, according to the potential applications listed in Table 2, there is no work reporting that their modified samples have been applied as an automatically latex-coagulating application. Interestingly, even the grafting percentage of our PP-</a:t>
                </a:r>
                <a:r>
                  <a:rPr lang="en-US" sz="1200" dirty="0">
                    <a:effectLst/>
                  </a:rPr>
                  <a:t>​</a:t>
                </a:r>
                <a14:m>
                  <m:oMath>
                    <m:r>
                      <m:rPr>
                        <m:sty m:val="i"/>
                      </m:rPr>
                      <a:rPr lang="en-US" sz="1200" dirty="0">
                        <a:solidFill>
                          <a:srgbClr val="000000"/>
                        </a:solidFill>
                        <a:effectLst/>
                      </a:rPr>
                      <m:t>g</m:t>
                    </m:r>
                  </m:oMath>
                </a14:m>
                <a:r>
                  <a:rPr lang="en-US" sz="1200" dirty="0">
                    <a:effectLst/>
                  </a:rPr>
                  <a:t>-P(ST-co-AA)25 sample was in just </a:t>
                </a:r>
                <a:r>
                  <a:rPr lang="en-US" sz="1200" dirty="0">
                    <a:effectLst/>
                  </a:rPr>
                  <a:t>​</a:t>
                </a:r>
                <a14:m>
                  <m:oMath>
                    <m:r>
                      <m:rPr>
                        <m:sty m:val="p"/>
                      </m:rPr>
                      <a:rPr lang="en-US" sz="1200" dirty="0">
                        <a:solidFill>
                          <a:srgbClr val="000000"/>
                        </a:solidFill>
                        <a:effectLst/>
                      </a:rPr>
                      <m:t>25.91</m:t>
                    </m:r>
                    <m:r>
                      <m:rPr>
                        <m:sty m:val="p"/>
                      </m:rPr>
                      <a:rPr lang="en-US" sz="1200" dirty="0">
                        <a:solidFill>
                          <a:srgbClr val="000000"/>
                        </a:solidFill>
                        <a:effectLst/>
                      </a:rPr>
                      <m:t>%</m:t>
                    </m:r>
                  </m:oMath>
                </a14:m>
                <a:r>
                  <a:rPr lang="en-US" sz="1200" dirty="0">
                    <a:effectLst/>
                  </a:rPr>
                  <a:t> but it exhibited the satisfactory coagulum content of 93.8% in the first cycle. However, the PP- </a:t>
                </a:r>
                <a:r>
                  <a:rPr lang="en-US" sz="1200" dirty="0">
                    <a:effectLst/>
                  </a:rPr>
                  <a:t>​</a:t>
                </a:r>
                <a14:m>
                  <m:oMath>
                    <m:r>
                      <m:rPr>
                        <m:sty m:val="i"/>
                      </m:rPr>
                      <a:rPr lang="en-US" sz="1200" dirty="0">
                        <a:solidFill>
                          <a:srgbClr val="000000"/>
                        </a:solidFill>
                        <a:effectLst/>
                      </a:rPr>
                      <m:t>g</m:t>
                    </m:r>
                  </m:oMath>
                </a14:m>
                <a:r>
                  <a:rPr lang="en-US" sz="1200" dirty="0">
                    <a:effectLst/>
                  </a:rPr>
                  <a:t>-P(ST-co-AA) sheet is further needed to improve their grafting percentage and their coagulating cycles for the large-scale production and commercial products on the future.</a:t>
                </a:r>
              </a:p>
            </p:txBody>
          </p:sp>
        </mc:Choice>
        <mc:Fallback/>
      </mc:AlternateContent>
      <p:sp>
        <p:nvSpPr>
          <p:cNvPr id="2" name="Text"/>
          <p:cNvSpPr/>
          <p:nvPr/>
        </p:nvSpPr>
        <p:spPr>
          <a:xfrm>
            <a:off x="1524000" y="2438400"/>
            <a:ext cx="9144000" cy="342900"/>
          </a:xfrm>
          <a:prstGeom prst="rect">
            <a:avLst/>
          </a:prstGeom>
        </p:spPr>
        <p:txBody>
          <a:bodyPr anchor="t" lIns="0" tIns="0" rIns="0" bIns="0">
            <a:noAutofit/>
          </a:bodyPr>
          <a:lstStyle/>
          <a:p>
            <a:pPr>
              <a:lnSpc>
                <a:spcPct val="120000"/>
              </a:lnSpc>
            </a:pPr>
            <a:r>
              <a:rPr lang="en-US" sz="1800" dirty="0" b="1">
                <a:effectLst/>
              </a:rPr>
              <a:t>Conclusion</a:t>
            </a:r>
          </a:p>
        </p:txBody>
      </p:sp>
      <mc:AlternateContent xmlns:mc="http://schemas.openxmlformats.org/markup-compatibility/2006">
        <mc:Choice xmlns:a14="http://schemas.microsoft.com/office/drawing/2010/main" Requires="a14">
          <p:sp>
            <p:nvSpPr>
              <p:cNvPr id="2" name="Text"/>
              <p:cNvSpPr/>
              <p:nvPr/>
            </p:nvSpPr>
            <p:spPr>
              <a:xfrm>
                <a:off x="1524000" y="2971039"/>
                <a:ext cx="9144000" cy="2057400"/>
              </a:xfrm>
              <a:prstGeom prst="rect">
                <a:avLst/>
              </a:prstGeom>
            </p:spPr>
            <p:txBody>
              <a:bodyPr anchor="t" lIns="0" tIns="0" rIns="0" bIns="0">
                <a:noAutofit/>
              </a:bodyPr>
              <a:lstStyle/>
              <a:p>
                <a:pPr>
                  <a:lnSpc>
                    <a:spcPct val="120000"/>
                  </a:lnSpc>
                </a:pPr>
                <a:r>
                  <a:rPr lang="en-US" sz="1200" dirty="0">
                    <a:effectLst/>
                  </a:rPr>
                  <a:t>The automatically latex-coagulating PP sheet was successfully fabricated by surface-grafting modification using various AA/ST monomer ratios. Grafting percentage, contact angle, and ion exchange capacity (IEC) of grafted PP sheet increased with increasing the ST-assisted grafting and AA concentration. The possible mechanism of an automatically latex-coagulating PP sheet was proposed by the fact that the negative charges on the surface of rubber particle membranes was neutralized by </a:t>
                </a:r>
                <a:r>
                  <a:rPr lang="en-US" sz="1200" dirty="0">
                    <a:effectLst/>
                  </a:rPr>
                  <a:t>​</a:t>
                </a:r>
                <a14:m>
                  <m:oMath>
                    <m:sSup>
                      <m:sSupPr>
                        <m:ctrlPr>
                          <a:rPr sz="1200">
                            <a:latin typeface="Cambria Math" panose="02040503050406030204" pitchFamily="18" charset="0"/>
                          </a:rPr>
                        </m:ctrlPr>
                      </m:sSupPr>
                      <m:e>
                        <m:r>
                          <m:rPr>
                            <m:sty m:val="p"/>
                          </m:rPr>
                          <a:rPr lang="en-US" sz="1200" dirty="0">
                            <a:solidFill>
                              <a:srgbClr val="000000"/>
                            </a:solidFill>
                            <a:effectLst/>
                          </a:rPr>
                          <m:t>H</m:t>
                        </m:r>
                      </m:e>
                      <m:sup>
                        <m:r>
                          <m:rPr>
                            <m:sty m:val="p"/>
                          </m:rPr>
                          <a:rPr lang="en-US" sz="1200" dirty="0">
                            <a:solidFill>
                              <a:srgbClr val="000000"/>
                            </a:solidFill>
                            <a:effectLst/>
                          </a:rPr>
                          <m:t>+</m:t>
                        </m:r>
                      </m:sup>
                    </m:sSup>
                  </m:oMath>
                </a14:m>
                <a:r>
                  <a:rPr lang="en-US" sz="1200" dirty="0">
                    <a:effectLst/>
                  </a:rPr>
                  <a:t>ions released from the PP- </a:t>
                </a:r>
                <a:r>
                  <a:rPr lang="en-US" sz="1200" dirty="0">
                    <a:effectLst/>
                  </a:rPr>
                  <a:t>​</a:t>
                </a:r>
                <a14:m>
                  <m:oMath>
                    <m:r>
                      <m:rPr>
                        <m:sty m:val="i"/>
                      </m:rPr>
                      <a:rPr lang="en-US" sz="1200" dirty="0">
                        <a:solidFill>
                          <a:srgbClr val="000000"/>
                        </a:solidFill>
                        <a:effectLst/>
                      </a:rPr>
                      <m:t>g</m:t>
                    </m:r>
                  </m:oMath>
                </a14:m>
                <a:r>
                  <a:rPr lang="en-US" sz="1200" dirty="0">
                    <a:effectLst/>
                  </a:rPr>
                  <a:t>-P(ST-co-AA) surfaces. The latex coagulation performance of PP- </a:t>
                </a:r>
                <a:r>
                  <a:rPr lang="en-US" sz="1200" dirty="0">
                    <a:effectLst/>
                  </a:rPr>
                  <a:t>​</a:t>
                </a:r>
                <a14:m>
                  <m:oMath>
                    <m:r>
                      <m:rPr>
                        <m:sty m:val="i"/>
                      </m:rPr>
                      <a:rPr lang="en-US" sz="1200" dirty="0">
                        <a:solidFill>
                          <a:srgbClr val="000000"/>
                        </a:solidFill>
                        <a:effectLst/>
                      </a:rPr>
                      <m:t>g</m:t>
                    </m:r>
                  </m:oMath>
                </a14:m>
                <a:r>
                  <a:rPr lang="en-US" sz="1200" dirty="0">
                    <a:effectLst/>
                  </a:rPr>
                  <a:t>-P(ST-co-AA)25 (93.8%) and PP- </a:t>
                </a:r>
                <a:r>
                  <a:rPr lang="en-US" sz="1200" dirty="0">
                    <a:effectLst/>
                  </a:rPr>
                  <a:t>​</a:t>
                </a:r>
                <a14:m>
                  <m:oMath>
                    <m:r>
                      <m:rPr>
                        <m:sty m:val="i"/>
                      </m:rPr>
                      <a:rPr lang="en-US" sz="1200" dirty="0">
                        <a:solidFill>
                          <a:srgbClr val="000000"/>
                        </a:solidFill>
                        <a:effectLst/>
                      </a:rPr>
                      <m:t>g</m:t>
                    </m:r>
                  </m:oMath>
                </a14:m>
                <a:r>
                  <a:rPr lang="en-US" sz="1200" dirty="0">
                    <a:effectLst/>
                  </a:rPr>
                  <a:t>-PAA4 (48.46%) at 3 h (equilibrium) was significantly higher than the unmodified PP sheet ( </a:t>
                </a:r>
                <a:r>
                  <a:rPr lang="en-US" sz="1200" dirty="0">
                    <a:effectLst/>
                  </a:rPr>
                  <a:t>​</a:t>
                </a:r>
                <a14:m>
                  <m:oMath>
                    <m:r>
                      <m:rPr>
                        <m:sty m:val="p"/>
                      </m:rPr>
                      <a:rPr lang="en-US" sz="1200" dirty="0">
                        <a:solidFill>
                          <a:srgbClr val="000000"/>
                        </a:solidFill>
                        <a:effectLst/>
                      </a:rPr>
                      <m:t>5.43</m:t>
                    </m:r>
                    <m:r>
                      <m:rPr>
                        <m:sty m:val="p"/>
                      </m:rPr>
                      <a:rPr lang="en-US" sz="1200" dirty="0">
                        <a:solidFill>
                          <a:srgbClr val="000000"/>
                        </a:solidFill>
                        <a:effectLst/>
                      </a:rPr>
                      <m:t>%</m:t>
                    </m:r>
                  </m:oMath>
                </a14:m>
                <a:r>
                  <a:rPr lang="en-US" sz="1200" dirty="0">
                    <a:effectLst/>
                  </a:rPr>
                  <a:t> ), corresponding well to the coagulation rates of 63.48, 41.69, and 1.52%/h, respectively. Our results demonstrated that the PP- </a:t>
                </a:r>
                <a:r>
                  <a:rPr lang="en-US" sz="1200" dirty="0">
                    <a:effectLst/>
                  </a:rPr>
                  <a:t>​</a:t>
                </a:r>
                <a14:m>
                  <m:oMath>
                    <m:r>
                      <m:rPr>
                        <m:sty m:val="i"/>
                      </m:rPr>
                      <a:rPr lang="en-US" sz="1200" dirty="0">
                        <a:solidFill>
                          <a:srgbClr val="000000"/>
                        </a:solidFill>
                        <a:effectLst/>
                      </a:rPr>
                      <m:t>g</m:t>
                    </m:r>
                  </m:oMath>
                </a14:m>
                <a:r>
                  <a:rPr lang="en-US" sz="1200" dirty="0">
                    <a:effectLst/>
                  </a:rPr>
                  <a:t>-P(ST-co-AA) sheet could be used as an automatically latex-coagulating container for cup lump production, with the benefit of reducing the inappropriate coagulant acid and the environmental impact but also increase in the added value of cup lump product.</a:t>
                </a:r>
              </a:p>
            </p:txBody>
          </p:sp>
        </mc:Choice>
        <mc:Fallback/>
      </mc:AlternateContent>
      <p:sp>
        <p:nvSpPr>
          <p:cNvPr id="2" name="Text"/>
          <p:cNvSpPr/>
          <p:nvPr/>
        </p:nvSpPr>
        <p:spPr>
          <a:xfrm>
            <a:off x="1524000" y="5180839"/>
            <a:ext cx="9144000" cy="228600"/>
          </a:xfrm>
          <a:prstGeom prst="rect">
            <a:avLst/>
          </a:prstGeom>
        </p:spPr>
        <p:txBody>
          <a:bodyPr anchor="t" lIns="0" tIns="0" rIns="0" bIns="0">
            <a:noAutofit/>
          </a:bodyPr>
          <a:lstStyle/>
          <a:p>
            <a:pPr>
              <a:lnSpc>
                <a:spcPct val="120000"/>
              </a:lnSpc>
            </a:pPr>
            <a:r>
              <a:rPr lang="en-US" sz="1200" dirty="0">
                <a:effectLst/>
              </a:rPr>
              <a:t>Table 2 Degree of grafting of AA onto the different substrates using several methods and their potential applications</a:t>
            </a:r>
          </a:p>
        </p:txBody>
      </p:sp>
      <p:graphicFrame>
        <p:nvGraphicFramePr>
          <p:cNvPr id="3" name="Table"/>
          <p:cNvGraphicFramePr>
            <a:graphicFrameLocks noGrp="1"/>
          </p:cNvGraphicFramePr>
          <p:nvPr/>
        </p:nvGraphicFramePr>
        <p:xfrm>
          <a:off x="1543050" y="5409439"/>
          <a:ext cx="9105900" cy="762000"/>
        </p:xfrm>
        <a:graphic>
          <a:graphicData uri="http://schemas.openxmlformats.org/drawingml/2006/table">
            <a:tbl>
              <a:tblPr firstRow="1" firstCol="1" bandRow="1">
                <a:tableStyleId>{5940675A-B579-460E-94D1-54222C63F5DA}</a:tableStyleId>
              </a:tblPr>
              <a:tblGrid>
                <a:gridCol w="1933575"/>
                <a:gridCol w="2552700"/>
                <a:gridCol w="1352550"/>
                <a:gridCol w="2486025"/>
                <a:gridCol w="771525"/>
              </a:tblGrid>
              <a:tr h="266700">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ctr"/>
                      <a:r>
                        <a:rPr lang="en-US" sz="1200" dirty="0">
                          <a:effectLst/>
                        </a:rPr>
                        <a:t> </a:t>
                      </a:r>
                    </a:p>
                  </a:txBody>
                  <a:tcPr marL="51200" marR="51200" marT="15240" marB="15240" anchor="ctr">
                    <a:lnL w="9525" cmpd="sng">
                      <a:noFill/>
                    </a:lnL>
                    <a:lnR w="9525" cmpd="sng">
                      <a:noFill/>
                    </a:lnR>
                    <a:lnT w="9525" cmpd="sng">
                      <a:noFill/>
                    </a:lnT>
                    <a:lnB w="9525" cap="flat" cmpd="sng" algn="ctr">
                      <a:solidFill>
                        <a:schemeClr val="tx1"/>
                      </a:solidFill>
                      <a:prstDash val="solid"/>
                      <a:round/>
                      <a:headEnd type="none" w="med" len="med"/>
                      <a:tailEnd type="none" w="med" len="med"/>
                    </a:lnB>
                  </a:tcPr>
                </a:tc>
              </a:tr>
              <a:tr h="495300">
                <a:tc>
                  <a:txBody>
                    <a:bodyPr anchor="t" lIns="76200" tIns="15240" rIns="0" bIns="0">
                      <a:noAutofit/>
                    </a:bodyPr>
                    <a:lstStyle/>
                    <a:p>
                      <a:pPr algn="l"/>
                      <a:r>
                        <a:rPr lang="en-US" sz="1200" dirty="0">
                          <a:effectLst/>
                        </a:rPr>
                        <a:t>Sample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Grafting method</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Degree of Grafting</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Application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Ref.</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Table"/>
              <p:cNvGraphicFramePr>
                <a:graphicFrameLocks noGrp="1"/>
              </p:cNvGraphicFramePr>
              <p:nvPr/>
            </p:nvGraphicFramePr>
            <p:xfrm>
              <a:off x="1543050" y="457200"/>
              <a:ext cx="9105900" cy="3314700"/>
            </p:xfrm>
            <a:graphic>
              <a:graphicData uri="http://schemas.openxmlformats.org/drawingml/2006/table">
                <a:tbl>
                  <a:tblPr firstRow="1" firstCol="1" bandRow="1">
                    <a:tableStyleId>{5940675A-B579-460E-94D1-54222C63F5DA}</a:tableStyleId>
                  </a:tblPr>
                  <a:tblGrid>
                    <a:gridCol w="1933575"/>
                    <a:gridCol w="2552700"/>
                    <a:gridCol w="1352550"/>
                    <a:gridCol w="2486025"/>
                    <a:gridCol w="771525"/>
                  </a:tblGrid>
                  <a:tr h="495300">
                    <a:tc>
                      <a:txBody>
                        <a:bodyPr anchor="t" lIns="76200" tIns="15240" rIns="0" bIns="0">
                          <a:noAutofit/>
                        </a:bodyPr>
                        <a:lstStyle/>
                        <a:p>
                          <a:pPr algn="l"/>
                          <a:r>
                            <a:rPr lang="en-US" sz="1200" dirty="0">
                              <a:effectLst/>
                            </a:rPr>
                            <a:t>Grafted PAA/FTO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a</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Plasma-initiated graft polymerization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84</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Water-oxidation catalysts</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noFill/>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PAA-PA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b</m:t>
                                    </m:r>
                                  </m:sup>
                                </m:sSup>
                              </m:oMath>
                            </m:oMathPara>
                          </a14:m>
                          <a:r>
                            <a:rPr lang="en-US" sz="1200" dirty="0">
                              <a:effectLst/>
                            </a:rPr>
                            <a:t> membrane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UV-initiated graft polymerization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120</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Pervaporation membrane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[42]</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495300">
                    <a:tc>
                      <a:txBody>
                        <a:bodyPr anchor="t" lIns="76200" tIns="15240" rIns="0" bIns="0">
                          <a:noAutofit/>
                        </a:bodyPr>
                        <a:lstStyle/>
                        <a:p>
                          <a:pPr algn="l"/>
                          <a:r>
                            <a:rPr lang="en-US" sz="1200" dirty="0">
                              <a:effectLst/>
                            </a:rPr>
                            <a:t>PAA-g-PPM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c </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Ultrasonic-assisted graft polymerization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0.82</m:t>
                                </m:r>
                                <m:r>
                                  <m:rPr>
                                    <m:sty m:val="p"/>
                                  </m:rPr>
                                  <a:rPr lang="en-US" sz="1200" dirty="0">
                                    <a:solidFill>
                                      <a:srgbClr val="000000"/>
                                    </a:solidFill>
                                    <a:effectLst/>
                                  </a:rPr>
                                  <m:t>mg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Membrane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495300">
                    <a:tc>
                      <a:txBody>
                        <a:bodyPr anchor="t" lIns="76200" tIns="15240" rIns="0" bIns="0">
                          <a:noAutofit/>
                        </a:bodyPr>
                        <a:lstStyle/>
                        <a:p>
                          <a:pPr algn="l"/>
                          <a:r>
                            <a:rPr lang="en-US" sz="1200" dirty="0">
                              <a:effectLst/>
                            </a:rPr>
                            <a:t>AA-g-fiber.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d </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Radiation-induced graft polymerization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190%</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Pharmaceutical</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[44]</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AA-grafted fiber.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e </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Electron beam polymerization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1.63%</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 </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[45]</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PAA-g-PCL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f </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Plasma-induced</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18</m:t>
                                </m:r>
                                <m:r>
                                  <m:rPr>
                                    <m:sty m:val="i"/>
                                  </m:rPr>
                                  <a:rPr lang="en-US" sz="1200" dirty="0">
                                    <a:solidFill>
                                      <a:srgbClr val="000000"/>
                                    </a:solidFill>
                                    <a:effectLst/>
                                  </a:rPr>
                                  <m:t>μ</m:t>
                                </m:r>
                                <m:r>
                                  <m:rPr>
                                    <m:sty m:val="p"/>
                                  </m:rPr>
                                  <a:rPr lang="en-US" sz="1200" dirty="0">
                                    <a:solidFill>
                                      <a:srgbClr val="000000"/>
                                    </a:solidFill>
                                    <a:effectLst/>
                                  </a:rPr>
                                  <m:t xml:space="preserve"> </m:t>
                                </m:r>
                                <m:r>
                                  <m:rPr>
                                    <m:sty m:val="p"/>
                                  </m:rPr>
                                  <a:rPr lang="en-US" sz="1200" dirty="0">
                                    <a:solidFill>
                                      <a:srgbClr val="000000"/>
                                    </a:solidFill>
                                    <a:effectLst/>
                                  </a:rPr>
                                  <m:t>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Human healthcare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[46]</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PAA-g-PET TeMs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g</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Photoinduced graft polymerization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112</m:t>
                                </m:r>
                                <m:r>
                                  <m:rPr>
                                    <m:sty m:val="p"/>
                                  </m:rPr>
                                  <a:rPr lang="en-US" sz="1200" dirty="0">
                                    <a:solidFill>
                                      <a:srgbClr val="000000"/>
                                    </a:solidFill>
                                    <a:effectLst/>
                                  </a:rPr>
                                  <m:t>nmol</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Track-etched membrane</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[47]</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266700">
                    <a:tc>
                      <a:txBody>
                        <a:bodyPr anchor="t" lIns="76200" tIns="15240" rIns="0" bIns="0">
                          <a:noAutofit/>
                        </a:bodyPr>
                        <a:lstStyle/>
                        <a:p>
                          <a:pPr algn="l"/>
                          <a:r>
                            <a:rPr lang="en-US" sz="1200" dirty="0">
                              <a:effectLst/>
                            </a:rPr>
                            <a:t>AA-g-PEEK </a:t>
                          </a:r>
                          <a:r>
                            <a:rPr lang="en-US" sz="1200" dirty="0">
                              <a:effectLst/>
                            </a:rPr>
                            <a:t>​</a:t>
                          </a:r>
                          <a14:m>
                            <m:oMathPara>
                              <m:oMathParaPr>
                                <m:jc m:val="left"/>
                              </m:oMathParaPr>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h</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UV-induced graft polymerization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t>
                          </a:r>
                          <a14:m>
                            <m:oMathPara>
                              <m:oMathParaPr>
                                <m:jc m:val="left"/>
                              </m:oMathParaPr>
                              <m:oMath>
                                <m:r>
                                  <m:rPr>
                                    <m:sty m:val="p"/>
                                  </m:rPr>
                                  <a:rPr lang="en-US" sz="1200" dirty="0">
                                    <a:solidFill>
                                      <a:srgbClr val="000000"/>
                                    </a:solidFill>
                                    <a:effectLst/>
                                  </a:rPr>
                                  <m:t>3.5</m:t>
                                </m:r>
                                <m:r>
                                  <m:rPr>
                                    <m:sty m:val="p"/>
                                  </m:rPr>
                                  <a:rPr lang="en-US" sz="1200" dirty="0">
                                    <a:solidFill>
                                      <a:srgbClr val="000000"/>
                                    </a:solidFill>
                                    <a:effectLst/>
                                  </a:rPr>
                                  <m:t>mg</m:t>
                                </m:r>
                                <m:r>
                                  <m:rPr>
                                    <m:sty m:val="p"/>
                                  </m:rPr>
                                  <a:rPr lang="en-US" sz="1200" dirty="0">
                                    <a:solidFill>
                                      <a:srgbClr val="000000"/>
                                    </a:solidFill>
                                    <a:effectLst/>
                                  </a:rPr>
                                  <m:t>/</m:t>
                                </m:r>
                                <m:sSup>
                                  <m:sSupPr>
                                    <m:ctrlPr>
                                      <a:rPr sz="1200">
                                        <a:latin typeface="Cambria Math" panose="02040503050406030204" pitchFamily="18" charset="0"/>
                                      </a:rPr>
                                    </m:ctrlPr>
                                  </m:sSupPr>
                                  <m:e>
                                    <m:r>
                                      <m:rPr>
                                        <m:sty m:val="p"/>
                                      </m:rPr>
                                      <a:rPr lang="en-US" sz="1200" dirty="0">
                                        <a:solidFill>
                                          <a:srgbClr val="000000"/>
                                        </a:solidFill>
                                        <a:effectLst/>
                                      </a:rPr>
                                      <m:t>cm</m:t>
                                    </m:r>
                                  </m:e>
                                  <m:sup>
                                    <m:r>
                                      <m:rPr>
                                        <m:sty m:val="p"/>
                                      </m:rPr>
                                      <a:rPr lang="en-US" sz="1200" dirty="0">
                                        <a:solidFill>
                                          <a:srgbClr val="000000"/>
                                        </a:solidFill>
                                        <a:effectLst/>
                                      </a:rPr>
                                      <m:t>2</m:t>
                                    </m:r>
                                  </m:sup>
                                </m:sSup>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Knee arthroplasty</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[48]</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r h="495300">
                    <a:tc>
                      <a:txBody>
                        <a:bodyPr anchor="t" lIns="76200" tIns="15240" rIns="0" bIns="0">
                          <a:noAutofit/>
                        </a:bodyPr>
                        <a:lstStyle/>
                        <a:p>
                          <a:pPr algn="l"/>
                          <a:r>
                            <a:rPr lang="en-US" sz="1200" dirty="0">
                              <a:effectLst/>
                            </a:rPr>
                            <a:t>PP- </a:t>
                          </a:r>
                          <a:r>
                            <a:rPr lang="en-US" sz="1200" dirty="0">
                              <a:effectLst/>
                            </a:rPr>
                            <a:t>​</a:t>
                          </a:r>
                          <a14:m>
                            <m:oMathPara>
                              <m:oMathParaPr>
                                <m:jc m:val="left"/>
                              </m:oMathParaPr>
                              <m:oMath>
                                <m:r>
                                  <m:rPr>
                                    <m:sty m:val="i"/>
                                  </m:rPr>
                                  <a:rPr lang="en-US" sz="1200" dirty="0">
                                    <a:solidFill>
                                      <a:srgbClr val="000000"/>
                                    </a:solidFill>
                                    <a:effectLst/>
                                  </a:rPr>
                                  <m:t>g</m:t>
                                </m:r>
                                <m:r>
                                  <m:rPr>
                                    <m:sty m:val="p"/>
                                  </m:rPr>
                                  <a:rPr lang="en-US" sz="1200" dirty="0">
                                    <a:solidFill>
                                      <a:srgbClr val="000000"/>
                                    </a:solidFill>
                                    <a:effectLst/>
                                  </a:rPr>
                                  <m:t>−</m:t>
                                </m:r>
                                <m:r>
                                  <m:rPr>
                                    <m:sty m:val="p"/>
                                  </m:rPr>
                                  <a:rPr lang="en-US" sz="1200" dirty="0">
                                    <a:solidFill>
                                      <a:srgbClr val="000000"/>
                                    </a:solidFill>
                                    <a:effectLst/>
                                  </a:rPr>
                                  <m:t>P</m:t>
                                </m:r>
                                <m:r>
                                  <m:rPr>
                                    <m:sty m:val="p"/>
                                  </m:rPr>
                                  <a:rPr lang="en-US" sz="1200" dirty="0">
                                    <a:solidFill>
                                      <a:srgbClr val="000000"/>
                                    </a:solidFill>
                                    <a:effectLst/>
                                  </a:rPr>
                                  <m:t>(</m:t>
                                </m:r>
                                <m:r>
                                  <m:rPr>
                                    <m:sty m:val="p"/>
                                  </m:rPr>
                                  <a:rPr lang="en-US" sz="1200" dirty="0">
                                    <a:solidFill>
                                      <a:srgbClr val="000000"/>
                                    </a:solidFill>
                                    <a:effectLst/>
                                  </a:rPr>
                                  <m:t>ST</m:t>
                                </m:r>
                                <m:r>
                                  <m:rPr>
                                    <m:sty m:val="p"/>
                                  </m:rPr>
                                  <a:rPr lang="en-US" sz="1200" dirty="0">
                                    <a:solidFill>
                                      <a:srgbClr val="000000"/>
                                    </a:solidFill>
                                    <a:effectLst/>
                                  </a:rPr>
                                  <m:t>−</m:t>
                                </m:r>
                                <m:r>
                                  <m:rPr>
                                    <m:sty m:val="i"/>
                                  </m:rPr>
                                  <a:rPr lang="en-US" sz="1200" dirty="0">
                                    <a:solidFill>
                                      <a:srgbClr val="000000"/>
                                    </a:solidFill>
                                    <a:effectLst/>
                                  </a:rPr>
                                  <m:t>c</m:t>
                                </m:r>
                                <m:r>
                                  <m:rPr>
                                    <m:sty m:val="i"/>
                                  </m:rPr>
                                  <a:rPr lang="en-US" sz="1200" dirty="0">
                                    <a:solidFill>
                                      <a:srgbClr val="000000"/>
                                    </a:solidFill>
                                    <a:effectLst/>
                                  </a:rPr>
                                  <m:t>o</m:t>
                                </m:r>
                                <m:r>
                                  <m:rPr>
                                    <m:sty m:val="p"/>
                                  </m:rPr>
                                  <a:rPr lang="en-US" sz="1200" dirty="0">
                                    <a:solidFill>
                                      <a:srgbClr val="000000"/>
                                    </a:solidFill>
                                    <a:effectLst/>
                                  </a:rPr>
                                  <m:t>−</m:t>
                                </m:r>
                                <m:r>
                                  <m:rPr>
                                    <m:sty m:val="p"/>
                                  </m:rPr>
                                  <a:rPr lang="en-US" sz="1200" dirty="0">
                                    <a:solidFill>
                                      <a:srgbClr val="000000"/>
                                    </a:solidFill>
                                    <a:effectLst/>
                                  </a:rPr>
                                  <m:t>AA</m:t>
                                </m:r>
                                <m:r>
                                  <m:rPr>
                                    <m:sty m:val="p"/>
                                  </m:rPr>
                                  <a:rPr lang="en-US" sz="1200" dirty="0">
                                    <a:solidFill>
                                      <a:srgbClr val="000000"/>
                                    </a:solidFill>
                                    <a:effectLst/>
                                  </a:rPr>
                                  <m:t>)</m:t>
                                </m:r>
                              </m:oMath>
                            </m:oMathPara>
                          </a14:m>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Free-radical polymerization</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25.91%</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An automatically latex-coagulating cup</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c>
                      <a:txBody>
                        <a:bodyPr anchor="t" lIns="76200" tIns="15240" rIns="0" bIns="0">
                          <a:noAutofit/>
                        </a:bodyPr>
                        <a:lstStyle/>
                        <a:p>
                          <a:pPr algn="l"/>
                          <a:r>
                            <a:rPr lang="en-US" sz="1200" dirty="0">
                              <a:effectLst/>
                            </a:rPr>
                            <a:t>This work</a:t>
                          </a:r>
                        </a:p>
                      </a:txBody>
                      <a:tcPr marL="51200" marR="51200" marT="15240" marB="15240">
                        <a:lnL w="9525" cmpd="sng" algn="ctr">
                          <a:solidFill>
                            <a:schemeClr val="tx1"/>
                          </a:solidFill>
                          <a:prstDash val="solid"/>
                          <a:round/>
                          <a:headEnd type="none" w="med" len="med"/>
                          <a:tailEnd type="none" w="med" len="med"/>
                        </a:lnL>
                        <a:lnR w="9525" cmpd="sng" algn="ctr">
                          <a:solidFill>
                            <a:schemeClr val="tx1"/>
                          </a:solidFill>
                          <a:prstDash val="solid"/>
                          <a:round/>
                          <a:headEnd type="none" w="med" len="med"/>
                          <a:tailEnd type="none" w="med" len="med"/>
                        </a:lnR>
                        <a:lnT w="9525"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tcPr>
                    </a:tc>
                  </a:tr>
                </a:tbl>
              </a:graphicData>
            </a:graphic>
          </p:graphicFrame>
        </mc:Choice>
        <mc:Fallback/>
      </mc:AlternateContent>
      <p:sp>
        <p:nvSpPr>
          <p:cNvPr id="2" name="Text"/>
          <p:cNvSpPr/>
          <p:nvPr/>
        </p:nvSpPr>
        <p:spPr>
          <a:xfrm>
            <a:off x="1524000" y="3771900"/>
            <a:ext cx="9144000" cy="685800"/>
          </a:xfrm>
          <a:prstGeom prst="rect">
            <a:avLst/>
          </a:prstGeom>
        </p:spPr>
        <p:txBody>
          <a:bodyPr anchor="t" lIns="0" tIns="0" rIns="0" bIns="0">
            <a:noAutofit/>
          </a:bodyPr>
          <a:lstStyle/>
          <a:p>
            <a:pPr>
              <a:lnSpc>
                <a:spcPct val="120000"/>
              </a:lnSpc>
            </a:pPr>
            <a:r>
              <a:rPr lang="en-US" sz="1200" dirty="0">
                <a:effectLst/>
              </a:rPr>
              <a:t>Acknowledgements This work was financial supported by Faculty of Science, Ubon Ratchathani University. The center of excellent for innovation in chemistry (PERCH-CIC), Ministry of Higher Education, Science, Research, and Innovation are also acknowledged for some partial supports.</a:t>
            </a:r>
          </a:p>
        </p:txBody>
      </p:sp>
      <p:sp>
        <p:nvSpPr>
          <p:cNvPr id="2" name="Text"/>
          <p:cNvSpPr/>
          <p:nvPr/>
        </p:nvSpPr>
        <p:spPr>
          <a:xfrm>
            <a:off x="1524000" y="4610100"/>
            <a:ext cx="9144000" cy="342900"/>
          </a:xfrm>
          <a:prstGeom prst="rect">
            <a:avLst/>
          </a:prstGeom>
        </p:spPr>
        <p:txBody>
          <a:bodyPr anchor="t" lIns="0" tIns="0" rIns="0" bIns="0">
            <a:noAutofit/>
          </a:bodyPr>
          <a:lstStyle/>
          <a:p>
            <a:pPr>
              <a:lnSpc>
                <a:spcPct val="120000"/>
              </a:lnSpc>
            </a:pPr>
            <a:r>
              <a:rPr lang="en-US" sz="1800" dirty="0" b="1">
                <a:effectLst/>
              </a:rPr>
              <a:t>Declarations</a:t>
            </a:r>
          </a:p>
        </p:txBody>
      </p:sp>
      <p:sp>
        <p:nvSpPr>
          <p:cNvPr id="2" name="Text"/>
          <p:cNvSpPr/>
          <p:nvPr/>
        </p:nvSpPr>
        <p:spPr>
          <a:xfrm>
            <a:off x="1524000" y="5142739"/>
            <a:ext cx="9144000" cy="457200"/>
          </a:xfrm>
          <a:prstGeom prst="rect">
            <a:avLst/>
          </a:prstGeom>
        </p:spPr>
        <p:txBody>
          <a:bodyPr anchor="t" lIns="0" tIns="0" rIns="0" bIns="0">
            <a:noAutofit/>
          </a:bodyPr>
          <a:lstStyle/>
          <a:p>
            <a:pPr>
              <a:lnSpc>
                <a:spcPct val="120000"/>
              </a:lnSpc>
            </a:pPr>
            <a:r>
              <a:rPr lang="en-US" sz="1200" dirty="0">
                <a:effectLst/>
              </a:rPr>
              <a:t>Conflict of interest The authors declare that they have no conflict of interest or personal relationships that could have appeared to influence the work reported in this paper.</a:t>
            </a:r>
          </a:p>
        </p:txBody>
      </p:sp>
      <p:sp>
        <p:nvSpPr>
          <p:cNvPr id="2" name="Text"/>
          <p:cNvSpPr/>
          <p:nvPr/>
        </p:nvSpPr>
        <p:spPr>
          <a:xfrm>
            <a:off x="1524000" y="5752339"/>
            <a:ext cx="9144000" cy="342900"/>
          </a:xfrm>
          <a:prstGeom prst="rect">
            <a:avLst/>
          </a:prstGeom>
        </p:spPr>
        <p:txBody>
          <a:bodyPr anchor="t" lIns="0" tIns="0" rIns="0" bIns="0">
            <a:noAutofit/>
          </a:bodyPr>
          <a:lstStyle/>
          <a:p>
            <a:pPr>
              <a:lnSpc>
                <a:spcPct val="120000"/>
              </a:lnSpc>
            </a:pPr>
            <a:r>
              <a:rPr lang="en-US" sz="1800" dirty="0" b="1">
                <a:effectLst/>
              </a:rPr>
              <a:t>References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2" name="Text"/>
          <p:cNvSpPr/>
          <p:nvPr/>
        </p:nvSpPr>
        <p:spPr>
          <a:xfrm>
            <a:off x="1524000" y="457200"/>
            <a:ext cx="9144000" cy="5715000"/>
          </a:xfrm>
          <a:prstGeom prst="rect">
            <a:avLst/>
          </a:prstGeom>
        </p:spPr>
        <p:txBody>
          <a:bodyPr anchor="t" lIns="0" tIns="0" rIns="0" bIns="0">
            <a:noAutofit/>
          </a:bodyPr>
          <a:lstStyle/>
          <a:p>
            <a:pPr lvl="0" indent="-285750" marL="533400">
              <a:lnSpc>
                <a:spcPct val="120000"/>
              </a:lnSpc>
              <a:buFont typeface="Symbol" pitchFamily="2" charset="2"/>
              <a:buChar char="1."/>
              <a:tabLst>
                <a:tab pos="685800" algn="l"/>
              </a:tabLst>
            </a:pPr>
            <a:r>
              <a:rPr lang="en-US" sz="1200" dirty="0">
                <a:effectLst/>
              </a:rPr>
              <a:t>Suchat S, Theanjumpol P, Karrila S (2015) Rapid moisture determination for cup lump natural rubber by near infrared spectroscopy. Ind Crops Prod 76:772-780</a:t>
            </a:r>
          </a:p>
          <a:p>
            <a:pPr lvl="0" indent="-285750" marL="533400">
              <a:lnSpc>
                <a:spcPct val="120000"/>
              </a:lnSpc>
              <a:buFont typeface="Symbol" pitchFamily="2" charset="2"/>
              <a:buChar char="2."/>
              <a:tabLst>
                <a:tab pos="685800" algn="l"/>
              </a:tabLst>
            </a:pPr>
            <a:r>
              <a:rPr lang="en-US" sz="1200" dirty="0">
                <a:effectLst/>
              </a:rPr>
              <a:t>Narongwongwattana S, Rittiron R (2015) The rapid determination of volatile fatty acid number in para rubber latex using fourier transform-near infrared spectroscopy based on quantification and discrimination model. J Innov Opt Heal Sci 8(5):1550042</a:t>
            </a:r>
          </a:p>
          <a:p>
            <a:pPr lvl="0" indent="-285750" marL="533400">
              <a:lnSpc>
                <a:spcPct val="120000"/>
              </a:lnSpc>
              <a:buFont typeface="Symbol" pitchFamily="2" charset="2"/>
              <a:buChar char="3."/>
              <a:tabLst>
                <a:tab pos="685800" algn="l"/>
              </a:tabLst>
            </a:pPr>
            <a:r>
              <a:rPr lang="en-US" sz="1200" dirty="0">
                <a:effectLst/>
              </a:rPr>
              <a:t>Pamornnak B, Pipitsunthornsan P, Somwong S et al (2020) A microwave reflectometer technique for classifying a rubber cup lump. Comput Electron Agric 168:105152</a:t>
            </a:r>
          </a:p>
          <a:p>
            <a:pPr lvl="0" indent="-285750" marL="533400">
              <a:lnSpc>
                <a:spcPct val="120000"/>
              </a:lnSpc>
              <a:buFont typeface="Symbol" pitchFamily="2" charset="2"/>
              <a:buChar char="4."/>
              <a:tabLst>
                <a:tab pos="685800" algn="l"/>
              </a:tabLst>
            </a:pPr>
            <a:r>
              <a:rPr lang="en-US" sz="1200" dirty="0">
                <a:effectLst/>
              </a:rPr>
              <a:t>Santipanusopon S, Riyajan S (2009) Effect of field natural rubber latex with different ammonia contents and storage period on physical properties of latex concentrate, stability of skim latex and dipped film. Phys Procedia 2:127-134</a:t>
            </a:r>
          </a:p>
          <a:p>
            <a:pPr lvl="0" indent="-285750" marL="533400">
              <a:lnSpc>
                <a:spcPct val="120000"/>
              </a:lnSpc>
              <a:buFont typeface="Symbol" pitchFamily="2" charset="2"/>
              <a:buChar char="5."/>
              <a:tabLst>
                <a:tab pos="685800" algn="l"/>
              </a:tabLst>
            </a:pPr>
            <a:r>
              <a:rPr lang="en-US" sz="1200" dirty="0">
                <a:effectLst/>
              </a:rPr>
              <a:t>Bei-long Z, Hong-hai H, Yong-zhou W et al (2016) Effect of maturation time of coagulum of fresh natural rubber latex on oxidation kinetics of natural rubber. Adv Comput Sci Res 71:1244-1250</a:t>
            </a:r>
          </a:p>
          <a:p>
            <a:pPr lvl="0" indent="-285750" marL="533400">
              <a:lnSpc>
                <a:spcPct val="120000"/>
              </a:lnSpc>
              <a:buFont typeface="Symbol" pitchFamily="2" charset="2"/>
              <a:buChar char="6."/>
              <a:tabLst>
                <a:tab pos="685800" algn="l"/>
              </a:tabLst>
            </a:pPr>
            <a:r>
              <a:rPr lang="en-US" sz="1200" dirty="0">
                <a:effectLst/>
              </a:rPr>
              <a:t>Nepacina MRJ, Foronda JRF, Haygood KJF et al (2019) Differentiation of rubber cup coagulum through machine learning. Sci Agric Bohem 50(1):51-55</a:t>
            </a:r>
          </a:p>
          <a:p>
            <a:pPr lvl="0" indent="-285750" marL="533400">
              <a:lnSpc>
                <a:spcPct val="120000"/>
              </a:lnSpc>
              <a:buFont typeface="Symbol" pitchFamily="2" charset="2"/>
              <a:buChar char="7."/>
              <a:tabLst>
                <a:tab pos="685800" algn="l"/>
              </a:tabLst>
            </a:pPr>
            <a:r>
              <a:rPr lang="en-US" sz="1200" dirty="0">
                <a:effectLst/>
              </a:rPr>
              <a:t>Nguyen NH, Luong TT (2012) Situation of wastewater treatment of natural rubber latex processing in the Southeastern region Vietnam. J Viet Env 2(2):58-64</a:t>
            </a:r>
          </a:p>
          <a:p>
            <a:pPr lvl="0" indent="-285750" marL="533400">
              <a:lnSpc>
                <a:spcPct val="120000"/>
              </a:lnSpc>
              <a:buFont typeface="Symbol" pitchFamily="2" charset="2"/>
              <a:buChar char="8."/>
              <a:tabLst>
                <a:tab pos="685800" algn="l"/>
              </a:tabLst>
            </a:pPr>
            <a:r>
              <a:rPr lang="en-US" sz="1200" dirty="0">
                <a:effectLst/>
              </a:rPr>
              <a:t>Liang F, Yuan H, Shao Q et al (2018) Study of suspension grafting process of polypropylene. Des Monomers Polym 21(1):130-136</a:t>
            </a:r>
          </a:p>
          <a:p>
            <a:pPr lvl="0" indent="-285750" marL="533400">
              <a:lnSpc>
                <a:spcPct val="120000"/>
              </a:lnSpc>
              <a:buFont typeface="Symbol" pitchFamily="2" charset="2"/>
              <a:buChar char="9."/>
              <a:tabLst>
                <a:tab pos="685800" algn="l"/>
              </a:tabLst>
            </a:pPr>
            <a:r>
              <a:rPr lang="en-US" sz="1200" dirty="0">
                <a:effectLst/>
              </a:rPr>
              <a:t>Dogué LJ, Mermilliod N, Gandini A (1995) Modification of industrial polypropylene film by grafting of poly(acrylicacid). J Appl Polym Sci 56:33-40</a:t>
            </a:r>
          </a:p>
          <a:p>
            <a:pPr lvl="0" indent="-285750" marL="533400">
              <a:lnSpc>
                <a:spcPct val="120000"/>
              </a:lnSpc>
              <a:buFont typeface="Symbol" pitchFamily="2" charset="2"/>
              <a:buChar char="10."/>
              <a:tabLst>
                <a:tab pos="685800" algn="l"/>
              </a:tabLst>
            </a:pPr>
            <a:r>
              <a:rPr lang="en-US" sz="1200" dirty="0">
                <a:effectLst/>
              </a:rPr>
              <a:t>Smitha B, Sridhar S, Khan AA (2004) Polyelectrolyte complexes of chitosan and poly(acrylic acid) as proton exchange membranes for fuel cells. Macromolecules 37:2233-2239</a:t>
            </a:r>
          </a:p>
          <a:p>
            <a:pPr lvl="0" indent="-285750" marL="533400">
              <a:lnSpc>
                <a:spcPct val="120000"/>
              </a:lnSpc>
              <a:buFont typeface="Symbol" pitchFamily="2" charset="2"/>
              <a:buChar char="11."/>
              <a:tabLst>
                <a:tab pos="685800" algn="l"/>
              </a:tabLst>
            </a:pPr>
            <a:r>
              <a:rPr lang="en-US" sz="1200" dirty="0">
                <a:effectLst/>
              </a:rPr>
              <a:t>Butruk-Raszeja BA, Trzaskowska PA, Kuźminska A et al (2016) Polyurethane modification with acrylic acid by Ce(IV)-initiated graft polymerization. Open Chem 14:206-214</a:t>
            </a:r>
          </a:p>
          <a:p>
            <a:pPr lvl="0" indent="-285750" marL="533400">
              <a:lnSpc>
                <a:spcPct val="120000"/>
              </a:lnSpc>
              <a:buFont typeface="Symbol" pitchFamily="2" charset="2"/>
              <a:buChar char="12."/>
              <a:tabLst>
                <a:tab pos="685800" algn="l"/>
              </a:tabLst>
            </a:pPr>
            <a:r>
              <a:rPr lang="en-US" sz="1200" dirty="0">
                <a:effectLst/>
              </a:rPr>
              <a:t>Abdolahifard M, Bahrami SH, Malek RMA (2011) Surface modification of PET fabric by graft copolymerization with acrylic acid and its antibacterial properties. ISRN Org Chem. </a:t>
            </a:r>
            <a:r>
              <a:rPr lang="en-US" sz="1200" dirty="0">
                <a:effectLst/>
                <a:hlinkClick r:id="rId2"/>
              </a:rPr>
              <a:t>https://doi.org/10.5402/2011/265415</a:t>
            </a:r>
          </a:p>
          <a:p>
            <a:pPr lvl="0" indent="-285750" marL="533400">
              <a:lnSpc>
                <a:spcPct val="120000"/>
              </a:lnSpc>
              <a:buFont typeface="Symbol" pitchFamily="2" charset="2"/>
              <a:buChar char="13."/>
              <a:tabLst>
                <a:tab pos="685800" algn="l"/>
              </a:tabLst>
            </a:pPr>
            <a:r>
              <a:rPr lang="en-US" sz="1200" dirty="0">
                <a:effectLst/>
              </a:rPr>
              <a:t>Mandal DK, Bhunia H, Bajpai PK et al (2017) Optimization of acrylic acid grafting onto polypropylene using response surface methodology and its biodegradability. Radiat Phys Chem 132:71-81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2743200"/>
          </a:xfrm>
          <a:prstGeom prst="rect">
            <a:avLst/>
          </a:prstGeom>
        </p:spPr>
        <p:txBody>
          <a:bodyPr anchor="t" lIns="0" tIns="0" rIns="0" bIns="0">
            <a:noAutofit/>
          </a:bodyPr>
          <a:lstStyle/>
          <a:p>
            <a:pPr lvl="0" indent="-285750" marL="533400">
              <a:lnSpc>
                <a:spcPct val="120000"/>
              </a:lnSpc>
              <a:buFont typeface="Symbol" pitchFamily="2" charset="2"/>
              <a:buChar char="14."/>
              <a:tabLst>
                <a:tab pos="685800" algn="l"/>
              </a:tabLst>
            </a:pPr>
            <a:r>
              <a:rPr lang="en-US" sz="1200" dirty="0">
                <a:effectLst/>
              </a:rPr>
              <a:t>Saxena S, Ray AR, Gupta B (2010) Chitosan immobilization on polyacrylic acid grafted polypropylene monofilament. Carbohydr Polym 82:1315-1322</a:t>
            </a:r>
          </a:p>
          <a:p>
            <a:pPr lvl="0" indent="-285750" marL="533400">
              <a:lnSpc>
                <a:spcPct val="120000"/>
              </a:lnSpc>
              <a:buFont typeface="Symbol" pitchFamily="2" charset="2"/>
              <a:buChar char="15."/>
              <a:tabLst>
                <a:tab pos="685800" algn="l"/>
              </a:tabLst>
            </a:pPr>
            <a:r>
              <a:rPr lang="en-US" sz="1200" dirty="0">
                <a:effectLst/>
              </a:rPr>
              <a:t>Yu Z, Lua L, Lua L et al (2020) Multilayers assembly of bio-polyelectrolytes onto surface modified polypropylene films: Characterization, chelating and antioxidant activity. Carbohydr Polym 245:116456</a:t>
            </a:r>
          </a:p>
          <a:p>
            <a:pPr lvl="0" indent="-285750" marL="533400">
              <a:lnSpc>
                <a:spcPct val="120000"/>
              </a:lnSpc>
              <a:buFont typeface="Symbol" pitchFamily="2" charset="2"/>
              <a:buChar char="16."/>
              <a:tabLst>
                <a:tab pos="685800" algn="l"/>
              </a:tabLst>
            </a:pPr>
            <a:r>
              <a:rPr lang="en-US" sz="1200" dirty="0">
                <a:effectLst/>
              </a:rPr>
              <a:t>Fasce LA, Costamagna V, Pettarin V et al (2008) Poly(acrylic acid) surface grafted polypropylene films: Near surface and bulk mechanical response. EXPRESS Polym Lett 2(11):779-790</a:t>
            </a:r>
          </a:p>
          <a:p>
            <a:pPr lvl="0" indent="-285750" marL="533400">
              <a:lnSpc>
                <a:spcPct val="120000"/>
              </a:lnSpc>
              <a:buFont typeface="Symbol" pitchFamily="2" charset="2"/>
              <a:buChar char="17."/>
              <a:tabLst>
                <a:tab pos="685800" algn="l"/>
              </a:tabLst>
            </a:pPr>
            <a:r>
              <a:rPr lang="en-US" sz="1200" dirty="0">
                <a:effectLst/>
              </a:rPr>
              <a:t>Du J, Wang Y, Xie X et al (2017) Styrene-assisted maleic anhydride grafted poly(lactic acid) as an effective compatibilizer for wood flour/poly(lactic acid) bio-composites. Polym 9(11):623</a:t>
            </a:r>
          </a:p>
          <a:p>
            <a:pPr lvl="0" indent="-285750" marL="533400">
              <a:lnSpc>
                <a:spcPct val="120000"/>
              </a:lnSpc>
              <a:buFont typeface="Symbol" pitchFamily="2" charset="2"/>
              <a:buChar char="18."/>
              <a:tabLst>
                <a:tab pos="685800" algn="l"/>
              </a:tabLst>
            </a:pPr>
            <a:r>
              <a:rPr lang="en-US" sz="1200" dirty="0">
                <a:effectLst/>
              </a:rPr>
              <a:t>Phadnis S, Patri M, Hande VR et al (2003) Proton exchange membranes by grafting of styreneacrylic acid onto FEP by preirradiation technique. I. Effect of synthesis conditions. J Appl Polym Sci 90:2572-2577</a:t>
            </a:r>
          </a:p>
          <a:p>
            <a:pPr lvl="0" indent="-285750" marL="533400">
              <a:lnSpc>
                <a:spcPct val="120000"/>
              </a:lnSpc>
              <a:buFont typeface="Symbol" pitchFamily="2" charset="2"/>
              <a:buChar char="19."/>
              <a:tabLst>
                <a:tab pos="685800" algn="l"/>
              </a:tabLst>
            </a:pPr>
            <a:r>
              <a:rPr lang="en-US" sz="1200" dirty="0">
                <a:effectLst/>
              </a:rPr>
              <a:t>Benavides R, Urbano R, Morales-Acosta D et al (2019) Effect of gamma radiation on crosslinking, water uptake and ion exchange on polystyrene-co-acrylic acid copolymers useful for fuel cells. Int J Hydrogen Energ 44(24):12525-12528</a:t>
            </a:r>
          </a:p>
        </p:txBody>
      </p:sp>
      <p:sp>
        <p:nvSpPr>
          <p:cNvPr id="2" name="Text"/>
          <p:cNvSpPr/>
          <p:nvPr/>
        </p:nvSpPr>
        <p:spPr>
          <a:xfrm>
            <a:off x="1524000" y="3352800"/>
            <a:ext cx="9144000" cy="2743200"/>
          </a:xfrm>
          <a:prstGeom prst="rect">
            <a:avLst/>
          </a:prstGeom>
        </p:spPr>
        <p:txBody>
          <a:bodyPr anchor="t" lIns="0" tIns="0" rIns="0" bIns="0">
            <a:noAutofit/>
          </a:bodyPr>
          <a:lstStyle/>
          <a:p>
            <a:pPr lvl="0" indent="-285750" marL="533400">
              <a:lnSpc>
                <a:spcPct val="120000"/>
              </a:lnSpc>
              <a:buFont typeface="Symbol" pitchFamily="2" charset="2"/>
              <a:buChar char="20."/>
              <a:tabLst>
                <a:tab pos="685800" algn="l"/>
              </a:tabLst>
            </a:pPr>
            <a:r>
              <a:rPr lang="en-US" sz="1200" dirty="0">
                <a:effectLst/>
              </a:rPr>
              <a:t>Melo L, Benavides R, Martínez G et al (2017) Sulfonated polystyrene-co-acrylic acid membranes modified by transmembrane reduction of platinum. Int J Hydrogen Energ 42(51):30407-30416</a:t>
            </a:r>
          </a:p>
          <a:p>
            <a:pPr lvl="0" indent="-285750" marL="533400">
              <a:lnSpc>
                <a:spcPct val="120000"/>
              </a:lnSpc>
              <a:buFont typeface="Symbol" pitchFamily="2" charset="2"/>
              <a:buChar char="21."/>
              <a:tabLst>
                <a:tab pos="685800" algn="l"/>
              </a:tabLst>
            </a:pPr>
            <a:r>
              <a:rPr lang="en-US" sz="1200" dirty="0">
                <a:effectLst/>
              </a:rPr>
              <a:t>Wang W, Wang L, Chen X et al (2006) Study on the graft reaction of poly(propylene) fiber with acrylic acid. Macromol Mater Eng 291:173-180</a:t>
            </a:r>
          </a:p>
          <a:p>
            <a:pPr lvl="0" indent="-285750" marL="533400">
              <a:lnSpc>
                <a:spcPct val="120000"/>
              </a:lnSpc>
              <a:buFont typeface="Symbol" pitchFamily="2" charset="2"/>
              <a:buChar char="22."/>
              <a:tabLst>
                <a:tab pos="685800" algn="l"/>
              </a:tabLst>
            </a:pPr>
            <a:r>
              <a:rPr lang="en-US" sz="1200" dirty="0">
                <a:effectLst/>
              </a:rPr>
              <a:t>El-Arnaouty MB, Abdel Ghaffar AM, Eid M (2013) Properties of grafted polymer metal complexes as ion exchangers and its electrical conductivity. Polym Eng Sci 53(4):792-799</a:t>
            </a:r>
          </a:p>
          <a:p>
            <a:pPr lvl="0" indent="-285750" marL="533400">
              <a:lnSpc>
                <a:spcPct val="120000"/>
              </a:lnSpc>
              <a:buFont typeface="Symbol" pitchFamily="2" charset="2"/>
              <a:buChar char="23."/>
              <a:tabLst>
                <a:tab pos="685800" algn="l"/>
              </a:tabLst>
            </a:pPr>
            <a:r>
              <a:rPr lang="en-US" sz="1200" dirty="0">
                <a:effectLst/>
              </a:rPr>
              <a:t>Jiang S, Ladewig BP (2017) High ion-exchange capacity semihomogeneous cation exchange membranes prepared via a novel polymerization and sulfonation approach in porous polypropylene. ACS Appl Mater Interfaces 9:38612-38620</a:t>
            </a:r>
          </a:p>
          <a:p>
            <a:pPr lvl="0" indent="-285750" marL="533400">
              <a:lnSpc>
                <a:spcPct val="120000"/>
              </a:lnSpc>
              <a:buFont typeface="Symbol" pitchFamily="2" charset="2"/>
              <a:buChar char="24."/>
              <a:tabLst>
                <a:tab pos="685800" algn="l"/>
              </a:tabLst>
            </a:pPr>
            <a:r>
              <a:rPr lang="en-US" sz="1200" dirty="0">
                <a:effectLst/>
              </a:rPr>
              <a:t>Luo Z, Chen H, Xu J et al (2018) Surface grafting of styrene on polypropylene fibers by argon plasma and its adsorption-regeneration of BTX. J Appl Polym Sci 135(17):46171</a:t>
            </a:r>
          </a:p>
          <a:p>
            <a:pPr lvl="0" indent="-285750" marL="533400">
              <a:lnSpc>
                <a:spcPct val="120000"/>
              </a:lnSpc>
              <a:buFont typeface="Symbol" pitchFamily="2" charset="2"/>
              <a:buChar char="25."/>
              <a:tabLst>
                <a:tab pos="685800" algn="l"/>
              </a:tabLst>
            </a:pPr>
            <a:r>
              <a:rPr lang="en-US" sz="1200" dirty="0">
                <a:effectLst/>
              </a:rPr>
              <a:t>Belmares M, Blanco M, Goddard WA III et al (2004) Hildebrand and Hansen solubility parameters from molecular dynamics with applications to electronic nose polymer sensors. J Comput Chem 25(15):1814-1826</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3" name="Text"/>
          <p:cNvSpPr/>
          <p:nvPr/>
        </p:nvSpPr>
        <p:spPr>
          <a:xfrm>
            <a:off x="1524000" y="457200"/>
            <a:ext cx="9144000" cy="5715000"/>
          </a:xfrm>
          <a:prstGeom prst="rect">
            <a:avLst/>
          </a:prstGeom>
        </p:spPr>
        <p:txBody>
          <a:bodyPr anchor="t" lIns="0" tIns="0" rIns="0" bIns="0">
            <a:noAutofit/>
          </a:bodyPr>
          <a:lstStyle/>
          <a:p>
            <a:pPr lvl="0" indent="-285750" marL="533400">
              <a:lnSpc>
                <a:spcPct val="120000"/>
              </a:lnSpc>
              <a:buFont typeface="Symbol" pitchFamily="2" charset="2"/>
              <a:buChar char="26."/>
              <a:tabLst>
                <a:tab pos="685800" algn="l"/>
              </a:tabLst>
            </a:pPr>
            <a:r>
              <a:rPr lang="en-US" sz="1200" dirty="0">
                <a:effectLst/>
              </a:rPr>
              <a:t>Hadi AJ, Najmuldeen GF, Yusoh KB (2013) Dissolution/reprecipitation technique for waste polyolefin recycling using new pure and blend organic solvents. J Polym Eng 33(5):471-481</a:t>
            </a:r>
          </a:p>
          <a:p>
            <a:pPr lvl="0" indent="-285750" marL="533400">
              <a:lnSpc>
                <a:spcPct val="120000"/>
              </a:lnSpc>
              <a:buFont typeface="Symbol" pitchFamily="2" charset="2"/>
              <a:buChar char="27."/>
              <a:tabLst>
                <a:tab pos="685800" algn="l"/>
              </a:tabLst>
            </a:pPr>
            <a:r>
              <a:rPr lang="en-US" sz="1200" dirty="0">
                <a:effectLst/>
              </a:rPr>
              <a:t>Chernikova EV, Zaitsev SD, Plutalova AV et al (2018) Control over the reactive reactivities of monomers in RAFT copolymerization of styrene and acrylic acid. RSC Adv 20(8):14300-14310</a:t>
            </a:r>
          </a:p>
          <a:p>
            <a:pPr lvl="0" indent="-285750" marL="533400">
              <a:lnSpc>
                <a:spcPct val="120000"/>
              </a:lnSpc>
              <a:buFont typeface="Symbol" pitchFamily="2" charset="2"/>
              <a:buChar char="28."/>
              <a:tabLst>
                <a:tab pos="685800" algn="l"/>
              </a:tabLst>
            </a:pPr>
            <a:r>
              <a:rPr lang="en-US" sz="1200" dirty="0">
                <a:effectLst/>
              </a:rPr>
              <a:t>Wongthong P, Nakason C, Pan Q et al (2014) Styrene-assisted grafting of maleic anhydride onto deproteinized natural rubber. Eur Polym J 59:144</a:t>
            </a:r>
          </a:p>
          <a:p>
            <a:pPr lvl="0" indent="-285750" marL="533400">
              <a:lnSpc>
                <a:spcPct val="120000"/>
              </a:lnSpc>
              <a:buFont typeface="Symbol" pitchFamily="2" charset="2"/>
              <a:buChar char="29."/>
              <a:tabLst>
                <a:tab pos="685800" algn="l"/>
              </a:tabLst>
            </a:pPr>
            <a:r>
              <a:rPr lang="en-US" sz="1200" dirty="0">
                <a:effectLst/>
              </a:rPr>
              <a:t>Wang D, Wang J, He S et al (2021) Efficient approach to produce functional polypropylene via solvent assisted solid-phase free radical grafting of multi-monomers. Appl Petrochem Res 11:99-111</a:t>
            </a:r>
          </a:p>
          <a:p>
            <a:pPr lvl="0" indent="-285750" marL="533400">
              <a:lnSpc>
                <a:spcPct val="120000"/>
              </a:lnSpc>
              <a:buFont typeface="Symbol" pitchFamily="2" charset="2"/>
              <a:buChar char="30."/>
              <a:tabLst>
                <a:tab pos="685800" algn="l"/>
              </a:tabLst>
            </a:pPr>
            <a:r>
              <a:rPr lang="en-US" sz="1200" dirty="0">
                <a:effectLst/>
              </a:rPr>
              <a:t>El-Sayed Hegazy D (2012) Selectivity of acrylic acid radiation grafted non-woven polypropylene sheets towards some heavy metals ions. Open J Polym Chem 2:6-13</a:t>
            </a:r>
          </a:p>
          <a:p>
            <a:pPr lvl="0" indent="-285750" marL="533400">
              <a:lnSpc>
                <a:spcPct val="120000"/>
              </a:lnSpc>
              <a:buFont typeface="Symbol" pitchFamily="2" charset="2"/>
              <a:buChar char="31."/>
              <a:tabLst>
                <a:tab pos="685800" algn="l"/>
              </a:tabLst>
            </a:pPr>
            <a:r>
              <a:rPr lang="en-US" sz="1200" dirty="0">
                <a:effectLst/>
              </a:rPr>
              <a:t>Abudonia KS, Saad GR, Naguib HF, Eweis M, Zahran D, Elsabee MZ (2018) Surface modification of polypropylene film by grafting with vinyl monomers for the attachment of chitosan. J Polym Res. </a:t>
            </a:r>
            <a:r>
              <a:rPr lang="en-US" sz="1200" dirty="0">
                <a:effectLst/>
                <a:hlinkClick r:id="rId2"/>
              </a:rPr>
              <a:t>https://doi.org/10.1007/s10965-018-1517-3</a:t>
            </a:r>
          </a:p>
          <a:p>
            <a:pPr lvl="0" indent="-285750" marL="533400">
              <a:lnSpc>
                <a:spcPct val="120000"/>
              </a:lnSpc>
              <a:buFont typeface="Symbol" pitchFamily="2" charset="2"/>
              <a:buChar char="32."/>
              <a:tabLst>
                <a:tab pos="685800" algn="l"/>
              </a:tabLst>
            </a:pPr>
            <a:r>
              <a:rPr lang="en-US" sz="1200" dirty="0">
                <a:effectLst/>
              </a:rPr>
              <a:t>Hassan MIU, Taimur S, Khan IA et al (2018) Surface modification of polypropylene waste by the radiation grafting of styrene and upcycling into a cation-exchange resin. J Appl Polym Sci 47145:1-8</a:t>
            </a:r>
          </a:p>
          <a:p>
            <a:pPr lvl="0" indent="-285750" marL="533400">
              <a:lnSpc>
                <a:spcPct val="120000"/>
              </a:lnSpc>
              <a:buFont typeface="Symbol" pitchFamily="2" charset="2"/>
              <a:buChar char="33."/>
              <a:tabLst>
                <a:tab pos="685800" algn="l"/>
              </a:tabLst>
            </a:pPr>
            <a:r>
              <a:rPr lang="en-US" sz="1200" dirty="0">
                <a:effectLst/>
              </a:rPr>
              <a:t>Mandal DK, Bhunia H, Bajpai PK et al (2016) Radiation-induced grafting of acrylic acid onto polypropylene film and its biodegradability. Radiat Phys Chem 123:37-45</a:t>
            </a:r>
          </a:p>
          <a:p>
            <a:pPr lvl="0" indent="-285750" marL="533400">
              <a:lnSpc>
                <a:spcPct val="120000"/>
              </a:lnSpc>
              <a:buFont typeface="Symbol" pitchFamily="2" charset="2"/>
              <a:buChar char="34."/>
              <a:tabLst>
                <a:tab pos="685800" algn="l"/>
              </a:tabLst>
            </a:pPr>
            <a:r>
              <a:rPr lang="en-US" sz="1200" dirty="0">
                <a:effectLst/>
              </a:rPr>
              <a:t>Julthongpiput D, LeMieux M, Tsukruk VV (2003) Micromechanical properties of glassy and rubbery polymer brush layers as probed by atomic force microscopy. Polym 44:4557-4562</a:t>
            </a:r>
          </a:p>
          <a:p>
            <a:pPr lvl="0" indent="-285750" marL="533400">
              <a:lnSpc>
                <a:spcPct val="120000"/>
              </a:lnSpc>
              <a:buFont typeface="Symbol" pitchFamily="2" charset="2"/>
              <a:buChar char="35."/>
              <a:tabLst>
                <a:tab pos="685800" algn="l"/>
              </a:tabLst>
            </a:pPr>
            <a:r>
              <a:rPr lang="en-US" sz="1200" dirty="0">
                <a:effectLst/>
              </a:rPr>
              <a:t>El-Toony MM, Abdel-Hady EE, El-Kelesh NA (2016) Application of poly (tetraflouroethylene) grafted with styrene/acrylic acid for proton exchange fuel cell. Egypt J Chem 59(5):799-818</a:t>
            </a:r>
          </a:p>
          <a:p>
            <a:pPr lvl="0" indent="-285750" marL="533400">
              <a:lnSpc>
                <a:spcPct val="120000"/>
              </a:lnSpc>
              <a:buFont typeface="Symbol" pitchFamily="2" charset="2"/>
              <a:buChar char="36."/>
              <a:tabLst>
                <a:tab pos="685800" algn="l"/>
              </a:tabLst>
            </a:pPr>
            <a:r>
              <a:rPr lang="en-US" sz="1200" dirty="0">
                <a:effectLst/>
              </a:rPr>
              <a:t>Flores-Gallardo SG, Sanchez-Valdes S, Ramos De Valle LF (2001) Polypropylene/polypropylenegrafted acrylic acid blends for multilayer films: Preparation and characterization. J Appl Polym Sci 79:1497-1505</a:t>
            </a:r>
          </a:p>
          <a:p>
            <a:pPr lvl="0" indent="-285750" marL="533400">
              <a:lnSpc>
                <a:spcPct val="120000"/>
              </a:lnSpc>
              <a:buFont typeface="Symbol" pitchFamily="2" charset="2"/>
              <a:buChar char="37."/>
              <a:tabLst>
                <a:tab pos="685800" algn="l"/>
              </a:tabLst>
            </a:pPr>
            <a:r>
              <a:rPr lang="en-US" sz="1200" dirty="0">
                <a:effectLst/>
              </a:rPr>
              <a:t>Dong Q, Liu Y (2004) Free-radical grafting of acrylic acid onto isotactic polypropylene using styrene as a comonomer in supercritical carbon dioxide. J Appl Polym Sci 92(4):2203-2210</a:t>
            </a:r>
          </a:p>
          <a:p>
            <a:pPr lvl="0" indent="-285750" marL="533400">
              <a:lnSpc>
                <a:spcPct val="120000"/>
              </a:lnSpc>
              <a:buFont typeface="Symbol" pitchFamily="2" charset="2"/>
              <a:buChar char="38."/>
              <a:tabLst>
                <a:tab pos="685800" algn="l"/>
              </a:tabLst>
            </a:pPr>
            <a:r>
              <a:rPr lang="en-US" sz="1200" dirty="0">
                <a:effectLst/>
              </a:rPr>
              <a:t>Li X, Silge S, Saal A et al (2021) Adaptation of a styrene-acrylic acid copolymer surface to water. Langmuir 37(4):1571-1577</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p:sp>
        <p:nvSpPr>
          <p:cNvPr id="4" name="Text"/>
          <p:cNvSpPr/>
          <p:nvPr/>
        </p:nvSpPr>
        <p:spPr>
          <a:xfrm>
            <a:off x="1524000" y="457200"/>
            <a:ext cx="9144000" cy="2286000"/>
          </a:xfrm>
          <a:prstGeom prst="rect">
            <a:avLst/>
          </a:prstGeom>
        </p:spPr>
        <p:txBody>
          <a:bodyPr anchor="t" lIns="0" tIns="0" rIns="0" bIns="0">
            <a:noAutofit/>
          </a:bodyPr>
          <a:lstStyle/>
          <a:p>
            <a:pPr lvl="0" indent="-285750" marL="533400">
              <a:lnSpc>
                <a:spcPct val="120000"/>
              </a:lnSpc>
              <a:buFont typeface="Symbol" pitchFamily="2" charset="2"/>
              <a:buChar char="39."/>
              <a:tabLst>
                <a:tab pos="685800" algn="l"/>
              </a:tabLst>
            </a:pPr>
            <a:r>
              <a:rPr lang="en-US" sz="1200" dirty="0">
                <a:effectLst/>
              </a:rPr>
              <a:t>Lutful Kabir MD, Kim HJ, Choi S (2017) Comparison of several acidified chitosan/Nafion® composite membranes for fuel cell applications. J Nanosci Nanotechno 17:8128-8131</a:t>
            </a:r>
          </a:p>
          <a:p>
            <a:pPr lvl="0" indent="-285750" marL="533400">
              <a:lnSpc>
                <a:spcPct val="120000"/>
              </a:lnSpc>
              <a:buFont typeface="Symbol" pitchFamily="2" charset="2"/>
              <a:buChar char="40."/>
              <a:tabLst>
                <a:tab pos="685800" algn="l"/>
              </a:tabLst>
            </a:pPr>
            <a:r>
              <a:rPr lang="en-US" sz="1200" dirty="0">
                <a:effectLst/>
              </a:rPr>
              <a:t>Berthelot K, Lecomte S, Estevez Y et al (1838) (2014) Rubber particle proteins, HbREF and HbSRPP, show different interactions with model membranes. Biochim Biophys Acta Biomembr 1:287-299</a:t>
            </a:r>
          </a:p>
          <a:p>
            <a:pPr lvl="0" indent="-285750" marL="533400">
              <a:lnSpc>
                <a:spcPct val="120000"/>
              </a:lnSpc>
              <a:buFont typeface="Symbol" pitchFamily="2" charset="2"/>
              <a:buChar char="41."/>
              <a:tabLst>
                <a:tab pos="685800" algn="l"/>
              </a:tabLst>
            </a:pPr>
            <a:r>
              <a:rPr lang="en-US" sz="1200" dirty="0">
                <a:effectLst/>
              </a:rPr>
              <a:t>Badiei YM, Traba C, Rosales R et al (2021) Plasma-initiated graft polymerization of acrylic acid onto fluorine-doped tin oxide as a platform for immobilization of water-oxidation catalysts. ACS Appl Mater Interfaces 13:14077-14090</a:t>
            </a:r>
          </a:p>
          <a:p>
            <a:pPr lvl="0" indent="-285750" marL="533400">
              <a:lnSpc>
                <a:spcPct val="120000"/>
              </a:lnSpc>
              <a:buFont typeface="Symbol" pitchFamily="2" charset="2"/>
              <a:buChar char="42."/>
              <a:tabLst>
                <a:tab pos="685800" algn="l"/>
              </a:tabLst>
            </a:pPr>
            <a:r>
              <a:rPr lang="en-US" sz="1200" dirty="0">
                <a:effectLst/>
              </a:rPr>
              <a:t>Ang MBMY, Huang S, Chang M et al (2020) Ultraviolet-initiated graft polymerization of acrylic acid onto thin-film polyamide surface for improved ethanol dehydration performance of pervaporation membranes. Sep Purif Technol 235:116155</a:t>
            </a:r>
          </a:p>
          <a:p>
            <a:pPr lvl="0" indent="-285750" marL="533400">
              <a:lnSpc>
                <a:spcPct val="120000"/>
              </a:lnSpc>
              <a:buFont typeface="Symbol" pitchFamily="2" charset="2"/>
              <a:buChar char="43."/>
              <a:tabLst>
                <a:tab pos="685800" algn="l"/>
              </a:tabLst>
            </a:pPr>
            <a:r>
              <a:rPr lang="en-US" sz="1200" dirty="0">
                <a:effectLst/>
              </a:rPr>
              <a:t>Chen F, Xie L (2020) Enhanced fouling-resistance performance of polypropylene hollow fiber membrane fabricated by ultrasonic-assisted graft polymerization of acrylic acid. Appl Surf Sci 502:144098</a:t>
            </a:r>
          </a:p>
        </p:txBody>
      </p:sp>
      <p:sp>
        <p:nvSpPr>
          <p:cNvPr id="2" name="Text"/>
          <p:cNvSpPr/>
          <p:nvPr/>
        </p:nvSpPr>
        <p:spPr>
          <a:xfrm>
            <a:off x="1524000" y="2895600"/>
            <a:ext cx="9144000" cy="2514600"/>
          </a:xfrm>
          <a:prstGeom prst="rect">
            <a:avLst/>
          </a:prstGeom>
        </p:spPr>
        <p:txBody>
          <a:bodyPr anchor="t" lIns="0" tIns="0" rIns="0" bIns="0">
            <a:noAutofit/>
          </a:bodyPr>
          <a:lstStyle/>
          <a:p>
            <a:pPr lvl="0" indent="-285750" marL="533400">
              <a:lnSpc>
                <a:spcPct val="120000"/>
              </a:lnSpc>
              <a:buFont typeface="Symbol" pitchFamily="2" charset="2"/>
              <a:buChar char="44."/>
              <a:tabLst>
                <a:tab pos="685800" algn="l"/>
              </a:tabLst>
            </a:pPr>
            <a:r>
              <a:rPr lang="en-US" sz="1200" dirty="0">
                <a:effectLst/>
              </a:rPr>
              <a:t>Matsuzaki Y, Itabashi T, Kawai-Noma S et al (2019) Improvement of protein binding capacity of acrylic-acid-grafted fibers by polymer root-to-brush shift. Radiat Phys Chem 158:131-136</a:t>
            </a:r>
          </a:p>
          <a:p>
            <a:pPr lvl="0" indent="-285750" marL="533400">
              <a:lnSpc>
                <a:spcPct val="120000"/>
              </a:lnSpc>
              <a:buFont typeface="Symbol" pitchFamily="2" charset="2"/>
              <a:buChar char="45."/>
              <a:tabLst>
                <a:tab pos="685800" algn="l"/>
              </a:tabLst>
            </a:pPr>
            <a:r>
              <a:rPr lang="en-US" sz="1200" dirty="0">
                <a:effectLst/>
              </a:rPr>
              <a:t>Xu L, Hu J, Ma H et al (2018) Electron-beam-induced post-grafting polymerization of acrylic acid onto the surface of Kevlar fibers. Radiat Phys Chem 145:74-79</a:t>
            </a:r>
          </a:p>
          <a:p>
            <a:pPr lvl="0" indent="-285750" marL="533400">
              <a:lnSpc>
                <a:spcPct val="120000"/>
              </a:lnSpc>
              <a:buFont typeface="Symbol" pitchFamily="2" charset="2"/>
              <a:buChar char="46."/>
              <a:tabLst>
                <a:tab pos="685800" algn="l"/>
              </a:tabLst>
            </a:pPr>
            <a:r>
              <a:rPr lang="en-US" sz="1200" dirty="0">
                <a:effectLst/>
              </a:rPr>
              <a:t>Gupta B, Krishnanand K, Deopura BL (2012) Oxygen plasma-induced grafted polymerization of acrylic acid on polycaprolactone monofilament. Eur Polym J 48:1940-1948</a:t>
            </a:r>
          </a:p>
          <a:p>
            <a:pPr lvl="0" indent="-285750" marL="533400">
              <a:lnSpc>
                <a:spcPct val="120000"/>
              </a:lnSpc>
              <a:buFont typeface="Symbol" pitchFamily="2" charset="2"/>
              <a:buChar char="47."/>
              <a:tabLst>
                <a:tab pos="685800" algn="l"/>
              </a:tabLst>
            </a:pPr>
            <a:r>
              <a:rPr lang="en-US" sz="1200" dirty="0">
                <a:effectLst/>
              </a:rPr>
              <a:t>Korolkov IV, Mashentseva AA, Güven O, Taltenov AA (2015) UV-induced graft polymerization of acrylic acid in the sub-micronchannels of oxidized PET track-etched membrane. Nucl Instrum Methods Phys Res Sec B: Beam Inter Mater Atoms 365:419-423. </a:t>
            </a:r>
            <a:r>
              <a:rPr lang="en-US" sz="1200" dirty="0">
                <a:effectLst/>
                <a:hlinkClick r:id="rId2"/>
              </a:rPr>
              <a:t>https://doi.org/10.1016/j.nimb</a:t>
            </a:r>
            <a:r>
              <a:rPr lang="en-US" sz="1200" dirty="0">
                <a:effectLst/>
              </a:rPr>
              <a:t>. 2015.07.057</a:t>
            </a:r>
          </a:p>
          <a:p>
            <a:pPr lvl="0" indent="-285750" marL="533400">
              <a:lnSpc>
                <a:spcPct val="120000"/>
              </a:lnSpc>
              <a:buFont typeface="Symbol" pitchFamily="2" charset="2"/>
              <a:buChar char="48."/>
              <a:tabLst>
                <a:tab pos="685800" algn="l"/>
              </a:tabLst>
            </a:pPr>
            <a:r>
              <a:rPr lang="en-US" sz="1200" dirty="0">
                <a:effectLst/>
              </a:rPr>
              <a:t>Zhao X, Xiong D, Wang K et al (2017) Improved biotribological properties of PEEK by photoinduced graft polymerization of acrylic acid. Mater Sci Eng C 75:777-783</a:t>
            </a:r>
          </a:p>
        </p:txBody>
      </p:sp>
      <p:sp>
        <p:nvSpPr>
          <p:cNvPr id="2" name="Text"/>
          <p:cNvSpPr/>
          <p:nvPr/>
        </p:nvSpPr>
        <p:spPr>
          <a:xfrm>
            <a:off x="1524000" y="5562600"/>
            <a:ext cx="9144000" cy="228600"/>
          </a:xfrm>
          <a:prstGeom prst="rect">
            <a:avLst/>
          </a:prstGeom>
        </p:spPr>
        <p:txBody>
          <a:bodyPr anchor="t" lIns="0" tIns="0" rIns="0" bIns="0">
            <a:noAutofit/>
          </a:bodyPr>
          <a:lstStyle/>
          <a:p>
            <a:pPr>
              <a:lnSpc>
                <a:spcPct val="120000"/>
              </a:lnSpc>
            </a:pPr>
            <a:r>
              <a:rPr lang="en-US" sz="1200" dirty="0">
                <a:effectLst/>
              </a:rPr>
              <a:t>Publisher's Note Springer Nature remains neutral with regard to jurisdictional claims in published maps and institutional affiliations.</a:t>
            </a:r>
          </a:p>
        </p:txBody>
      </p:sp>
      <p:cxnSp>
        <p:nvCxnSpPr>
          <p:cNvPr id="2" name="Straight Connector 1"/>
          <p:cNvCxnSpPr/>
          <p:nvPr/>
        </p:nvCxnSpPr>
        <p:spPr>
          <a:xfrm>
            <a:off x="1524000" y="5943600"/>
            <a:ext cx="9144000" cy="0"/>
          </a:xfrm>
          <a:prstGeom prst="line">
            <a:avLst/>
          </a:prstGeom>
          <a:ln>
            <a:solidFill>
              <a:srgbClr val="1e202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
              <p:cNvSpPr/>
              <p:nvPr/>
            </p:nvSpPr>
            <p:spPr>
              <a:xfrm>
                <a:off x="1524000" y="457200"/>
                <a:ext cx="9144000" cy="1371600"/>
              </a:xfrm>
              <a:prstGeom prst="rect">
                <a:avLst/>
              </a:prstGeom>
            </p:spPr>
            <p:txBody>
              <a:bodyPr anchor="t" lIns="0" tIns="0" rIns="0" bIns="0">
                <a:noAutofit/>
              </a:bodyPr>
              <a:lstStyle/>
              <a:p>
                <a:pPr lvl="0" indent="-285750" marL="342900">
                  <a:lnSpc>
                    <a:spcPct val="120000"/>
                  </a:lnSpc>
                  <a:buFont typeface="Symbol" pitchFamily="2" charset="2"/>
                  <a:buChar char=" "/>
                  <a:tabLst>
                    <a:tab pos="685800" algn="l"/>
                  </a:tabLst>
                </a:pPr>
                <a:r>
                  <a:rPr lang="en-US" sz="1200" dirty="0">
                    <a:effectLst/>
                  </a:rPr>
                  <a:t>Sayant Saengsuwan</a:t>
                </a:r>
                <a:br>
                  <a:rPr lang="en-US" sz="1200" dirty="0"/>
                </a:br>
                <a:r>
                  <a:rPr lang="en-US" sz="1200" dirty="0">
                    <a:effectLst/>
                  </a:rPr>
                  <a:t> </a:t>
                </a:r>
                <a:r>
                  <a:rPr lang="en-US" sz="1200" dirty="0">
                    <a:effectLst/>
                    <a:hlinkClick r:id="rId2"/>
                  </a:rPr>
                  <a:t>sayant.s@ubu.ac.th</a:t>
                </a:r>
                <a:r>
                  <a:rPr lang="en-US" sz="1200" dirty="0">
                    <a:effectLst/>
                  </a:rPr>
                  <a:t>; </a:t>
                </a:r>
                <a:r>
                  <a:rPr lang="en-US" sz="1200" dirty="0">
                    <a:effectLst/>
                    <a:hlinkClick r:id="rId3"/>
                  </a:rPr>
                  <a:t>sayants181@gmail.com</a:t>
                </a:r>
                <a:br>
                  <a:rPr lang="en-US" sz="1200" dirty="0"/>
                </a:br>
                <a:r>
                  <a:rPr lang="en-US" sz="1200" dirty="0">
                    <a:effectLst/>
                  </a:rPr>
                  <a: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1</m:t>
                        </m:r>
                      </m:sup>
                    </m:sSup>
                  </m:oMath>
                </a14:m>
                <a:r>
                  <a:rPr lang="en-US" sz="1200" dirty="0">
                    <a:effectLst/>
                  </a:rPr>
                  <a:t> Laboratory of Advanced Polymer and Rubber Materials (APRM), Department of Chemistry, Faculty of Science, Ubon Ratchathani University, Ubon Ratchathani, Warinchamrap 34190, Thailand</a:t>
                </a:r>
                <a:br>
                  <a:rPr lang="en-US" sz="1200" dirty="0"/>
                </a:br>
                <a:r>
                  <a:rPr lang="en-US" sz="1200" dirty="0">
                    <a:effectLst/>
                  </a:rPr>
                  <a:t> </a:t>
                </a:r>
                <a:r>
                  <a:rPr lang="en-US" sz="1200" dirty="0">
                    <a:effectLst/>
                  </a:rPr>
                  <a:t>​</a:t>
                </a:r>
                <a14:m>
                  <m:oMath>
                    <m:sSup>
                      <m:sSupPr>
                        <m:ctrlPr>
                          <a:rPr sz="1200">
                            <a:latin typeface="Cambria Math" panose="02040503050406030204" pitchFamily="18" charset="0"/>
                          </a:rPr>
                        </m:ctrlPr>
                      </m:sSupPr>
                      <m:e>
                        <m:r>
                          <m:t xml:space="preserve"> </m:t>
                        </m:r>
                      </m:e>
                      <m:sup>
                        <m:r>
                          <m:rPr>
                            <m:sty m:val="p"/>
                          </m:rPr>
                          <a:rPr lang="en-US" sz="1200" dirty="0">
                            <a:solidFill>
                              <a:srgbClr val="000000"/>
                            </a:solidFill>
                            <a:effectLst/>
                          </a:rPr>
                          <m:t>2</m:t>
                        </m:r>
                      </m:sup>
                    </m:sSup>
                  </m:oMath>
                </a14:m>
                <a:r>
                  <a:rPr lang="en-US" sz="1200" dirty="0">
                    <a:effectLst/>
                  </a:rPr>
                  <a:t> Department of Chemistry and Center of Excellence for Innovation in Chemistry (PERCH-CIC), Faculty of Science, Ubon Ratchathani University, Ubon Ratchathani, Warinchamrap 34190, Thailand</a:t>
                </a:r>
              </a:p>
            </p:txBody>
          </p:sp>
        </mc:Choice>
        <mc:Fallback/>
      </mc:AlternateContent>
    </p:spTree>
  </p:cSld>
  <p:clrMapOvr>
    <a:masterClrMapping/>
  </p:clrMapOvr>
</p:sld>
</file>

<file path=ppt/theme/theme1.xml><?xml version="1.0" encoding="utf-8"?>
<a:theme xmlns:a="http://schemas.openxmlformats.org/drawingml/2006/main" name="Office Theme">
  <a:themeElements>
    <a:clrScheme name="Mathpix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B93ff"/>
      </a:hlink>
      <a:folHlink>
        <a:srgbClr val="0B93ff"/>
      </a:folHlink>
    </a:clrScheme>
    <a:fontScheme name="Office">
      <a:majorFont>
        <a:latin typeface="Georgia" panose="020405020504050203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orgia" panose="020405020504050203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Widescreen</PresentationFormat>
  <Paragraphs>0</Paragraphs>
  <Slides>43</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Mathpix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mmd-to-pptx</dc:creator>
  <cp:lastModifiedBy>mmd-to-pptx</cp:lastModifiedBy>
  <cp:revision>1</cp:revision>
  <dcterms:created xsi:type="dcterms:W3CDTF">2026-09-12T10:56:48.982Z</dcterms:created>
  <dcterms:modified xsi:type="dcterms:W3CDTF">2026-09-12T10:56:48.982Z</dcterms:modified>
</cp:coreProperties>
</file>