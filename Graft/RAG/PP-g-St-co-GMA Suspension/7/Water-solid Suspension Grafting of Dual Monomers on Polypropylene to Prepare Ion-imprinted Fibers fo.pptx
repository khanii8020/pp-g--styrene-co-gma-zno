
<file path=[Content_Types].xml><?xml version="1.0" encoding="utf-8"?>
<Types xmlns="http://schemas.openxmlformats.org/package/2006/content-types">
  <Default Extension="rels" ContentType="application/vnd.openxmlformats-package.relationships+xml"/>
  <Default Extension="jpeg" ContentType="image/jpeg"/>
  <Default Extension="png" ContentType="image/png"/>
  <Default Extension="svg" ContentType="image/svg+xml"/>
  <Default Extension="jpg" ContentType="image/jp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9525" cmpd="sng">
              <a:solidFill>
                <a:schemeClr val="tx1"/>
              </a:solidFill>
            </a:ln>
          </a:left>
          <a:right>
            <a:ln w="12700" cmpd="sng">
              <a:solidFill>
                <a:schemeClr val="tx1"/>
              </a:solidFill>
            </a:ln>
          </a:right>
          <a:top>
            <a:ln w="9525" cmpd="sng">
              <a:solidFill>
                <a:schemeClr val="tx1"/>
              </a:solidFill>
            </a:ln>
          </a:top>
          <a:bottom>
            <a:ln w="9525" cmpd="sng">
              <a:solidFill>
                <a:schemeClr val="tx1"/>
              </a:solidFill>
            </a:ln>
          </a:bottom>
          <a:insideH>
            <a:ln w="9525" cmpd="sng">
              <a:solidFill>
                <a:schemeClr val="tx1"/>
              </a:solidFill>
            </a:ln>
          </a:insideH>
          <a:insideV>
            <a:ln w="9525"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n-lt"/>
          <a:ea typeface="+mn-ea"/>
          <a:cs typeface="+mn-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72fd3e8fa6a6dc86ca8823e263a3c7fa6179d0.jp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f3460981c0a80bddb5f8137fd17a507b7a20fc46.jp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37d776a025ab7881a625654ff55f21c99a5e1c0.jp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0c529a09ae9d5746381a401bbb0b73af53fd9ef8.jp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e8851fd01f9eb900e548362e6dc07156d537ce47.jp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437ba978123bb8572c5695caec2e014536d909e.jp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228aa36e42293ec61e8085ff3f80dab91178d2b.jp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f1bea711956b02da3d83db472e40110fb8728f51.jp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aa9248683aaf47177f8616d1c2f69b47c29c9054.jp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16b4df930f14903eee314e0e5b4c0cb1c26cd6.jpg"/></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bda90a884cd9696f50f4d3f3b2f1e1e7ef9771c.jpg"/></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a608c2398663ebe6c182f7c9cf74746b4ba5caac.jpg"/></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f29c0486b3a5c0e83e2a4a7794ba7aa5588eedfc.jpg"/></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6f6a042c51028ca0f5a0ee577626e681b25e89.jpg"/></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wjwei@njtech.edu.cn" TargetMode="External"/><Relationship Id="rId3" Type="http://schemas.openxmlformats.org/officeDocument/2006/relationships/hyperlink" Target="mailto:lianzy1985@163.com"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095375"/>
          </a:xfrm>
          <a:prstGeom prst="rect">
            <a:avLst/>
          </a:prstGeom>
        </p:spPr>
        <p:txBody>
          <a:bodyPr anchor="t" lIns="0" tIns="0" rIns="0" bIns="0">
            <a:noAutofit/>
          </a:bodyPr>
          <a:lstStyle/>
          <a:p>
            <a:pPr algn="ctr">
              <a:lnSpc>
                <a:spcPct val="96700"/>
              </a:lnSpc>
            </a:pPr>
            <a:r>
              <a:rPr lang="en-US" sz="2400" dirty="0" b="1">
                <a:effectLst/>
              </a:rPr>
              <a:t>Water-solid Suspension Grafting of Dual Monomers on Polypropylene to Prepare Ion-imprinted Fibers for Selective Adsorption of Cr(VI)</a:t>
            </a:r>
          </a:p>
        </p:txBody>
      </p:sp>
      <mc:AlternateContent xmlns:mc="http://schemas.openxmlformats.org/markup-compatibility/2006">
        <mc:Choice xmlns:a14="http://schemas.microsoft.com/office/drawing/2010/main" Requires="a14">
          <p:sp>
            <p:nvSpPr>
              <p:cNvPr id="2" name="Text"/>
              <p:cNvSpPr/>
              <p:nvPr/>
            </p:nvSpPr>
            <p:spPr>
              <a:xfrm>
                <a:off x="3810000" y="1857375"/>
                <a:ext cx="4572000" cy="2209800"/>
              </a:xfrm>
              <a:prstGeom prst="rect">
                <a:avLst/>
              </a:prstGeom>
            </p:spPr>
            <p:txBody>
              <a:bodyPr anchor="t" lIns="0" tIns="0" rIns="0" bIns="0">
                <a:noAutofit/>
              </a:bodyPr>
              <a:lstStyle/>
              <a:p>
                <a:pPr algn="ctr" marL="133350">
                  <a:lnSpc>
                    <a:spcPct val="120000"/>
                  </a:lnSpc>
                </a:pPr>
                <a:r>
                  <a:rPr lang="en-US" sz="1200" dirty="0">
                    <a:effectLst/>
                  </a:rPr>
                  <a:t>Zhengwei Luo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1</m:t>
                        </m:r>
                      </m:sup>
                    </m:sSup>
                  </m:oMath>
                </a14:m>
                <a:r>
                  <a:rPr lang="en-US" sz="1200" dirty="0">
                    <a:effectLst/>
                  </a:rPr>
                  <a:t>, Lei Li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2</m:t>
                        </m:r>
                      </m:sup>
                    </m:sSup>
                  </m:oMath>
                </a14:m>
                <a:r>
                  <a:rPr lang="en-US" sz="1200" dirty="0">
                    <a:effectLst/>
                  </a:rPr>
                  <a:t>, Mulin Guo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3</m:t>
                        </m:r>
                      </m:sup>
                    </m:sSup>
                  </m:oMath>
                </a14:m>
                <a:r>
                  <a:rPr lang="en-US" sz="1200" dirty="0">
                    <a:effectLst/>
                  </a:rPr>
                  <a:t>, Hui Jiang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1</m:t>
                        </m:r>
                      </m:sup>
                    </m:sSup>
                  </m:oMath>
                </a14:m>
                <a:r>
                  <a:rPr lang="en-US" sz="1200" dirty="0">
                    <a:effectLst/>
                  </a:rPr>
                  <a:t>, Wenhua Geng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1</m:t>
                        </m:r>
                      </m:sup>
                    </m:sSup>
                  </m:oMath>
                </a14:m>
                <a:r>
                  <a:rPr lang="en-US" sz="1200" dirty="0">
                    <a:effectLst/>
                  </a:rPr>
                  <a:t>, Wuji Wei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2</m:t>
                        </m:r>
                        <m:r>
                          <m:rPr>
                            <m:sty m:val="b"/>
                          </m:rPr>
                          <a:rPr lang="en-US" sz="1200" dirty="0">
                            <a:solidFill>
                              <a:srgbClr val="000000"/>
                            </a:solidFill>
                            <a:effectLst/>
                          </a:rPr>
                          <m:t>∗</m:t>
                        </m:r>
                      </m:sup>
                    </m:sSup>
                  </m:oMath>
                </a14:m>
                <a:r>
                  <a:rPr lang="en-US" sz="1200" dirty="0">
                    <a:effectLst/>
                  </a:rPr>
                  <a:t>, and Zhouyang Lian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2</m:t>
                        </m:r>
                      </m:sup>
                    </m:sSup>
                  </m:oMath>
                </a14:m>
                <a:r>
                  <a:rPr lang="en-US" sz="1200" dirty="0">
                    <a:effectLst/>
                  </a:rPr>
                  <a:t> *</a:t>
                </a:r>
              </a:p>
              <a:p>
                <a:pPr algn="ctr" marL="133350">
                  <a:lnSpc>
                    <a:spcPct val="120000"/>
                  </a:lnSpc>
                </a:pP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oMath>
                </a14:m>
                <a:r>
                  <a:rPr lang="en-US" sz="1200" dirty="0">
                    <a:effectLst/>
                  </a:rPr>
                  <a:t> College of Biotechnology and Pharmaceutical Engineering, Nanjing Tech University, Nanjing 211816, China</a:t>
                </a:r>
              </a:p>
              <a:p>
                <a:pPr algn="ctr" marL="133350">
                  <a:lnSpc>
                    <a:spcPct val="120000"/>
                  </a:lnSpc>
                </a:pP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m:t>
                        </m:r>
                      </m:sup>
                    </m:sSup>
                  </m:oMath>
                </a14:m>
                <a:r>
                  <a:rPr lang="en-US" sz="1200" dirty="0">
                    <a:effectLst/>
                  </a:rPr>
                  <a:t> School of Environmental Science and Engineering, Nanjing Tech University, Nanjing 211816, China</a:t>
                </a:r>
              </a:p>
              <a:p>
                <a:pPr algn="ctr" marL="133350">
                  <a:lnSpc>
                    <a:spcPct val="120000"/>
                  </a:lnSpc>
                </a:pP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3</m:t>
                        </m:r>
                      </m:sup>
                    </m:sSup>
                  </m:oMath>
                </a14:m>
                <a:r>
                  <a:rPr lang="en-US" sz="1200" dirty="0">
                    <a:effectLst/>
                  </a:rPr>
                  <a:t> Nanjing Hydraulic Research Institute, Nanjing 210029, China</a:t>
                </a:r>
              </a:p>
              <a:p>
                <a:pPr algn="ctr" marL="133350">
                  <a:lnSpc>
                    <a:spcPct val="120000"/>
                  </a:lnSpc>
                  <a:spcAft>
                    <a:spcPts val="1200"/>
                  </a:spcAft>
                </a:pPr>
                <a:r>
                  <a:rPr lang="en-US" sz="1200" dirty="0">
                    <a:effectLst/>
                  </a:rPr>
                  <a:t>(Received February 20, 2020; Revised March 26, 2020; Accepted March 30, 2020)</a:t>
                </a:r>
              </a:p>
            </p:txBody>
          </p:sp>
        </mc:Choice>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2438400" y="457200"/>
                <a:ext cx="7315200" cy="3171825"/>
              </a:xfrm>
              <a:prstGeom prst="rect">
                <a:avLst/>
              </a:prstGeom>
            </p:spPr>
            <p:txBody>
              <a:bodyPr anchor="t" lIns="0" tIns="0" rIns="0" bIns="0">
                <a:noAutofit/>
              </a:bodyPr>
              <a:lstStyle/>
              <a:p>
                <a:pPr algn="ctr">
                  <a:lnSpc>
                    <a:spcPct val="122100"/>
                  </a:lnSpc>
                  <a:spcAft>
                    <a:spcPts val="1600"/>
                  </a:spcAft>
                </a:pPr>
                <a:r>
                  <a:rPr lang="en-US" sz="1180" dirty="0" b="1">
                    <a:effectLst/>
                  </a:rPr>
                  <a:t>Abstract</a:t>
                </a:r>
              </a:p>
              <a:p>
                <a:pPr>
                  <a:lnSpc>
                    <a:spcPct val="120000"/>
                  </a:lnSpc>
                </a:pPr>
                <a:r>
                  <a:rPr lang="en-US" sz="1200" dirty="0">
                    <a:effectLst/>
                  </a:rPr>
                  <a:t>In this work, a new strategy was developed to prepare Cr(VI)-imprinted polypropylene (PP) fibers-based materials for the adsorption of Cr(VI) from water. Granular PP was modified with dual monomers (glycidyl methacrylate (GMA) and acrylamide (AM)) by water-solid suspension grafting copolymerization. Then, this fibers morphology was obtained by melt-blowing. Hence, the preparation steps of the fibrous Cr(VI)-imprinted adsorbent involved surface ion-imprinting and crosslinking. The influence of the grafting conditions on the grafting percentage was investigated. The maxima grafting percentages of GMA and AM were 16.4 and 10.6 %, respectively. The chemically modified products showed good mobility and stability, thus meeting the requirements of melt-blowing method. The prepared Cr(VI)-imprinted polymers showed a maximum adsorption capacity to Cr(VI) of 43.2 mg/g at pH 3. The adsorption data were well fitted by the pseudo-second-order and Langmuir adsorption models. The adsorbent showed good selectively toward Cr(VI) in a mixed solution containing Cu(II) and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SO</m:t>
                        </m:r>
                      </m:e>
                      <m:sub>
                        <m:r>
                          <m:rPr>
                            <m:sty m:val="p"/>
                          </m:rPr>
                          <a:rPr lang="en-US" sz="1200" dirty="0">
                            <a:solidFill>
                              <a:srgbClr val="000000"/>
                            </a:solidFill>
                            <a:effectLst/>
                          </a:rPr>
                          <m:t>4</m:t>
                        </m:r>
                      </m:sub>
                    </m:sSub>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The X-ray photoelectron spectroscopy demonstrated that the adsorbed Cr(VI) was partly reduced to Cr(III).</a:t>
                </a:r>
              </a:p>
            </p:txBody>
          </p:sp>
        </mc:Choice>
        <mc:Fallback/>
      </mc:AlternateContent>
      <p:sp>
        <p:nvSpPr>
          <p:cNvPr id="2" name="Text"/>
          <p:cNvSpPr/>
          <p:nvPr/>
        </p:nvSpPr>
        <p:spPr>
          <a:xfrm>
            <a:off x="1524000" y="3766185"/>
            <a:ext cx="9144000" cy="228600"/>
          </a:xfrm>
          <a:prstGeom prst="rect">
            <a:avLst/>
          </a:prstGeom>
        </p:spPr>
        <p:txBody>
          <a:bodyPr anchor="t" lIns="0" tIns="0" rIns="0" bIns="0">
            <a:noAutofit/>
          </a:bodyPr>
          <a:lstStyle/>
          <a:p>
            <a:pPr>
              <a:lnSpc>
                <a:spcPct val="120000"/>
              </a:lnSpc>
            </a:pPr>
            <a:r>
              <a:rPr lang="en-US" sz="1200" dirty="0">
                <a:effectLst/>
              </a:rPr>
              <a:t>Keywords: Suspension grafting, Dual monomers, Polypropylene fibers, Ion-imprinting, Cr(VI)</a:t>
            </a:r>
          </a:p>
        </p:txBody>
      </p:sp>
      <p:sp>
        <p:nvSpPr>
          <p:cNvPr id="2" name="Text"/>
          <p:cNvSpPr/>
          <p:nvPr/>
        </p:nvSpPr>
        <p:spPr>
          <a:xfrm>
            <a:off x="1524000" y="4147185"/>
            <a:ext cx="9144000" cy="342900"/>
          </a:xfrm>
          <a:prstGeom prst="rect">
            <a:avLst/>
          </a:prstGeom>
        </p:spPr>
        <p:txBody>
          <a:bodyPr anchor="t" lIns="0" tIns="0" rIns="0" bIns="0">
            <a:noAutofit/>
          </a:bodyPr>
          <a:lstStyle/>
          <a:p>
            <a:pPr>
              <a:lnSpc>
                <a:spcPct val="120000"/>
              </a:lnSpc>
            </a:pPr>
            <a:r>
              <a:rPr lang="en-US" sz="1800" dirty="0" b="1">
                <a:effectLst/>
              </a:rPr>
              <a:t>Introduction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514600"/>
          </a:xfrm>
          <a:prstGeom prst="rect">
            <a:avLst/>
          </a:prstGeom>
        </p:spPr>
        <p:txBody>
          <a:bodyPr anchor="t" lIns="0" tIns="0" rIns="0" bIns="0">
            <a:noAutofit/>
          </a:bodyPr>
          <a:lstStyle/>
          <a:p>
            <a:pPr>
              <a:lnSpc>
                <a:spcPct val="120000"/>
              </a:lnSpc>
            </a:pPr>
            <a:r>
              <a:rPr lang="en-US" sz="1200" dirty="0">
                <a:effectLst/>
              </a:rPr>
              <a:t>Hexavalent chromium (Cr(VI)) mainly originates from mining, metal smelting, electroplating, tanning, and other industries. Due to its extremely high toxicity and confirmed carcinogenic, teratogenic, and mutagenetic effects, the discharge of wastewater without proper pretreatment and containing Cr(VI) in a higher concentration than the legally allowed level is a real threat to the environment and human health [1,2]. Adsorption is one of the main methods for the removal of Cr(VI) from water, with the selective adsorption and removal of Cr(VI) by ion-imprinted polymer materials being the most commonly used nowadays [3-5]. Ion imprinting has emerged as an effective way to provide adsorbents with selective recognition and adsorption capabilities toward ions, which ultimately can be used for the preconcentration, detection, and especially the adsorption of ions [6-10]. Compared with bulk polymerization imprinted materials, surface imprinted materials have the advantages of fast adsorption, easy separation, and high recycling efficiency, with potential in real applications [11,12]. Polypropylene (PP) fibers can be successfully used to prepare imprinted materials due to the high porosity, large external surface area, high mass transfer efficiency, and easy recycling. Therefore, these polymer fibers have attracted the attention of researchers [13-15].</a:t>
            </a:r>
          </a:p>
        </p:txBody>
      </p:sp>
      <p:sp>
        <p:nvSpPr>
          <p:cNvPr id="2" name="Text"/>
          <p:cNvSpPr/>
          <p:nvPr/>
        </p:nvSpPr>
        <p:spPr>
          <a:xfrm>
            <a:off x="1524000" y="3124200"/>
            <a:ext cx="9144000" cy="457200"/>
          </a:xfrm>
          <a:prstGeom prst="rect">
            <a:avLst/>
          </a:prstGeom>
        </p:spPr>
        <p:txBody>
          <a:bodyPr anchor="t" lIns="0" tIns="0" rIns="0" bIns="0">
            <a:noAutofit/>
          </a:bodyPr>
          <a:lstStyle/>
          <a:p>
            <a:pPr>
              <a:lnSpc>
                <a:spcPct val="120000"/>
              </a:lnSpc>
            </a:pPr>
            <a:r>
              <a:rPr lang="en-US" sz="1200" dirty="0">
                <a:effectLst/>
              </a:rPr>
              <a:t>However, the preparation of imprinted PP involves first the surface modification of PP fibers with functional groups, which is commonly performed by surface grafting methods,</a:t>
            </a:r>
          </a:p>
        </p:txBody>
      </p:sp>
      <p:sp>
        <p:nvSpPr>
          <p:cNvPr id="2" name="Text"/>
          <p:cNvSpPr/>
          <p:nvPr/>
        </p:nvSpPr>
        <p:spPr>
          <a:xfrm>
            <a:off x="1524000" y="3733800"/>
            <a:ext cx="9144000" cy="1600200"/>
          </a:xfrm>
          <a:prstGeom prst="rect">
            <a:avLst/>
          </a:prstGeom>
        </p:spPr>
        <p:txBody>
          <a:bodyPr anchor="t" lIns="0" tIns="0" rIns="0" bIns="0">
            <a:noAutofit/>
          </a:bodyPr>
          <a:lstStyle/>
          <a:p>
            <a:pPr>
              <a:lnSpc>
                <a:spcPct val="120000"/>
              </a:lnSpc>
            </a:pPr>
            <a:r>
              <a:rPr lang="en-US" sz="1200" dirty="0">
                <a:effectLst/>
              </a:rPr>
              <a:t>such as radiation-induced initiation [14] and plasma initiation [16]. In our previous study, the acrylic acid was grafted on the surface of PP fiber by plasma initiation and then Cr(VI) surface imprinted materials were prepared by amination, imprinting, and crosslinking [16]. The obtained material exhibited a good selectivity towards the adsorption of Cr(VI). Plasma polymerization is easy to perform, the polymerization time is short, and it is an environmentally friendly technique. However, it is challenging to construct large-size reactors, which, alongside with other specific technical problems, still limits the application of this method for the large-scale production. On the other hand, the grafted functional groups on the surface of PP fibers should be further modified, such as by amination, and after that they can be used for the preparation of ion-imprinted material.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971800"/>
              </a:xfrm>
              <a:prstGeom prst="rect">
                <a:avLst/>
              </a:prstGeom>
            </p:spPr>
            <p:txBody>
              <a:bodyPr anchor="t" lIns="0" tIns="0" rIns="0" bIns="0">
                <a:noAutofit/>
              </a:bodyPr>
              <a:lstStyle/>
              <a:p>
                <a:pPr>
                  <a:lnSpc>
                    <a:spcPct val="120000"/>
                  </a:lnSpc>
                </a:pPr>
                <a:r>
                  <a:rPr lang="en-US" sz="1200" dirty="0">
                    <a:effectLst/>
                  </a:rPr>
                  <a:t>The water-solid suspension grafting method uses water and polymer particles as dispersant and dispersed phase, respectively, to form a suspension system under mechanical agitation. In this suspension, each polymer particle can be regarded as an independent reaction bed, and the functional monomers can be grafted on the polymer surface in the presence of an initiator [17]. The grafting percentage of the suspension grafting polymerization is high, the reaction is performed under mild conditions, and the post-treatment of the products is simple [18]. Zhou et al. grafted maleic anhydride on the surface of PP and the melt-blown fibers showed significant increase in hydrophilicity and good adsorption capacity for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Cu</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[19]. Currently, single monomers are commonly used for the suspension grafting of PP, but grafting of comonomers is a more promising strategy because modified materials with various functionalities can be obtained [20-22]. Li et al. used water as dispersant,</a:t>
                </a:r>
                <a:br>
                  <a:rPr lang="en-US" sz="1200" dirty="0"/>
                </a:br>
                <a:r>
                  <a:rPr lang="en-US" sz="1200" dirty="0">
                    <a:effectLst/>
                  </a:rPr>
                  <a:t> acetone as interfacial agent, and benzoyl peroxide as initiator to graft methyl methacrylate on PP [23]. The product was then used as a compatilizer of PP/acrylonitrile-styreneacrylate mixture. In addition, the use of styrene comonomer increased the grafting percentage of methyl methacrylate. Zhao et al. grafted butyl acrylate and acrylic castor oil on the surface of PP by suspension grafting [24]. The influence of the polymerization parameters on the grafting efficiency was investigated and the mechanical properties of grafted products were significantly improved.</a:t>
                </a:r>
              </a:p>
            </p:txBody>
          </p:sp>
        </mc:Choice>
        <mc:Fallback/>
      </mc:AlternateContent>
      <p:sp>
        <p:nvSpPr>
          <p:cNvPr id="2" name="Text"/>
          <p:cNvSpPr/>
          <p:nvPr/>
        </p:nvSpPr>
        <p:spPr>
          <a:xfrm>
            <a:off x="1524000" y="3581400"/>
            <a:ext cx="9144000" cy="1828800"/>
          </a:xfrm>
          <a:prstGeom prst="rect">
            <a:avLst/>
          </a:prstGeom>
        </p:spPr>
        <p:txBody>
          <a:bodyPr anchor="t" lIns="0" tIns="0" rIns="0" bIns="0">
            <a:noAutofit/>
          </a:bodyPr>
          <a:lstStyle/>
          <a:p>
            <a:pPr>
              <a:lnSpc>
                <a:spcPct val="120000"/>
              </a:lnSpc>
            </a:pPr>
            <a:r>
              <a:rPr lang="en-US" sz="1200" dirty="0">
                <a:effectLst/>
              </a:rPr>
              <a:t>In this work, glycidyl methacrylate (GMA) and acrylamide (AM) were used as grafting monomers, and loaded on PP surface by a one-step suspension grafting. Then, the PP-g-(GMA-AM) (PGA) fibers were made by melt-blowing technology. Finally, the PP-g-(GMA-AM) ion-imprinted (IPGA) fibers were prepared by surface ion imprinting method. The effects of the monomers ratio, total monomer content, as well as dispersant and interfacial agent amounts, on the grafting percentage of GMA and AM were studied. The surface morphology, chemical composition, and structure of the modified materials were characterized by scanning electron microscopy (SEM), X-ray electron spectrometry (XPS), Fourier transform infrared spectroscopy (FT-IR), thermogravimetry analysis (TGA), and melt flow rate (MFR). The adsorption capacity and selectivity of the ionimprinted fibers were investigated. The mechanism of adsorption was also proposed.</a:t>
            </a:r>
          </a:p>
        </p:txBody>
      </p:sp>
      <p:sp>
        <p:nvSpPr>
          <p:cNvPr id="2" name="Text"/>
          <p:cNvSpPr/>
          <p:nvPr/>
        </p:nvSpPr>
        <p:spPr>
          <a:xfrm>
            <a:off x="1524000" y="5562600"/>
            <a:ext cx="9144000" cy="342900"/>
          </a:xfrm>
          <a:prstGeom prst="rect">
            <a:avLst/>
          </a:prstGeom>
        </p:spPr>
        <p:txBody>
          <a:bodyPr anchor="t" lIns="0" tIns="0" rIns="0" bIns="0">
            <a:noAutofit/>
          </a:bodyPr>
          <a:lstStyle/>
          <a:p>
            <a:pPr>
              <a:lnSpc>
                <a:spcPct val="120000"/>
              </a:lnSpc>
            </a:pPr>
            <a:r>
              <a:rPr lang="en-US" sz="1800" dirty="0" b="1">
                <a:effectLst/>
              </a:rPr>
              <a:t>Experimental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342900"/>
          </a:xfrm>
          <a:prstGeom prst="rect">
            <a:avLst/>
          </a:prstGeom>
        </p:spPr>
        <p:txBody>
          <a:bodyPr anchor="t" lIns="0" tIns="0" rIns="0" bIns="0">
            <a:noAutofit/>
          </a:bodyPr>
          <a:lstStyle/>
          <a:p>
            <a:pPr>
              <a:lnSpc>
                <a:spcPct val="120000"/>
              </a:lnSpc>
            </a:pPr>
            <a:r>
              <a:rPr lang="en-US" sz="1800" dirty="0" b="1">
                <a:effectLst/>
              </a:rPr>
              <a:t>Preparation of Ion-imprinted PP Fibers</a:t>
            </a:r>
          </a:p>
        </p:txBody>
      </p:sp>
      <mc:AlternateContent xmlns:mc="http://schemas.openxmlformats.org/markup-compatibility/2006">
        <mc:Choice xmlns:a14="http://schemas.microsoft.com/office/drawing/2010/main" Requires="a14">
          <p:sp>
            <p:nvSpPr>
              <p:cNvPr id="2" name="Text"/>
              <p:cNvSpPr/>
              <p:nvPr/>
            </p:nvSpPr>
            <p:spPr>
              <a:xfrm>
                <a:off x="1524000" y="989839"/>
                <a:ext cx="9144000" cy="2286000"/>
              </a:xfrm>
              <a:prstGeom prst="rect">
                <a:avLst/>
              </a:prstGeom>
            </p:spPr>
            <p:txBody>
              <a:bodyPr anchor="t" lIns="0" tIns="0" rIns="0" bIns="0">
                <a:noAutofit/>
              </a:bodyPr>
              <a:lstStyle/>
              <a:p>
                <a:pPr>
                  <a:lnSpc>
                    <a:spcPct val="120000"/>
                  </a:lnSpc>
                </a:pPr>
                <a:r>
                  <a:rPr lang="en-US" sz="1200" dirty="0">
                    <a:effectLst/>
                  </a:rPr>
                  <a:t>The schematic diagram of IPGA synthetic process is illustrated in Scheme 1, where the entire process is divided into three steps. (1) Pre-treatment of PP [19]. PP resin (P6313, Shanghai Expert in the Developing of New Material Co., Ltd., Shanghai, China) and xylene (3 ml/g PP) were introduced into a magnetic stirring reactor and heated to 140 °C with a rate of 3 °C/min under magnetic stirring. Then, the mixture was poured into an ice water mixture </a:t>
                </a:r>
                <a:r>
                  <a:rPr lang="en-US" sz="1200" dirty="0">
                    <a:effectLst/>
                  </a:rPr>
                  <a:t>​</a:t>
                </a:r>
                <a14:m>
                  <m:oMath>
                    <m:d>
                      <m:dPr>
                        <m:begChr m:val="("/>
                        <m:endChr m:val=")"/>
                        <m:ctrlPr>
                          <a:rPr sz="1200">
                            <a:latin typeface="Cambria Math" panose="02040503050406030204" pitchFamily="18" charset="0"/>
                          </a:rPr>
                        </m:ctrlPr>
                      </m:dPr>
                      <m:e>
                        <m:r>
                          <m:rPr>
                            <m:sty m:val="p"/>
                          </m:rPr>
                          <a:rPr lang="en-US" sz="1200" dirty="0">
                            <a:solidFill>
                              <a:srgbClr val="000000"/>
                            </a:solidFill>
                            <a:effectLst/>
                          </a:rPr>
                          <m:t>0</m:t>
                        </m:r>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r>
                          <m:rPr>
                            <m:sty m:val="p"/>
                          </m:rPr>
                          <a:rPr lang="en-US" sz="1200" dirty="0">
                            <a:solidFill>
                              <a:srgbClr val="000000"/>
                            </a:solidFill>
                            <a:effectLst/>
                          </a:rPr>
                          <m:t>C</m:t>
                        </m:r>
                      </m:e>
                    </m:d>
                  </m:oMath>
                </a14:m>
                <a:r>
                  <a:rPr lang="en-US" sz="1200" dirty="0">
                    <a:effectLst/>
                  </a:rPr>
                  <a:t> for fast cooling and to enable the precipitation of PP from xylene and formation of low-crystallized microporous PP powders. The powder was recovered by filtration and then dried to a constant weight.</a:t>
                </a:r>
                <a:br>
                  <a:rPr lang="en-US" sz="1200" dirty="0"/>
                </a:br>
                <a:r>
                  <a:rPr lang="en-US" sz="1200" dirty="0">
                    <a:effectLst/>
                  </a:rPr>
                  <a:t> (2) Suspension grafting. PP powders (0.5 mm in diameter), dispersant (deionized water), and interfacial agent (xylene) were added to a magnetic stirring reactor and stirred at 90 °C for 1 h in the argon atmosphere to fully swell and disperse the PP powder. A certain amount of initiator (benzoyl peroxide, BPO) and monomers (GMA and AM) were added and copolymerized at 90 °C for 3 h. The obtained grafted products were washed with deionized water and acetone to remove the unreacted monomers and homopolymers. The grafting percentage of GMA and AM was calculated based on the titration and elemental analysis methods [25,26].</a:t>
                </a:r>
              </a:p>
            </p:txBody>
          </p:sp>
        </mc:Choice>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3172fd3e8fa6a6dc86ca8823e263a3c7fa6179d0.jpg"/>
          <p:cNvPicPr/>
          <p:nvPr/>
        </p:nvPicPr>
        <p:blipFill>
          <a:blip r:embed="rId2" cstate="print"/>
          <a:srcRect/>
          <a:stretch>
            <a:fillRect/>
          </a:stretch>
        </p:blipFill>
        <p:spPr>
          <a:xfrm>
            <a:off x="1524000" y="457200"/>
            <a:ext cx="7258050" cy="5943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Scheme 1. Schematic diagram of IPGA fibers synthetic process.</a:t>
            </a:r>
          </a:p>
        </p:txBody>
      </p:sp>
      <mc:AlternateContent xmlns:mc="http://schemas.openxmlformats.org/markup-compatibility/2006">
        <mc:Choice xmlns:a14="http://schemas.microsoft.com/office/drawing/2010/main" Requires="a14">
          <p:sp>
            <p:nvSpPr>
              <p:cNvPr id="2" name="Text"/>
              <p:cNvSpPr/>
              <p:nvPr/>
            </p:nvSpPr>
            <p:spPr>
              <a:xfrm>
                <a:off x="1524000" y="685800"/>
                <a:ext cx="9144000" cy="1371600"/>
              </a:xfrm>
              <a:prstGeom prst="rect">
                <a:avLst/>
              </a:prstGeom>
            </p:spPr>
            <p:txBody>
              <a:bodyPr anchor="t" lIns="0" tIns="0" rIns="0" bIns="0">
                <a:noAutofit/>
              </a:bodyPr>
              <a:lstStyle/>
              <a:p>
                <a:pPr>
                  <a:lnSpc>
                    <a:spcPct val="120000"/>
                  </a:lnSpc>
                </a:pPr>
                <a:r>
                  <a:rPr lang="en-US" sz="1200" dirty="0">
                    <a:effectLst/>
                  </a:rPr>
                  <a:t>Then, GMA and AM copolymerized PP fibers (PGA) were prepared through melt-blowing method [26].</a:t>
                </a:r>
                <a:br>
                  <a:rPr lang="en-US" sz="1200" dirty="0"/>
                </a:br>
                <a:r>
                  <a:rPr lang="en-US" sz="1200" dirty="0">
                    <a:effectLst/>
                  </a:rPr>
                  <a:t> (3) Surface ion-imprinting and crosslinking. PGA fibers were placed in </a:t>
                </a:r>
                <a:r>
                  <a:rPr lang="en-US" sz="1200" dirty="0">
                    <a:effectLst/>
                  </a:rPr>
                  <a:t>​</a:t>
                </a:r>
                <a14:m>
                  <m:oMath>
                    <m:r>
                      <m:rPr>
                        <m:sty m:val="p"/>
                      </m:rPr>
                      <a:rPr lang="en-US" sz="1200" dirty="0">
                        <a:solidFill>
                          <a:srgbClr val="000000"/>
                        </a:solidFill>
                        <a:effectLst/>
                      </a:rPr>
                      <m:t>100</m:t>
                    </m:r>
                    <m:r>
                      <m:rPr>
                        <m:sty m:val="p"/>
                      </m:rPr>
                      <a:rPr lang="en-US" sz="1200" dirty="0">
                        <a:solidFill>
                          <a:srgbClr val="000000"/>
                        </a:solidFill>
                        <a:effectLst/>
                      </a:rPr>
                      <m:t>mg</m:t>
                    </m:r>
                    <m:r>
                      <m:rPr>
                        <m:sty m:val="p"/>
                      </m:rPr>
                      <a:rPr lang="en-US" sz="1200" dirty="0">
                        <a:solidFill>
                          <a:srgbClr val="000000"/>
                        </a:solidFill>
                        <a:effectLst/>
                      </a:rPr>
                      <m:t>/</m:t>
                    </m:r>
                    <m:r>
                      <m:rPr>
                        <m:sty m:val="i"/>
                      </m:rPr>
                      <a:rPr lang="en-US" sz="1200" dirty="0">
                        <a:solidFill>
                          <a:srgbClr val="000000"/>
                        </a:solidFill>
                        <a:effectLst/>
                      </a:rPr>
                      <m:t>l</m:t>
                    </m:r>
                  </m:oMath>
                </a14:m>
                <a:r>
                  <a:rPr lang="en-US" sz="1200" dirty="0">
                    <a:effectLst/>
                  </a:rPr>
                  <a:t> potassium dichromate solution and shaken at pH 3 and 25 °C for 90 min to allow the adsorption of Cr(VI) on the functional groups. Then, the fibers were introduced into a diethylenetriamine/ethanol solution and refluxed at 60 °C for 4 h for crosslinking. After crosslinking, the fibers were washed with </a:t>
                </a:r>
                <a:r>
                  <a:rPr lang="en-US" sz="1200" dirty="0">
                    <a:effectLst/>
                  </a:rPr>
                  <a:t>​</a:t>
                </a:r>
                <a14:m>
                  <m:oMath>
                    <m:r>
                      <m:rPr>
                        <m:sty m:val="p"/>
                      </m:rPr>
                      <a:rPr lang="en-US" sz="1200" dirty="0">
                        <a:solidFill>
                          <a:srgbClr val="000000"/>
                        </a:solidFill>
                        <a:effectLst/>
                      </a:rPr>
                      <m:t>0.1</m:t>
                    </m:r>
                    <m:r>
                      <m:rPr>
                        <m:sty m:val="p"/>
                      </m:rPr>
                      <a:rPr lang="en-US" sz="1200" dirty="0">
                        <a:solidFill>
                          <a:srgbClr val="000000"/>
                        </a:solidFill>
                        <a:effectLst/>
                      </a:rPr>
                      <m:t xml:space="preserve"> </m:t>
                    </m:r>
                    <m:r>
                      <m:rPr>
                        <m:sty m:val="p"/>
                      </m:rPr>
                      <a:rPr lang="en-US" sz="1200" dirty="0">
                        <a:solidFill>
                          <a:srgbClr val="000000"/>
                        </a:solidFill>
                        <a:effectLst/>
                      </a:rPr>
                      <m:t>mol</m:t>
                    </m:r>
                    <m:r>
                      <m:rPr>
                        <m:sty m:val="p"/>
                      </m:rPr>
                      <a:rPr lang="en-US" sz="1200" dirty="0">
                        <a:solidFill>
                          <a:srgbClr val="000000"/>
                        </a:solidFill>
                        <a:effectLst/>
                      </a:rPr>
                      <m:t>/</m:t>
                    </m:r>
                    <m:r>
                      <m:rPr>
                        <m:sty m:val="i"/>
                      </m:rPr>
                      <a:rPr lang="en-US" sz="1200" dirty="0">
                        <a:solidFill>
                          <a:srgbClr val="000000"/>
                        </a:solidFill>
                        <a:effectLst/>
                      </a:rPr>
                      <m:t>l</m:t>
                    </m:r>
                    <m:r>
                      <m:rPr>
                        <m:sty m:val="p"/>
                      </m:rPr>
                      <a:rPr lang="en-US" sz="1200" dirty="0">
                        <a:solidFill>
                          <a:srgbClr val="000000"/>
                        </a:solidFill>
                        <a:effectLst/>
                      </a:rPr>
                      <m:t>NaOH</m:t>
                    </m:r>
                  </m:oMath>
                </a14:m>
                <a:r>
                  <a:rPr lang="en-US" sz="1200" dirty="0">
                    <a:effectLst/>
                  </a:rPr>
                  <a:t> solution until Cr(VI) was not detected in the eluent. The resultant Cr(VI)-imprinted fibers were denoted as IPGA. The non-imprinted fibers were also prepared without addition of Cr(VI) ion, and denoted as NIPGA.</a:t>
                </a:r>
              </a:p>
            </p:txBody>
          </p:sp>
        </mc:Choice>
        <mc:Fallback/>
      </mc:AlternateContent>
      <p:sp>
        <p:nvSpPr>
          <p:cNvPr id="2" name="Text"/>
          <p:cNvSpPr/>
          <p:nvPr/>
        </p:nvSpPr>
        <p:spPr>
          <a:xfrm>
            <a:off x="1524000" y="2209800"/>
            <a:ext cx="9144000" cy="342900"/>
          </a:xfrm>
          <a:prstGeom prst="rect">
            <a:avLst/>
          </a:prstGeom>
        </p:spPr>
        <p:txBody>
          <a:bodyPr anchor="t" lIns="0" tIns="0" rIns="0" bIns="0">
            <a:noAutofit/>
          </a:bodyPr>
          <a:lstStyle/>
          <a:p>
            <a:pPr>
              <a:lnSpc>
                <a:spcPct val="120000"/>
              </a:lnSpc>
            </a:pPr>
            <a:r>
              <a:rPr lang="en-US" sz="1800" dirty="0" b="1">
                <a:effectLst/>
              </a:rPr>
              <a:t>Characterizations</a:t>
            </a:r>
          </a:p>
        </p:txBody>
      </p:sp>
      <mc:AlternateContent xmlns:mc="http://schemas.openxmlformats.org/markup-compatibility/2006">
        <mc:Choice xmlns:a14="http://schemas.microsoft.com/office/drawing/2010/main" Requires="a14">
          <p:sp>
            <p:nvSpPr>
              <p:cNvPr id="2" name="Text"/>
              <p:cNvSpPr/>
              <p:nvPr/>
            </p:nvSpPr>
            <p:spPr>
              <a:xfrm>
                <a:off x="1524000" y="2742439"/>
                <a:ext cx="9144000" cy="2971800"/>
              </a:xfrm>
              <a:prstGeom prst="rect">
                <a:avLst/>
              </a:prstGeom>
            </p:spPr>
            <p:txBody>
              <a:bodyPr anchor="t" lIns="0" tIns="0" rIns="0" bIns="0">
                <a:noAutofit/>
              </a:bodyPr>
              <a:lstStyle/>
              <a:p>
                <a:pPr>
                  <a:lnSpc>
                    <a:spcPct val="120000"/>
                  </a:lnSpc>
                </a:pPr>
                <a:r>
                  <a:rPr lang="en-US" sz="1200" dirty="0">
                    <a:effectLst/>
                  </a:rPr>
                  <a:t>Scanning electron microscopy (JEOL JSM-5900 microscope) was used to observe the surface morphology of fibers before and after modification. The fiber surface was observed after gold spraying treatment, and then the surface morphology was observed at a voltage of 15 kV. Fourier-transform infrared spectrometry (Nexus 670 spectrometer, Nicolet) was used to characterize the functional groups on the fiber surface before and after modification, and the surface attenuation total reflection mode was used for scanning. The samples were scanned within the range of </a:t>
                </a:r>
                <a:r>
                  <a:rPr lang="en-US" sz="1200" dirty="0">
                    <a:effectLst/>
                  </a:rPr>
                  <a:t>​</a:t>
                </a:r>
                <a14:m>
                  <m:oMath>
                    <m:r>
                      <m:rPr>
                        <m:sty m:val="p"/>
                      </m:rPr>
                      <a:rPr lang="en-US" sz="1200" dirty="0">
                        <a:solidFill>
                          <a:srgbClr val="000000"/>
                        </a:solidFill>
                        <a:effectLst/>
                      </a:rPr>
                      <m:t>500</m:t>
                    </m:r>
                    <m:r>
                      <m:rPr>
                        <m:sty m:val="p"/>
                      </m:rPr>
                      <a:rPr lang="en-US" sz="1200" dirty="0">
                        <a:solidFill>
                          <a:srgbClr val="000000"/>
                        </a:solidFill>
                        <a:effectLst/>
                      </a:rPr>
                      <m:t>−</m:t>
                    </m:r>
                    <m:r>
                      <m:rPr>
                        <m:sty m:val="p"/>
                      </m:rPr>
                      <a:rPr lang="en-US" sz="1200" dirty="0">
                        <a:solidFill>
                          <a:srgbClr val="000000"/>
                        </a:solidFill>
                        <a:effectLst/>
                      </a:rPr>
                      <m:t>4000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with a resolution of </a:t>
                </a:r>
                <a:r>
                  <a:rPr lang="en-US" sz="1200" dirty="0">
                    <a:effectLst/>
                  </a:rPr>
                  <a:t>​</a:t>
                </a:r>
                <a14:m>
                  <m:oMath>
                    <m:r>
                      <m:rPr>
                        <m:sty m:val="p"/>
                      </m:rPr>
                      <a:rPr lang="en-US" sz="1200" dirty="0">
                        <a:solidFill>
                          <a:srgbClr val="000000"/>
                        </a:solidFill>
                        <a:effectLst/>
                      </a:rPr>
                      <m:t>1</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The water contact angle formed by water on fibers was measured on a contact Angle tester (JC2000D, Shanghai Zhongchen technology Co., Ltd.). Deionized water ( </a:t>
                </a:r>
                <a:r>
                  <a:rPr lang="en-US" sz="1200" dirty="0">
                    <a:effectLst/>
                  </a:rPr>
                  <a:t>​</a:t>
                </a:r>
                <a14:m>
                  <m:oMath>
                    <m:r>
                      <m:rPr>
                        <m:sty m:val="p"/>
                      </m:rPr>
                      <a:rPr lang="en-US" sz="1200" dirty="0">
                        <a:solidFill>
                          <a:srgbClr val="000000"/>
                        </a:solidFill>
                        <a:effectLst/>
                      </a:rPr>
                      <m:t>5</m:t>
                    </m:r>
                    <m:r>
                      <m:rPr>
                        <m:sty m:val="i"/>
                      </m:rPr>
                      <a:rPr lang="en-US" sz="1200" dirty="0">
                        <a:solidFill>
                          <a:srgbClr val="000000"/>
                        </a:solidFill>
                        <a:effectLst/>
                      </a:rPr>
                      <m:t>μ</m:t>
                    </m:r>
                    <m:r>
                      <m:rPr>
                        <m:sty m:val="i"/>
                      </m:rPr>
                      <a:rPr lang="en-US" sz="1200" dirty="0">
                        <a:solidFill>
                          <a:srgbClr val="000000"/>
                        </a:solidFill>
                        <a:effectLst/>
                      </a:rPr>
                      <m:t>l</m:t>
                    </m:r>
                  </m:oMath>
                </a14:m>
                <a:r>
                  <a:rPr lang="en-US" sz="1200" dirty="0">
                    <a:effectLst/>
                  </a:rPr>
                  <a:t> ) was injected and the contact angle was recorded by a high-resolution camera. Five measurements were performed on different regions of the fiber and the results are their average. X-ray photoelectron spectroscopy (250XI spectrometer, Thermo Fisher) was used to characterize the surface chemical composition of the fibers. The melt</a:t>
                </a:r>
                <a:br>
                  <a:rPr lang="en-US" sz="1200" dirty="0"/>
                </a:br>
                <a:r>
                  <a:rPr lang="en-US" sz="1200" dirty="0">
                    <a:effectLst/>
                  </a:rPr>
                  <a:t> flow rate (MFR) of PP was measured at a temperature of 230 °C with a load of 2.16 kg. Three measurements were performed for each grafting percentage and averaged. A thermal analyzer (Pyris 1 DSC, PerkinElmer) was used to measure the weight loss and heat flow before and after chemical modification. The test temperature ranged from 25 to 600 °C with a heating rate of 20 °C/min under nitrogen gas with a flow of 20 ml/min.</a:t>
                </a:r>
              </a:p>
            </p:txBody>
          </p:sp>
        </mc:Choice>
        <mc:Fallback/>
      </mc:AlternateContent>
      <p:sp>
        <p:nvSpPr>
          <p:cNvPr id="2" name="Text"/>
          <p:cNvSpPr/>
          <p:nvPr/>
        </p:nvSpPr>
        <p:spPr>
          <a:xfrm>
            <a:off x="1524000" y="5866639"/>
            <a:ext cx="9144000" cy="342900"/>
          </a:xfrm>
          <a:prstGeom prst="rect">
            <a:avLst/>
          </a:prstGeom>
        </p:spPr>
        <p:txBody>
          <a:bodyPr anchor="t" lIns="0" tIns="0" rIns="0" bIns="0">
            <a:noAutofit/>
          </a:bodyPr>
          <a:lstStyle/>
          <a:p>
            <a:pPr>
              <a:lnSpc>
                <a:spcPct val="120000"/>
              </a:lnSpc>
            </a:pPr>
            <a:r>
              <a:rPr lang="en-US" sz="1800" dirty="0" b="1">
                <a:effectLst/>
              </a:rPr>
              <a:t>Adsorption Experiments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914400"/>
              </a:xfrm>
              <a:prstGeom prst="rect">
                <a:avLst/>
              </a:prstGeom>
            </p:spPr>
            <p:txBody>
              <a:bodyPr anchor="t" lIns="0" tIns="0" rIns="0" bIns="0">
                <a:noAutofit/>
              </a:bodyPr>
              <a:lstStyle/>
              <a:p>
                <a:pPr>
                  <a:lnSpc>
                    <a:spcPct val="120000"/>
                  </a:lnSpc>
                </a:pPr>
                <a:r>
                  <a:rPr lang="en-US" sz="1200" dirty="0">
                    <a:effectLst/>
                  </a:rPr>
                  <a:t>Adsorption experiments were carried out in batch mode, and the average value of the three repeated experiments was reported. Fibers were immersed into a Cr(VI) solution at constant pH and temperature. After adsorption under shaking for a certain interval of time, the concentration of Cr(VI) in the solution was measured on an inductively coupled plasma - optical emission spectrometer (ICP-OES, iCAP 6300, Thermo Fisher scientific). The adsorption capacity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e</m:t>
                            </m:r>
                          </m:sub>
                        </m:sSub>
                      </m:e>
                    </m:d>
                  </m:oMath>
                </a14:m>
                <a:r>
                  <a:rPr lang="en-US" sz="1200" dirty="0">
                    <a:effectLst/>
                  </a:rPr>
                  <a:t> was calculated as:</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524000"/>
                <a:ext cx="9144000" cy="400050"/>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e</m:t>
                                </m:r>
                              </m:sub>
                            </m:sSub>
                            <m:r>
                              <m:rPr>
                                <m:sty m:val="p"/>
                              </m:rPr>
                              <a:rPr lang="en-US" sz="1200" dirty="0">
                                <a:solidFill>
                                  <a:srgbClr val="000000"/>
                                </a:solidFill>
                                <a:effectLst/>
                              </a:rPr>
                              <m:t>=</m:t>
                            </m:r>
                            <m:f>
                              <m:fPr>
                                <m:ctrlPr>
                                  <a:rPr sz="1200">
                                    <a:latin typeface="Cambria Math" panose="02040503050406030204" pitchFamily="18" charset="0"/>
                                  </a:rPr>
                                </m:ctrlPr>
                              </m:fPr>
                              <m:num>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p"/>
                                          </m:rPr>
                                          <a:rPr lang="en-US" sz="1200" dirty="0">
                                            <a:solidFill>
                                              <a:srgbClr val="000000"/>
                                            </a:solidFill>
                                            <a:effectLst/>
                                          </a:rPr>
                                          <m:t>0</m:t>
                                        </m:r>
                                      </m:sub>
                                    </m:sSub>
                                    <m:r>
                                      <m:rPr>
                                        <m:sty m:val="p"/>
                                      </m:rPr>
                                      <a:rPr lang="en-US" sz="1200" dirty="0">
                                        <a:solidFill>
                                          <a:srgbClr val="000000"/>
                                        </a:solidFill>
                                        <a:effectLst/>
                                      </a:rPr>
                                      <m:t>−</m:t>
                                    </m:r>
                                    <m:r>
                                      <m:rPr>
                                        <m:sty m:val="i"/>
                                      </m:rPr>
                                      <a:rPr lang="en-US" sz="1200" dirty="0">
                                        <a:solidFill>
                                          <a:srgbClr val="000000"/>
                                        </a:solidFill>
                                        <a:effectLst/>
                                      </a:rPr>
                                      <m:t>C</m:t>
                                    </m:r>
                                  </m:e>
                                </m:d>
                                <m:r>
                                  <m:rPr>
                                    <m:sty m:val="p"/>
                                  </m:rPr>
                                  <a:rPr lang="en-US" sz="1200" dirty="0">
                                    <a:solidFill>
                                      <a:srgbClr val="000000"/>
                                    </a:solidFill>
                                    <a:effectLst/>
                                  </a:rPr>
                                  <m:t>×</m:t>
                                </m:r>
                                <m:r>
                                  <m:rPr>
                                    <m:sty m:val="i"/>
                                  </m:rPr>
                                  <a:rPr lang="en-US" sz="1200" dirty="0">
                                    <a:solidFill>
                                      <a:srgbClr val="000000"/>
                                    </a:solidFill>
                                    <a:effectLst/>
                                  </a:rPr>
                                  <m:t>V</m:t>
                                </m:r>
                              </m:num>
                              <m:den>
                                <m:r>
                                  <m:rPr>
                                    <m:sty m:val="i"/>
                                  </m:rPr>
                                  <a:rPr lang="en-US" sz="1200" dirty="0">
                                    <a:solidFill>
                                      <a:srgbClr val="000000"/>
                                    </a:solidFill>
                                    <a:effectLst/>
                                  </a:rPr>
                                  <m:t>m</m:t>
                                </m:r>
                              </m:den>
                            </m:f>
                          </m:e>
                          <m:e>
                            <m:r>
                              <m:rPr>
                                <m:sty m:val="p"/>
                              </m:rPr>
                              <a:rPr lang="en-US" sz="1200" dirty="0">
                                <a:solidFill>
                                  <a:srgbClr val="000000"/>
                                </a:solidFill>
                                <a:effectLst/>
                              </a:rPr>
                              <m:t>(1)</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076450"/>
                <a:ext cx="9144000" cy="4572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p"/>
                          </m:rPr>
                          <a:rPr lang="en-US" sz="1200" dirty="0">
                            <a:solidFill>
                              <a:srgbClr val="000000"/>
                            </a:solidFill>
                            <a:effectLst/>
                          </a:rPr>
                          <m:t>0</m:t>
                        </m:r>
                      </m:sub>
                    </m:sSub>
                  </m:oMath>
                </a14:m>
                <a:r>
                  <a:rPr lang="en-US" sz="1200" dirty="0">
                    <a:effectLst/>
                  </a:rPr>
                  <a:t> and </a:t>
                </a:r>
                <a:r>
                  <a:rPr lang="en-US" sz="1200" dirty="0">
                    <a:effectLst/>
                  </a:rPr>
                  <a:t>​</a:t>
                </a:r>
                <a14:m>
                  <m:oMath>
                    <m:r>
                      <m:rPr>
                        <m:sty m:val="i"/>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r>
                      <m:rPr>
                        <m:sty m:val="i"/>
                      </m:rPr>
                      <a:rPr lang="en-US" sz="1200" dirty="0">
                        <a:solidFill>
                          <a:srgbClr val="000000"/>
                        </a:solidFill>
                        <a:effectLst/>
                      </a:rPr>
                      <m:t>l</m:t>
                    </m:r>
                    <m:r>
                      <m:rPr>
                        <m:sty m:val="p"/>
                      </m:rPr>
                      <a:rPr lang="en-US" sz="1200" dirty="0">
                        <a:solidFill>
                          <a:srgbClr val="000000"/>
                        </a:solidFill>
                        <a:effectLst/>
                      </a:rPr>
                      <m:t>)</m:t>
                    </m:r>
                  </m:oMath>
                </a14:m>
                <a:r>
                  <a:rPr lang="en-US" sz="1200" dirty="0">
                    <a:effectLst/>
                  </a:rPr>
                  <a:t> are the concentrations of </a:t>
                </a:r>
                <a:r>
                  <a:rPr lang="en-US" sz="1200" dirty="0">
                    <a:effectLst/>
                  </a:rPr>
                  <a:t>​</a:t>
                </a:r>
                <a14:m>
                  <m:oMath>
                    <m:r>
                      <m:rPr>
                        <m:sty m:val="p"/>
                      </m:rPr>
                      <a:rPr lang="en-US" sz="1200" dirty="0">
                        <a:solidFill>
                          <a:srgbClr val="000000"/>
                        </a:solidFill>
                        <a:effectLst/>
                      </a:rPr>
                      <m:t>Cr</m:t>
                    </m:r>
                    <m:r>
                      <m:rPr>
                        <m:sty m:val="p"/>
                      </m:rPr>
                      <a:rPr lang="en-US" sz="1200" dirty="0">
                        <a:solidFill>
                          <a:srgbClr val="000000"/>
                        </a:solidFill>
                        <a:effectLst/>
                      </a:rPr>
                      <m:t>(</m:t>
                    </m:r>
                    <m:r>
                      <m:rPr>
                        <m:sty m:val="p"/>
                      </m:rPr>
                      <a:rPr lang="en-US" sz="1200" dirty="0">
                        <a:solidFill>
                          <a:srgbClr val="000000"/>
                        </a:solidFill>
                        <a:effectLst/>
                      </a:rPr>
                      <m:t>VI</m:t>
                    </m:r>
                    <m:r>
                      <m:rPr>
                        <m:sty m:val="p"/>
                      </m:rPr>
                      <a:rPr lang="en-US" sz="1200" dirty="0">
                        <a:solidFill>
                          <a:srgbClr val="000000"/>
                        </a:solidFill>
                        <a:effectLst/>
                      </a:rPr>
                      <m:t>)</m:t>
                    </m:r>
                  </m:oMath>
                </a14:m>
                <a:r>
                  <a:rPr lang="en-US" sz="1200" dirty="0">
                    <a:effectLst/>
                  </a:rPr>
                  <a:t> before and after adsorption, </a:t>
                </a:r>
                <a:r>
                  <a:rPr lang="en-US" sz="1200" dirty="0">
                    <a:effectLst/>
                  </a:rPr>
                  <a:t>​</a:t>
                </a:r>
                <a14:m>
                  <m:oMath>
                    <m:r>
                      <m:rPr>
                        <m:sty m:val="i"/>
                      </m:rPr>
                      <a:rPr lang="en-US" sz="1200" dirty="0">
                        <a:solidFill>
                          <a:srgbClr val="000000"/>
                        </a:solidFill>
                        <a:effectLst/>
                      </a:rPr>
                      <m:t>V</m:t>
                    </m:r>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L</m:t>
                    </m:r>
                    <m:r>
                      <m:rPr>
                        <m:sty m:val="p"/>
                      </m:rPr>
                      <a:rPr lang="en-US" sz="1200" dirty="0">
                        <a:solidFill>
                          <a:srgbClr val="000000"/>
                        </a:solidFill>
                        <a:effectLst/>
                      </a:rPr>
                      <m:t>)</m:t>
                    </m:r>
                  </m:oMath>
                </a14:m>
                <a:r>
                  <a:rPr lang="en-US" sz="1200" dirty="0">
                    <a:effectLst/>
                  </a:rPr>
                  <a:t> is the volume of solution, and </a:t>
                </a:r>
                <a:r>
                  <a:rPr lang="en-US" sz="1200" dirty="0">
                    <a:effectLst/>
                  </a:rPr>
                  <a:t>​</a:t>
                </a:r>
                <a14:m>
                  <m:oMath>
                    <m:r>
                      <m:rPr>
                        <m:sty m:val="i"/>
                      </m:rPr>
                      <a:rPr lang="en-US" sz="1200" dirty="0">
                        <a:solidFill>
                          <a:srgbClr val="000000"/>
                        </a:solidFill>
                        <a:effectLst/>
                      </a:rPr>
                      <m:t>m</m:t>
                    </m:r>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oMath>
                </a14:m>
                <a:r>
                  <a:rPr lang="en-US" sz="1200" dirty="0">
                    <a:effectLst/>
                  </a:rPr>
                  <a:t> is the mass of fibers.</a:t>
                </a:r>
              </a:p>
            </p:txBody>
          </p:sp>
        </mc:Choice>
        <mc:Fallback/>
      </mc:AlternateContent>
      <p:sp>
        <p:nvSpPr>
          <p:cNvPr id="2" name="Text"/>
          <p:cNvSpPr/>
          <p:nvPr/>
        </p:nvSpPr>
        <p:spPr>
          <a:xfrm>
            <a:off x="1524000" y="2686050"/>
            <a:ext cx="9144000" cy="228600"/>
          </a:xfrm>
          <a:prstGeom prst="rect">
            <a:avLst/>
          </a:prstGeom>
        </p:spPr>
        <p:txBody>
          <a:bodyPr anchor="t" lIns="0" tIns="0" rIns="0" bIns="0">
            <a:noAutofit/>
          </a:bodyPr>
          <a:lstStyle/>
          <a:p>
            <a:pPr>
              <a:lnSpc>
                <a:spcPct val="120000"/>
              </a:lnSpc>
            </a:pPr>
            <a:r>
              <a:rPr lang="en-US" sz="1200" dirty="0">
                <a:effectLst/>
              </a:rPr>
              <a:t>The adsorption kinetics were fitted with pseudo-first-order (equation (2)) and pseudo-second-order (equation (3)) models [16].</a:t>
            </a:r>
          </a:p>
        </p:txBody>
      </p:sp>
      <mc:AlternateContent xmlns:mc="http://schemas.openxmlformats.org/markup-compatibility/2006">
        <mc:Choice xmlns:a14="http://schemas.microsoft.com/office/drawing/2010/main" Requires="a14">
          <p:sp>
            <p:nvSpPr>
              <p:cNvPr id="2" name="Text"/>
              <p:cNvSpPr/>
              <p:nvPr/>
            </p:nvSpPr>
            <p:spPr>
              <a:xfrm>
                <a:off x="1524000" y="3067050"/>
                <a:ext cx="9144000" cy="638175"/>
              </a:xfrm>
              <a:prstGeom prst="rect">
                <a:avLst/>
              </a:prstGeom>
            </p:spPr>
            <p:txBody>
              <a:bodyPr anchor="ctr" lIns="0" tIns="0" rIns="0" bIns="0">
                <a:noAutofit/>
              </a:bodyPr>
              <a:lstStyle/>
              <a:p>
                <a:pPr algn="ctr"/>
                <a14:m>
                  <m:oMathPara>
                    <m:oMath>
                      <m:m>
                        <m:mPr>
                          <m:plcHide m:val="1"/>
                          <m:cGpRule m:val="4"/>
                          <m:mcs>
                            <m:mc>
                              <m:mcPr>
                                <m:count m:val="1"/>
                                <m:mcJc m:val="right"/>
                              </m:mcPr>
                            </m:mc>
                            <m:mc>
                              <m:mcPr>
                                <m:count m:val="1"/>
                                <m:mcJc m:val="left"/>
                              </m:mcPr>
                            </m:mc>
                          </m:mcs>
                          <m:ctrlPr>
                            <a:rPr sz="1200" i="1">
                              <a:latin typeface="Cambria Math" panose="02040503050406030204" pitchFamily="18" charset="0"/>
                            </a:rPr>
                          </m:ctrlPr>
                        </m:mPr>
                        <m:mr>
                          <m:e>
                            <m:r>
                              <m:t xml:space="preserve"> </m:t>
                            </m:r>
                          </m:e>
                          <m:e>
                            <m:r>
                              <m:rPr>
                                <m:sty m:val="p"/>
                              </m:rPr>
                              <a:rPr lang="en-US" sz="1200" dirty="0">
                                <a:solidFill>
                                  <a:srgbClr val="000000"/>
                                </a:solidFill>
                                <a:effectLst/>
                              </a:rPr>
                              <m:t>ln</m:t>
                            </m:r>
                            <m:r>
                              <m:rPr>
                                <m:sty m:val="p"/>
                              </m:rPr>
                              <a:rPr lang="en-US" sz="1200" dirty="0">
                                <a:solidFill>
                                  <a:srgbClr val="000000"/>
                                </a:solidFill>
                                <a:effectLst/>
                              </a:rPr>
                              <m:t>⁡</m:t>
                            </m:r>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e</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t</m:t>
                                    </m:r>
                                  </m:sub>
                                </m:sSub>
                              </m:e>
                            </m:d>
                            <m:r>
                              <m:rPr>
                                <m:sty m:val="p"/>
                              </m:rPr>
                              <a:rPr lang="en-US" sz="1200" dirty="0">
                                <a:solidFill>
                                  <a:srgbClr val="000000"/>
                                </a:solidFill>
                                <a:effectLst/>
                              </a:rPr>
                              <m:t>=</m:t>
                            </m:r>
                            <m:r>
                              <m:rPr>
                                <m:sty m:val="p"/>
                              </m:rPr>
                              <a:rPr lang="en-US" sz="1200" dirty="0">
                                <a:solidFill>
                                  <a:srgbClr val="000000"/>
                                </a:solidFill>
                                <a:effectLst/>
                              </a:rPr>
                              <m:t>ln</m:t>
                            </m:r>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e</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1</m:t>
                                </m:r>
                              </m:sub>
                            </m:sSub>
                            <m:r>
                              <m:rPr>
                                <m:sty m:val="i"/>
                              </m:rPr>
                              <a:rPr lang="en-US" sz="1200" dirty="0">
                                <a:solidFill>
                                  <a:srgbClr val="000000"/>
                                </a:solidFill>
                                <a:effectLst/>
                              </a:rPr>
                              <m:t>t</m:t>
                            </m:r>
                          </m:e>
                          <m:e>
                            <m:r>
                              <m:rPr>
                                <m:sty m:val="p"/>
                              </m:rPr>
                              <a:rPr lang="en-US" sz="1200" dirty="0">
                                <a:solidFill>
                                  <a:srgbClr val="000000"/>
                                </a:solidFill>
                                <a:effectLst/>
                              </a:rPr>
                              <m:t>(2)</m:t>
                            </m:r>
                          </m:e>
                        </m:mr>
                        <m:mr>
                          <m:e>
                            <m:r>
                              <m:t xml:space="preserve"> </m:t>
                            </m:r>
                          </m:e>
                          <m:e>
                            <m:f>
                              <m:fPr>
                                <m:ctrlPr>
                                  <a:rPr sz="1200">
                                    <a:latin typeface="Cambria Math" panose="02040503050406030204" pitchFamily="18" charset="0"/>
                                  </a:rPr>
                                </m:ctrlPr>
                              </m:fPr>
                              <m:num>
                                <m:r>
                                  <m:rPr>
                                    <m:sty m:val="i"/>
                                  </m:rPr>
                                  <a:rPr lang="en-US" sz="1200" dirty="0">
                                    <a:solidFill>
                                      <a:srgbClr val="000000"/>
                                    </a:solidFill>
                                    <a:effectLst/>
                                  </a:rPr>
                                  <m:t>t</m:t>
                                </m:r>
                              </m:num>
                              <m:den>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t</m:t>
                                    </m:r>
                                  </m:sub>
                                </m:sSub>
                              </m:den>
                            </m:f>
                            <m:r>
                              <m:rPr>
                                <m:sty m:val="p"/>
                              </m:rPr>
                              <a:rPr lang="en-US" sz="1200" dirty="0">
                                <a:solidFill>
                                  <a:srgbClr val="000000"/>
                                </a:solidFill>
                                <a:effectLst/>
                              </a:rPr>
                              <m:t>=</m:t>
                            </m:r>
                            <m:f>
                              <m:fPr>
                                <m:ctrlPr>
                                  <a:rPr sz="1200">
                                    <a:latin typeface="Cambria Math" panose="02040503050406030204" pitchFamily="18" charset="0"/>
                                  </a:rPr>
                                </m:ctrlPr>
                              </m:fPr>
                              <m:num>
                                <m:r>
                                  <m:rPr>
                                    <m:sty m:val="p"/>
                                  </m:rPr>
                                  <a:rPr lang="en-US" sz="1200" dirty="0">
                                    <a:solidFill>
                                      <a:srgbClr val="000000"/>
                                    </a:solidFill>
                                    <a:effectLst/>
                                  </a:rPr>
                                  <m:t>1</m:t>
                                </m:r>
                              </m:num>
                              <m:den>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2</m:t>
                                    </m:r>
                                  </m:sub>
                                </m:sSub>
                                <m:sSubSup>
                                  <m:sSubSupPr>
                                    <m:ctrlPr>
                                      <a:rPr sz="1200">
                                        <a:latin typeface="Cambria Math" panose="02040503050406030204" pitchFamily="18" charset="0"/>
                                      </a:rPr>
                                    </m:ctrlPr>
                                  </m:sSubSupPr>
                                  <m:e>
                                    <m:r>
                                      <m:rPr>
                                        <m:sty m:val="i"/>
                                      </m:rPr>
                                      <a:rPr lang="en-US" sz="1200" dirty="0">
                                        <a:solidFill>
                                          <a:srgbClr val="000000"/>
                                        </a:solidFill>
                                        <a:effectLst/>
                                      </a:rPr>
                                      <m:t>q</m:t>
                                    </m:r>
                                  </m:e>
                                  <m:sub>
                                    <m:r>
                                      <m:rPr>
                                        <m:sty m:val="i"/>
                                      </m:rPr>
                                      <a:rPr lang="en-US" sz="1200" dirty="0">
                                        <a:solidFill>
                                          <a:srgbClr val="000000"/>
                                        </a:solidFill>
                                        <a:effectLst/>
                                      </a:rPr>
                                      <m:t>e</m:t>
                                    </m:r>
                                  </m:sub>
                                  <m:sup>
                                    <m:r>
                                      <m:rPr>
                                        <m:sty m:val="p"/>
                                      </m:rPr>
                                      <a:rPr lang="en-US" sz="1200" dirty="0">
                                        <a:solidFill>
                                          <a:srgbClr val="000000"/>
                                        </a:solidFill>
                                        <a:effectLst/>
                                      </a:rPr>
                                      <m:t>2</m:t>
                                    </m:r>
                                  </m:sup>
                                </m:sSubSup>
                              </m:den>
                            </m:f>
                            <m:r>
                              <m:rPr>
                                <m:sty m:val="p"/>
                              </m:rPr>
                              <a:rPr lang="en-US" sz="1200" dirty="0">
                                <a:solidFill>
                                  <a:srgbClr val="000000"/>
                                </a:solidFill>
                                <a:effectLst/>
                              </a:rPr>
                              <m:t>+</m:t>
                            </m:r>
                            <m:f>
                              <m:fPr>
                                <m:ctrlPr>
                                  <a:rPr sz="1200">
                                    <a:latin typeface="Cambria Math" panose="02040503050406030204" pitchFamily="18" charset="0"/>
                                  </a:rPr>
                                </m:ctrlPr>
                              </m:fPr>
                              <m:num>
                                <m:r>
                                  <m:rPr>
                                    <m:sty m:val="i"/>
                                  </m:rPr>
                                  <a:rPr lang="en-US" sz="1200" dirty="0">
                                    <a:solidFill>
                                      <a:srgbClr val="000000"/>
                                    </a:solidFill>
                                    <a:effectLst/>
                                  </a:rPr>
                                  <m:t>t</m:t>
                                </m:r>
                              </m:num>
                              <m:den>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e</m:t>
                                    </m:r>
                                  </m:sub>
                                </m:sSub>
                              </m:den>
                            </m:f>
                          </m:e>
                          <m:e>
                            <m:r>
                              <m:rPr>
                                <m:sty m:val="p"/>
                              </m:rPr>
                              <a:rPr lang="en-US" sz="1200" dirty="0">
                                <a:solidFill>
                                  <a:srgbClr val="000000"/>
                                </a:solidFill>
                                <a:effectLst/>
                              </a:rPr>
                              <m:t>(3)</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857625"/>
                <a:ext cx="9144000" cy="4572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e</m:t>
                        </m:r>
                      </m:sub>
                    </m:sSub>
                  </m:oMath>
                </a14:m>
                <a:r>
                  <a:rPr lang="en-US" sz="1200" dirty="0">
                    <a:effectLst/>
                  </a:rPr>
                  <a:t> is the equilibrium adsorption capacity,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t</m:t>
                        </m:r>
                      </m:sub>
                    </m:sSub>
                  </m:oMath>
                </a14:m>
                <a:r>
                  <a:rPr lang="en-US" sz="1200" dirty="0">
                    <a:effectLst/>
                  </a:rPr>
                  <a:t> is the adsorption capacity at time </a:t>
                </a:r>
                <a:r>
                  <a:rPr lang="en-US" sz="1200" dirty="0">
                    <a:effectLst/>
                  </a:rPr>
                  <a:t>​</a:t>
                </a:r>
                <a14:m>
                  <m:oMath>
                    <m:r>
                      <m:rPr>
                        <m:sty m:val="i"/>
                      </m:rPr>
                      <a:rPr lang="en-US" sz="1200" dirty="0">
                        <a:solidFill>
                          <a:srgbClr val="000000"/>
                        </a:solidFill>
                        <a:effectLst/>
                      </a:rPr>
                      <m:t>t</m:t>
                    </m:r>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1</m:t>
                        </m:r>
                      </m:sub>
                    </m:sSub>
                    <m:d>
                      <m:dPr>
                        <m:begChr m:val="("/>
                        <m:endChr m:val=")"/>
                        <m:ctrlPr>
                          <a:rPr sz="1200">
                            <a:latin typeface="Cambria Math" panose="02040503050406030204" pitchFamily="18" charset="0"/>
                          </a:rPr>
                        </m:ctrlPr>
                      </m:dPr>
                      <m:e>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min</m:t>
                            </m:r>
                          </m:e>
                          <m:sup>
                            <m:r>
                              <m:rPr>
                                <m:sty m:val="p"/>
                              </m:rPr>
                              <a:rPr lang="en-US" sz="1200" dirty="0">
                                <a:solidFill>
                                  <a:srgbClr val="000000"/>
                                </a:solidFill>
                                <a:effectLst/>
                              </a:rPr>
                              <m:t>−</m:t>
                            </m:r>
                            <m:r>
                              <m:rPr>
                                <m:sty m:val="p"/>
                              </m:rPr>
                              <a:rPr lang="en-US" sz="1200" dirty="0">
                                <a:solidFill>
                                  <a:srgbClr val="000000"/>
                                </a:solidFill>
                                <a:effectLst/>
                              </a:rPr>
                              <m:t>1</m:t>
                            </m:r>
                          </m:sup>
                        </m:sSup>
                      </m:e>
                    </m:d>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2</m:t>
                        </m:r>
                      </m:sub>
                    </m:sSub>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g</m:t>
                    </m:r>
                  </m:oMath>
                </a14:m>
                <a:r>
                  <a:rPr lang="en-US" sz="1200" dirty="0">
                    <a:effectLst/>
                  </a:rPr>
                  <a:t> min)) are the rate constants of pseudo-first-order and pseudo-second-order models, respectively.</a:t>
                </a:r>
              </a:p>
            </p:txBody>
          </p:sp>
        </mc:Choice>
        <mc:Fallback/>
      </mc:AlternateContent>
      <p:sp>
        <p:nvSpPr>
          <p:cNvPr id="2" name="Text"/>
          <p:cNvSpPr/>
          <p:nvPr/>
        </p:nvSpPr>
        <p:spPr>
          <a:xfrm>
            <a:off x="1524000" y="4467225"/>
            <a:ext cx="9144000" cy="228600"/>
          </a:xfrm>
          <a:prstGeom prst="rect">
            <a:avLst/>
          </a:prstGeom>
        </p:spPr>
        <p:txBody>
          <a:bodyPr anchor="t" lIns="0" tIns="0" rIns="0" bIns="0">
            <a:noAutofit/>
          </a:bodyPr>
          <a:lstStyle/>
          <a:p>
            <a:pPr>
              <a:lnSpc>
                <a:spcPct val="120000"/>
              </a:lnSpc>
            </a:pPr>
            <a:r>
              <a:rPr lang="en-US" sz="1200" dirty="0">
                <a:effectLst/>
              </a:rPr>
              <a:t>The Scatchard equation is expressed as [27]:</a:t>
            </a:r>
          </a:p>
        </p:txBody>
      </p:sp>
      <mc:AlternateContent xmlns:mc="http://schemas.openxmlformats.org/markup-compatibility/2006">
        <mc:Choice xmlns:a14="http://schemas.microsoft.com/office/drawing/2010/main" Requires="a14">
          <p:sp>
            <p:nvSpPr>
              <p:cNvPr id="2" name="Text"/>
              <p:cNvSpPr/>
              <p:nvPr/>
            </p:nvSpPr>
            <p:spPr>
              <a:xfrm>
                <a:off x="1524000" y="4848225"/>
                <a:ext cx="9144000" cy="390525"/>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f>
                              <m:fPr>
                                <m:ctrlPr>
                                  <a:rPr sz="1200">
                                    <a:latin typeface="Cambria Math" panose="02040503050406030204" pitchFamily="18" charset="0"/>
                                  </a:rPr>
                                </m:ctrlPr>
                              </m:fPr>
                              <m:num>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e</m:t>
                                    </m:r>
                                  </m:sub>
                                </m:sSub>
                              </m:num>
                              <m:den>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i"/>
                                      </m:rPr>
                                      <a:rPr lang="en-US" sz="1200" dirty="0">
                                        <a:solidFill>
                                          <a:srgbClr val="000000"/>
                                        </a:solidFill>
                                        <a:effectLst/>
                                      </a:rPr>
                                      <m:t>e</m:t>
                                    </m:r>
                                  </m:sub>
                                </m:sSub>
                              </m:den>
                            </m:f>
                            <m:r>
                              <m:rPr>
                                <m:sty m:val="p"/>
                              </m:rPr>
                              <a:rPr lang="en-US" sz="1200" dirty="0">
                                <a:solidFill>
                                  <a:srgbClr val="000000"/>
                                </a:solidFill>
                                <a:effectLst/>
                              </a:rPr>
                              <m:t>=</m:t>
                            </m:r>
                            <m:f>
                              <m:fPr>
                                <m:ctrlPr>
                                  <a:rPr sz="1200">
                                    <a:latin typeface="Cambria Math" panose="02040503050406030204" pitchFamily="18" charset="0"/>
                                  </a:rPr>
                                </m:ctrlPr>
                              </m:fPr>
                              <m:num>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p"/>
                                      </m:rPr>
                                      <a:rPr lang="en-US" sz="1200" dirty="0">
                                        <a:solidFill>
                                          <a:srgbClr val="000000"/>
                                        </a:solidFill>
                                        <a:effectLst/>
                                      </a:rPr>
                                      <m:t>max</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e</m:t>
                                    </m:r>
                                  </m:sub>
                                </m:sSub>
                              </m:num>
                              <m:den>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i"/>
                                      </m:rPr>
                                      <a:rPr lang="en-US" sz="1200" dirty="0">
                                        <a:solidFill>
                                          <a:srgbClr val="000000"/>
                                        </a:solidFill>
                                        <a:effectLst/>
                                      </a:rPr>
                                      <m:t>s</m:t>
                                    </m:r>
                                  </m:sub>
                                </m:sSub>
                              </m:den>
                            </m:f>
                          </m:e>
                          <m:e>
                            <m:r>
                              <m:rPr>
                                <m:sty m:val="p"/>
                              </m:rPr>
                              <a:rPr lang="en-US" sz="1200" dirty="0">
                                <a:solidFill>
                                  <a:srgbClr val="000000"/>
                                </a:solidFill>
                                <a:effectLst/>
                              </a:rPr>
                              <m:t>(4)</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5391150"/>
                <a:ext cx="9144000" cy="4572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e</m:t>
                        </m:r>
                      </m:sub>
                    </m:sSub>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g</m:t>
                    </m:r>
                    <m:r>
                      <m:rPr>
                        <m:sty m:val="p"/>
                      </m:rPr>
                      <a:rPr lang="en-US" sz="1200" dirty="0">
                        <a:solidFill>
                          <a:srgbClr val="000000"/>
                        </a:solidFill>
                        <a:effectLst/>
                      </a:rPr>
                      <m:t>)</m:t>
                    </m:r>
                  </m:oMath>
                </a14:m>
                <a:r>
                  <a:rPr lang="en-US" sz="1200" dirty="0">
                    <a:effectLst/>
                  </a:rPr>
                  <a:t> is the adsorption capacity at equilibrium,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p"/>
                          </m:rPr>
                          <a:rPr lang="en-US" sz="1200" dirty="0">
                            <a:solidFill>
                              <a:srgbClr val="000000"/>
                            </a:solidFill>
                            <a:effectLst/>
                          </a:rPr>
                          <m:t>max </m:t>
                        </m:r>
                      </m:sub>
                    </m:sSub>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g</m:t>
                    </m:r>
                    <m:r>
                      <m:rPr>
                        <m:sty m:val="p"/>
                      </m:rPr>
                      <a:rPr lang="en-US" sz="1200" dirty="0">
                        <a:solidFill>
                          <a:srgbClr val="000000"/>
                        </a:solidFill>
                        <a:effectLst/>
                      </a:rPr>
                      <m:t>)</m:t>
                    </m:r>
                  </m:oMath>
                </a14:m>
                <a:r>
                  <a:rPr lang="en-US" sz="1200" dirty="0">
                    <a:effectLst/>
                  </a:rPr>
                  <a:t> is the maximum adsorption capacity,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i"/>
                          </m:rPr>
                          <a:rPr lang="en-US" sz="1200" dirty="0">
                            <a:solidFill>
                              <a:srgbClr val="000000"/>
                            </a:solidFill>
                            <a:effectLst/>
                          </a:rPr>
                          <m:t>e</m:t>
                        </m:r>
                      </m:sub>
                    </m:sSub>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r>
                      <m:rPr>
                        <m:sty m:val="i"/>
                      </m:rPr>
                      <a:rPr lang="en-US" sz="1200" dirty="0">
                        <a:solidFill>
                          <a:srgbClr val="000000"/>
                        </a:solidFill>
                        <a:effectLst/>
                      </a:rPr>
                      <m:t>l</m:t>
                    </m:r>
                    <m:r>
                      <m:rPr>
                        <m:sty m:val="p"/>
                      </m:rPr>
                      <a:rPr lang="en-US" sz="1200" dirty="0">
                        <a:solidFill>
                          <a:srgbClr val="000000"/>
                        </a:solidFill>
                        <a:effectLst/>
                      </a:rPr>
                      <m:t>)</m:t>
                    </m:r>
                  </m:oMath>
                </a14:m>
                <a:r>
                  <a:rPr lang="en-US" sz="1200" dirty="0">
                    <a:effectLst/>
                  </a:rPr>
                  <a:t> is the residual concentration of Cr(VI),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i"/>
                          </m:rPr>
                          <a:rPr lang="en-US" sz="1200" dirty="0">
                            <a:solidFill>
                              <a:srgbClr val="000000"/>
                            </a:solidFill>
                            <a:effectLst/>
                          </a:rPr>
                          <m:t>s</m:t>
                        </m:r>
                      </m:sub>
                    </m:sSub>
                  </m:oMath>
                </a14:m>
                <a:r>
                  <a:rPr lang="en-US" sz="1200" dirty="0">
                    <a:effectLst/>
                  </a:rPr>
                  <a:t> is the equilibrium dissociation constant.</a:t>
                </a:r>
              </a:p>
            </p:txBody>
          </p:sp>
        </mc:Choice>
        <mc:Fallback/>
      </mc:AlternateContent>
      <p:sp>
        <p:nvSpPr>
          <p:cNvPr id="2" name="Text"/>
          <p:cNvSpPr/>
          <p:nvPr/>
        </p:nvSpPr>
        <p:spPr>
          <a:xfrm>
            <a:off x="1524000" y="6000750"/>
            <a:ext cx="9144000" cy="228600"/>
          </a:xfrm>
          <a:prstGeom prst="rect">
            <a:avLst/>
          </a:prstGeom>
        </p:spPr>
        <p:txBody>
          <a:bodyPr anchor="t" lIns="0" tIns="0" rIns="0" bIns="0">
            <a:noAutofit/>
          </a:bodyPr>
          <a:lstStyle/>
          <a:p>
            <a:pPr>
              <a:lnSpc>
                <a:spcPct val="120000"/>
              </a:lnSpc>
            </a:pPr>
            <a:r>
              <a:rPr lang="en-US" sz="1200" dirty="0">
                <a:effectLst/>
              </a:rPr>
              <a:t>The adsorption isotherm was fitted with Langmuir, Freundlich, and Temkin models [16]: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409575"/>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r>
                              <m:rPr>
                                <m:sty m:val="p"/>
                              </m:rPr>
                              <a:rPr lang="en-US" sz="1200" dirty="0">
                                <a:solidFill>
                                  <a:srgbClr val="000000"/>
                                </a:solidFill>
                                <a:effectLst/>
                              </a:rPr>
                              <m:t> Langmuir: </m:t>
                            </m:r>
                            <m:f>
                              <m:fPr>
                                <m:ctrlPr>
                                  <a:rPr sz="1200">
                                    <a:latin typeface="Cambria Math" panose="02040503050406030204" pitchFamily="18" charset="0"/>
                                  </a:rPr>
                                </m:ctrlPr>
                              </m:fPr>
                              <m:num>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i"/>
                                      </m:rPr>
                                      <a:rPr lang="en-US" sz="1200" dirty="0">
                                        <a:solidFill>
                                          <a:srgbClr val="000000"/>
                                        </a:solidFill>
                                        <a:effectLst/>
                                      </a:rPr>
                                      <m:t>e</m:t>
                                    </m:r>
                                  </m:sub>
                                </m:sSub>
                              </m:num>
                              <m:den>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e</m:t>
                                    </m:r>
                                  </m:sub>
                                </m:sSub>
                              </m:den>
                            </m:f>
                            <m:r>
                              <m:rPr>
                                <m:sty m:val="p"/>
                              </m:rPr>
                              <a:rPr lang="en-US" sz="1200" dirty="0">
                                <a:solidFill>
                                  <a:srgbClr val="000000"/>
                                </a:solidFill>
                                <a:effectLst/>
                              </a:rPr>
                              <m:t>=</m:t>
                            </m:r>
                            <m:f>
                              <m:fPr>
                                <m:ctrlPr>
                                  <a:rPr sz="1200">
                                    <a:latin typeface="Cambria Math" panose="02040503050406030204" pitchFamily="18" charset="0"/>
                                  </a:rPr>
                                </m:ctrlPr>
                              </m:fPr>
                              <m:num>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i"/>
                                      </m:rPr>
                                      <a:rPr lang="en-US" sz="1200" dirty="0">
                                        <a:solidFill>
                                          <a:srgbClr val="000000"/>
                                        </a:solidFill>
                                        <a:effectLst/>
                                      </a:rPr>
                                      <m:t>e</m:t>
                                    </m:r>
                                  </m:sub>
                                </m:sSub>
                              </m:num>
                              <m:den>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m</m:t>
                                    </m:r>
                                  </m:sub>
                                </m:sSub>
                              </m:den>
                            </m:f>
                            <m:r>
                              <m:rPr>
                                <m:sty m:val="p"/>
                              </m:rPr>
                              <a:rPr lang="en-US" sz="1200" dirty="0">
                                <a:solidFill>
                                  <a:srgbClr val="000000"/>
                                </a:solidFill>
                                <a:effectLst/>
                              </a:rPr>
                              <m:t>+</m:t>
                            </m:r>
                            <m:f>
                              <m:fPr>
                                <m:ctrlPr>
                                  <a:rPr sz="1200">
                                    <a:latin typeface="Cambria Math" panose="02040503050406030204" pitchFamily="18" charset="0"/>
                                  </a:rPr>
                                </m:ctrlPr>
                              </m:fPr>
                              <m:num>
                                <m:r>
                                  <m:rPr>
                                    <m:sty m:val="p"/>
                                  </m:rPr>
                                  <a:rPr lang="en-US" sz="1200" dirty="0">
                                    <a:solidFill>
                                      <a:srgbClr val="000000"/>
                                    </a:solidFill>
                                    <a:effectLst/>
                                  </a:rPr>
                                  <m:t>1</m:t>
                                </m:r>
                              </m:num>
                              <m:den>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i"/>
                                      </m:rPr>
                                      <a:rPr lang="en-US" sz="1200" dirty="0">
                                        <a:solidFill>
                                          <a:srgbClr val="000000"/>
                                        </a:solidFill>
                                        <a:effectLst/>
                                      </a:rPr>
                                      <m:t>L</m:t>
                                    </m:r>
                                  </m:sub>
                                </m:sSub>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m</m:t>
                                    </m:r>
                                  </m:sub>
                                </m:sSub>
                              </m:den>
                            </m:f>
                          </m:e>
                          <m:e>
                            <m:r>
                              <m:rPr>
                                <m:sty m:val="p"/>
                              </m:rPr>
                              <a:rPr lang="en-US" sz="1200" dirty="0">
                                <a:solidFill>
                                  <a:srgbClr val="000000"/>
                                </a:solidFill>
                                <a:effectLst/>
                              </a:rPr>
                              <m:t>(5)</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019175"/>
                <a:ext cx="9144000" cy="381000"/>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r>
                              <m:rPr>
                                <m:sty m:val="p"/>
                              </m:rPr>
                              <a:rPr lang="en-US" sz="1200" dirty="0">
                                <a:solidFill>
                                  <a:srgbClr val="000000"/>
                                </a:solidFill>
                                <a:effectLst/>
                              </a:rPr>
                              <m:t> Freundlich: </m:t>
                            </m:r>
                            <m:r>
                              <m:rPr>
                                <m:sty m:val="p"/>
                              </m:rPr>
                              <a:rPr lang="en-US" sz="1200" dirty="0">
                                <a:solidFill>
                                  <a:srgbClr val="000000"/>
                                </a:solidFill>
                                <a:effectLst/>
                              </a:rPr>
                              <m:t>ln</m:t>
                            </m:r>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e</m:t>
                                </m:r>
                              </m:sub>
                            </m:sSub>
                            <m:r>
                              <m:rPr>
                                <m:sty m:val="p"/>
                              </m:rPr>
                              <a:rPr lang="en-US" sz="1200" dirty="0">
                                <a:solidFill>
                                  <a:srgbClr val="000000"/>
                                </a:solidFill>
                                <a:effectLst/>
                              </a:rPr>
                              <m:t>=</m:t>
                            </m:r>
                            <m:r>
                              <m:rPr>
                                <m:sty m:val="p"/>
                              </m:rPr>
                              <a:rPr lang="en-US" sz="1200" dirty="0">
                                <a:solidFill>
                                  <a:srgbClr val="000000"/>
                                </a:solidFill>
                                <a:effectLst/>
                              </a:rPr>
                              <m:t>ln</m:t>
                            </m:r>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i"/>
                                  </m:rPr>
                                  <a:rPr lang="en-US" sz="1200" dirty="0">
                                    <a:solidFill>
                                      <a:srgbClr val="000000"/>
                                    </a:solidFill>
                                    <a:effectLst/>
                                  </a:rPr>
                                  <m:t>F</m:t>
                                </m:r>
                              </m:sub>
                            </m:sSub>
                            <m:r>
                              <m:rPr>
                                <m:sty m:val="p"/>
                              </m:rPr>
                              <a:rPr lang="en-US" sz="1200" dirty="0">
                                <a:solidFill>
                                  <a:srgbClr val="000000"/>
                                </a:solidFill>
                                <a:effectLst/>
                              </a:rPr>
                              <m:t>+</m:t>
                            </m:r>
                            <m:f>
                              <m:fPr>
                                <m:ctrlPr>
                                  <a:rPr sz="1200">
                                    <a:latin typeface="Cambria Math" panose="02040503050406030204" pitchFamily="18" charset="0"/>
                                  </a:rPr>
                                </m:ctrlPr>
                              </m:fPr>
                              <m:num>
                                <m:r>
                                  <m:rPr>
                                    <m:sty m:val="p"/>
                                  </m:rPr>
                                  <a:rPr lang="en-US" sz="1200" dirty="0">
                                    <a:solidFill>
                                      <a:srgbClr val="000000"/>
                                    </a:solidFill>
                                    <a:effectLst/>
                                  </a:rPr>
                                  <m:t>1</m:t>
                                </m:r>
                              </m:num>
                              <m:den>
                                <m:r>
                                  <m:rPr>
                                    <m:sty m:val="i"/>
                                  </m:rPr>
                                  <a:rPr lang="en-US" sz="1200" dirty="0">
                                    <a:solidFill>
                                      <a:srgbClr val="000000"/>
                                    </a:solidFill>
                                    <a:effectLst/>
                                  </a:rPr>
                                  <m:t>n</m:t>
                                </m:r>
                              </m:den>
                            </m:f>
                            <m:r>
                              <m:rPr>
                                <m:sty m:val="p"/>
                              </m:rPr>
                              <a:rPr lang="en-US" sz="1200" dirty="0">
                                <a:solidFill>
                                  <a:srgbClr val="000000"/>
                                </a:solidFill>
                                <a:effectLst/>
                              </a:rPr>
                              <m:t>ln</m:t>
                            </m:r>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i"/>
                                  </m:rPr>
                                  <a:rPr lang="en-US" sz="1200" dirty="0">
                                    <a:solidFill>
                                      <a:srgbClr val="000000"/>
                                    </a:solidFill>
                                    <a:effectLst/>
                                  </a:rPr>
                                  <m:t>e</m:t>
                                </m:r>
                              </m:sub>
                            </m:sSub>
                          </m:e>
                          <m:e>
                            <m:r>
                              <m:rPr>
                                <m:sty m:val="p"/>
                              </m:rPr>
                              <a:rPr lang="en-US" sz="1200" dirty="0">
                                <a:solidFill>
                                  <a:srgbClr val="000000"/>
                                </a:solidFill>
                                <a:effectLst/>
                              </a:rPr>
                              <m:t>(6)</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552575"/>
                <a:ext cx="9144000" cy="400050"/>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r>
                              <m:rPr>
                                <m:sty m:val="p"/>
                              </m:rPr>
                              <a:rPr lang="en-US" sz="1200" dirty="0">
                                <a:solidFill>
                                  <a:srgbClr val="000000"/>
                                </a:solidFill>
                                <a:effectLst/>
                              </a:rPr>
                              <m:t> Temkin: </m:t>
                            </m:r>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e</m:t>
                                </m:r>
                              </m:sub>
                            </m:sSub>
                            <m:r>
                              <m:rPr>
                                <m:sty m:val="p"/>
                              </m:rPr>
                              <a:rPr lang="en-US" sz="1200" dirty="0">
                                <a:solidFill>
                                  <a:srgbClr val="000000"/>
                                </a:solidFill>
                                <a:effectLst/>
                              </a:rPr>
                              <m:t>=</m:t>
                            </m:r>
                            <m:f>
                              <m:fPr>
                                <m:ctrlPr>
                                  <a:rPr sz="1200">
                                    <a:latin typeface="Cambria Math" panose="02040503050406030204" pitchFamily="18" charset="0"/>
                                  </a:rPr>
                                </m:ctrlPr>
                              </m:fPr>
                              <m:num>
                                <m:r>
                                  <m:rPr>
                                    <m:sty m:val="i"/>
                                  </m:rPr>
                                  <a:rPr lang="en-US" sz="1200" dirty="0">
                                    <a:solidFill>
                                      <a:srgbClr val="000000"/>
                                    </a:solidFill>
                                    <a:effectLst/>
                                  </a:rPr>
                                  <m:t>R</m:t>
                                </m:r>
                                <m:r>
                                  <m:rPr>
                                    <m:sty m:val="i"/>
                                  </m:rPr>
                                  <a:rPr lang="en-US" sz="1200" dirty="0">
                                    <a:solidFill>
                                      <a:srgbClr val="000000"/>
                                    </a:solidFill>
                                    <a:effectLst/>
                                  </a:rPr>
                                  <m:t>T</m:t>
                                </m:r>
                              </m:num>
                              <m:den>
                                <m:sSub>
                                  <m:sSubPr>
                                    <m:ctrlPr>
                                      <a:rPr sz="1200">
                                        <a:latin typeface="Cambria Math" panose="02040503050406030204" pitchFamily="18" charset="0"/>
                                      </a:rPr>
                                    </m:ctrlPr>
                                  </m:sSubPr>
                                  <m:e>
                                    <m:r>
                                      <m:rPr>
                                        <m:sty m:val="i"/>
                                      </m:rPr>
                                      <a:rPr lang="en-US" sz="1200" dirty="0">
                                        <a:solidFill>
                                          <a:srgbClr val="000000"/>
                                        </a:solidFill>
                                        <a:effectLst/>
                                      </a:rPr>
                                      <m:t>B</m:t>
                                    </m:r>
                                  </m:e>
                                  <m:sub>
                                    <m:r>
                                      <m:rPr>
                                        <m:sty m:val="i"/>
                                      </m:rPr>
                                      <a:rPr lang="en-US" sz="1200" dirty="0">
                                        <a:solidFill>
                                          <a:srgbClr val="000000"/>
                                        </a:solidFill>
                                        <a:effectLst/>
                                      </a:rPr>
                                      <m:t>T</m:t>
                                    </m:r>
                                  </m:sub>
                                </m:sSub>
                              </m:den>
                            </m:f>
                            <m:r>
                              <m:rPr>
                                <m:sty m:val="p"/>
                              </m:rPr>
                              <a:rPr lang="en-US" sz="1200" dirty="0">
                                <a:solidFill>
                                  <a:srgbClr val="000000"/>
                                </a:solidFill>
                                <a:effectLst/>
                              </a:rPr>
                              <m:t>ln</m:t>
                            </m:r>
                            <m:r>
                              <m:rPr>
                                <m:sty m:val="p"/>
                              </m:rPr>
                              <a:rPr lang="en-US" sz="1200" dirty="0">
                                <a:solidFill>
                                  <a:srgbClr val="000000"/>
                                </a:solidFill>
                                <a:effectLst/>
                              </a:rPr>
                              <m:t>⁡</m:t>
                            </m:r>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i"/>
                                      </m:rPr>
                                      <a:rPr lang="en-US" sz="1200" dirty="0">
                                        <a:solidFill>
                                          <a:srgbClr val="000000"/>
                                        </a:solidFill>
                                        <a:effectLst/>
                                      </a:rPr>
                                      <m:t>T</m:t>
                                    </m:r>
                                  </m:sub>
                                </m:sSub>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i"/>
                                      </m:rPr>
                                      <a:rPr lang="en-US" sz="1200" dirty="0">
                                        <a:solidFill>
                                          <a:srgbClr val="000000"/>
                                        </a:solidFill>
                                        <a:effectLst/>
                                      </a:rPr>
                                      <m:t>e</m:t>
                                    </m:r>
                                  </m:sub>
                                </m:sSub>
                              </m:e>
                            </m:d>
                          </m:e>
                          <m:e>
                            <m:r>
                              <m:rPr>
                                <m:sty m:val="p"/>
                              </m:rPr>
                              <a:rPr lang="en-US" sz="1200" dirty="0">
                                <a:solidFill>
                                  <a:srgbClr val="000000"/>
                                </a:solidFill>
                                <a:effectLst/>
                              </a:rPr>
                              <m:t>(7)</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105025"/>
                <a:ext cx="9144000" cy="6858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i"/>
                          </m:rPr>
                          <a:rPr lang="en-US" sz="1200" dirty="0">
                            <a:solidFill>
                              <a:srgbClr val="000000"/>
                            </a:solidFill>
                            <a:effectLst/>
                          </a:rPr>
                          <m:t>e</m:t>
                        </m:r>
                      </m:sub>
                    </m:sSub>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r>
                      <m:rPr>
                        <m:sty m:val="i"/>
                      </m:rPr>
                      <a:rPr lang="en-US" sz="1200" dirty="0">
                        <a:solidFill>
                          <a:srgbClr val="000000"/>
                        </a:solidFill>
                        <a:effectLst/>
                      </a:rPr>
                      <m:t>l</m:t>
                    </m:r>
                    <m:r>
                      <m:rPr>
                        <m:sty m:val="p"/>
                      </m:rPr>
                      <a:rPr lang="en-US" sz="1200" dirty="0">
                        <a:solidFill>
                          <a:srgbClr val="000000"/>
                        </a:solidFill>
                        <a:effectLst/>
                      </a:rPr>
                      <m:t>)</m:t>
                    </m:r>
                  </m:oMath>
                </a14:m>
                <a:r>
                  <a:rPr lang="en-US" sz="1200" dirty="0">
                    <a:effectLst/>
                  </a:rPr>
                  <a:t> is the concentration of Cr(VI) at equilibrium,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e</m:t>
                        </m:r>
                      </m:sub>
                    </m:sSub>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g</m:t>
                    </m:r>
                    <m:r>
                      <m:rPr>
                        <m:sty m:val="p"/>
                      </m:rPr>
                      <a:rPr lang="en-US" sz="1200" dirty="0">
                        <a:solidFill>
                          <a:srgbClr val="000000"/>
                        </a:solidFill>
                        <a:effectLst/>
                      </a:rPr>
                      <m:t>)</m:t>
                    </m:r>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m</m:t>
                        </m:r>
                      </m:sub>
                    </m:sSub>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g</m:t>
                    </m:r>
                    <m:r>
                      <m:rPr>
                        <m:sty m:val="p"/>
                      </m:rPr>
                      <a:rPr lang="en-US" sz="1200" dirty="0">
                        <a:solidFill>
                          <a:srgbClr val="000000"/>
                        </a:solidFill>
                        <a:effectLst/>
                      </a:rPr>
                      <m:t>)</m:t>
                    </m:r>
                  </m:oMath>
                </a14:m>
                <a:r>
                  <a:rPr lang="en-US" sz="1200" dirty="0">
                    <a:effectLst/>
                  </a:rPr>
                  <a:t> are the adsorption capacity at equilibrium and the maximum adsorption capacity, respectively,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L</m:t>
                        </m:r>
                      </m:sub>
                    </m:sSub>
                    <m:r>
                      <m:rPr>
                        <m:sty m:val="p"/>
                      </m:rPr>
                      <a:rPr lang="en-US" sz="1200" dirty="0">
                        <a:solidFill>
                          <a:srgbClr val="000000"/>
                        </a:solidFill>
                        <a:effectLst/>
                      </a:rPr>
                      <m:t>(</m:t>
                    </m:r>
                    <m:r>
                      <m:rPr>
                        <m:sty m:val="i"/>
                      </m:rPr>
                      <a:rPr lang="en-US" sz="1200" dirty="0">
                        <a:solidFill>
                          <a:srgbClr val="000000"/>
                        </a:solidFill>
                        <a:effectLst/>
                      </a:rPr>
                      <m:t>l</m:t>
                    </m:r>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F</m:t>
                        </m:r>
                      </m:sub>
                    </m:sSub>
                    <m:r>
                      <m:rPr>
                        <m:sty m:val="p"/>
                      </m:rPr>
                      <a:rPr lang="en-US" sz="1200" dirty="0">
                        <a:solidFill>
                          <a:srgbClr val="000000"/>
                        </a:solidFill>
                        <a:effectLst/>
                      </a:rPr>
                      <m:t>(</m:t>
                    </m:r>
                    <m:r>
                      <m:rPr>
                        <m:sty m:val="i"/>
                      </m:rPr>
                      <a:rPr lang="en-US" sz="1200" dirty="0">
                        <a:solidFill>
                          <a:srgbClr val="000000"/>
                        </a:solidFill>
                        <a:effectLst/>
                      </a:rPr>
                      <m:t>l</m:t>
                    </m:r>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T</m:t>
                        </m:r>
                      </m:sub>
                    </m:sSub>
                    <m:r>
                      <m:rPr>
                        <m:sty m:val="p"/>
                      </m:rPr>
                      <a:rPr lang="en-US" sz="1200" dirty="0">
                        <a:solidFill>
                          <a:srgbClr val="000000"/>
                        </a:solidFill>
                        <a:effectLst/>
                      </a:rPr>
                      <m:t>(</m:t>
                    </m:r>
                    <m:r>
                      <m:rPr>
                        <m:sty m:val="p"/>
                      </m:rPr>
                      <a:rPr lang="en-US" sz="1200" dirty="0">
                        <a:solidFill>
                          <a:srgbClr val="000000"/>
                        </a:solidFill>
                        <a:effectLst/>
                      </a:rPr>
                      <m:t>J</m:t>
                    </m:r>
                    <m:r>
                      <m:rPr>
                        <m:sty m:val="p"/>
                      </m:rPr>
                      <a:rPr lang="en-US" sz="1200" dirty="0">
                        <a:solidFill>
                          <a:srgbClr val="000000"/>
                        </a:solidFill>
                        <a:effectLst/>
                      </a:rPr>
                      <m:t>/</m:t>
                    </m:r>
                    <m:r>
                      <m:rPr>
                        <m:sty m:val="p"/>
                      </m:rPr>
                      <a:rPr lang="en-US" sz="1200" dirty="0">
                        <a:solidFill>
                          <a:srgbClr val="000000"/>
                        </a:solidFill>
                        <a:effectLst/>
                      </a:rPr>
                      <m:t>mol</m:t>
                    </m:r>
                    <m:r>
                      <m:rPr>
                        <m:sty m:val="p"/>
                      </m:rPr>
                      <a:rPr lang="en-US" sz="1200" dirty="0">
                        <a:solidFill>
                          <a:srgbClr val="000000"/>
                        </a:solidFill>
                        <a:effectLst/>
                      </a:rPr>
                      <m:t>)</m:t>
                    </m:r>
                  </m:oMath>
                </a14:m>
                <a:r>
                  <a:rPr lang="en-US" sz="1200" dirty="0">
                    <a:effectLst/>
                  </a:rPr>
                  <a:t> are the constants of Langmuir, Freundlich, and Temkin models, respectively.</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943225"/>
                <a:ext cx="9144000" cy="457200"/>
              </a:xfrm>
              <a:prstGeom prst="rect">
                <a:avLst/>
              </a:prstGeom>
            </p:spPr>
            <p:txBody>
              <a:bodyPr anchor="t" lIns="0" tIns="0" rIns="0" bIns="0">
                <a:noAutofit/>
              </a:bodyPr>
              <a:lstStyle/>
              <a:p>
                <a:pPr>
                  <a:lnSpc>
                    <a:spcPct val="120000"/>
                  </a:lnSpc>
                </a:pPr>
                <a:r>
                  <a:rPr lang="en-US" sz="1200" dirty="0">
                    <a:effectLst/>
                  </a:rPr>
                  <a:t>The thermodynamics of the adsorption processes was evaluated, and the thermodynamic parameters, i.e., Gibbs free energy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Δ</m:t>
                    </m:r>
                    <m:r>
                      <m:rPr>
                        <m:sty m:val="i"/>
                      </m:rPr>
                      <a:rPr lang="en-US" sz="1200" dirty="0">
                        <a:solidFill>
                          <a:srgbClr val="000000"/>
                        </a:solidFill>
                        <a:effectLst/>
                      </a:rPr>
                      <m:t>G</m:t>
                    </m:r>
                    <m:r>
                      <m:rPr>
                        <m:sty m:val="p"/>
                      </m:rPr>
                      <a:rPr lang="en-US" sz="1200" dirty="0">
                        <a:solidFill>
                          <a:srgbClr val="000000"/>
                        </a:solidFill>
                        <a:effectLst/>
                      </a:rPr>
                      <m:t>)</m:t>
                    </m:r>
                  </m:oMath>
                </a14:m>
                <a:r>
                  <a:rPr lang="en-US" sz="1200" dirty="0">
                    <a:effectLst/>
                  </a:rPr>
                  <a:t>, enthalpy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Δ</m:t>
                    </m:r>
                    <m:r>
                      <m:rPr>
                        <m:sty m:val="i"/>
                      </m:rPr>
                      <a:rPr lang="en-US" sz="1200" dirty="0">
                        <a:solidFill>
                          <a:srgbClr val="000000"/>
                        </a:solidFill>
                        <a:effectLst/>
                      </a:rPr>
                      <m:t>H</m:t>
                    </m:r>
                    <m:r>
                      <m:rPr>
                        <m:sty m:val="p"/>
                      </m:rPr>
                      <a:rPr lang="en-US" sz="1200" dirty="0">
                        <a:solidFill>
                          <a:srgbClr val="000000"/>
                        </a:solidFill>
                        <a:effectLst/>
                      </a:rPr>
                      <m:t>)</m:t>
                    </m:r>
                  </m:oMath>
                </a14:m>
                <a:r>
                  <a:rPr lang="en-US" sz="1200" dirty="0">
                    <a:effectLst/>
                  </a:rPr>
                  <a:t>, and entropy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Δ</m:t>
                    </m:r>
                    <m:r>
                      <m:rPr>
                        <m:sty m:val="i"/>
                      </m:rPr>
                      <a:rPr lang="en-US" sz="1200" dirty="0">
                        <a:solidFill>
                          <a:srgbClr val="000000"/>
                        </a:solidFill>
                        <a:effectLst/>
                      </a:rPr>
                      <m:t>S</m:t>
                    </m:r>
                    <m:r>
                      <m:rPr>
                        <m:sty m:val="p"/>
                      </m:rPr>
                      <a:rPr lang="en-US" sz="1200" dirty="0">
                        <a:solidFill>
                          <a:srgbClr val="000000"/>
                        </a:solidFill>
                        <a:effectLst/>
                      </a:rPr>
                      <m:t>)</m:t>
                    </m:r>
                  </m:oMath>
                </a14:m>
                <a:r>
                  <a:rPr lang="en-US" sz="1200" dirty="0">
                    <a:effectLst/>
                  </a:rPr>
                  <a:t>, were calculated with the equations below [5].</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552825"/>
                <a:ext cx="9144000" cy="628650"/>
              </a:xfrm>
              <a:prstGeom prst="rect">
                <a:avLst/>
              </a:prstGeom>
            </p:spPr>
            <p:txBody>
              <a:bodyPr anchor="ctr" lIns="0" tIns="0" rIns="0" bIns="0">
                <a:noAutofit/>
              </a:bodyPr>
              <a:lstStyle/>
              <a:p>
                <a:pPr algn="ctr"/>
                <a14:m>
                  <m:oMathPara>
                    <m:oMath>
                      <m:m>
                        <m:mPr>
                          <m:plcHide m:val="1"/>
                          <m:cGpRule m:val="4"/>
                          <m:mcs>
                            <m:mc>
                              <m:mcPr>
                                <m:count m:val="1"/>
                                <m:mcJc m:val="right"/>
                              </m:mcPr>
                            </m:mc>
                            <m:mc>
                              <m:mcPr>
                                <m:count m:val="1"/>
                                <m:mcJc m:val="left"/>
                              </m:mcPr>
                            </m:mc>
                          </m:mcs>
                          <m:ctrlPr>
                            <a:rPr sz="1200" i="1">
                              <a:latin typeface="Cambria Math" panose="02040503050406030204" pitchFamily="18" charset="0"/>
                            </a:rPr>
                          </m:ctrlPr>
                        </m:mPr>
                        <m:mr>
                          <m:e>
                            <m:r>
                              <m:t xml:space="preserve"> </m:t>
                            </m:r>
                          </m:e>
                          <m:e>
                            <m:r>
                              <m:rPr>
                                <m:sty m:val="p"/>
                              </m:rPr>
                              <a:rPr lang="en-US" sz="1200" dirty="0">
                                <a:solidFill>
                                  <a:srgbClr val="000000"/>
                                </a:solidFill>
                                <a:effectLst/>
                              </a:rPr>
                              <m:t>ln</m:t>
                            </m:r>
                            <m:r>
                              <m:rPr>
                                <m:sty m:val="p"/>
                              </m:rPr>
                              <a:rPr lang="en-US" sz="1200" dirty="0">
                                <a:solidFill>
                                  <a:srgbClr val="000000"/>
                                </a:solidFill>
                                <a:effectLst/>
                              </a:rPr>
                              <m:t>⁡</m:t>
                            </m:r>
                            <m:f>
                              <m:fPr>
                                <m:ctrlPr>
                                  <a:rPr sz="1200">
                                    <a:latin typeface="Cambria Math" panose="02040503050406030204" pitchFamily="18" charset="0"/>
                                  </a:rPr>
                                </m:ctrlPr>
                              </m:fPr>
                              <m:num>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e</m:t>
                                    </m:r>
                                  </m:sub>
                                </m:sSub>
                              </m:num>
                              <m:den>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i"/>
                                      </m:rPr>
                                      <a:rPr lang="en-US" sz="1200" dirty="0">
                                        <a:solidFill>
                                          <a:srgbClr val="000000"/>
                                        </a:solidFill>
                                        <a:effectLst/>
                                      </a:rPr>
                                      <m:t>e</m:t>
                                    </m:r>
                                  </m:sub>
                                </m:sSub>
                              </m:den>
                            </m:f>
                            <m:r>
                              <m:rPr>
                                <m:sty m:val="p"/>
                              </m:rPr>
                              <a:rPr lang="en-US" sz="1200" dirty="0">
                                <a:solidFill>
                                  <a:srgbClr val="000000"/>
                                </a:solidFill>
                                <a:effectLst/>
                              </a:rPr>
                              <m:t>=</m:t>
                            </m:r>
                            <m:r>
                              <m:rPr>
                                <m:sty m:val="p"/>
                              </m:rPr>
                              <a:rPr lang="en-US" sz="1200" dirty="0">
                                <a:solidFill>
                                  <a:srgbClr val="000000"/>
                                </a:solidFill>
                                <a:effectLst/>
                              </a:rPr>
                              <m:t>−</m:t>
                            </m:r>
                            <m:f>
                              <m:fPr>
                                <m:ctrlPr>
                                  <a:rPr sz="1200">
                                    <a:latin typeface="Cambria Math" panose="02040503050406030204" pitchFamily="18" charset="0"/>
                                  </a:rPr>
                                </m:ctrlPr>
                              </m:fPr>
                              <m:num>
                                <m:r>
                                  <m:rPr>
                                    <m:sty m:val="p"/>
                                  </m:rPr>
                                  <a:rPr lang="en-US" sz="1200" dirty="0">
                                    <a:solidFill>
                                      <a:srgbClr val="000000"/>
                                    </a:solidFill>
                                    <a:effectLst/>
                                  </a:rPr>
                                  <m:t>Δ</m:t>
                                </m:r>
                                <m:r>
                                  <m:rPr>
                                    <m:sty m:val="i"/>
                                  </m:rPr>
                                  <a:rPr lang="en-US" sz="1200" dirty="0">
                                    <a:solidFill>
                                      <a:srgbClr val="000000"/>
                                    </a:solidFill>
                                    <a:effectLst/>
                                  </a:rPr>
                                  <m:t>H</m:t>
                                </m:r>
                              </m:num>
                              <m:den>
                                <m:r>
                                  <m:rPr>
                                    <m:sty m:val="i"/>
                                  </m:rPr>
                                  <a:rPr lang="en-US" sz="1200" dirty="0">
                                    <a:solidFill>
                                      <a:srgbClr val="000000"/>
                                    </a:solidFill>
                                    <a:effectLst/>
                                  </a:rPr>
                                  <m:t>R</m:t>
                                </m:r>
                              </m:den>
                            </m:f>
                            <m:r>
                              <m:rPr>
                                <m:sty m:val="p"/>
                              </m:rPr>
                              <a:rPr lang="en-US" sz="1200" dirty="0">
                                <a:solidFill>
                                  <a:srgbClr val="000000"/>
                                </a:solidFill>
                                <a:effectLst/>
                              </a:rPr>
                              <m:t>×</m:t>
                            </m:r>
                            <m:f>
                              <m:fPr>
                                <m:ctrlPr>
                                  <a:rPr sz="1200">
                                    <a:latin typeface="Cambria Math" panose="02040503050406030204" pitchFamily="18" charset="0"/>
                                  </a:rPr>
                                </m:ctrlPr>
                              </m:fPr>
                              <m:num>
                                <m:r>
                                  <m:rPr>
                                    <m:sty m:val="p"/>
                                  </m:rPr>
                                  <a:rPr lang="en-US" sz="1200" dirty="0">
                                    <a:solidFill>
                                      <a:srgbClr val="000000"/>
                                    </a:solidFill>
                                    <a:effectLst/>
                                  </a:rPr>
                                  <m:t>1</m:t>
                                </m:r>
                              </m:num>
                              <m:den>
                                <m:r>
                                  <m:rPr>
                                    <m:sty m:val="i"/>
                                  </m:rPr>
                                  <a:rPr lang="en-US" sz="1200" dirty="0">
                                    <a:solidFill>
                                      <a:srgbClr val="000000"/>
                                    </a:solidFill>
                                    <a:effectLst/>
                                  </a:rPr>
                                  <m:t>T</m:t>
                                </m:r>
                              </m:den>
                            </m:f>
                            <m:r>
                              <m:rPr>
                                <m:sty m:val="p"/>
                              </m:rPr>
                              <a:rPr lang="en-US" sz="1200" dirty="0">
                                <a:solidFill>
                                  <a:srgbClr val="000000"/>
                                </a:solidFill>
                                <a:effectLst/>
                              </a:rPr>
                              <m:t>×</m:t>
                            </m:r>
                            <m:f>
                              <m:fPr>
                                <m:ctrlPr>
                                  <a:rPr sz="1200">
                                    <a:latin typeface="Cambria Math" panose="02040503050406030204" pitchFamily="18" charset="0"/>
                                  </a:rPr>
                                </m:ctrlPr>
                              </m:fPr>
                              <m:num>
                                <m:r>
                                  <m:rPr>
                                    <m:sty m:val="p"/>
                                  </m:rPr>
                                  <a:rPr lang="en-US" sz="1200" dirty="0">
                                    <a:solidFill>
                                      <a:srgbClr val="000000"/>
                                    </a:solidFill>
                                    <a:effectLst/>
                                  </a:rPr>
                                  <m:t>Δ</m:t>
                                </m:r>
                                <m:r>
                                  <m:rPr>
                                    <m:sty m:val="i"/>
                                  </m:rPr>
                                  <a:rPr lang="en-US" sz="1200" dirty="0">
                                    <a:solidFill>
                                      <a:srgbClr val="000000"/>
                                    </a:solidFill>
                                    <a:effectLst/>
                                  </a:rPr>
                                  <m:t>S</m:t>
                                </m:r>
                              </m:num>
                              <m:den>
                                <m:r>
                                  <m:rPr>
                                    <m:sty m:val="i"/>
                                  </m:rPr>
                                  <a:rPr lang="en-US" sz="1200" dirty="0">
                                    <a:solidFill>
                                      <a:srgbClr val="000000"/>
                                    </a:solidFill>
                                    <a:effectLst/>
                                  </a:rPr>
                                  <m:t>R</m:t>
                                </m:r>
                              </m:den>
                            </m:f>
                          </m:e>
                          <m:e>
                            <m:r>
                              <m:rPr>
                                <m:sty m:val="p"/>
                              </m:rPr>
                              <a:rPr lang="en-US" sz="1200" dirty="0">
                                <a:solidFill>
                                  <a:srgbClr val="000000"/>
                                </a:solidFill>
                                <a:effectLst/>
                              </a:rPr>
                              <m:t>(8)</m:t>
                            </m:r>
                          </m:e>
                        </m:mr>
                        <m:mr>
                          <m:e>
                            <m:r>
                              <m:t xml:space="preserve"> </m:t>
                            </m:r>
                          </m:e>
                          <m:e>
                            <m:r>
                              <m:rPr>
                                <m:sty m:val="p"/>
                              </m:rPr>
                              <a:rPr lang="en-US" sz="1200" dirty="0">
                                <a:solidFill>
                                  <a:srgbClr val="000000"/>
                                </a:solidFill>
                                <a:effectLst/>
                              </a:rPr>
                              <m:t>Δ</m:t>
                            </m:r>
                            <m:r>
                              <m:rPr>
                                <m:sty m:val="i"/>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Δ</m:t>
                            </m:r>
                            <m:r>
                              <m:rPr>
                                <m:sty m:val="i"/>
                              </m:rPr>
                              <a:rPr lang="en-US" sz="1200" dirty="0">
                                <a:solidFill>
                                  <a:srgbClr val="000000"/>
                                </a:solidFill>
                                <a:effectLst/>
                              </a:rPr>
                              <m:t>H</m:t>
                            </m:r>
                            <m:r>
                              <m:rPr>
                                <m:sty m:val="p"/>
                              </m:rPr>
                              <a:rPr lang="en-US" sz="1200" dirty="0">
                                <a:solidFill>
                                  <a:srgbClr val="000000"/>
                                </a:solidFill>
                                <a:effectLst/>
                              </a:rPr>
                              <m:t>−</m:t>
                            </m:r>
                            <m:r>
                              <m:rPr>
                                <m:sty m:val="i"/>
                              </m:rPr>
                              <a:rPr lang="en-US" sz="1200" dirty="0">
                                <a:solidFill>
                                  <a:srgbClr val="000000"/>
                                </a:solidFill>
                                <a:effectLst/>
                              </a:rPr>
                              <m:t>T</m:t>
                            </m:r>
                            <m:r>
                              <m:rPr>
                                <m:sty m:val="p"/>
                              </m:rPr>
                              <a:rPr lang="en-US" sz="1200" dirty="0">
                                <a:solidFill>
                                  <a:srgbClr val="000000"/>
                                </a:solidFill>
                                <a:effectLst/>
                              </a:rPr>
                              <m:t>×</m:t>
                            </m:r>
                            <m:r>
                              <m:rPr>
                                <m:sty m:val="p"/>
                              </m:rPr>
                              <a:rPr lang="en-US" sz="1200" dirty="0">
                                <a:solidFill>
                                  <a:srgbClr val="000000"/>
                                </a:solidFill>
                                <a:effectLst/>
                              </a:rPr>
                              <m:t>Δ</m:t>
                            </m:r>
                            <m:r>
                              <m:rPr>
                                <m:sty m:val="i"/>
                              </m:rPr>
                              <a:rPr lang="en-US" sz="1200" dirty="0">
                                <a:solidFill>
                                  <a:srgbClr val="000000"/>
                                </a:solidFill>
                                <a:effectLst/>
                              </a:rPr>
                              <m:t>S</m:t>
                            </m:r>
                          </m:e>
                          <m:e>
                            <m:r>
                              <m:rPr>
                                <m:sty m:val="p"/>
                              </m:rPr>
                              <a:rPr lang="en-US" sz="1200" dirty="0">
                                <a:solidFill>
                                  <a:srgbClr val="000000"/>
                                </a:solidFill>
                                <a:effectLst/>
                              </a:rPr>
                              <m:t>(9)</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333875"/>
                <a:ext cx="9144000" cy="13716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r>
                      <m:rPr>
                        <m:sty m:val="i"/>
                      </m:rPr>
                      <a:rPr lang="en-US" sz="1200" dirty="0">
                        <a:solidFill>
                          <a:srgbClr val="000000"/>
                        </a:solidFill>
                        <a:effectLst/>
                      </a:rPr>
                      <m:t>R</m:t>
                    </m:r>
                    <m:r>
                      <m:rPr>
                        <m:sty m:val="p"/>
                      </m:rPr>
                      <a:rPr lang="en-US" sz="1200" dirty="0">
                        <a:solidFill>
                          <a:srgbClr val="000000"/>
                        </a:solidFill>
                        <a:effectLst/>
                      </a:rPr>
                      <m:t>(</m:t>
                    </m:r>
                    <m:r>
                      <m:rPr>
                        <m:sty m:val="p"/>
                      </m:rPr>
                      <a:rPr lang="en-US" sz="1200" dirty="0">
                        <a:solidFill>
                          <a:srgbClr val="000000"/>
                        </a:solidFill>
                        <a:effectLst/>
                      </a:rPr>
                      <m:t>8.314</m:t>
                    </m:r>
                    <m:r>
                      <m:rPr>
                        <m:sty m:val="p"/>
                      </m:rPr>
                      <a:rPr lang="en-US" sz="1200" dirty="0">
                        <a:solidFill>
                          <a:srgbClr val="000000"/>
                        </a:solidFill>
                        <a:effectLst/>
                      </a:rPr>
                      <m:t xml:space="preserve"> </m:t>
                    </m:r>
                    <m:r>
                      <m:rPr>
                        <m:sty m:val="p"/>
                      </m:rPr>
                      <a:rPr lang="en-US" sz="1200" dirty="0">
                        <a:solidFill>
                          <a:srgbClr val="000000"/>
                        </a:solidFill>
                        <a:effectLst/>
                      </a:rPr>
                      <m:t>J</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mol</m:t>
                    </m:r>
                    <m:r>
                      <m:rPr>
                        <m:sty m:val="p"/>
                      </m:rPr>
                      <a:rPr lang="en-US" sz="1200" dirty="0">
                        <a:solidFill>
                          <a:srgbClr val="000000"/>
                        </a:solidFill>
                        <a:effectLst/>
                      </a:rPr>
                      <m:t>K</m:t>
                    </m:r>
                    <m:r>
                      <m:rPr>
                        <m:sty m:val="p"/>
                      </m:rPr>
                      <a:rPr lang="en-US" sz="1200" dirty="0">
                        <a:solidFill>
                          <a:srgbClr val="000000"/>
                        </a:solidFill>
                        <a:effectLst/>
                      </a:rPr>
                      <m:t>)</m:t>
                    </m:r>
                    <m:r>
                      <m:rPr>
                        <m:sty m:val="p"/>
                      </m:rPr>
                      <a:rPr lang="en-US" sz="1200" dirty="0">
                        <a:solidFill>
                          <a:srgbClr val="000000"/>
                        </a:solidFill>
                        <a:effectLst/>
                      </a:rPr>
                      <m:t>)</m:t>
                    </m:r>
                  </m:oMath>
                </a14:m>
                <a:r>
                  <a:rPr lang="en-US" sz="1200" dirty="0">
                    <a:effectLst/>
                  </a:rPr>
                  <a:t> is the ideal gas constant and </a:t>
                </a:r>
                <a:r>
                  <a:rPr lang="en-US" sz="1200" dirty="0">
                    <a:effectLst/>
                  </a:rPr>
                  <a:t>​</a:t>
                </a:r>
                <a14:m>
                  <m:oMath>
                    <m:r>
                      <m:rPr>
                        <m:sty m:val="i"/>
                      </m:rPr>
                      <a:rPr lang="en-US" sz="1200" dirty="0">
                        <a:solidFill>
                          <a:srgbClr val="000000"/>
                        </a:solidFill>
                        <a:effectLst/>
                      </a:rPr>
                      <m:t>T</m:t>
                    </m:r>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K</m:t>
                    </m:r>
                    <m:r>
                      <m:rPr>
                        <m:sty m:val="p"/>
                      </m:rPr>
                      <a:rPr lang="en-US" sz="1200" dirty="0">
                        <a:solidFill>
                          <a:srgbClr val="000000"/>
                        </a:solidFill>
                        <a:effectLst/>
                      </a:rPr>
                      <m:t>)</m:t>
                    </m:r>
                  </m:oMath>
                </a14:m>
                <a:r>
                  <a:rPr lang="en-US" sz="1200" dirty="0">
                    <a:effectLst/>
                  </a:rPr>
                  <a:t> is the absolute temperature. The values of </a:t>
                </a:r>
                <a:r>
                  <a:rPr lang="en-US" sz="1200" dirty="0">
                    <a:effectLst/>
                  </a:rPr>
                  <a:t>​</a:t>
                </a:r>
                <a14:m>
                  <m:oMath>
                    <m:r>
                      <m:rPr>
                        <m:sty m:val="p"/>
                      </m:rPr>
                      <a:rPr lang="en-US" sz="1200" dirty="0">
                        <a:solidFill>
                          <a:srgbClr val="000000"/>
                        </a:solidFill>
                        <a:effectLst/>
                      </a:rPr>
                      <m:t>Δ</m:t>
                    </m:r>
                    <m:r>
                      <m:rPr>
                        <m:sty m:val="i"/>
                      </m:rPr>
                      <a:rPr lang="en-US" sz="1200" dirty="0">
                        <a:solidFill>
                          <a:srgbClr val="000000"/>
                        </a:solidFill>
                        <a:effectLst/>
                      </a:rPr>
                      <m:t>H</m:t>
                    </m:r>
                  </m:oMath>
                </a14:m>
                <a:r>
                  <a:rPr lang="en-US" sz="1200" dirty="0">
                    <a:effectLst/>
                  </a:rPr>
                  <a:t> and </a:t>
                </a:r>
                <a:r>
                  <a:rPr lang="en-US" sz="1200" dirty="0">
                    <a:effectLst/>
                  </a:rPr>
                  <a:t>​</a:t>
                </a:r>
                <a14:m>
                  <m:oMath>
                    <m:r>
                      <m:rPr>
                        <m:sty m:val="p"/>
                      </m:rPr>
                      <a:rPr lang="en-US" sz="1200" dirty="0">
                        <a:solidFill>
                          <a:srgbClr val="000000"/>
                        </a:solidFill>
                        <a:effectLst/>
                      </a:rPr>
                      <m:t>Δ</m:t>
                    </m:r>
                    <m:r>
                      <m:rPr>
                        <m:sty m:val="i"/>
                      </m:rPr>
                      <a:rPr lang="en-US" sz="1200" dirty="0">
                        <a:solidFill>
                          <a:srgbClr val="000000"/>
                        </a:solidFill>
                        <a:effectLst/>
                      </a:rPr>
                      <m:t>S</m:t>
                    </m:r>
                  </m:oMath>
                </a14:m>
                <a:r>
                  <a:rPr lang="en-US" sz="1200" dirty="0">
                    <a:effectLst/>
                  </a:rPr>
                  <a:t> were obtained from the slope and intercept of the plot of </a:t>
                </a:r>
                <a:r>
                  <a:rPr lang="en-US" sz="1200" dirty="0">
                    <a:effectLst/>
                  </a:rPr>
                  <a:t>​</a:t>
                </a:r>
                <a14:m>
                  <m:oMath>
                    <m:r>
                      <m:rPr>
                        <m:sty m:val="p"/>
                      </m:rPr>
                      <a:rPr lang="en-US" sz="1200" dirty="0">
                        <a:solidFill>
                          <a:srgbClr val="000000"/>
                        </a:solidFill>
                        <a:effectLst/>
                      </a:rPr>
                      <m:t>ln</m:t>
                    </m:r>
                    <m:r>
                      <m:rPr>
                        <m:sty m:val="p"/>
                      </m:rPr>
                      <a:rPr lang="en-US" sz="1200" dirty="0">
                        <a:solidFill>
                          <a:srgbClr val="000000"/>
                        </a:solidFill>
                        <a:effectLst/>
                      </a:rPr>
                      <m:t>⁡</m:t>
                    </m:r>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e</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i"/>
                              </m:rPr>
                              <a:rPr lang="en-US" sz="1200" dirty="0">
                                <a:solidFill>
                                  <a:srgbClr val="000000"/>
                                </a:solidFill>
                                <a:effectLst/>
                              </a:rPr>
                              <m:t>e</m:t>
                            </m:r>
                          </m:sub>
                        </m:sSub>
                      </m:e>
                    </m:d>
                  </m:oMath>
                </a14:m>
                <a:r>
                  <a:rPr lang="en-US" sz="1200" dirty="0">
                    <a:effectLst/>
                  </a:rPr>
                  <a:t> against 1/T.</a:t>
                </a:r>
                <a:br>
                  <a:rPr lang="en-US" sz="1200" dirty="0"/>
                </a:br>
                <a:r>
                  <a:rPr lang="en-US" sz="1200" dirty="0">
                    <a:effectLst/>
                  </a:rPr>
                  <a:t> </a:t>
                </a:r>
                <a:r>
                  <a:rPr lang="en-US" sz="1200" dirty="0">
                    <a:effectLst/>
                  </a:rPr>
                  <a:t>​</a:t>
                </a:r>
                <a14:m>
                  <m:oMath>
                    <m:r>
                      <m:rPr>
                        <m:sty m:val="p"/>
                      </m:rPr>
                      <a:rPr lang="en-US" sz="1200" dirty="0">
                        <a:solidFill>
                          <a:srgbClr val="000000"/>
                        </a:solidFill>
                        <a:effectLst/>
                      </a:rPr>
                      <m:t>Cu</m:t>
                    </m:r>
                    <m:r>
                      <m:rPr>
                        <m:sty m:val="p"/>
                      </m:rPr>
                      <a:rPr lang="en-US" sz="1200" dirty="0">
                        <a:solidFill>
                          <a:srgbClr val="000000"/>
                        </a:solidFill>
                        <a:effectLst/>
                      </a:rPr>
                      <m:t>(</m:t>
                    </m:r>
                    <m:r>
                      <m:rPr>
                        <m:sty m:val="p"/>
                      </m:rPr>
                      <a:rPr lang="en-US" sz="1200" dirty="0">
                        <a:solidFill>
                          <a:srgbClr val="000000"/>
                        </a:solidFill>
                        <a:effectLst/>
                      </a:rPr>
                      <m:t>II</m:t>
                    </m:r>
                    <m:r>
                      <m:rPr>
                        <m:sty m:val="p"/>
                      </m:rPr>
                      <a:rPr lang="en-US" sz="1200" dirty="0">
                        <a:solidFill>
                          <a:srgbClr val="000000"/>
                        </a:solidFill>
                        <a:effectLst/>
                      </a:rPr>
                      <m:t>)</m:t>
                    </m:r>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SO</m:t>
                        </m:r>
                      </m:e>
                      <m:sub>
                        <m:r>
                          <m:rPr>
                            <m:sty m:val="p"/>
                          </m:rPr>
                          <a:rPr lang="en-US" sz="1200" dirty="0">
                            <a:solidFill>
                              <a:srgbClr val="000000"/>
                            </a:solidFill>
                            <a:effectLst/>
                          </a:rPr>
                          <m:t>4</m:t>
                        </m:r>
                      </m:sub>
                    </m:sSub>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and </a:t>
                </a:r>
                <a:r>
                  <a:rPr lang="en-US" sz="1200" dirty="0">
                    <a:effectLst/>
                  </a:rPr>
                  <a:t>​</a:t>
                </a:r>
                <a14:m>
                  <m:oMath>
                    <m:r>
                      <m:rPr>
                        <m:sty m:val="p"/>
                      </m:rPr>
                      <a:rPr lang="en-US" sz="1200" dirty="0">
                        <a:solidFill>
                          <a:srgbClr val="000000"/>
                        </a:solidFill>
                        <a:effectLst/>
                      </a:rPr>
                      <m:t>Mo</m:t>
                    </m:r>
                    <m:r>
                      <m:rPr>
                        <m:sty m:val="p"/>
                      </m:rPr>
                      <a:rPr lang="en-US" sz="1200" dirty="0">
                        <a:solidFill>
                          <a:srgbClr val="000000"/>
                        </a:solidFill>
                        <a:effectLst/>
                      </a:rPr>
                      <m:t>(</m:t>
                    </m:r>
                    <m:r>
                      <m:rPr>
                        <m:sty m:val="p"/>
                      </m:rPr>
                      <a:rPr lang="en-US" sz="1200" dirty="0">
                        <a:solidFill>
                          <a:srgbClr val="000000"/>
                        </a:solidFill>
                        <a:effectLst/>
                      </a:rPr>
                      <m:t>VI</m:t>
                    </m:r>
                    <m:r>
                      <m:rPr>
                        <m:sty m:val="p"/>
                      </m:rPr>
                      <a:rPr lang="en-US" sz="1200" dirty="0">
                        <a:solidFill>
                          <a:srgbClr val="000000"/>
                        </a:solidFill>
                        <a:effectLst/>
                      </a:rPr>
                      <m:t>)</m:t>
                    </m:r>
                  </m:oMath>
                </a14:m>
                <a:r>
                  <a:rPr lang="en-US" sz="1200" dirty="0">
                    <a:effectLst/>
                  </a:rPr>
                  <a:t> were selected as interfering ions to evaluate the adsorption selectivity of IPGA fibers towards Cr(VI). The concentration of interfering ions was varied from 20 to </a:t>
                </a:r>
                <a:r>
                  <a:rPr lang="en-US" sz="1200" dirty="0">
                    <a:effectLst/>
                  </a:rPr>
                  <a:t>​</a:t>
                </a:r>
                <a14:m>
                  <m:oMath>
                    <m:r>
                      <m:rPr>
                        <m:sty m:val="p"/>
                      </m:rPr>
                      <a:rPr lang="en-US" sz="1200" dirty="0">
                        <a:solidFill>
                          <a:srgbClr val="000000"/>
                        </a:solidFill>
                        <a:effectLst/>
                      </a:rPr>
                      <m:t>100</m:t>
                    </m:r>
                    <m:r>
                      <m:rPr>
                        <m:sty m:val="p"/>
                      </m:rPr>
                      <a:rPr lang="en-US" sz="1200" dirty="0">
                        <a:solidFill>
                          <a:srgbClr val="000000"/>
                        </a:solidFill>
                        <a:effectLst/>
                      </a:rPr>
                      <m:t>mg</m:t>
                    </m:r>
                    <m:r>
                      <m:rPr>
                        <m:sty m:val="p"/>
                      </m:rPr>
                      <a:rPr lang="en-US" sz="1200" dirty="0">
                        <a:solidFill>
                          <a:srgbClr val="000000"/>
                        </a:solidFill>
                        <a:effectLst/>
                      </a:rPr>
                      <m:t>/</m:t>
                    </m:r>
                    <m:r>
                      <m:rPr>
                        <m:sty m:val="i"/>
                      </m:rPr>
                      <a:rPr lang="en-US" sz="1200" dirty="0">
                        <a:solidFill>
                          <a:srgbClr val="000000"/>
                        </a:solidFill>
                        <a:effectLst/>
                      </a:rPr>
                      <m:t>l</m:t>
                    </m:r>
                  </m:oMath>
                </a14:m>
                <a:r>
                  <a:rPr lang="en-US" sz="1200" dirty="0">
                    <a:effectLst/>
                  </a:rPr>
                  <a:t>, and the concentration of Cr(VI) was constant ( </a:t>
                </a:r>
                <a:r>
                  <a:rPr lang="en-US" sz="1200" dirty="0">
                    <a:effectLst/>
                  </a:rPr>
                  <a:t>​</a:t>
                </a:r>
                <a14:m>
                  <m:oMath>
                    <m:r>
                      <m:rPr>
                        <m:sty m:val="p"/>
                      </m:rPr>
                      <a:rPr lang="en-US" sz="1200" dirty="0">
                        <a:solidFill>
                          <a:srgbClr val="000000"/>
                        </a:solidFill>
                        <a:effectLst/>
                      </a:rPr>
                      <m:t>100</m:t>
                    </m:r>
                    <m:r>
                      <m:rPr>
                        <m:sty m:val="p"/>
                      </m:rPr>
                      <a:rPr lang="en-US" sz="1200" dirty="0">
                        <a:solidFill>
                          <a:srgbClr val="000000"/>
                        </a:solidFill>
                        <a:effectLst/>
                      </a:rPr>
                      <m:t>mg</m:t>
                    </m:r>
                    <m:r>
                      <m:rPr>
                        <m:sty m:val="p"/>
                      </m:rPr>
                      <a:rPr lang="en-US" sz="1200" dirty="0">
                        <a:solidFill>
                          <a:srgbClr val="000000"/>
                        </a:solidFill>
                        <a:effectLst/>
                      </a:rPr>
                      <m:t>/</m:t>
                    </m:r>
                    <m:r>
                      <m:rPr>
                        <m:sty m:val="i"/>
                      </m:rPr>
                      <a:rPr lang="en-US" sz="1200" dirty="0">
                        <a:solidFill>
                          <a:srgbClr val="000000"/>
                        </a:solidFill>
                        <a:effectLst/>
                      </a:rPr>
                      <m:t>l</m:t>
                    </m:r>
                  </m:oMath>
                </a14:m>
                <a:r>
                  <a:rPr lang="en-US" sz="1200" dirty="0">
                    <a:effectLst/>
                  </a:rPr>
                  <a:t> ). After adsorption experiments, the distribution coefficient (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i"/>
                          </m:rPr>
                          <a:rPr lang="en-US" sz="1200" dirty="0">
                            <a:solidFill>
                              <a:srgbClr val="000000"/>
                            </a:solidFill>
                            <a:effectLst/>
                          </a:rPr>
                          <m:t>d</m:t>
                        </m:r>
                      </m:sub>
                    </m:sSub>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m</m:t>
                    </m:r>
                    <m:r>
                      <m:rPr>
                        <m:sty m:val="i"/>
                      </m:rPr>
                      <a:rPr lang="en-US" sz="1200" dirty="0">
                        <a:solidFill>
                          <a:srgbClr val="000000"/>
                        </a:solidFill>
                        <a:effectLst/>
                      </a:rPr>
                      <m:t>l</m:t>
                    </m:r>
                    <m:r>
                      <m:rPr>
                        <m:sty m:val="p"/>
                      </m:rPr>
                      <a:rPr lang="en-US" sz="1200" dirty="0">
                        <a:solidFill>
                          <a:srgbClr val="000000"/>
                        </a:solidFill>
                        <a:effectLst/>
                      </a:rPr>
                      <m:t>/</m:t>
                    </m:r>
                    <m:r>
                      <m:rPr>
                        <m:sty m:val="p"/>
                      </m:rPr>
                      <a:rPr lang="en-US" sz="1200" dirty="0">
                        <a:solidFill>
                          <a:srgbClr val="000000"/>
                        </a:solidFill>
                        <a:effectLst/>
                      </a:rPr>
                      <m:t>g</m:t>
                    </m:r>
                  </m:oMath>
                </a14:m>
                <a:r>
                  <a:rPr lang="en-US" sz="1200" dirty="0">
                    <a:effectLst/>
                  </a:rPr>
                  <a:t> ), selectivity coefficient ( </a:t>
                </a:r>
                <a:r>
                  <a:rPr lang="en-US" sz="1200" dirty="0">
                    <a:effectLst/>
                  </a:rPr>
                  <a:t>​</a:t>
                </a:r>
                <a14:m>
                  <m:oMath>
                    <m:r>
                      <m:rPr>
                        <m:sty m:val="i"/>
                      </m:rPr>
                      <a:rPr lang="en-US" sz="1200" dirty="0">
                        <a:solidFill>
                          <a:srgbClr val="000000"/>
                        </a:solidFill>
                        <a:effectLst/>
                      </a:rPr>
                      <m:t>K</m:t>
                    </m:r>
                  </m:oMath>
                </a14:m>
                <a:r>
                  <a:rPr lang="en-US" sz="1200" dirty="0">
                    <a:effectLst/>
                  </a:rPr>
                  <a:t> ), and relative selectivity coefficient </a:t>
                </a:r>
                <a:r>
                  <a:rPr lang="en-US" sz="1200" dirty="0">
                    <a:effectLst/>
                  </a:rPr>
                  <a:t>​</a:t>
                </a:r>
                <a14:m>
                  <m:oMath>
                    <m:d>
                      <m:dPr>
                        <m:begChr m:val="("/>
                        <m:endChr m:val=")"/>
                        <m:ctrlPr>
                          <a:rPr sz="1200">
                            <a:latin typeface="Cambria Math" panose="02040503050406030204" pitchFamily="18" charset="0"/>
                          </a:rPr>
                        </m:ctrlPr>
                      </m:dPr>
                      <m:e>
                        <m:sSup>
                          <m:sSupPr>
                            <m:ctrlPr>
                              <a:rPr sz="1200">
                                <a:latin typeface="Cambria Math" panose="02040503050406030204" pitchFamily="18" charset="0"/>
                              </a:rPr>
                            </m:ctrlPr>
                          </m:sSupPr>
                          <m:e>
                            <m:r>
                              <m:rPr>
                                <m:sty m:val="i"/>
                              </m:rPr>
                              <a:rPr lang="en-US" sz="1200" dirty="0">
                                <a:solidFill>
                                  <a:srgbClr val="000000"/>
                                </a:solidFill>
                                <a:effectLst/>
                              </a:rPr>
                              <m:t>K</m:t>
                            </m:r>
                          </m:e>
                          <m:sup>
                            <m:r>
                              <m:rPr>
                                <m:sty m:val="i"/>
                              </m:rPr>
                              <a:rPr lang="en-US" sz="1200" dirty="0">
                                <a:solidFill>
                                  <a:srgbClr val="000000"/>
                                </a:solidFill>
                                <a:effectLst/>
                              </a:rPr>
                              <m:t>′</m:t>
                            </m:r>
                          </m:sup>
                        </m:sSup>
                      </m:e>
                    </m:d>
                  </m:oMath>
                </a14:m>
                <a:r>
                  <a:rPr lang="en-US" sz="1200" dirty="0">
                    <a:effectLst/>
                  </a:rPr>
                  <a:t> were calculated using equations (10)-(12) [28].</a:t>
                </a:r>
              </a:p>
            </p:txBody>
          </p:sp>
        </mc:Choice>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285875"/>
              </a:xfrm>
              <a:prstGeom prst="rect">
                <a:avLst/>
              </a:prstGeom>
            </p:spPr>
            <p:txBody>
              <a:bodyPr anchor="ctr" lIns="0" tIns="0" rIns="0" bIns="0">
                <a:noAutofit/>
              </a:bodyPr>
              <a:lstStyle/>
              <a:p>
                <a:pPr algn="ctr"/>
                <a14:m>
                  <m:oMathPara>
                    <m:oMath>
                      <m:m>
                        <m:mPr>
                          <m:plcHide m:val="1"/>
                          <m:cGpRule m:val="4"/>
                          <m:mcs>
                            <m:mc>
                              <m:mcPr>
                                <m:count m:val="1"/>
                                <m:mcJc m:val="right"/>
                              </m:mcPr>
                            </m:mc>
                            <m:mc>
                              <m:mcPr>
                                <m:count m:val="1"/>
                                <m:mcJc m:val="left"/>
                              </m:mcPr>
                            </m:mc>
                          </m:mcs>
                          <m:ctrlPr>
                            <a:rPr sz="1200" i="1">
                              <a:latin typeface="Cambria Math" panose="02040503050406030204" pitchFamily="18" charset="0"/>
                            </a:rPr>
                          </m:ctrlPr>
                        </m:mPr>
                        <m:mr>
                          <m:e>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i"/>
                                  </m:rPr>
                                  <a:rPr lang="en-US" sz="1200" dirty="0">
                                    <a:solidFill>
                                      <a:srgbClr val="000000"/>
                                    </a:solidFill>
                                    <a:effectLst/>
                                  </a:rPr>
                                  <m:t>d</m:t>
                                </m:r>
                              </m:sub>
                            </m:sSub>
                          </m:e>
                          <m:e>
                            <m:r>
                              <m:rPr>
                                <m:sty m:val="i"/>
                              </m:rPr>
                              <a:rPr lang="en-US" sz="1200" dirty="0">
                                <a:solidFill>
                                  <a:srgbClr val="000000"/>
                                </a:solidFill>
                                <a:effectLst/>
                              </a:rPr>
                              <m:t xml:space="preserve"> </m:t>
                            </m:r>
                            <m:r>
                              <m:rPr>
                                <m:sty m:val="p"/>
                              </m:rPr>
                              <a:rPr lang="en-US" sz="1200" dirty="0">
                                <a:solidFill>
                                  <a:srgbClr val="000000"/>
                                </a:solidFill>
                                <a:effectLst/>
                              </a:rPr>
                              <m:t>=</m:t>
                            </m:r>
                            <m:f>
                              <m:fPr>
                                <m:ctrlPr>
                                  <a:rPr sz="1200">
                                    <a:latin typeface="Cambria Math" panose="02040503050406030204" pitchFamily="18" charset="0"/>
                                  </a:rPr>
                                </m:ctrlPr>
                              </m:fPr>
                              <m:num>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p"/>
                                      </m:rPr>
                                      <a:rPr lang="en-US" sz="1200" dirty="0">
                                        <a:solidFill>
                                          <a:srgbClr val="000000"/>
                                        </a:solidFill>
                                        <a:effectLst/>
                                      </a:rPr>
                                      <m:t>0</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i"/>
                                      </m:rPr>
                                      <a:rPr lang="en-US" sz="1200" dirty="0">
                                        <a:solidFill>
                                          <a:srgbClr val="000000"/>
                                        </a:solidFill>
                                        <a:effectLst/>
                                      </a:rPr>
                                      <m:t>e</m:t>
                                    </m:r>
                                  </m:sub>
                                </m:sSub>
                              </m:num>
                              <m:den>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i"/>
                                      </m:rPr>
                                      <a:rPr lang="en-US" sz="1200" dirty="0">
                                        <a:solidFill>
                                          <a:srgbClr val="000000"/>
                                        </a:solidFill>
                                        <a:effectLst/>
                                      </a:rPr>
                                      <m:t>e</m:t>
                                    </m:r>
                                  </m:sub>
                                </m:sSub>
                              </m:den>
                            </m:f>
                            <m:r>
                              <m:rPr>
                                <m:sty m:val="p"/>
                              </m:rPr>
                              <a:rPr lang="en-US" sz="1200" dirty="0">
                                <a:solidFill>
                                  <a:srgbClr val="000000"/>
                                </a:solidFill>
                                <a:effectLst/>
                              </a:rPr>
                              <m:t>×</m:t>
                            </m:r>
                            <m:f>
                              <m:fPr>
                                <m:ctrlPr>
                                  <a:rPr sz="1200">
                                    <a:latin typeface="Cambria Math" panose="02040503050406030204" pitchFamily="18" charset="0"/>
                                  </a:rPr>
                                </m:ctrlPr>
                              </m:fPr>
                              <m:num>
                                <m:r>
                                  <m:rPr>
                                    <m:sty m:val="i"/>
                                  </m:rPr>
                                  <a:rPr lang="en-US" sz="1200" dirty="0">
                                    <a:solidFill>
                                      <a:srgbClr val="000000"/>
                                    </a:solidFill>
                                    <a:effectLst/>
                                  </a:rPr>
                                  <m:t>V</m:t>
                                </m:r>
                              </m:num>
                              <m:den>
                                <m:r>
                                  <m:rPr>
                                    <m:sty m:val="i"/>
                                  </m:rPr>
                                  <a:rPr lang="en-US" sz="1200" dirty="0">
                                    <a:solidFill>
                                      <a:srgbClr val="000000"/>
                                    </a:solidFill>
                                    <a:effectLst/>
                                  </a:rPr>
                                  <m:t>m</m:t>
                                </m:r>
                              </m:den>
                            </m:f>
                          </m:e>
                          <m:e>
                            <m:r>
                              <m:rPr>
                                <m:sty m:val="p"/>
                              </m:rPr>
                              <a:rPr lang="en-US" sz="1200" dirty="0">
                                <a:solidFill>
                                  <a:srgbClr val="000000"/>
                                </a:solidFill>
                                <a:effectLst/>
                              </a:rPr>
                              <m:t>(10)</m:t>
                            </m:r>
                          </m:e>
                        </m:mr>
                        <m:mr>
                          <m:e>
                            <m:r>
                              <m:rPr>
                                <m:sty m:val="i"/>
                              </m:rPr>
                              <a:rPr lang="en-US" sz="1200" dirty="0">
                                <a:solidFill>
                                  <a:srgbClr val="000000"/>
                                </a:solidFill>
                                <a:effectLst/>
                              </a:rPr>
                              <m:t>K</m:t>
                            </m:r>
                          </m:e>
                          <m:e>
                            <m:r>
                              <m:rPr>
                                <m:sty m:val="i"/>
                              </m:rPr>
                              <a:rPr lang="en-US" sz="1200" dirty="0">
                                <a:solidFill>
                                  <a:srgbClr val="000000"/>
                                </a:solidFill>
                                <a:effectLst/>
                              </a:rPr>
                              <m:t xml:space="preserve"> </m:t>
                            </m:r>
                            <m:r>
                              <m:rPr>
                                <m:sty m:val="p"/>
                              </m:rPr>
                              <a:rPr lang="en-US" sz="1200" dirty="0">
                                <a:solidFill>
                                  <a:srgbClr val="000000"/>
                                </a:solidFill>
                                <a:effectLst/>
                              </a:rPr>
                              <m:t>=</m:t>
                            </m:r>
                            <m:f>
                              <m:fPr>
                                <m:ctrlPr>
                                  <a:rPr sz="1200">
                                    <a:latin typeface="Cambria Math" panose="02040503050406030204" pitchFamily="18" charset="0"/>
                                  </a:rPr>
                                </m:ctrlPr>
                              </m:fPr>
                              <m:num>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i"/>
                                      </m:rPr>
                                      <a:rPr lang="en-US" sz="1200" dirty="0">
                                        <a:solidFill>
                                          <a:srgbClr val="000000"/>
                                        </a:solidFill>
                                        <a:effectLst/>
                                      </a:rPr>
                                      <m:t>f</m:t>
                                    </m:r>
                                  </m:sub>
                                </m:sSub>
                                <m:r>
                                  <m:rPr>
                                    <m:sty m:val="p"/>
                                  </m:rPr>
                                  <a:rPr lang="en-US" sz="1200" dirty="0">
                                    <a:solidFill>
                                      <a:srgbClr val="000000"/>
                                    </a:solidFill>
                                    <a:effectLst/>
                                  </a:rPr>
                                  <m:t>(</m:t>
                                </m:r>
                                <m:r>
                                  <m:rPr>
                                    <m:sty m:val="p"/>
                                  </m:rPr>
                                  <a:rPr lang="en-US" sz="1200" dirty="0">
                                    <a:solidFill>
                                      <a:srgbClr val="000000"/>
                                    </a:solidFill>
                                    <a:effectLst/>
                                  </a:rPr>
                                  <m:t>Cr</m:t>
                                </m:r>
                                <m:r>
                                  <m:rPr>
                                    <m:sty m:val="p"/>
                                  </m:rPr>
                                  <a:rPr lang="en-US" sz="1200" dirty="0">
                                    <a:solidFill>
                                      <a:srgbClr val="000000"/>
                                    </a:solidFill>
                                    <a:effectLst/>
                                  </a:rPr>
                                  <m:t>(</m:t>
                                </m:r>
                                <m:r>
                                  <m:rPr>
                                    <m:sty m:val="p"/>
                                  </m:rPr>
                                  <a:rPr lang="en-US" sz="1200" dirty="0">
                                    <a:solidFill>
                                      <a:srgbClr val="000000"/>
                                    </a:solidFill>
                                    <a:effectLst/>
                                  </a:rPr>
                                  <m:t>VI</m:t>
                                </m:r>
                                <m:r>
                                  <m:rPr>
                                    <m:sty m:val="p"/>
                                  </m:rPr>
                                  <a:rPr lang="en-US" sz="1200" dirty="0">
                                    <a:solidFill>
                                      <a:srgbClr val="000000"/>
                                    </a:solidFill>
                                    <a:effectLst/>
                                  </a:rPr>
                                  <m:t>)</m:t>
                                </m:r>
                                <m:r>
                                  <m:rPr>
                                    <m:sty m:val="p"/>
                                  </m:rPr>
                                  <a:rPr lang="en-US" sz="1200" dirty="0">
                                    <a:solidFill>
                                      <a:srgbClr val="000000"/>
                                    </a:solidFill>
                                    <a:effectLst/>
                                  </a:rPr>
                                  <m:t>)</m:t>
                                </m:r>
                              </m:num>
                              <m:den>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i"/>
                                      </m:rPr>
                                      <a:rPr lang="en-US" sz="1200" dirty="0">
                                        <a:solidFill>
                                          <a:srgbClr val="000000"/>
                                        </a:solidFill>
                                        <a:effectLst/>
                                      </a:rPr>
                                      <m:t>d</m:t>
                                    </m:r>
                                  </m:sub>
                                </m:sSub>
                                <m:r>
                                  <m:rPr>
                                    <m:sty m:val="p"/>
                                  </m:rPr>
                                  <a:rPr lang="en-US" sz="1200" dirty="0">
                                    <a:solidFill>
                                      <a:srgbClr val="000000"/>
                                    </a:solidFill>
                                    <a:effectLst/>
                                  </a:rPr>
                                  <m:t>(</m:t>
                                </m:r>
                                <m:r>
                                  <m:rPr>
                                    <m:sty m:val="p"/>
                                  </m:rPr>
                                  <a:rPr lang="en-US" sz="1200" dirty="0">
                                    <a:solidFill>
                                      <a:srgbClr val="000000"/>
                                    </a:solidFill>
                                    <a:effectLst/>
                                  </a:rPr>
                                  <m:t> competing ion </m:t>
                                </m:r>
                                <m:r>
                                  <m:rPr>
                                    <m:sty m:val="p"/>
                                  </m:rPr>
                                  <a:rPr lang="en-US" sz="1200" dirty="0">
                                    <a:solidFill>
                                      <a:srgbClr val="000000"/>
                                    </a:solidFill>
                                    <a:effectLst/>
                                  </a:rPr>
                                  <m:t>)</m:t>
                                </m:r>
                              </m:den>
                            </m:f>
                          </m:e>
                          <m:e>
                            <m:r>
                              <m:rPr>
                                <m:sty m:val="p"/>
                              </m:rPr>
                              <a:rPr lang="en-US" sz="1200" dirty="0">
                                <a:solidFill>
                                  <a:srgbClr val="000000"/>
                                </a:solidFill>
                                <a:effectLst/>
                              </a:rPr>
                              <m:t>(11)</m:t>
                            </m:r>
                          </m:e>
                        </m:mr>
                        <m:mr>
                          <m:e>
                            <m:sSup>
                              <m:sSupPr>
                                <m:ctrlPr>
                                  <a:rPr sz="1200">
                                    <a:latin typeface="Cambria Math" panose="02040503050406030204" pitchFamily="18" charset="0"/>
                                  </a:rPr>
                                </m:ctrlPr>
                              </m:sSupPr>
                              <m:e>
                                <m:r>
                                  <m:rPr>
                                    <m:sty m:val="i"/>
                                  </m:rPr>
                                  <a:rPr lang="en-US" sz="1200" dirty="0">
                                    <a:solidFill>
                                      <a:srgbClr val="000000"/>
                                    </a:solidFill>
                                    <a:effectLst/>
                                  </a:rPr>
                                  <m:t>K</m:t>
                                </m:r>
                              </m:e>
                              <m:sup>
                                <m:r>
                                  <m:rPr>
                                    <m:sty m:val="i"/>
                                  </m:rPr>
                                  <a:rPr lang="en-US" sz="1200" dirty="0">
                                    <a:solidFill>
                                      <a:srgbClr val="000000"/>
                                    </a:solidFill>
                                    <a:effectLst/>
                                  </a:rPr>
                                  <m:t>′</m:t>
                                </m:r>
                              </m:sup>
                            </m:sSup>
                          </m:e>
                          <m:e>
                            <m:r>
                              <m:rPr>
                                <m:sty m:val="i"/>
                              </m:rPr>
                              <a:rPr lang="en-US" sz="1200" dirty="0">
                                <a:solidFill>
                                  <a:srgbClr val="000000"/>
                                </a:solidFill>
                                <a:effectLst/>
                              </a:rPr>
                              <m:t xml:space="preserve"> </m:t>
                            </m:r>
                            <m:r>
                              <m:rPr>
                                <m:sty m:val="p"/>
                              </m:rPr>
                              <a:rPr lang="en-US" sz="1200" dirty="0">
                                <a:solidFill>
                                  <a:srgbClr val="000000"/>
                                </a:solidFill>
                                <a:effectLst/>
                              </a:rPr>
                              <m:t>=</m:t>
                            </m:r>
                            <m:f>
                              <m:fPr>
                                <m:ctrlPr>
                                  <a:rPr sz="1200">
                                    <a:latin typeface="Cambria Math" panose="02040503050406030204" pitchFamily="18" charset="0"/>
                                  </a:rPr>
                                </m:ctrlPr>
                              </m:fPr>
                              <m:num>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IPGA</m:t>
                                    </m:r>
                                  </m:sub>
                                </m:sSub>
                              </m:num>
                              <m:den>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NIPGA</m:t>
                                    </m:r>
                                  </m:sub>
                                </m:sSub>
                              </m:den>
                            </m:f>
                          </m:e>
                          <m:e>
                            <m:r>
                              <m:rPr>
                                <m:sty m:val="p"/>
                              </m:rPr>
                              <a:rPr lang="en-US" sz="1200" dirty="0">
                                <a:solidFill>
                                  <a:srgbClr val="000000"/>
                                </a:solidFill>
                                <a:effectLst/>
                              </a:rPr>
                              <m:t>(12)</m:t>
                            </m:r>
                          </m:e>
                        </m:mr>
                      </m:m>
                    </m:oMath>
                  </m:oMathPara>
                </a14:m>
              </a:p>
            </p:txBody>
          </p:sp>
        </mc:Choice>
        <mc:Fallback/>
      </mc:AlternateContent>
      <p:sp>
        <p:nvSpPr>
          <p:cNvPr id="2" name="Text"/>
          <p:cNvSpPr/>
          <p:nvPr/>
        </p:nvSpPr>
        <p:spPr>
          <a:xfrm>
            <a:off x="1524000" y="1895475"/>
            <a:ext cx="9144000" cy="342900"/>
          </a:xfrm>
          <a:prstGeom prst="rect">
            <a:avLst/>
          </a:prstGeom>
        </p:spPr>
        <p:txBody>
          <a:bodyPr anchor="t" lIns="0" tIns="0" rIns="0" bIns="0">
            <a:noAutofit/>
          </a:bodyPr>
          <a:lstStyle/>
          <a:p>
            <a:pPr>
              <a:lnSpc>
                <a:spcPct val="120000"/>
              </a:lnSpc>
            </a:pPr>
            <a:r>
              <a:rPr lang="en-US" sz="1800" dirty="0" b="1">
                <a:effectLst/>
              </a:rPr>
              <a:t>Results and Discussion</a:t>
            </a:r>
          </a:p>
        </p:txBody>
      </p:sp>
      <p:sp>
        <p:nvSpPr>
          <p:cNvPr id="2" name="Text"/>
          <p:cNvSpPr/>
          <p:nvPr/>
        </p:nvSpPr>
        <p:spPr>
          <a:xfrm>
            <a:off x="1524000" y="2428114"/>
            <a:ext cx="9144000" cy="342900"/>
          </a:xfrm>
          <a:prstGeom prst="rect">
            <a:avLst/>
          </a:prstGeom>
        </p:spPr>
        <p:txBody>
          <a:bodyPr anchor="t" lIns="0" tIns="0" rIns="0" bIns="0">
            <a:noAutofit/>
          </a:bodyPr>
          <a:lstStyle/>
          <a:p>
            <a:pPr>
              <a:lnSpc>
                <a:spcPct val="120000"/>
              </a:lnSpc>
            </a:pPr>
            <a:r>
              <a:rPr lang="en-US" sz="1800" dirty="0" b="1">
                <a:effectLst/>
              </a:rPr>
              <a:t>Dual Monomer-grafting of PP Fibers</a:t>
            </a:r>
          </a:p>
        </p:txBody>
      </p:sp>
      <mc:AlternateContent xmlns:mc="http://schemas.openxmlformats.org/markup-compatibility/2006">
        <mc:Choice xmlns:a14="http://schemas.microsoft.com/office/drawing/2010/main" Requires="a14">
          <p:sp>
            <p:nvSpPr>
              <p:cNvPr id="2" name="Text"/>
              <p:cNvSpPr/>
              <p:nvPr/>
            </p:nvSpPr>
            <p:spPr>
              <a:xfrm>
                <a:off x="1524000" y="2960753"/>
                <a:ext cx="9144000" cy="3200400"/>
              </a:xfrm>
              <a:prstGeom prst="rect">
                <a:avLst/>
              </a:prstGeom>
            </p:spPr>
            <p:txBody>
              <a:bodyPr anchor="t" lIns="0" tIns="0" rIns="0" bIns="0">
                <a:noAutofit/>
              </a:bodyPr>
              <a:lstStyle/>
              <a:p>
                <a:pPr>
                  <a:lnSpc>
                    <a:spcPct val="120000"/>
                  </a:lnSpc>
                </a:pPr>
                <a:r>
                  <a:rPr lang="en-US" sz="1200" dirty="0">
                    <a:effectLst/>
                  </a:rPr>
                  <a:t>The influences of the ratio of two monomers, total monomer content, as well as the content of interfacial agent and dispersant on the grafting percentage are shown in Figure 1. As can be seen from Figure 1(a), the grafting percentage of GMA and AM increased first and then decreased slightly with the increase in GMA: AM ratio. When the GMA: AM ratio was 1.2: 1, the grafting percentage of monomers reached the maximum. It should be mentioned that in the grafting polymerization process, the interfacial agent swells the PP fibers generating an interfacial layer where the grafting reaction mainly takes place. Therefore,</a:t>
                </a:r>
                <a:br>
                  <a:rPr lang="en-US" sz="1200" dirty="0"/>
                </a:br>
                <a:r>
                  <a:rPr lang="en-US" sz="1200" dirty="0">
                    <a:effectLst/>
                  </a:rPr>
                  <a:t> the oil-soluble GMA is first grafted on PP surface. As the GMA: AM ratio increases, the grafting percentage of GMA increases, but until a certain ratio (i.e., 1.2). After that, the excessive GMA tends to homopolymerize [29]. As a result, a slight decrease in the grafting percentage of GMA is noticed. Theoretically, the </a:t>
                </a:r>
                <a:r>
                  <a:rPr lang="en-US" sz="1200" dirty="0">
                    <a:effectLst/>
                  </a:rPr>
                  <a:t>​</a:t>
                </a:r>
                <a14:m>
                  <m:oMath>
                    <m:r>
                      <m:rPr>
                        <m:sty m:val="i"/>
                      </m:rPr>
                      <a:rPr lang="en-US" sz="1200" dirty="0">
                        <a:solidFill>
                          <a:srgbClr val="000000"/>
                        </a:solidFill>
                        <a:effectLst/>
                      </a:rPr>
                      <m:t>Q</m:t>
                    </m:r>
                  </m:oMath>
                </a14:m>
                <a:r>
                  <a:rPr lang="en-US" sz="1200" dirty="0">
                    <a:effectLst/>
                  </a:rPr>
                  <a:t> values of GMA and AM (1.03 and 1.12, respectively) are around 1 and slightly higher than 1, respectively, indicating that GMA and AM can be easily converted into free radicals and are prone to copolymerize. The </a:t>
                </a:r>
                <a:r>
                  <a:rPr lang="en-US" sz="1200" dirty="0">
                    <a:effectLst/>
                  </a:rPr>
                  <a:t>​</a:t>
                </a:r>
                <a14:m>
                  <m:oMath>
                    <m:r>
                      <m:rPr>
                        <m:sty m:val="i"/>
                      </m:rPr>
                      <a:rPr lang="en-US" sz="1200" dirty="0">
                        <a:solidFill>
                          <a:srgbClr val="000000"/>
                        </a:solidFill>
                        <a:effectLst/>
                      </a:rPr>
                      <m:t>e</m:t>
                    </m:r>
                  </m:oMath>
                </a14:m>
                <a:r>
                  <a:rPr lang="en-US" sz="1200" dirty="0">
                    <a:effectLst/>
                  </a:rPr>
                  <a:t> values of GMA and AM (0.57 and 1.19, respectively) are significantly different, highlighting the tendency of the two monomers to alternate in the copolymer chain. These values show that AM is usually grafted onto PP through the "bridge" of GMA, and GMA and AM alternate in the macromolecular chain. Therefore, the grafting percentage of GMA is higher than that of AM [26]. AM mainly exists in the aqueous phase. When the amount of AM is high, the GMA sites available for copolymerization are limited, resulting in a low grafting percentage of GMA and AM.</a:t>
                </a:r>
              </a:p>
            </p:txBody>
          </p:sp>
        </mc:Choice>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371600"/>
          </a:xfrm>
          <a:prstGeom prst="rect">
            <a:avLst/>
          </a:prstGeom>
        </p:spPr>
        <p:txBody>
          <a:bodyPr anchor="t" lIns="0" tIns="0" rIns="0" bIns="0">
            <a:noAutofit/>
          </a:bodyPr>
          <a:lstStyle/>
          <a:p>
            <a:pPr>
              <a:lnSpc>
                <a:spcPct val="120000"/>
              </a:lnSpc>
            </a:pPr>
            <a:r>
              <a:rPr lang="en-US" sz="1200" dirty="0">
                <a:effectLst/>
              </a:rPr>
              <a:t>Figure 1(b) shows the influence of the total monomer content (GMA, AM) on the grafting percentage of GMA and AM at the optimum GMA: AM ratio of 1.2. As observed, the grafting percentage of both GMA and AM increases first and then decreases with increasing the total monomer content. At a total monomer content of 60 % of the PP mass, the grafting percentage of both monomers reached the maximum. Appropriate monomer content promotes the collisions between monomers and free radicals, which is conducive to the grafting reaction. However, above this limit, excessive monomer concentration may lead to the homopolymerization of monomers, as well, phenomenon reflected by the decrease in monomer grafting percentage.</a:t>
            </a:r>
          </a:p>
        </p:txBody>
      </p:sp>
      <mc:AlternateContent xmlns:mc="http://schemas.openxmlformats.org/markup-compatibility/2006">
        <mc:Choice xmlns:a14="http://schemas.microsoft.com/office/drawing/2010/main" Requires="a14">
          <p:sp>
            <p:nvSpPr>
              <p:cNvPr id="2" name="Text"/>
              <p:cNvSpPr/>
              <p:nvPr/>
            </p:nvSpPr>
            <p:spPr>
              <a:xfrm>
                <a:off x="1524000" y="1981200"/>
                <a:ext cx="9144000" cy="1600200"/>
              </a:xfrm>
              <a:prstGeom prst="rect">
                <a:avLst/>
              </a:prstGeom>
            </p:spPr>
            <p:txBody>
              <a:bodyPr anchor="t" lIns="0" tIns="0" rIns="0" bIns="0">
                <a:noAutofit/>
              </a:bodyPr>
              <a:lstStyle/>
              <a:p>
                <a:pPr>
                  <a:lnSpc>
                    <a:spcPct val="120000"/>
                  </a:lnSpc>
                </a:pPr>
                <a:r>
                  <a:rPr lang="en-US" sz="1200" dirty="0">
                    <a:effectLst/>
                  </a:rPr>
                  <a:t>Figure 1(c) shows the effect of the content of dispersant (deionized water) on the grafting percentage of monomers. As can be seen, the grafting percentage of GMA and AM increased first and then decreased with the increase in water content. When the amount of deionized water was 8 ml/g PP, the grafting percentage of monomers reached the maximum. At low amount of water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&lt;</m:t>
                    </m:r>
                    <m:r>
                      <m:rPr>
                        <m:sty m:val="p"/>
                      </m:rPr>
                      <a:rPr lang="en-US" sz="1200" dirty="0">
                        <a:solidFill>
                          <a:srgbClr val="000000"/>
                        </a:solidFill>
                        <a:effectLst/>
                      </a:rPr>
                      <m:t>8</m:t>
                    </m:r>
                    <m:r>
                      <m:rPr>
                        <m:sty m:val="p"/>
                      </m:rPr>
                      <a:rPr lang="en-US" sz="1200" dirty="0">
                        <a:solidFill>
                          <a:srgbClr val="000000"/>
                        </a:solidFill>
                        <a:effectLst/>
                      </a:rPr>
                      <m:t>mg</m:t>
                    </m:r>
                    <m:r>
                      <m:rPr>
                        <m:sty m:val="p"/>
                      </m:rPr>
                      <a:rPr lang="en-US" sz="1200" dirty="0">
                        <a:solidFill>
                          <a:srgbClr val="000000"/>
                        </a:solidFill>
                        <a:effectLst/>
                      </a:rPr>
                      <m:t>/</m:t>
                    </m:r>
                    <m:r>
                      <m:rPr>
                        <m:sty m:val="i"/>
                      </m:rPr>
                      <a:rPr lang="en-US" sz="1200" dirty="0">
                        <a:solidFill>
                          <a:srgbClr val="000000"/>
                        </a:solidFill>
                        <a:effectLst/>
                      </a:rPr>
                      <m:t>l</m:t>
                    </m:r>
                    <m:r>
                      <m:rPr>
                        <m:sty m:val="p"/>
                      </m:rPr>
                      <a:rPr lang="en-US" sz="1200" dirty="0">
                        <a:solidFill>
                          <a:srgbClr val="000000"/>
                        </a:solidFill>
                        <a:effectLst/>
                      </a:rPr>
                      <m:t>)</m:t>
                    </m:r>
                  </m:oMath>
                </a14:m>
                <a:r>
                  <a:rPr lang="en-US" sz="1200" dirty="0">
                    <a:effectLst/>
                  </a:rPr>
                  <a:t>, the PP particles could not be effectively dispersed, leading to aggregation and low grafting percentage. When the amount of dispersant is too high ( </a:t>
                </a:r>
                <a:r>
                  <a:rPr lang="en-US" sz="1200" dirty="0">
                    <a:effectLst/>
                  </a:rPr>
                  <a:t>​</a:t>
                </a:r>
                <a14:m>
                  <m:oMath>
                    <m:r>
                      <m:rPr>
                        <m:sty m:val="p"/>
                      </m:rPr>
                      <a:rPr lang="en-US" sz="1200" dirty="0">
                        <a:solidFill>
                          <a:srgbClr val="000000"/>
                        </a:solidFill>
                        <a:effectLst/>
                      </a:rPr>
                      <m:t>&gt;</m:t>
                    </m:r>
                    <m:r>
                      <m:rPr>
                        <m:sty m:val="p"/>
                      </m:rPr>
                      <a:rPr lang="en-US" sz="1200" dirty="0">
                        <a:solidFill>
                          <a:srgbClr val="000000"/>
                        </a:solidFill>
                        <a:effectLst/>
                      </a:rPr>
                      <m:t>8</m:t>
                    </m:r>
                    <m:r>
                      <m:rPr>
                        <m:sty m:val="p"/>
                      </m:rPr>
                      <a:rPr lang="en-US" sz="1200" dirty="0">
                        <a:solidFill>
                          <a:srgbClr val="000000"/>
                        </a:solidFill>
                        <a:effectLst/>
                      </a:rPr>
                      <m:t>mg</m:t>
                    </m:r>
                    <m:r>
                      <m:rPr>
                        <m:sty m:val="p"/>
                      </m:rPr>
                      <a:rPr lang="en-US" sz="1200" dirty="0">
                        <a:solidFill>
                          <a:srgbClr val="000000"/>
                        </a:solidFill>
                        <a:effectLst/>
                      </a:rPr>
                      <m:t>/</m:t>
                    </m:r>
                    <m:r>
                      <m:rPr>
                        <m:sty m:val="i"/>
                      </m:rPr>
                      <a:rPr lang="en-US" sz="1200" dirty="0">
                        <a:solidFill>
                          <a:srgbClr val="000000"/>
                        </a:solidFill>
                        <a:effectLst/>
                      </a:rPr>
                      <m:t>l</m:t>
                    </m:r>
                  </m:oMath>
                </a14:m>
                <a:r>
                  <a:rPr lang="en-US" sz="1200" dirty="0">
                    <a:effectLst/>
                  </a:rPr>
                  <a:t> ), the concentration of the monomer dissolved in water is relatively low, causing a small concentration gradient between the dispersant and the interfacial reaction layer. Hence, the monomer cannot be effectively transferred to the interfacial reaction layer and participate in the graft polymerization reaction.</a:t>
                </a:r>
              </a:p>
            </p:txBody>
          </p:sp>
        </mc:Choice>
        <mc:Fallback/>
      </mc:AlternateContent>
      <p:sp>
        <p:nvSpPr>
          <p:cNvPr id="2" name="Text"/>
          <p:cNvSpPr/>
          <p:nvPr/>
        </p:nvSpPr>
        <p:spPr>
          <a:xfrm>
            <a:off x="1524000" y="3733800"/>
            <a:ext cx="9144000" cy="457200"/>
          </a:xfrm>
          <a:prstGeom prst="rect">
            <a:avLst/>
          </a:prstGeom>
        </p:spPr>
        <p:txBody>
          <a:bodyPr anchor="t" lIns="0" tIns="0" rIns="0" bIns="0">
            <a:noAutofit/>
          </a:bodyPr>
          <a:lstStyle/>
          <a:p>
            <a:pPr>
              <a:lnSpc>
                <a:spcPct val="120000"/>
              </a:lnSpc>
            </a:pPr>
            <a:r>
              <a:rPr lang="en-US" sz="1200" dirty="0">
                <a:effectLst/>
              </a:rPr>
              <a:t>Above this concentration, the impact of this parameter on the grafting percentage of the two monomers was different. Therefore, the grafting percentage of GMA was almost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f3460981c0a80bddb5f8137fd17a507b7a20fc46.jpg"/>
          <p:cNvPicPr/>
          <p:nvPr/>
        </p:nvPicPr>
        <p:blipFill>
          <a:blip r:embed="rId2" cstate="print"/>
          <a:srcRect/>
          <a:stretch>
            <a:fillRect/>
          </a:stretch>
        </p:blipFill>
        <p:spPr>
          <a:xfrm>
            <a:off x="1524000" y="457200"/>
            <a:ext cx="7800975" cy="59436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Figure 1. Effect of the (a) GMA to AM ratio, (b) monomer concentration, (c) water content, and (d) interfacial agent concentration on the grafting percentage of GMA and AM.</a:t>
            </a:r>
          </a:p>
        </p:txBody>
      </p:sp>
      <p:sp>
        <p:nvSpPr>
          <p:cNvPr id="2" name="Text"/>
          <p:cNvSpPr/>
          <p:nvPr/>
        </p:nvSpPr>
        <p:spPr>
          <a:xfrm>
            <a:off x="1524000" y="914400"/>
            <a:ext cx="9144000" cy="1143000"/>
          </a:xfrm>
          <a:prstGeom prst="rect">
            <a:avLst/>
          </a:prstGeom>
        </p:spPr>
        <p:txBody>
          <a:bodyPr anchor="t" lIns="0" tIns="0" rIns="0" bIns="0">
            <a:noAutofit/>
          </a:bodyPr>
          <a:lstStyle/>
          <a:p>
            <a:pPr>
              <a:lnSpc>
                <a:spcPct val="120000"/>
              </a:lnSpc>
            </a:pPr>
            <a:r>
              <a:rPr lang="en-US" sz="1200" dirty="0">
                <a:effectLst/>
              </a:rPr>
              <a:t>constant with only an insignificant decrease while that of AM decreased significantly. Therefore, increasing the amount of interfacial agent until an optimum concentration is helpful for the grafting reaction. However, when the amount of interfacial agent is too high, the concentration of GMA in the interfacial layer is low, which reduces the grafting efficiency. Moreover, the solubility of AM in the interfacial agent is low, and excessive interfacial agent seriously affects the mass transfer process, significantly decreasing the grafting percentage of AM.</a:t>
            </a:r>
          </a:p>
        </p:txBody>
      </p:sp>
      <p:sp>
        <p:nvSpPr>
          <p:cNvPr id="2" name="Text"/>
          <p:cNvSpPr/>
          <p:nvPr/>
        </p:nvSpPr>
        <p:spPr>
          <a:xfrm>
            <a:off x="1524000" y="2209800"/>
            <a:ext cx="9144000" cy="342900"/>
          </a:xfrm>
          <a:prstGeom prst="rect">
            <a:avLst/>
          </a:prstGeom>
        </p:spPr>
        <p:txBody>
          <a:bodyPr anchor="t" lIns="0" tIns="0" rIns="0" bIns="0">
            <a:noAutofit/>
          </a:bodyPr>
          <a:lstStyle/>
          <a:p>
            <a:pPr>
              <a:lnSpc>
                <a:spcPct val="120000"/>
              </a:lnSpc>
            </a:pPr>
            <a:r>
              <a:rPr lang="en-US" sz="1800" dirty="0" b="1">
                <a:effectLst/>
              </a:rPr>
              <a:t>Characterizations</a:t>
            </a:r>
          </a:p>
        </p:txBody>
      </p:sp>
      <mc:AlternateContent xmlns:mc="http://schemas.openxmlformats.org/markup-compatibility/2006">
        <mc:Choice xmlns:a14="http://schemas.microsoft.com/office/drawing/2010/main" Requires="a14">
          <p:sp>
            <p:nvSpPr>
              <p:cNvPr id="2" name="Text"/>
              <p:cNvSpPr/>
              <p:nvPr/>
            </p:nvSpPr>
            <p:spPr>
              <a:xfrm>
                <a:off x="1524000" y="2742439"/>
                <a:ext cx="9144000" cy="914400"/>
              </a:xfrm>
              <a:prstGeom prst="rect">
                <a:avLst/>
              </a:prstGeom>
            </p:spPr>
            <p:txBody>
              <a:bodyPr anchor="t" lIns="0" tIns="0" rIns="0" bIns="0">
                <a:noAutofit/>
              </a:bodyPr>
              <a:lstStyle/>
              <a:p>
                <a:pPr>
                  <a:lnSpc>
                    <a:spcPct val="120000"/>
                  </a:lnSpc>
                </a:pPr>
                <a:r>
                  <a:rPr lang="en-US" sz="1200" dirty="0">
                    <a:effectLst/>
                  </a:rPr>
                  <a:t>The polar branched chains of GMA and AM increase the strength of interaction of PGA molecules, with impact on the flow of the raw material and thus, on the melt-blown spinning process. Figure 2 shows how monomer grafting influences the MFR of grafted products. The MFR of pristine PP is about 1300 g/10 min. The MFR kept almost constant, with a slight increase, up to a grafting percentage of about 6 %. The </a:t>
                </a:r>
                <a:r>
                  <a:rPr lang="en-US" sz="1200" dirty="0">
                    <a:effectLst/>
                  </a:rPr>
                  <a:t>​</a:t>
                </a:r>
                <a14:m>
                  <m:oMath>
                    <m:r>
                      <m:rPr>
                        <m:sty m:val="i"/>
                      </m:rPr>
                      <a:rPr lang="en-US" sz="1200" dirty="0">
                        <a:solidFill>
                          <a:srgbClr val="000000"/>
                        </a:solidFill>
                        <a:effectLst/>
                      </a:rPr>
                      <m:t>α</m:t>
                    </m:r>
                    <m:r>
                      <m:rPr>
                        <m:sty m:val="p"/>
                      </m:rPr>
                      <a:rPr lang="en-US" sz="1200" dirty="0">
                        <a:solidFill>
                          <a:srgbClr val="000000"/>
                        </a:solidFill>
                        <a:effectLst/>
                      </a:rPr>
                      <m:t>−</m:t>
                    </m:r>
                    <m:r>
                      <m:rPr>
                        <m:sty m:val="p"/>
                      </m:rPr>
                      <a:rPr lang="en-US" sz="1200" dirty="0">
                        <a:solidFill>
                          <a:srgbClr val="000000"/>
                        </a:solidFill>
                        <a:effectLst/>
                      </a:rPr>
                      <m:t>H</m:t>
                    </m:r>
                  </m:oMath>
                </a14:m>
                <a:r>
                  <a:rPr lang="en-US" sz="1200" dirty="0">
                    <a:effectLst/>
                  </a:rPr>
                  <a:t> of PP macromolecular chain is easily captured by the benzoyl peroxide to produce free radicals</a:t>
                </a:r>
              </a:p>
            </p:txBody>
          </p:sp>
        </mc:Choice>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537d776a025ab7881a625654ff55f21c99a5e1c0.jpg"/>
          <p:cNvPicPr/>
          <p:nvPr/>
        </p:nvPicPr>
        <p:blipFill>
          <a:blip r:embed="rId2" cstate="print"/>
          <a:srcRect/>
          <a:stretch>
            <a:fillRect/>
          </a:stretch>
        </p:blipFill>
        <p:spPr>
          <a:xfrm>
            <a:off x="1524000" y="457200"/>
            <a:ext cx="6667500" cy="5172075"/>
          </a:xfrm>
          <a:prstGeom prst="rect">
            <a:avLst/>
          </a:prstGeom>
        </p:spPr>
      </p:pic>
      <p:sp>
        <p:nvSpPr>
          <p:cNvPr id="3" name="Text"/>
          <p:cNvSpPr/>
          <p:nvPr/>
        </p:nvSpPr>
        <p:spPr>
          <a:xfrm>
            <a:off x="1524000" y="5629275"/>
            <a:ext cx="9144000" cy="228600"/>
          </a:xfrm>
          <a:prstGeom prst="rect">
            <a:avLst/>
          </a:prstGeom>
        </p:spPr>
        <p:txBody>
          <a:bodyPr anchor="t" lIns="0" tIns="0" rIns="0" bIns="0">
            <a:noAutofit/>
          </a:bodyPr>
          <a:lstStyle/>
          <a:p>
            <a:pPr>
              <a:lnSpc>
                <a:spcPct val="120000"/>
              </a:lnSpc>
            </a:pPr>
            <a:r>
              <a:rPr lang="en-US" sz="1200" dirty="0">
                <a:effectLst/>
              </a:rPr>
              <a:t>Figure 2. Effect of the grafting percentage on the MFR of PP powders.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914400"/>
              </a:xfrm>
              <a:prstGeom prst="rect">
                <a:avLst/>
              </a:prstGeom>
            </p:spPr>
            <p:txBody>
              <a:bodyPr anchor="t" lIns="0" tIns="0" rIns="0" bIns="0">
                <a:noAutofit/>
              </a:bodyPr>
              <a:lstStyle/>
              <a:p>
                <a:pPr>
                  <a:lnSpc>
                    <a:spcPct val="120000"/>
                  </a:lnSpc>
                </a:pPr>
                <a:r>
                  <a:rPr lang="en-US" sz="1200" dirty="0">
                    <a:effectLst/>
                  </a:rPr>
                  <a:t>[18]. At this time, the </a:t>
                </a:r>
                <a:r>
                  <a:rPr lang="en-US" sz="1200" dirty="0">
                    <a:effectLst/>
                  </a:rPr>
                  <a:t>​</a:t>
                </a:r>
                <a14:m>
                  <m:oMath>
                    <m:r>
                      <m:rPr>
                        <m:sty m:val="i"/>
                      </m:rPr>
                      <a:rPr lang="en-US" sz="1200" dirty="0">
                        <a:solidFill>
                          <a:srgbClr val="000000"/>
                        </a:solidFill>
                        <a:effectLst/>
                      </a:rPr>
                      <m:t>β</m:t>
                    </m:r>
                  </m:oMath>
                </a14:m>
                <a:r>
                  <a:rPr lang="en-US" sz="1200" dirty="0">
                    <a:effectLst/>
                  </a:rPr>
                  <a:t> bonds are broken, resulting in a slight decrease in molecular weight and increase in MFR. Afterwards, as the grafting percentage continued to increase, the strength of hydrogen bonds between the polar side chains increased, and the MFR of PGA decreased rapidly [24]. In the light of the obtained results, it can be stated that the MFR of the grafted product meets the requirements of melt-blown spinning process.</a:t>
                </a:r>
              </a:p>
            </p:txBody>
          </p:sp>
        </mc:Choice>
        <mc:Fallback/>
      </mc:AlternateContent>
      <p:sp>
        <p:nvSpPr>
          <p:cNvPr id="2" name="Text"/>
          <p:cNvSpPr/>
          <p:nvPr/>
        </p:nvSpPr>
        <p:spPr>
          <a:xfrm>
            <a:off x="1524000" y="1524000"/>
            <a:ext cx="9144000" cy="1600200"/>
          </a:xfrm>
          <a:prstGeom prst="rect">
            <a:avLst/>
          </a:prstGeom>
        </p:spPr>
        <p:txBody>
          <a:bodyPr anchor="t" lIns="0" tIns="0" rIns="0" bIns="0">
            <a:noAutofit/>
          </a:bodyPr>
          <a:lstStyle/>
          <a:p>
            <a:pPr>
              <a:lnSpc>
                <a:spcPct val="120000"/>
              </a:lnSpc>
            </a:pPr>
            <a:r>
              <a:rPr lang="en-US" sz="1200" dirty="0">
                <a:effectLst/>
              </a:rPr>
              <a:t>Figure 3 displays the TGA and DTG curves of PP resin, PGA, and IPGA fibers. According to the TGA curves (Figure 3(a)), the suspension of the grafted PGA resin has better thermal stability than the unmodified PP resin. No significant weight loss before 200 °C was obtained and mainly associated with the removal of the physisorbed water. Therefore, the grafted product exhibits the thermal stability required by the melt-blown spinning process. However, the thermally resistant cross-linking products in the IPGA fibers are not decomposed even at temperatures higher than 500 °C. In addition, Figure 3(b) shows that the maximum temperature of the degradation of IPGA imprinted fibers is slightly higher than those of PP and PGA, which is attributed to the cross-linking products on the fiber surface.</a:t>
            </a:r>
          </a:p>
        </p:txBody>
      </p:sp>
      <p:sp>
        <p:nvSpPr>
          <p:cNvPr id="2" name="Text"/>
          <p:cNvSpPr/>
          <p:nvPr/>
        </p:nvSpPr>
        <p:spPr>
          <a:xfrm>
            <a:off x="1524000" y="3276600"/>
            <a:ext cx="9144000" cy="1371600"/>
          </a:xfrm>
          <a:prstGeom prst="rect">
            <a:avLst/>
          </a:prstGeom>
        </p:spPr>
        <p:txBody>
          <a:bodyPr anchor="t" lIns="0" tIns="0" rIns="0" bIns="0">
            <a:noAutofit/>
          </a:bodyPr>
          <a:lstStyle/>
          <a:p>
            <a:pPr>
              <a:lnSpc>
                <a:spcPct val="120000"/>
              </a:lnSpc>
            </a:pPr>
            <a:r>
              <a:rPr lang="en-US" sz="1200" dirty="0">
                <a:effectLst/>
              </a:rPr>
              <a:t>Figure 4(a), (b), and (c) display the SEM images of PP, PGA, and IPGA fibers, respectively. As noticed, the surface morphology and diameter of PGA fibers did not significantly change compared with those of unmodified PP fibers. Therefore, the suspension grafting had no influence on the morphology and diameter of PGA fibers, which are mainly controlled by the melt-blowing process. The surface of imprinted IPGA fibers is rough and porous, mainly due to the imprinting and crosslinking on the fiber surface [30]. As illustrated in Figure 4(d), deionized water spread out on the surface of IPGA nonwoven fabrics instantly while the droplets of water formed on the PP fiber are illustrated in the inset. This demonstrates that the modified fiber has a good hydrophilicity.</a:t>
            </a:r>
          </a:p>
        </p:txBody>
      </p:sp>
      <p:sp>
        <p:nvSpPr>
          <p:cNvPr id="2" name="Text"/>
          <p:cNvSpPr/>
          <p:nvPr/>
        </p:nvSpPr>
        <p:spPr>
          <a:xfrm>
            <a:off x="1524000" y="4800600"/>
            <a:ext cx="9144000" cy="228600"/>
          </a:xfrm>
          <a:prstGeom prst="rect">
            <a:avLst/>
          </a:prstGeom>
        </p:spPr>
        <p:txBody>
          <a:bodyPr anchor="t" lIns="0" tIns="0" rIns="0" bIns="0">
            <a:noAutofit/>
          </a:bodyPr>
          <a:lstStyle/>
          <a:p>
            <a:pPr>
              <a:lnSpc>
                <a:spcPct val="120000"/>
              </a:lnSpc>
            </a:pPr>
            <a:r>
              <a:rPr lang="en-US" sz="1200" dirty="0">
                <a:effectLst/>
              </a:rPr>
              <a:t>As can be seen from Figure 5, illustrating the FT-IR spectra of samples, the spectrum of PGA displays the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0c529a09ae9d5746381a401bbb0b73af53fd9ef8.jpg"/>
          <p:cNvPicPr/>
          <p:nvPr/>
        </p:nvPicPr>
        <p:blipFill>
          <a:blip r:embed="rId2" cstate="print"/>
          <a:srcRect/>
          <a:stretch>
            <a:fillRect/>
          </a:stretch>
        </p:blipFill>
        <p:spPr>
          <a:xfrm>
            <a:off x="1524000" y="457200"/>
            <a:ext cx="6543675" cy="5191125"/>
          </a:xfrm>
          <a:prstGeom prst="rect">
            <a:avLst/>
          </a:prstGeom>
        </p:spPr>
      </p:pic>
      <p:sp>
        <p:nvSpPr>
          <p:cNvPr id="3" name="Text"/>
          <p:cNvSpPr/>
          <p:nvPr/>
        </p:nvSpPr>
        <p:spPr>
          <a:xfrm>
            <a:off x="1524000" y="5648325"/>
            <a:ext cx="9144000" cy="228600"/>
          </a:xfrm>
          <a:prstGeom prst="rect">
            <a:avLst/>
          </a:prstGeom>
        </p:spPr>
        <p:txBody>
          <a:bodyPr anchor="t" lIns="0" tIns="0" rIns="0" bIns="0">
            <a:noAutofit/>
          </a:bodyPr>
          <a:lstStyle/>
          <a:p>
            <a:pPr>
              <a:lnSpc>
                <a:spcPct val="120000"/>
              </a:lnSpc>
            </a:pPr>
            <a:r>
              <a:rPr lang="en-US" sz="1200" dirty="0">
                <a:effectLst/>
              </a:rPr>
              <a:t>Figure 3. (a) TGA and (b) DTG curves of PP, PGA, and IPGA fibers.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e8851fd01f9eb900e548362e6dc07156d537ce47.jpg"/>
          <p:cNvPicPr/>
          <p:nvPr/>
        </p:nvPicPr>
        <p:blipFill>
          <a:blip r:embed="rId2" cstate="print"/>
          <a:srcRect/>
          <a:stretch>
            <a:fillRect/>
          </a:stretch>
        </p:blipFill>
        <p:spPr>
          <a:xfrm>
            <a:off x="1524000" y="457200"/>
            <a:ext cx="6772275" cy="5248275"/>
          </a:xfrm>
          <a:prstGeom prst="rect">
            <a:avLst/>
          </a:prstGeom>
        </p:spPr>
      </p:pic>
      <p:sp>
        <p:nvSpPr>
          <p:cNvPr id="3" name="Text"/>
          <p:cNvSpPr/>
          <p:nvPr/>
        </p:nvSpPr>
        <p:spPr>
          <a:xfrm>
            <a:off x="1524000" y="5705475"/>
            <a:ext cx="9144000" cy="228600"/>
          </a:xfrm>
          <a:prstGeom prst="rect">
            <a:avLst/>
          </a:prstGeom>
        </p:spPr>
        <p:txBody>
          <a:bodyPr anchor="t" lIns="0" tIns="0" rIns="0" bIns="0">
            <a:noAutofit/>
          </a:bodyPr>
          <a:lstStyle/>
          <a:p>
            <a:pPr>
              <a:lnSpc>
                <a:spcPct val="120000"/>
              </a:lnSpc>
            </a:pPr>
            <a:r>
              <a:rPr lang="en-US" sz="1200" dirty="0">
                <a:effectLst/>
              </a:rPr>
              <a:t>Figure 3. (a) TGA and (b) DTG curves of PP, PGA, and IPGA fibers.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6437ba978123bb8572c5695caec2e014536d909e.jpg"/>
          <p:cNvPicPr/>
          <p:nvPr/>
        </p:nvPicPr>
        <p:blipFill>
          <a:blip r:embed="rId2" cstate="print"/>
          <a:srcRect/>
          <a:stretch>
            <a:fillRect/>
          </a:stretch>
        </p:blipFill>
        <p:spPr>
          <a:xfrm>
            <a:off x="1524000" y="457200"/>
            <a:ext cx="8029575" cy="59436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4. SEM images of (a) PP, (b) PGA, (c) IPGA fibers, and (d) water contact angle of IPGA and PP nonwoven fabrics.</a:t>
            </a:r>
          </a:p>
        </p:txBody>
      </p:sp>
      <mc:AlternateContent xmlns:mc="http://schemas.openxmlformats.org/markup-compatibility/2006">
        <mc:Choice xmlns:a14="http://schemas.microsoft.com/office/drawing/2010/main" Requires="a14">
          <p:sp>
            <p:nvSpPr>
              <p:cNvPr id="2" name="Text"/>
              <p:cNvSpPr/>
              <p:nvPr/>
            </p:nvSpPr>
            <p:spPr>
              <a:xfrm>
                <a:off x="1524000" y="685800"/>
                <a:ext cx="9144000" cy="1828800"/>
              </a:xfrm>
              <a:prstGeom prst="rect">
                <a:avLst/>
              </a:prstGeom>
            </p:spPr>
            <p:txBody>
              <a:bodyPr anchor="t" lIns="0" tIns="0" rIns="0" bIns="0">
                <a:noAutofit/>
              </a:bodyPr>
              <a:lstStyle/>
              <a:p>
                <a:pPr>
                  <a:lnSpc>
                    <a:spcPct val="120000"/>
                  </a:lnSpc>
                </a:pPr>
                <a:r>
                  <a:rPr lang="en-US" sz="1200" dirty="0">
                    <a:effectLst/>
                  </a:rPr>
                  <a:t>characteristic vibration bands of the grafted monomers. The stretching vibration band of the C=O bond of GMA appeared at </a:t>
                </a:r>
                <a:r>
                  <a:rPr lang="en-US" sz="1200" dirty="0">
                    <a:effectLst/>
                  </a:rPr>
                  <a:t>​</a:t>
                </a:r>
                <a14:m>
                  <m:oMath>
                    <m:r>
                      <m:rPr>
                        <m:sty m:val="p"/>
                      </m:rPr>
                      <a:rPr lang="en-US" sz="1200" dirty="0">
                        <a:solidFill>
                          <a:srgbClr val="000000"/>
                        </a:solidFill>
                        <a:effectLst/>
                      </a:rPr>
                      <m:t>1725</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The stretching vibration band of the C-O-C group of GMA is found at </a:t>
                </a:r>
                <a:r>
                  <a:rPr lang="en-US" sz="1200" dirty="0">
                    <a:effectLst/>
                  </a:rPr>
                  <a:t>​</a:t>
                </a:r>
                <a14:m>
                  <m:oMath>
                    <m:r>
                      <m:rPr>
                        <m:sty m:val="p"/>
                      </m:rPr>
                      <a:rPr lang="en-US" sz="1200" dirty="0">
                        <a:solidFill>
                          <a:srgbClr val="000000"/>
                        </a:solidFill>
                        <a:effectLst/>
                      </a:rPr>
                      <m:t>1151</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whereas the vibration bands of the epoxy group appeared at 902 and </a:t>
                </a:r>
                <a:r>
                  <a:rPr lang="en-US" sz="1200" dirty="0">
                    <a:effectLst/>
                  </a:rPr>
                  <a:t>​</a:t>
                </a:r>
                <a14:m>
                  <m:oMath>
                    <m:r>
                      <m:rPr>
                        <m:sty m:val="p"/>
                      </m:rPr>
                      <a:rPr lang="en-US" sz="1200" dirty="0">
                        <a:solidFill>
                          <a:srgbClr val="000000"/>
                        </a:solidFill>
                        <a:effectLst/>
                      </a:rPr>
                      <m:t>840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respectively [31]. The stretching vibration band of the N-H functional group from primary amide in AM is found as a broad peak ranging from 3540 to </a:t>
                </a:r>
                <a:r>
                  <a:rPr lang="en-US" sz="1200" dirty="0">
                    <a:effectLst/>
                  </a:rPr>
                  <a:t>​</a:t>
                </a:r>
                <a14:m>
                  <m:oMath>
                    <m:r>
                      <m:rPr>
                        <m:sty m:val="p"/>
                      </m:rPr>
                      <a:rPr lang="en-US" sz="1200" dirty="0">
                        <a:solidFill>
                          <a:srgbClr val="000000"/>
                        </a:solidFill>
                        <a:effectLst/>
                      </a:rPr>
                      <m:t>3125</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The stretching vibration band of the C=O from AM is shifted at lower wavenumber due to the unshared electron pair on the nitrogen atom and the p-conjugation of the carbonyl group compared with the C=O bond in GMA. Hence, the band at </a:t>
                </a:r>
                <a:r>
                  <a:rPr lang="en-US" sz="1200" dirty="0">
                    <a:effectLst/>
                  </a:rPr>
                  <a:t>​</a:t>
                </a:r>
                <a14:m>
                  <m:oMath>
                    <m:r>
                      <m:rPr>
                        <m:sty m:val="p"/>
                      </m:rPr>
                      <a:rPr lang="en-US" sz="1200" dirty="0">
                        <a:solidFill>
                          <a:srgbClr val="000000"/>
                        </a:solidFill>
                        <a:effectLst/>
                      </a:rPr>
                      <m:t>1668</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is attributed to the C=O stretch vibration of AM. The infrared spectrum of IPGA imprinted fibers are similar to those of PGA, excepting the characteristic vibration bands at 902 and </a:t>
                </a:r>
                <a:r>
                  <a:rPr lang="en-US" sz="1200" dirty="0">
                    <a:effectLst/>
                  </a:rPr>
                  <a:t>​</a:t>
                </a:r>
                <a14:m>
                  <m:oMath>
                    <m:r>
                      <m:rPr>
                        <m:sty m:val="p"/>
                      </m:rPr>
                      <a:rPr lang="en-US" sz="1200" dirty="0">
                        <a:solidFill>
                          <a:srgbClr val="000000"/>
                        </a:solidFill>
                        <a:effectLst/>
                      </a:rPr>
                      <m:t>840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of epoxy group, which disappear as a</a:t>
                </a:r>
              </a:p>
            </p:txBody>
          </p:sp>
        </mc:Choice>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6228aa36e42293ec61e8085ff3f80dab91178d2b.jpg"/>
          <p:cNvPicPr/>
          <p:nvPr/>
        </p:nvPicPr>
        <p:blipFill>
          <a:blip r:embed="rId2" cstate="print"/>
          <a:srcRect/>
          <a:stretch>
            <a:fillRect/>
          </a:stretch>
        </p:blipFill>
        <p:spPr>
          <a:xfrm>
            <a:off x="1524000" y="457200"/>
            <a:ext cx="7381875" cy="59436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5. FT-IR spectra of PP, PGA, and IPGA fibers.</a:t>
            </a:r>
          </a:p>
        </p:txBody>
      </p:sp>
      <p:sp>
        <p:nvSpPr>
          <p:cNvPr id="2" name="Text"/>
          <p:cNvSpPr/>
          <p:nvPr/>
        </p:nvSpPr>
        <p:spPr>
          <a:xfrm>
            <a:off x="1524000" y="685800"/>
            <a:ext cx="9144000" cy="228600"/>
          </a:xfrm>
          <a:prstGeom prst="rect">
            <a:avLst/>
          </a:prstGeom>
        </p:spPr>
        <p:txBody>
          <a:bodyPr anchor="t" lIns="0" tIns="0" rIns="0" bIns="0">
            <a:noAutofit/>
          </a:bodyPr>
          <a:lstStyle/>
          <a:p>
            <a:pPr>
              <a:lnSpc>
                <a:spcPct val="120000"/>
              </a:lnSpc>
            </a:pPr>
            <a:r>
              <a:rPr lang="en-US" sz="1200" dirty="0">
                <a:effectLst/>
              </a:rPr>
              <a:t>result of the open-loop crosslinking between diethylenetriamine (DETA) and epoxide.</a:t>
            </a:r>
          </a:p>
        </p:txBody>
      </p:sp>
      <mc:AlternateContent xmlns:mc="http://schemas.openxmlformats.org/markup-compatibility/2006">
        <mc:Choice xmlns:a14="http://schemas.microsoft.com/office/drawing/2010/main" Requires="a14">
          <p:sp>
            <p:nvSpPr>
              <p:cNvPr id="2" name="Text"/>
              <p:cNvSpPr/>
              <p:nvPr/>
            </p:nvSpPr>
            <p:spPr>
              <a:xfrm>
                <a:off x="1524000" y="1066800"/>
                <a:ext cx="9144000" cy="685800"/>
              </a:xfrm>
              <a:prstGeom prst="rect">
                <a:avLst/>
              </a:prstGeom>
            </p:spPr>
            <p:txBody>
              <a:bodyPr anchor="t" lIns="0" tIns="0" rIns="0" bIns="0">
                <a:noAutofit/>
              </a:bodyPr>
              <a:lstStyle/>
              <a:p>
                <a:pPr>
                  <a:lnSpc>
                    <a:spcPct val="120000"/>
                  </a:lnSpc>
                </a:pPr>
                <a:r>
                  <a:rPr lang="en-US" sz="1800" dirty="0" b="1">
                    <a:effectLst/>
                  </a:rPr>
                  <a:t>Adsorption Capacity</a:t>
                </a:r>
                <a:br>
                  <a:rPr lang="en-US" sz="1800" dirty="0"/>
                </a:br>
                <a:r>
                  <a:rPr lang="en-US" sz="1800" dirty="0" b="1">
                    <a:effectLst/>
                  </a:rPr>
                  <a:t>  Effect of the </a:t>
                </a:r>
                <a:r>
                  <a:rPr lang="en-US" sz="1800" dirty="0">
                    <a:effectLst/>
                  </a:rPr>
                  <a:t>​</a:t>
                </a:r>
                <a14:m>
                  <m:oMath>
                    <m:r>
                      <m:rPr>
                        <m:sty m:val="i"/>
                      </m:rPr>
                      <a:rPr lang="en-US" sz="1800" dirty="0">
                        <a:solidFill>
                          <a:srgbClr val="000000"/>
                        </a:solidFill>
                        <a:effectLst/>
                      </a:rPr>
                      <m:t>p</m:t>
                    </m:r>
                    <m:r>
                      <m:rPr>
                        <m:sty m:val="i"/>
                      </m:rPr>
                      <a:rPr lang="en-US" sz="1800" dirty="0">
                        <a:solidFill>
                          <a:srgbClr val="000000"/>
                        </a:solidFill>
                        <a:effectLst/>
                      </a:rPr>
                      <m:t>H</m:t>
                    </m:r>
                  </m:oMath>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942339"/>
                <a:ext cx="9144000" cy="2743200"/>
              </a:xfrm>
              <a:prstGeom prst="rect">
                <a:avLst/>
              </a:prstGeom>
            </p:spPr>
            <p:txBody>
              <a:bodyPr anchor="t" lIns="0" tIns="0" rIns="0" bIns="0">
                <a:noAutofit/>
              </a:bodyPr>
              <a:lstStyle/>
              <a:p>
                <a:pPr>
                  <a:lnSpc>
                    <a:spcPct val="120000"/>
                  </a:lnSpc>
                </a:pPr>
                <a:r>
                  <a:rPr lang="en-US" sz="1200" dirty="0">
                    <a:effectLst/>
                  </a:rPr>
                  <a:t>The adsorption capacity of IPGA toward Cr(VI) at different pH values ranging from 1 to 9 is depicted in Figure 6. As noticed, with the increase in pH of solution from 1 to 3, the adsorption capacity of IPGA increased slowly, achieving a maximum value of 43.2 mg/g at pH 3. After that, the adsorption capacity decreased rapidly with the increase in pH value. At low pH, the solution is rich in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H</m:t>
                        </m:r>
                      </m:e>
                      <m:sup>
                        <m:r>
                          <m:rPr>
                            <m:sty m:val="p"/>
                          </m:rPr>
                          <a:rPr lang="en-US" sz="1200" dirty="0">
                            <a:solidFill>
                              <a:srgbClr val="000000"/>
                            </a:solidFill>
                            <a:effectLst/>
                          </a:rPr>
                          <m:t>+</m:t>
                        </m:r>
                      </m:sup>
                    </m:sSup>
                  </m:oMath>
                </a14:m>
                <a:r>
                  <a:rPr lang="en-US" sz="1200" dirty="0">
                    <a:effectLst/>
                  </a:rPr>
                  <a:t>, which can combine with the lone pair electrons of N atom in -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NH</m:t>
                        </m:r>
                      </m:e>
                      <m:sub>
                        <m:r>
                          <m:rPr>
                            <m:sty m:val="p"/>
                          </m:rPr>
                          <a:rPr lang="en-US" sz="1200" dirty="0">
                            <a:solidFill>
                              <a:srgbClr val="000000"/>
                            </a:solidFill>
                            <a:effectLst/>
                          </a:rPr>
                          <m:t>2</m:t>
                        </m:r>
                      </m:sub>
                    </m:sSub>
                  </m:oMath>
                </a14:m>
                <a:r>
                  <a:rPr lang="en-US" sz="1200" dirty="0">
                    <a:effectLst/>
                  </a:rPr>
                  <a:t> on the surface of IPGA, resulting in positively charged </a:t>
                </a:r>
                <a:r>
                  <a:rPr lang="en-US" sz="1200" dirty="0">
                    <a:effectLst/>
                  </a:rPr>
                  <a:t>​</a:t>
                </a:r>
                <a14:m>
                  <m:oMath>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NH</m:t>
                        </m:r>
                      </m:e>
                      <m:sub>
                        <m:r>
                          <m:rPr>
                            <m:sty m:val="p"/>
                          </m:rPr>
                          <a:rPr lang="en-US" sz="1200" dirty="0">
                            <a:solidFill>
                              <a:srgbClr val="000000"/>
                            </a:solidFill>
                            <a:effectLst/>
                          </a:rPr>
                          <m:t>3</m:t>
                        </m:r>
                      </m:sub>
                    </m:sSub>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oMath>
                </a14:m>
                <a:r>
                  <a:rPr lang="en-US" sz="1200" dirty="0">
                    <a:effectLst/>
                  </a:rPr>
                  <a:t>. At this point, the Cr(VI) exists as anion state in the solution, which can combine with protonated functional groups through electrostatic interaction. It also can be seen in the figure that the pH drift (initial pH - final pH) of IPGA is relatively high at pH 3, indicating that the fiber surface is mainly positively charged and the adsorption amount of Cr(VI) is the highest [32]. When the pH value is less than 3, the adsorption capacity of the fibers decreased slightly, because within this pH range, the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HCrO</m:t>
                        </m:r>
                      </m:e>
                      <m:sub>
                        <m:r>
                          <m:rPr>
                            <m:sty m:val="p"/>
                          </m:rPr>
                          <a:rPr lang="en-US" sz="1200" dirty="0">
                            <a:solidFill>
                              <a:srgbClr val="000000"/>
                            </a:solidFill>
                            <a:effectLst/>
                          </a:rPr>
                          <m:t>4</m:t>
                        </m:r>
                      </m:sub>
                    </m:sSub>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oMath>
                </a14:m>
                <a:r>
                  <a:rPr lang="en-US" sz="1200" dirty="0">
                    <a:effectLst/>
                  </a:rPr>
                  <a:t>will be partially converted into non-ionic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H</m:t>
                        </m:r>
                      </m:e>
                      <m:sub>
                        <m:r>
                          <m:rPr>
                            <m:sty m:val="p"/>
                          </m:rPr>
                          <a:rPr lang="en-US" sz="1200" dirty="0">
                            <a:solidFill>
                              <a:srgbClr val="000000"/>
                            </a:solidFill>
                            <a:effectLst/>
                          </a:rPr>
                          <m:t>2</m:t>
                        </m:r>
                      </m:sub>
                    </m:sSub>
                    <m:sSub>
                      <m:sSubPr>
                        <m:ctrlPr>
                          <a:rPr sz="1200">
                            <a:latin typeface="Cambria Math" panose="02040503050406030204" pitchFamily="18" charset="0"/>
                          </a:rPr>
                        </m:ctrlPr>
                      </m:sSubPr>
                      <m:e>
                        <m:r>
                          <m:rPr>
                            <m:sty m:val="p"/>
                          </m:rPr>
                          <a:rPr lang="en-US" sz="1200" dirty="0">
                            <a:solidFill>
                              <a:srgbClr val="000000"/>
                            </a:solidFill>
                            <a:effectLst/>
                          </a:rPr>
                          <m:t>CrO</m:t>
                        </m:r>
                      </m:e>
                      <m:sub>
                        <m:r>
                          <m:rPr>
                            <m:sty m:val="p"/>
                          </m:rPr>
                          <a:rPr lang="en-US" sz="1200" dirty="0">
                            <a:solidFill>
                              <a:srgbClr val="000000"/>
                            </a:solidFill>
                            <a:effectLst/>
                          </a:rPr>
                          <m:t>4</m:t>
                        </m:r>
                      </m:sub>
                    </m:sSub>
                  </m:oMath>
                </a14:m>
                <a:r>
                  <a:rPr lang="en-US" sz="1200" dirty="0">
                    <a:effectLst/>
                  </a:rPr>
                  <a:t>, which is difficult to combine with the protonated functional groups. However, when the pH value is higher than 3 , the deprotonation of functional groups on the surface of the fiber increases gradually with the pH , resulting in a competitive adsorption of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OH</m:t>
                        </m:r>
                      </m:e>
                      <m:sup>
                        <m:r>
                          <m:rPr>
                            <m:sty m:val="p"/>
                          </m:rPr>
                          <a:rPr lang="en-US" sz="1200" dirty="0">
                            <a:solidFill>
                              <a:srgbClr val="000000"/>
                            </a:solidFill>
                            <a:effectLst/>
                          </a:rPr>
                          <m:t>−</m:t>
                        </m:r>
                      </m:sup>
                    </m:sSup>
                  </m:oMath>
                </a14:m>
                <a:r>
                  <a:rPr lang="en-US" sz="1200" dirty="0">
                    <a:effectLst/>
                  </a:rPr>
                  <a:t>and </a:t>
                </a:r>
                <a:r>
                  <a:rPr lang="en-US" sz="1200" dirty="0">
                    <a:effectLst/>
                  </a:rPr>
                  <a:t>​</a:t>
                </a:r>
                <a14:m>
                  <m:oMath>
                    <m:r>
                      <m:rPr>
                        <m:sty m:val="p"/>
                      </m:rPr>
                      <a:rPr lang="en-US" sz="1200" dirty="0">
                        <a:solidFill>
                          <a:srgbClr val="000000"/>
                        </a:solidFill>
                        <a:effectLst/>
                      </a:rPr>
                      <m:t>Cr</m:t>
                    </m:r>
                    <m:r>
                      <m:rPr>
                        <m:sty m:val="p"/>
                      </m:rPr>
                      <a:rPr lang="en-US" sz="1200" dirty="0">
                        <a:solidFill>
                          <a:srgbClr val="000000"/>
                        </a:solidFill>
                        <a:effectLst/>
                      </a:rPr>
                      <m:t>(</m:t>
                    </m:r>
                    <m:r>
                      <m:rPr>
                        <m:sty m:val="p"/>
                      </m:rPr>
                      <a:rPr lang="en-US" sz="1200" dirty="0">
                        <a:solidFill>
                          <a:srgbClr val="000000"/>
                        </a:solidFill>
                        <a:effectLst/>
                      </a:rPr>
                      <m:t>VI</m:t>
                    </m:r>
                    <m:r>
                      <m:rPr>
                        <m:sty m:val="p"/>
                      </m:rPr>
                      <a:rPr lang="en-US" sz="1200" dirty="0">
                        <a:solidFill>
                          <a:srgbClr val="000000"/>
                        </a:solidFill>
                        <a:effectLst/>
                      </a:rPr>
                      <m:t>)</m:t>
                    </m:r>
                  </m:oMath>
                </a14:m>
                <a:r>
                  <a:rPr lang="en-US" sz="1200" dirty="0">
                    <a:effectLst/>
                  </a:rPr>
                  <a:t>. In addition, during the preparation of IPGA, the Cr(VI) template ion is mainly as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HCrO</m:t>
                        </m:r>
                      </m:e>
                      <m:sub>
                        <m:r>
                          <m:rPr>
                            <m:sty m:val="p"/>
                          </m:rPr>
                          <a:rPr lang="en-US" sz="1200" dirty="0">
                            <a:solidFill>
                              <a:srgbClr val="000000"/>
                            </a:solidFill>
                            <a:effectLst/>
                          </a:rPr>
                          <m:t>4</m:t>
                        </m:r>
                      </m:sub>
                    </m:sSub>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oMath>
                </a14:m>
                <a:r>
                  <a:rPr lang="en-US" sz="1200" dirty="0">
                    <a:effectLst/>
                  </a:rPr>
                  <a:t>and thus, the resulted imprinted cavities display the memory of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HCrO</m:t>
                        </m:r>
                      </m:e>
                      <m:sub>
                        <m:r>
                          <m:rPr>
                            <m:sty m:val="p"/>
                          </m:rPr>
                          <a:rPr lang="en-US" sz="1200" dirty="0">
                            <a:solidFill>
                              <a:srgbClr val="000000"/>
                            </a:solidFill>
                            <a:effectLst/>
                          </a:rPr>
                          <m:t>4</m:t>
                        </m:r>
                      </m:sub>
                    </m:sSub>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oMath>
                </a14:m>
                <a:r>
                  <a:rPr lang="en-US" sz="1200" dirty="0">
                    <a:effectLst/>
                  </a:rPr>
                  <a:t>anion [33-35].</a:t>
                </a:r>
              </a:p>
            </p:txBody>
          </p:sp>
        </mc:Choice>
        <mc:Fallback/>
      </mc:AlternateContent>
      <p:sp>
        <p:nvSpPr>
          <p:cNvPr id="2" name="Text"/>
          <p:cNvSpPr/>
          <p:nvPr/>
        </p:nvSpPr>
        <p:spPr>
          <a:xfrm>
            <a:off x="1524000" y="4837939"/>
            <a:ext cx="9144000" cy="342900"/>
          </a:xfrm>
          <a:prstGeom prst="rect">
            <a:avLst/>
          </a:prstGeom>
        </p:spPr>
        <p:txBody>
          <a:bodyPr anchor="t" lIns="0" tIns="0" rIns="0" bIns="0">
            <a:noAutofit/>
          </a:bodyPr>
          <a:lstStyle/>
          <a:p>
            <a:pPr>
              <a:lnSpc>
                <a:spcPct val="120000"/>
              </a:lnSpc>
            </a:pPr>
            <a:r>
              <a:rPr lang="en-US" sz="1800" dirty="0" b="1">
                <a:effectLst/>
              </a:rPr>
              <a:t>Adsorption Kinetics</a:t>
            </a:r>
          </a:p>
        </p:txBody>
      </p:sp>
      <p:sp>
        <p:nvSpPr>
          <p:cNvPr id="2" name="Text"/>
          <p:cNvSpPr/>
          <p:nvPr/>
        </p:nvSpPr>
        <p:spPr>
          <a:xfrm>
            <a:off x="1524000" y="5370578"/>
            <a:ext cx="9144000" cy="457200"/>
          </a:xfrm>
          <a:prstGeom prst="rect">
            <a:avLst/>
          </a:prstGeom>
        </p:spPr>
        <p:txBody>
          <a:bodyPr anchor="t" lIns="0" tIns="0" rIns="0" bIns="0">
            <a:noAutofit/>
          </a:bodyPr>
          <a:lstStyle/>
          <a:p>
            <a:pPr>
              <a:lnSpc>
                <a:spcPct val="120000"/>
              </a:lnSpc>
            </a:pPr>
            <a:r>
              <a:rPr lang="en-US" sz="1200" dirty="0">
                <a:effectLst/>
              </a:rPr>
              <a:t>Figure 7 shows the change in the adsorption capacity of IPGA over time. As can be seen, the adsorption Cr(VI) on the imprinted fiber was very fast within the first 30 min.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f1bea711956b02da3d83db472e40110fb8728f51.jpg"/>
          <p:cNvPicPr/>
          <p:nvPr/>
        </p:nvPicPr>
        <p:blipFill>
          <a:blip r:embed="rId2" cstate="print"/>
          <a:srcRect/>
          <a:stretch>
            <a:fillRect/>
          </a:stretch>
        </p:blipFill>
        <p:spPr>
          <a:xfrm>
            <a:off x="1524000" y="457200"/>
            <a:ext cx="7591425" cy="5476875"/>
          </a:xfrm>
          <a:prstGeom prst="rect">
            <a:avLst/>
          </a:prstGeom>
        </p:spPr>
      </p:pic>
      <p:sp>
        <p:nvSpPr>
          <p:cNvPr id="3" name="Text"/>
          <p:cNvSpPr/>
          <p:nvPr/>
        </p:nvSpPr>
        <p:spPr>
          <a:xfrm>
            <a:off x="1524000" y="5934075"/>
            <a:ext cx="9144000" cy="228600"/>
          </a:xfrm>
          <a:prstGeom prst="rect">
            <a:avLst/>
          </a:prstGeom>
        </p:spPr>
        <p:txBody>
          <a:bodyPr anchor="t" lIns="0" tIns="0" rIns="0" bIns="0">
            <a:noAutofit/>
          </a:bodyPr>
          <a:lstStyle/>
          <a:p>
            <a:pPr>
              <a:lnSpc>
                <a:spcPct val="120000"/>
              </a:lnSpc>
            </a:pPr>
            <a:r>
              <a:rPr lang="en-US" sz="1200" dirty="0">
                <a:effectLst/>
              </a:rPr>
              <a:t>Figure 6. Effect of the pH on the adsorption capacity of IPGA to Cr(VI) and pH drift.</a:t>
            </a:r>
          </a:p>
        </p:txBody>
      </p:sp>
      <p:sp>
        <p:nvSpPr>
          <p:cNvPr id="2" name="Text"/>
          <p:cNvSpPr/>
          <p:nvPr/>
        </p:nvSpPr>
        <p:spPr>
          <a:xfrm>
            <a:off x="1524000" y="6162675"/>
            <a:ext cx="9144000" cy="228600"/>
          </a:xfrm>
          <a:prstGeom prst="rect">
            <a:avLst/>
          </a:prstGeom>
        </p:spPr>
        <p:txBody>
          <a:bodyPr anchor="t" lIns="0" tIns="0" rIns="0" bIns="0">
            <a:noAutofit/>
          </a:bodyPr>
          <a:lstStyle/>
          <a:p>
            <a:pPr>
              <a:lnSpc>
                <a:spcPct val="120000"/>
              </a:lnSpc>
            </a:pPr>
            <a:r>
              <a:rPr lang="en-US" sz="1200" dirty="0">
                <a:effectLst/>
              </a:rPr>
              <a:t>Then, the adsorption capacity of Cr(VI) increased slowly with the adsorption time. After 90 min of adsorption, the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aa9248683aaf47177f8616d1c2f69b47c29c9054.jpg"/>
          <p:cNvPicPr/>
          <p:nvPr/>
        </p:nvPicPr>
        <p:blipFill>
          <a:blip r:embed="rId2" cstate="print"/>
          <a:srcRect/>
          <a:stretch>
            <a:fillRect/>
          </a:stretch>
        </p:blipFill>
        <p:spPr>
          <a:xfrm>
            <a:off x="1524000" y="457200"/>
            <a:ext cx="6543675" cy="5295900"/>
          </a:xfrm>
          <a:prstGeom prst="rect">
            <a:avLst/>
          </a:prstGeom>
        </p:spPr>
      </p:pic>
      <p:sp>
        <p:nvSpPr>
          <p:cNvPr id="3" name="Text"/>
          <p:cNvSpPr/>
          <p:nvPr/>
        </p:nvSpPr>
        <p:spPr>
          <a:xfrm>
            <a:off x="1524000" y="5753100"/>
            <a:ext cx="9144000" cy="457200"/>
          </a:xfrm>
          <a:prstGeom prst="rect">
            <a:avLst/>
          </a:prstGeom>
        </p:spPr>
        <p:txBody>
          <a:bodyPr anchor="t" lIns="0" tIns="0" rIns="0" bIns="0">
            <a:noAutofit/>
          </a:bodyPr>
          <a:lstStyle/>
          <a:p>
            <a:pPr>
              <a:lnSpc>
                <a:spcPct val="120000"/>
              </a:lnSpc>
            </a:pPr>
            <a:r>
              <a:rPr lang="en-US" sz="1200" dirty="0">
                <a:effectLst/>
              </a:rPr>
              <a:t>Figure 7. Effect of the contact time on Cr(VI) adsorption capacity of IPGA and fittings by pseudo-first-order and pseudo-secondorder models.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342900"/>
          </a:xfrm>
          <a:prstGeom prst="rect">
            <a:avLst/>
          </a:prstGeom>
        </p:spPr>
        <p:txBody>
          <a:bodyPr anchor="t" lIns="0" tIns="0" rIns="0" bIns="0">
            <a:noAutofit/>
          </a:bodyPr>
          <a:lstStyle/>
          <a:p>
            <a:pPr>
              <a:lnSpc>
                <a:spcPct val="120000"/>
              </a:lnSpc>
            </a:pPr>
            <a:r>
              <a:rPr lang="en-US" sz="1800" dirty="0" b="1">
                <a:effectLst/>
              </a:rPr>
              <a:t>Adsorption Isotherm</a:t>
            </a:r>
          </a:p>
        </p:txBody>
      </p:sp>
      <p:sp>
        <p:nvSpPr>
          <p:cNvPr id="2" name="Text"/>
          <p:cNvSpPr/>
          <p:nvPr/>
        </p:nvSpPr>
        <p:spPr>
          <a:xfrm>
            <a:off x="1524000" y="989839"/>
            <a:ext cx="9144000" cy="914400"/>
          </a:xfrm>
          <a:prstGeom prst="rect">
            <a:avLst/>
          </a:prstGeom>
        </p:spPr>
        <p:txBody>
          <a:bodyPr anchor="t" lIns="0" tIns="0" rIns="0" bIns="0">
            <a:noAutofit/>
          </a:bodyPr>
          <a:lstStyle/>
          <a:p>
            <a:pPr>
              <a:lnSpc>
                <a:spcPct val="120000"/>
              </a:lnSpc>
            </a:pPr>
            <a:r>
              <a:rPr lang="en-US" sz="1200" dirty="0">
                <a:effectLst/>
              </a:rPr>
              <a:t>Figure 8(a) depicts the influences of the initial concentrations of Cr(VI) (10-80 mg/l) and temperature (20-35 °C) on the adsorption on IPGA. The experimental results revealed that the Cr(VI)-adsorption capacity increases with the initial concentration of Cr(VI) and temperature. Langmuir, Freundlich, and Temkin adsorption models were used to fit the adsorption data. The fitting results are depicted in Figure</a:t>
            </a:r>
          </a:p>
        </p:txBody>
      </p:sp>
      <p:sp>
        <p:nvSpPr>
          <p:cNvPr id="2" name="Text"/>
          <p:cNvSpPr/>
          <p:nvPr/>
        </p:nvSpPr>
        <p:spPr>
          <a:xfrm>
            <a:off x="1524000" y="2056639"/>
            <a:ext cx="9144000" cy="228600"/>
          </a:xfrm>
          <a:prstGeom prst="rect">
            <a:avLst/>
          </a:prstGeom>
        </p:spPr>
        <p:txBody>
          <a:bodyPr anchor="t" lIns="0" tIns="0" rIns="0" bIns="0">
            <a:noAutofit/>
          </a:bodyPr>
          <a:lstStyle/>
          <a:p>
            <a:pPr>
              <a:lnSpc>
                <a:spcPct val="120000"/>
              </a:lnSpc>
            </a:pPr>
            <a:r>
              <a:rPr lang="en-US" sz="1200" dirty="0">
                <a:effectLst/>
              </a:rPr>
              <a:t>Table 1. Kinetic parameters of Cr(VI) adsorption by IPGA</a:t>
            </a:r>
          </a:p>
        </p:txBody>
      </p:sp>
      <mc:AlternateContent xmlns:mc="http://schemas.openxmlformats.org/markup-compatibility/2006">
        <mc:Choice xmlns:a14="http://schemas.microsoft.com/office/drawing/2010/main" Requires="a14">
          <p:graphicFrame>
            <p:nvGraphicFramePr>
              <p:cNvPr id="3" name="Table"/>
              <p:cNvGraphicFramePr>
                <a:graphicFrameLocks noGrp="1"/>
              </p:cNvGraphicFramePr>
              <p:nvPr/>
            </p:nvGraphicFramePr>
            <p:xfrm>
              <a:off x="3190875" y="2285239"/>
              <a:ext cx="5819775" cy="1304925"/>
            </p:xfrm>
            <a:graphic>
              <a:graphicData uri="http://schemas.openxmlformats.org/drawingml/2006/table">
                <a:tbl>
                  <a:tblPr firstRow="1" firstCol="1" bandRow="1">
                    <a:tableStyleId>{5940675A-B579-460E-94D1-54222C63F5DA}</a:tableStyleId>
                  </a:tblPr>
                  <a:tblGrid>
                    <a:gridCol w="809625"/>
                    <a:gridCol w="752475"/>
                    <a:gridCol w="981075"/>
                    <a:gridCol w="552450"/>
                    <a:gridCol w="752475"/>
                    <a:gridCol w="1409700"/>
                    <a:gridCol w="552450"/>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r>
                  <a:tr h="266700">
                    <a:tc rowSpan="2">
                      <a:txBody>
                        <a:bodyPr anchor="t" lIns="76200" tIns="15240" rIns="0" bIns="0">
                          <a:noAutofit/>
                        </a:bodyPr>
                        <a:lstStyle/>
                        <a:p>
                          <a:pPr algn="l"/>
                          <a:r>
                            <a:rPr lang="en-US" sz="1200" dirty="0">
                              <a:effectLst/>
                            </a:rPr>
                            <a:t>​</a:t>
                          </a:r>
                          <a14:m>
                            <m:oMathPara>
                              <m:oMathParaPr>
                                <m:jc m:val="left"/>
                              </m:oMathParaPr>
                              <m:oMath>
                                <m:r>
                                  <m:rPr>
                                    <m:sty m:val="i"/>
                                  </m:rPr>
                                  <a:rPr lang="en-US" sz="1200" dirty="0">
                                    <a:solidFill>
                                      <a:srgbClr val="000000"/>
                                    </a:solidFill>
                                    <a:effectLst/>
                                  </a:rPr>
                                  <m:t>Q</m:t>
                                </m:r>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g</m:t>
                                </m:r>
                                <m:r>
                                  <m:rPr>
                                    <m:sty m:val="p"/>
                                  </m:rPr>
                                  <a:rPr lang="en-US" sz="1200" dirty="0">
                                    <a:solidFill>
                                      <a:srgbClr val="000000"/>
                                    </a:solidFill>
                                    <a:effectLst/>
                                  </a:rPr>
                                  <m:t>)</m:t>
                                </m:r>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gridSpan="3">
                      <a:txBody>
                        <a:bodyPr anchor="t" lIns="76200" tIns="15240" rIns="0" bIns="0">
                          <a:noAutofit/>
                        </a:bodyPr>
                        <a:lstStyle/>
                        <a:p>
                          <a:pPr algn="ctr"/>
                          <a:r>
                            <a:rPr lang="en-US" sz="1200" dirty="0">
                              <a:effectLst/>
                            </a:rPr>
                            <a:t>Pseudo-first-order</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pPr/>
                          <a:endParaRPr/>
                        </a:p>
                      </a:txBody>
                      <a:tcPr marL="0" marR="0" marT="0" marB="0"/>
                    </a:tc>
                    <a:tc hMerge="1">
                      <a:txBody>
                        <a:bodyPr/>
                        <a:lstStyle/>
                        <a:p>
                          <a:pPr/>
                          <a:endParaRPr/>
                        </a:p>
                      </a:txBody>
                      <a:tcPr marL="0" marR="0" marT="0" marB="0"/>
                    </a:tc>
                    <a:tc gridSpan="3">
                      <a:txBody>
                        <a:bodyPr anchor="t" lIns="76200" tIns="15240" rIns="0" bIns="0">
                          <a:noAutofit/>
                        </a:bodyPr>
                        <a:lstStyle/>
                        <a:p>
                          <a:pPr algn="ctr"/>
                          <a:r>
                            <a:rPr lang="en-US" sz="1200" dirty="0">
                              <a:effectLst/>
                            </a:rPr>
                            <a:t>Pseudo-second-order</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pPr/>
                          <a:endParaRPr/>
                        </a:p>
                      </a:txBody>
                      <a:tcPr marL="0" marR="0" marT="0" marB="0"/>
                    </a:tc>
                    <a:tc hMerge="1">
                      <a:txBody>
                        <a:bodyPr/>
                        <a:lstStyle/>
                        <a:p>
                          <a:pPr/>
                          <a:endParaRPr/>
                        </a:p>
                      </a:txBody>
                      <a:tcPr marL="0" marR="0" marT="0" marB="0"/>
                    </a:tc>
                  </a:tr>
                  <a:tr h="266700">
                    <a:tc vMerge="1">
                      <a:txBody>
                        <a:bodyPr/>
                        <a:lstStyle/>
                        <a:p>
                          <a:pPr/>
                          <a:endParaRPr/>
                        </a:p>
                      </a:txBody>
                      <a:tcPr marL="0" marR="0" marT="0" marB="0"/>
                    </a:tc>
                    <a:tc>
                      <a:txBody>
                        <a:bodyPr anchor="t" lIns="76200" tIns="15240" rIns="0" bIns="0">
                          <a:noAutofit/>
                        </a:bodyPr>
                        <a:lstStyle/>
                        <a:p>
                          <a:pPr algn="l"/>
                          <a:r>
                            <a:rPr lang="en-US" sz="1200" dirty="0">
                              <a:effectLst/>
                            </a:rPr>
                            <a:t>​</a:t>
                          </a:r>
                          <a14:m>
                            <m:oMathPara>
                              <m:oMathParaPr>
                                <m:jc m:val="left"/>
                              </m:oMathParaPr>
                              <m:oMath>
                                <m:r>
                                  <m:rPr>
                                    <m:sty m:val="i"/>
                                  </m:rPr>
                                  <a:rPr lang="en-US" sz="1200" dirty="0">
                                    <a:solidFill>
                                      <a:srgbClr val="000000"/>
                                    </a:solidFill>
                                    <a:effectLst/>
                                  </a:rPr>
                                  <m:t>q</m:t>
                                </m:r>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g</m:t>
                                </m:r>
                                <m:r>
                                  <m:rPr>
                                    <m:sty m:val="p"/>
                                  </m:rPr>
                                  <a:rPr lang="en-US" sz="1200" dirty="0">
                                    <a:solidFill>
                                      <a:srgbClr val="000000"/>
                                    </a:solidFill>
                                    <a:effectLst/>
                                  </a:rPr>
                                  <m:t>)</m:t>
                                </m:r>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1</m:t>
                                    </m:r>
                                  </m:sub>
                                </m:sSub>
                                <m:d>
                                  <m:dPr>
                                    <m:begChr m:val="("/>
                                    <m:endChr m:val=")"/>
                                    <m:ctrlPr>
                                      <a:rPr sz="1200">
                                        <a:latin typeface="Cambria Math" panose="02040503050406030204" pitchFamily="18" charset="0"/>
                                      </a:rPr>
                                    </m:ctrlPr>
                                  </m:dPr>
                                  <m:e>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min</m:t>
                                        </m:r>
                                      </m:e>
                                      <m:sup>
                                        <m:r>
                                          <m:rPr>
                                            <m:sty m:val="p"/>
                                          </m:rPr>
                                          <a:rPr lang="en-US" sz="1200" dirty="0">
                                            <a:solidFill>
                                              <a:srgbClr val="000000"/>
                                            </a:solidFill>
                                            <a:effectLst/>
                                          </a:rPr>
                                          <m:t>−</m:t>
                                        </m:r>
                                        <m:r>
                                          <m:rPr>
                                            <m:sty m:val="p"/>
                                          </m:rPr>
                                          <a:rPr lang="en-US" sz="1200" dirty="0">
                                            <a:solidFill>
                                              <a:srgbClr val="000000"/>
                                            </a:solidFill>
                                            <a:effectLst/>
                                          </a:rPr>
                                          <m:t>1</m:t>
                                        </m:r>
                                      </m:sup>
                                    </m:sSup>
                                  </m:e>
                                </m:d>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p>
                                  <m:sSupPr>
                                    <m:ctrlPr>
                                      <a:rPr sz="1200">
                                        <a:latin typeface="Cambria Math" panose="02040503050406030204" pitchFamily="18" charset="0"/>
                                      </a:rPr>
                                    </m:ctrlPr>
                                  </m:sSupPr>
                                  <m:e>
                                    <m:r>
                                      <m:rPr>
                                        <m:sty m:val="i"/>
                                      </m:rPr>
                                      <a:rPr lang="en-US" sz="1200" dirty="0">
                                        <a:solidFill>
                                          <a:srgbClr val="000000"/>
                                        </a:solidFill>
                                        <a:effectLst/>
                                      </a:rPr>
                                      <m:t>R</m:t>
                                    </m:r>
                                  </m:e>
                                  <m:sup>
                                    <m:r>
                                      <m:rPr>
                                        <m:sty m:val="p"/>
                                      </m:rPr>
                                      <a:rPr lang="en-US" sz="1200" dirty="0">
                                        <a:solidFill>
                                          <a:srgbClr val="000000"/>
                                        </a:solidFill>
                                        <a:effectLst/>
                                      </a:rPr>
                                      <m:t>2</m:t>
                                    </m:r>
                                  </m:sup>
                                </m:sSup>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r>
                                  <m:rPr>
                                    <m:sty m:val="i"/>
                                  </m:rPr>
                                  <a:rPr lang="en-US" sz="1200" dirty="0">
                                    <a:solidFill>
                                      <a:srgbClr val="000000"/>
                                    </a:solidFill>
                                    <a:effectLst/>
                                  </a:rPr>
                                  <m:t>q</m:t>
                                </m:r>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g</m:t>
                                </m:r>
                                <m:r>
                                  <m:rPr>
                                    <m:sty m:val="p"/>
                                  </m:rPr>
                                  <a:rPr lang="en-US" sz="1200" dirty="0">
                                    <a:solidFill>
                                      <a:srgbClr val="000000"/>
                                    </a:solidFill>
                                    <a:effectLst/>
                                  </a:rPr>
                                  <m:t>)</m:t>
                                </m:r>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2</m:t>
                                    </m:r>
                                  </m:sub>
                                </m:sSub>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min</m:t>
                                </m:r>
                                <m:r>
                                  <m:rPr>
                                    <m:sty m:val="p"/>
                                  </m:rPr>
                                  <a:rPr lang="en-US" sz="1200" dirty="0">
                                    <a:solidFill>
                                      <a:srgbClr val="000000"/>
                                    </a:solidFill>
                                    <a:effectLst/>
                                  </a:rPr>
                                  <m:t>)</m:t>
                                </m:r>
                                <m:r>
                                  <m:rPr>
                                    <m:sty m:val="p"/>
                                  </m:rPr>
                                  <a:rPr lang="en-US" sz="1200" dirty="0">
                                    <a:solidFill>
                                      <a:srgbClr val="000000"/>
                                    </a:solidFill>
                                    <a:effectLst/>
                                  </a:rPr>
                                  <m:t>)</m:t>
                                </m:r>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p>
                                  <m:sSupPr>
                                    <m:ctrlPr>
                                      <a:rPr sz="1200">
                                        <a:latin typeface="Cambria Math" panose="02040503050406030204" pitchFamily="18" charset="0"/>
                                      </a:rPr>
                                    </m:ctrlPr>
                                  </m:sSupPr>
                                  <m:e>
                                    <m:r>
                                      <m:rPr>
                                        <m:sty m:val="i"/>
                                      </m:rPr>
                                      <a:rPr lang="en-US" sz="1200" dirty="0">
                                        <a:solidFill>
                                          <a:srgbClr val="000000"/>
                                        </a:solidFill>
                                        <a:effectLst/>
                                      </a:rPr>
                                      <m:t>R</m:t>
                                    </m:r>
                                  </m:e>
                                  <m:sup>
                                    <m:r>
                                      <m:rPr>
                                        <m:sty m:val="p"/>
                                      </m:rPr>
                                      <a:rPr lang="en-US" sz="1200" dirty="0">
                                        <a:solidFill>
                                          <a:srgbClr val="000000"/>
                                        </a:solidFill>
                                        <a:effectLst/>
                                      </a:rPr>
                                      <m:t>2</m:t>
                                    </m:r>
                                  </m:sup>
                                </m:sSup>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43.2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41.21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0.0645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0.952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44.37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0.0067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0.994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Choice>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2416b4df930f14903eee314e0e5b4c0cb1c26cd6.jpg"/>
          <p:cNvPicPr/>
          <p:nvPr/>
        </p:nvPicPr>
        <p:blipFill>
          <a:blip r:embed="rId2" cstate="print"/>
          <a:srcRect/>
          <a:stretch>
            <a:fillRect/>
          </a:stretch>
        </p:blipFill>
        <p:spPr>
          <a:xfrm>
            <a:off x="1524000" y="457200"/>
            <a:ext cx="7067550" cy="59436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Figure 8. (a) Adsorption isotherm and fittings using (b) Langmuir, (c) Freundlich, and (d) Temkin models for Cr(VI) adsorption on IPGA fibers at different initial concentrations of Cr(VI) and temperatures.</a:t>
            </a:r>
          </a:p>
        </p:txBody>
      </p:sp>
      <p:sp>
        <p:nvSpPr>
          <p:cNvPr id="2" name="Text"/>
          <p:cNvSpPr/>
          <p:nvPr/>
        </p:nvSpPr>
        <p:spPr>
          <a:xfrm>
            <a:off x="1524000" y="914400"/>
            <a:ext cx="9144000" cy="228600"/>
          </a:xfrm>
          <a:prstGeom prst="rect">
            <a:avLst/>
          </a:prstGeom>
        </p:spPr>
        <p:txBody>
          <a:bodyPr anchor="t" lIns="0" tIns="0" rIns="0" bIns="0">
            <a:noAutofit/>
          </a:bodyPr>
          <a:lstStyle/>
          <a:p>
            <a:pPr>
              <a:lnSpc>
                <a:spcPct val="120000"/>
              </a:lnSpc>
            </a:pPr>
            <a:r>
              <a:rPr lang="en-US" sz="1200" dirty="0">
                <a:effectLst/>
              </a:rPr>
              <a:t>Table 2. Isotherm parameters for the adsorption of Cr(VI) on IPGA</a:t>
            </a:r>
          </a:p>
        </p:txBody>
      </p:sp>
      <mc:AlternateContent xmlns:mc="http://schemas.openxmlformats.org/markup-compatibility/2006">
        <mc:Choice xmlns:a14="http://schemas.microsoft.com/office/drawing/2010/main" Requires="a14">
          <p:graphicFrame>
            <p:nvGraphicFramePr>
              <p:cNvPr id="3" name="Table"/>
              <p:cNvGraphicFramePr>
                <a:graphicFrameLocks noGrp="1"/>
              </p:cNvGraphicFramePr>
              <p:nvPr/>
            </p:nvGraphicFramePr>
            <p:xfrm>
              <a:off x="2590800" y="1143000"/>
              <a:ext cx="7010400" cy="1838325"/>
            </p:xfrm>
            <a:graphic>
              <a:graphicData uri="http://schemas.openxmlformats.org/drawingml/2006/table">
                <a:tbl>
                  <a:tblPr firstRow="1" firstCol="1" bandRow="1">
                    <a:tableStyleId>{5940675A-B579-460E-94D1-54222C63F5DA}</a:tableStyleId>
                  </a:tblPr>
                  <a:tblGrid>
                    <a:gridCol w="628650"/>
                    <a:gridCol w="923925"/>
                    <a:gridCol w="876300"/>
                    <a:gridCol w="552450"/>
                    <a:gridCol w="533400"/>
                    <a:gridCol w="876300"/>
                    <a:gridCol w="552450"/>
                    <a:gridCol w="542925"/>
                    <a:gridCol w="962025"/>
                    <a:gridCol w="561975"/>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r>
                  <a:tr h="266700">
                    <a:tc rowSpan="2">
                      <a:txBody>
                        <a:bodyPr anchor="t" lIns="76200" tIns="15240" rIns="0" bIns="0">
                          <a:noAutofit/>
                        </a:bodyPr>
                        <a:lstStyle/>
                        <a:p>
                          <a:pPr algn="l"/>
                          <a:r>
                            <a:rPr lang="en-US" sz="1200" dirty="0">
                              <a:effectLst/>
                            </a:rPr>
                            <a:t>​</a:t>
                          </a:r>
                          <a14:m>
                            <m:oMathPara>
                              <m:oMathParaPr>
                                <m:jc m:val="left"/>
                              </m:oMathParaPr>
                              <m:oMath>
                                <m:r>
                                  <m:rPr>
                                    <m:sty m:val="i"/>
                                  </m:rPr>
                                  <a:rPr lang="en-US" sz="1200" dirty="0">
                                    <a:solidFill>
                                      <a:srgbClr val="000000"/>
                                    </a:solidFill>
                                    <a:effectLst/>
                                  </a:rPr>
                                  <m:t>T</m:t>
                                </m:r>
                                <m:d>
                                  <m:dPr>
                                    <m:begChr m:val="("/>
                                    <m:endChr m:val=")"/>
                                    <m:ctrlPr>
                                      <a:rPr sz="1200">
                                        <a:latin typeface="Cambria Math" panose="02040503050406030204" pitchFamily="18" charset="0"/>
                                      </a:rPr>
                                    </m:ctrlPr>
                                  </m:dPr>
                                  <m:e>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r>
                                      <m:rPr>
                                        <m:sty m:val="p"/>
                                      </m:rPr>
                                      <a:rPr lang="en-US" sz="1200" dirty="0">
                                        <a:solidFill>
                                          <a:srgbClr val="000000"/>
                                        </a:solidFill>
                                        <a:effectLst/>
                                      </a:rPr>
                                      <m:t>C</m:t>
                                    </m:r>
                                  </m:e>
                                </m:d>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gridSpan="3">
                      <a:txBody>
                        <a:bodyPr anchor="t" lIns="76200" tIns="15240" rIns="0" bIns="0">
                          <a:noAutofit/>
                        </a:bodyPr>
                        <a:lstStyle/>
                        <a:p>
                          <a:pPr algn="ctr"/>
                          <a:r>
                            <a:rPr lang="en-US" sz="1200" dirty="0">
                              <a:effectLst/>
                            </a:rPr>
                            <a:t>Langmuir</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pPr/>
                          <a:endParaRPr/>
                        </a:p>
                      </a:txBody>
                      <a:tcPr marL="0" marR="0" marT="0" marB="0"/>
                    </a:tc>
                    <a:tc hMerge="1">
                      <a:txBody>
                        <a:bodyPr/>
                        <a:lstStyle/>
                        <a:p>
                          <a:pPr/>
                          <a:endParaRPr/>
                        </a:p>
                      </a:txBody>
                      <a:tcPr marL="0" marR="0" marT="0" marB="0"/>
                    </a:tc>
                    <a:tc gridSpan="3">
                      <a:txBody>
                        <a:bodyPr anchor="t" lIns="76200" tIns="15240" rIns="0" bIns="0">
                          <a:noAutofit/>
                        </a:bodyPr>
                        <a:lstStyle/>
                        <a:p>
                          <a:pPr algn="ctr"/>
                          <a:r>
                            <a:rPr lang="en-US" sz="1200" dirty="0">
                              <a:effectLst/>
                            </a:rPr>
                            <a:t>Freundlich</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pPr/>
                          <a:endParaRPr/>
                        </a:p>
                      </a:txBody>
                      <a:tcPr marL="0" marR="0" marT="0" marB="0"/>
                    </a:tc>
                    <a:tc hMerge="1">
                      <a:txBody>
                        <a:bodyPr/>
                        <a:lstStyle/>
                        <a:p>
                          <a:pPr/>
                          <a:endParaRPr/>
                        </a:p>
                      </a:txBody>
                      <a:tcPr marL="0" marR="0" marT="0" marB="0"/>
                    </a:tc>
                    <a:tc gridSpan="3">
                      <a:txBody>
                        <a:bodyPr anchor="t" lIns="76200" tIns="15240" rIns="0" bIns="0">
                          <a:noAutofit/>
                        </a:bodyPr>
                        <a:lstStyle/>
                        <a:p>
                          <a:pPr algn="ctr"/>
                          <a:r>
                            <a:rPr lang="en-US" sz="1200" dirty="0">
                              <a:effectLst/>
                            </a:rPr>
                            <a:t>Temkin</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pPr/>
                          <a:endParaRPr/>
                        </a:p>
                      </a:txBody>
                      <a:tcPr marL="0" marR="0" marT="0" marB="0"/>
                    </a:tc>
                    <a:tc hMerge="1">
                      <a:txBody>
                        <a:bodyPr/>
                        <a:lstStyle/>
                        <a:p>
                          <a:pPr/>
                          <a:endParaRPr/>
                        </a:p>
                      </a:txBody>
                      <a:tcPr marL="0" marR="0" marT="0" marB="0"/>
                    </a:tc>
                  </a:tr>
                  <a:tr h="266700">
                    <a:tc vMerge="1">
                      <a:txBody>
                        <a:bodyPr/>
                        <a:lstStyle/>
                        <a:p>
                          <a:pPr/>
                          <a:endParaRPr/>
                        </a:p>
                      </a:txBody>
                      <a:tcPr marL="0" marR="0" marT="0" marB="0"/>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p"/>
                                      </m:rPr>
                                      <a:rPr lang="en-US" sz="1200" dirty="0">
                                        <a:solidFill>
                                          <a:srgbClr val="000000"/>
                                        </a:solidFill>
                                        <a:effectLst/>
                                      </a:rPr>
                                      <m:t>m</m:t>
                                    </m:r>
                                  </m:sub>
                                </m:sSub>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g</m:t>
                                </m:r>
                                <m:r>
                                  <m:rPr>
                                    <m:sty m:val="p"/>
                                  </m:rPr>
                                  <a:rPr lang="en-US" sz="1200" dirty="0">
                                    <a:solidFill>
                                      <a:srgbClr val="000000"/>
                                    </a:solidFill>
                                    <a:effectLst/>
                                  </a:rPr>
                                  <m:t>)</m:t>
                                </m:r>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L</m:t>
                                    </m:r>
                                  </m:sub>
                                </m:sSub>
                                <m:r>
                                  <m:rPr>
                                    <m:sty m:val="p"/>
                                  </m:rPr>
                                  <a:rPr lang="en-US" sz="1200" dirty="0">
                                    <a:solidFill>
                                      <a:srgbClr val="000000"/>
                                    </a:solidFill>
                                    <a:effectLst/>
                                  </a:rPr>
                                  <m:t>(</m:t>
                                </m:r>
                                <m:r>
                                  <m:rPr>
                                    <m:sty m:val="i"/>
                                  </m:rPr>
                                  <a:rPr lang="en-US" sz="1200" dirty="0">
                                    <a:solidFill>
                                      <a:srgbClr val="000000"/>
                                    </a:solidFill>
                                    <a:effectLst/>
                                  </a:rPr>
                                  <m:t>l</m:t>
                                </m:r>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p>
                                  <m:sSupPr>
                                    <m:ctrlPr>
                                      <a:rPr sz="1200">
                                        <a:latin typeface="Cambria Math" panose="02040503050406030204" pitchFamily="18" charset="0"/>
                                      </a:rPr>
                                    </m:ctrlPr>
                                  </m:sSupPr>
                                  <m:e>
                                    <m:r>
                                      <m:rPr>
                                        <m:sty m:val="i"/>
                                      </m:rPr>
                                      <a:rPr lang="en-US" sz="1200" dirty="0">
                                        <a:solidFill>
                                          <a:srgbClr val="000000"/>
                                        </a:solidFill>
                                        <a:effectLst/>
                                      </a:rPr>
                                      <m:t>R</m:t>
                                    </m:r>
                                  </m:e>
                                  <m:sup>
                                    <m:r>
                                      <m:rPr>
                                        <m:sty m:val="p"/>
                                      </m:rPr>
                                      <a:rPr lang="en-US" sz="1200" dirty="0">
                                        <a:solidFill>
                                          <a:srgbClr val="000000"/>
                                        </a:solidFill>
                                        <a:effectLst/>
                                      </a:rPr>
                                      <m:t>2</m:t>
                                    </m:r>
                                  </m:sup>
                                </m:sSup>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r>
                                  <m:rPr>
                                    <m:sty m:val="i"/>
                                  </m:rPr>
                                  <a:rPr lang="en-US" sz="1200" dirty="0">
                                    <a:solidFill>
                                      <a:srgbClr val="000000"/>
                                    </a:solidFill>
                                    <a:effectLst/>
                                  </a:rPr>
                                  <m:t>n</m:t>
                                </m:r>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F</m:t>
                                    </m:r>
                                  </m:sub>
                                </m:sSub>
                                <m:r>
                                  <m:rPr>
                                    <m:sty m:val="p"/>
                                  </m:rPr>
                                  <a:rPr lang="en-US" sz="1200" dirty="0">
                                    <a:solidFill>
                                      <a:srgbClr val="000000"/>
                                    </a:solidFill>
                                    <a:effectLst/>
                                  </a:rPr>
                                  <m:t>(</m:t>
                                </m:r>
                                <m:r>
                                  <m:rPr>
                                    <m:sty m:val="i"/>
                                  </m:rPr>
                                  <a:rPr lang="en-US" sz="1200" dirty="0">
                                    <a:solidFill>
                                      <a:srgbClr val="000000"/>
                                    </a:solidFill>
                                    <a:effectLst/>
                                  </a:rPr>
                                  <m:t>l</m:t>
                                </m:r>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p>
                                  <m:sSupPr>
                                    <m:ctrlPr>
                                      <a:rPr sz="1200">
                                        <a:latin typeface="Cambria Math" panose="02040503050406030204" pitchFamily="18" charset="0"/>
                                      </a:rPr>
                                    </m:ctrlPr>
                                  </m:sSupPr>
                                  <m:e>
                                    <m:r>
                                      <m:rPr>
                                        <m:sty m:val="i"/>
                                      </m:rPr>
                                      <a:rPr lang="en-US" sz="1200" dirty="0">
                                        <a:solidFill>
                                          <a:srgbClr val="000000"/>
                                        </a:solidFill>
                                        <a:effectLst/>
                                      </a:rPr>
                                      <m:t>R</m:t>
                                    </m:r>
                                  </m:e>
                                  <m:sup>
                                    <m:r>
                                      <m:rPr>
                                        <m:sty m:val="p"/>
                                      </m:rPr>
                                      <a:rPr lang="en-US" sz="1200" dirty="0">
                                        <a:solidFill>
                                          <a:srgbClr val="000000"/>
                                        </a:solidFill>
                                        <a:effectLst/>
                                      </a:rPr>
                                      <m:t>2</m:t>
                                    </m:r>
                                  </m:sup>
                                </m:sSup>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i"/>
                                      </m:rPr>
                                      <a:rPr lang="en-US" sz="1200" dirty="0">
                                        <a:solidFill>
                                          <a:srgbClr val="000000"/>
                                        </a:solidFill>
                                        <a:effectLst/>
                                      </a:rPr>
                                      <m:t>B</m:t>
                                    </m:r>
                                  </m:e>
                                  <m:sub>
                                    <m:r>
                                      <m:rPr>
                                        <m:sty m:val="p"/>
                                      </m:rPr>
                                      <a:rPr lang="en-US" sz="1200" dirty="0">
                                        <a:solidFill>
                                          <a:srgbClr val="000000"/>
                                        </a:solidFill>
                                        <a:effectLst/>
                                      </a:rPr>
                                      <m:t>T</m:t>
                                    </m:r>
                                  </m:sub>
                                </m:sSub>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T</m:t>
                                    </m:r>
                                  </m:sub>
                                </m:sSub>
                                <m:r>
                                  <m:rPr>
                                    <m:sty m:val="p"/>
                                  </m:rPr>
                                  <a:rPr lang="en-US" sz="1200" dirty="0">
                                    <a:solidFill>
                                      <a:srgbClr val="000000"/>
                                    </a:solidFill>
                                    <a:effectLst/>
                                  </a:rPr>
                                  <m:t>(</m:t>
                                </m:r>
                                <m:r>
                                  <m:rPr>
                                    <m:sty m:val="p"/>
                                  </m:rPr>
                                  <a:rPr lang="en-US" sz="1200" dirty="0">
                                    <a:solidFill>
                                      <a:srgbClr val="000000"/>
                                    </a:solidFill>
                                    <a:effectLst/>
                                  </a:rPr>
                                  <m:t>J</m:t>
                                </m:r>
                                <m:r>
                                  <m:rPr>
                                    <m:sty m:val="p"/>
                                  </m:rPr>
                                  <a:rPr lang="en-US" sz="1200" dirty="0">
                                    <a:solidFill>
                                      <a:srgbClr val="000000"/>
                                    </a:solidFill>
                                    <a:effectLst/>
                                  </a:rPr>
                                  <m:t>/</m:t>
                                </m:r>
                                <m:r>
                                  <m:rPr>
                                    <m:sty m:val="p"/>
                                  </m:rPr>
                                  <a:rPr lang="en-US" sz="1200" dirty="0">
                                    <a:solidFill>
                                      <a:srgbClr val="000000"/>
                                    </a:solidFill>
                                    <a:effectLst/>
                                  </a:rPr>
                                  <m:t>mol</m:t>
                                </m:r>
                                <m:r>
                                  <m:rPr>
                                    <m:sty m:val="p"/>
                                  </m:rPr>
                                  <a:rPr lang="en-US" sz="1200" dirty="0">
                                    <a:solidFill>
                                      <a:srgbClr val="000000"/>
                                    </a:solidFill>
                                    <a:effectLst/>
                                  </a:rPr>
                                  <m:t>)</m:t>
                                </m:r>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p>
                                  <m:sSupPr>
                                    <m:ctrlPr>
                                      <a:rPr sz="1200">
                                        <a:latin typeface="Cambria Math" panose="02040503050406030204" pitchFamily="18" charset="0"/>
                                      </a:rPr>
                                    </m:ctrlPr>
                                  </m:sSupPr>
                                  <m:e>
                                    <m:r>
                                      <m:rPr>
                                        <m:sty m:val="i"/>
                                      </m:rPr>
                                      <a:rPr lang="en-US" sz="1200" dirty="0">
                                        <a:solidFill>
                                          <a:srgbClr val="000000"/>
                                        </a:solidFill>
                                        <a:effectLst/>
                                      </a:rPr>
                                      <m:t>R</m:t>
                                    </m:r>
                                  </m:e>
                                  <m:sup>
                                    <m:r>
                                      <m:rPr>
                                        <m:sty m:val="p"/>
                                      </m:rPr>
                                      <a:rPr lang="en-US" sz="1200" dirty="0">
                                        <a:solidFill>
                                          <a:srgbClr val="000000"/>
                                        </a:solidFill>
                                        <a:effectLst/>
                                      </a:rPr>
                                      <m:t>2</m:t>
                                    </m:r>
                                  </m:sup>
                                </m:sSup>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20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48.1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0.0216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0.995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2.120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4.493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0.953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11.97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0.241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0.988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27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58.4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0.0249</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0.999</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1.870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3.954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0.947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14.80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0.185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0.981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35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59.5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0.0362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0.991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1.954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5.211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0.955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14.36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0.289</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0.964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Choice>
        <mc:Fallback/>
      </mc:AlternateContent>
      <mc:AlternateContent xmlns:mc="http://schemas.openxmlformats.org/markup-compatibility/2006">
        <mc:Choice xmlns:a14="http://schemas.microsoft.com/office/drawing/2010/main" Requires="a14">
          <p:sp>
            <p:nvSpPr>
              <p:cNvPr id="2" name="Text"/>
              <p:cNvSpPr/>
              <p:nvPr/>
            </p:nvSpPr>
            <p:spPr>
              <a:xfrm>
                <a:off x="1524000" y="2981325"/>
                <a:ext cx="9144000" cy="1143000"/>
              </a:xfrm>
              <a:prstGeom prst="rect">
                <a:avLst/>
              </a:prstGeom>
            </p:spPr>
            <p:txBody>
              <a:bodyPr anchor="t" lIns="0" tIns="0" rIns="0" bIns="0">
                <a:noAutofit/>
              </a:bodyPr>
              <a:lstStyle/>
              <a:p>
                <a:pPr>
                  <a:lnSpc>
                    <a:spcPct val="120000"/>
                  </a:lnSpc>
                </a:pPr>
                <a:r>
                  <a:rPr lang="en-US" sz="1200" dirty="0">
                    <a:effectLst/>
                  </a:rPr>
                  <a:t>8(b)-(d), and the relevant fitting parameters are listed in Table 2. The fitting curve and the correlation coefficient, </a:t>
                </a:r>
                <a:r>
                  <a:rPr lang="en-US" sz="1200" dirty="0">
                    <a:effectLst/>
                  </a:rPr>
                  <a:t>​</a:t>
                </a:r>
                <a14:m>
                  <m:oMath>
                    <m:sSup>
                      <m:sSupPr>
                        <m:ctrlPr>
                          <a:rPr sz="1200">
                            <a:latin typeface="Cambria Math" panose="02040503050406030204" pitchFamily="18" charset="0"/>
                          </a:rPr>
                        </m:ctrlPr>
                      </m:sSupPr>
                      <m:e>
                        <m:r>
                          <m:rPr>
                            <m:sty m:val="i"/>
                          </m:rPr>
                          <a:rPr lang="en-US" sz="1200" dirty="0">
                            <a:solidFill>
                              <a:srgbClr val="000000"/>
                            </a:solidFill>
                            <a:effectLst/>
                          </a:rPr>
                          <m:t>R</m:t>
                        </m:r>
                      </m:e>
                      <m:sup>
                        <m:r>
                          <m:rPr>
                            <m:sty m:val="p"/>
                          </m:rPr>
                          <a:rPr lang="en-US" sz="1200" dirty="0">
                            <a:solidFill>
                              <a:srgbClr val="000000"/>
                            </a:solidFill>
                            <a:effectLst/>
                          </a:rPr>
                          <m:t>2</m:t>
                        </m:r>
                      </m:sup>
                    </m:sSup>
                  </m:oMath>
                </a14:m>
                <a:r>
                  <a:rPr lang="en-US" sz="1200" dirty="0">
                    <a:effectLst/>
                  </a:rPr>
                  <a:t>, indicate that the Langmuir adsorption model better explains the Cr(VI) adsorption on IPGA, indicating that the process involves the adsorption of Cr(VI) as a monolayer [36]. In addition, the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L</m:t>
                        </m:r>
                      </m:sub>
                    </m:sSub>
                  </m:oMath>
                </a14:m>
                <a:r>
                  <a:rPr lang="en-US" sz="1200" dirty="0">
                    <a:effectLst/>
                  </a:rPr>
                  <a:t> values increase with the increase in temperature, indicating that adsorption is an endothermic process, and temperature is conducive to the adsorption.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L</m:t>
                        </m:r>
                      </m:sub>
                    </m:sSub>
                  </m:oMath>
                </a14:m>
                <a:r>
                  <a:rPr lang="en-US" sz="1200" dirty="0">
                    <a:effectLst/>
                  </a:rPr>
                  <a:t> values of the Langmuir adsorption model are in the range of 0-1, prove of a favorable adsorption process [37].</a:t>
                </a:r>
              </a:p>
            </p:txBody>
          </p:sp>
        </mc:Choice>
        <mc:Fallback/>
      </mc:AlternateContent>
      <p:sp>
        <p:nvSpPr>
          <p:cNvPr id="2" name="Text"/>
          <p:cNvSpPr/>
          <p:nvPr/>
        </p:nvSpPr>
        <p:spPr>
          <a:xfrm>
            <a:off x="1524000" y="4276725"/>
            <a:ext cx="9144000" cy="342900"/>
          </a:xfrm>
          <a:prstGeom prst="rect">
            <a:avLst/>
          </a:prstGeom>
        </p:spPr>
        <p:txBody>
          <a:bodyPr anchor="t" lIns="0" tIns="0" rIns="0" bIns="0">
            <a:noAutofit/>
          </a:bodyPr>
          <a:lstStyle/>
          <a:p>
            <a:pPr>
              <a:lnSpc>
                <a:spcPct val="120000"/>
              </a:lnSpc>
            </a:pPr>
            <a:r>
              <a:rPr lang="en-US" sz="1800" dirty="0" b="1">
                <a:effectLst/>
              </a:rPr>
              <a:t>Adsorption Thermodynamics</a:t>
            </a:r>
          </a:p>
        </p:txBody>
      </p:sp>
      <mc:AlternateContent xmlns:mc="http://schemas.openxmlformats.org/markup-compatibility/2006">
        <mc:Choice xmlns:a14="http://schemas.microsoft.com/office/drawing/2010/main" Requires="a14">
          <p:sp>
            <p:nvSpPr>
              <p:cNvPr id="2" name="Text"/>
              <p:cNvSpPr/>
              <p:nvPr/>
            </p:nvSpPr>
            <p:spPr>
              <a:xfrm>
                <a:off x="1524000" y="4809364"/>
                <a:ext cx="9144000" cy="1371600"/>
              </a:xfrm>
              <a:prstGeom prst="rect">
                <a:avLst/>
              </a:prstGeom>
            </p:spPr>
            <p:txBody>
              <a:bodyPr anchor="t" lIns="0" tIns="0" rIns="0" bIns="0">
                <a:noAutofit/>
              </a:bodyPr>
              <a:lstStyle/>
              <a:p>
                <a:pPr>
                  <a:lnSpc>
                    <a:spcPct val="120000"/>
                  </a:lnSpc>
                </a:pPr>
                <a:r>
                  <a:rPr lang="en-US" sz="1200" dirty="0">
                    <a:effectLst/>
                  </a:rPr>
                  <a:t>The thermodynamic parameters of the adsorption process obtained by fitting are listed in Table 3. As can be seen, </a:t>
                </a:r>
                <a:r>
                  <a:rPr lang="en-US" sz="1200" dirty="0">
                    <a:effectLst/>
                  </a:rPr>
                  <a:t>​</a:t>
                </a:r>
                <a14:m>
                  <m:oMath>
                    <m:r>
                      <m:rPr>
                        <m:sty m:val="p"/>
                      </m:rPr>
                      <a:rPr lang="en-US" sz="1200" dirty="0">
                        <a:solidFill>
                          <a:srgbClr val="000000"/>
                        </a:solidFill>
                        <a:effectLst/>
                      </a:rPr>
                      <m:t>Δ</m:t>
                    </m:r>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p"/>
                          </m:rPr>
                          <a:rPr lang="en-US" sz="1200" dirty="0">
                            <a:solidFill>
                              <a:srgbClr val="000000"/>
                            </a:solidFill>
                            <a:effectLst/>
                          </a:rPr>
                          <m:t>0</m:t>
                        </m:r>
                      </m:sub>
                    </m:sSub>
                  </m:oMath>
                </a14:m>
                <a:r>
                  <a:rPr lang="en-US" sz="1200" dirty="0">
                    <a:effectLst/>
                  </a:rPr>
                  <a:t> of Cr(VI) adsorption on IPGA is negative irrespective of the temperature, indicating that the adsorption process is spontaneous. In addition, the absolute value of </a:t>
                </a:r>
                <a:r>
                  <a:rPr lang="en-US" sz="1200" dirty="0">
                    <a:effectLst/>
                  </a:rPr>
                  <a:t>​</a:t>
                </a:r>
                <a14:m>
                  <m:oMath>
                    <m:r>
                      <m:rPr>
                        <m:sty m:val="p"/>
                      </m:rPr>
                      <a:rPr lang="en-US" sz="1200" dirty="0">
                        <a:solidFill>
                          <a:srgbClr val="000000"/>
                        </a:solidFill>
                        <a:effectLst/>
                      </a:rPr>
                      <m:t>Δ</m:t>
                    </m:r>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p"/>
                          </m:rPr>
                          <a:rPr lang="en-US" sz="1200" dirty="0">
                            <a:solidFill>
                              <a:srgbClr val="000000"/>
                            </a:solidFill>
                            <a:effectLst/>
                          </a:rPr>
                          <m:t>0</m:t>
                        </m:r>
                      </m:sub>
                    </m:sSub>
                  </m:oMath>
                </a14:m>
                <a:r>
                  <a:rPr lang="en-US" sz="1200" dirty="0">
                    <a:effectLst/>
                  </a:rPr>
                  <a:t> increases with the increase in temperature, confirming the positive role of the temperature in the Cr(VI) adsorption. The positive value of </a:t>
                </a:r>
                <a:r>
                  <a:rPr lang="en-US" sz="1200" dirty="0">
                    <a:effectLst/>
                  </a:rPr>
                  <a:t>​</a:t>
                </a:r>
                <a14:m>
                  <m:oMath>
                    <m:r>
                      <m:rPr>
                        <m:sty m:val="p"/>
                      </m:rPr>
                      <a:rPr lang="en-US" sz="1200" dirty="0">
                        <a:solidFill>
                          <a:srgbClr val="000000"/>
                        </a:solidFill>
                        <a:effectLst/>
                      </a:rPr>
                      <m:t>Δ</m:t>
                    </m:r>
                    <m:sSub>
                      <m:sSubPr>
                        <m:ctrlPr>
                          <a:rPr sz="1200">
                            <a:latin typeface="Cambria Math" panose="02040503050406030204" pitchFamily="18" charset="0"/>
                          </a:rPr>
                        </m:ctrlPr>
                      </m:sSubPr>
                      <m:e>
                        <m:r>
                          <m:rPr>
                            <m:sty m:val="i"/>
                          </m:rPr>
                          <a:rPr lang="en-US" sz="1200" dirty="0">
                            <a:solidFill>
                              <a:srgbClr val="000000"/>
                            </a:solidFill>
                            <a:effectLst/>
                          </a:rPr>
                          <m:t>H</m:t>
                        </m:r>
                      </m:e>
                      <m:sub>
                        <m:r>
                          <m:rPr>
                            <m:sty m:val="p"/>
                          </m:rPr>
                          <a:rPr lang="en-US" sz="1200" dirty="0">
                            <a:solidFill>
                              <a:srgbClr val="000000"/>
                            </a:solidFill>
                            <a:effectLst/>
                          </a:rPr>
                          <m:t>0</m:t>
                        </m:r>
                      </m:sub>
                    </m:sSub>
                  </m:oMath>
                </a14:m>
                <a:r>
                  <a:rPr lang="en-US" sz="1200" dirty="0">
                    <a:effectLst/>
                  </a:rPr>
                  <a:t> indicates that the adsorption process is endothermic and a high temperature (e.g., 27 °C) is beneficial to the adsorption of Cr(VI). Since hydrated Cr(VI) ions may release water molecules during the adsorption on the surface of fibers, the degree of disorder increases, resulting in an positive value of </a:t>
                </a:r>
                <a:r>
                  <a:rPr lang="en-US" sz="1200" dirty="0">
                    <a:effectLst/>
                  </a:rPr>
                  <a:t>​</a:t>
                </a:r>
                <a14:m>
                  <m:oMath>
                    <m:r>
                      <m:rPr>
                        <m:sty m:val="p"/>
                      </m:rPr>
                      <a:rPr lang="en-US" sz="1200" dirty="0">
                        <a:solidFill>
                          <a:srgbClr val="000000"/>
                        </a:solidFill>
                        <a:effectLst/>
                      </a:rPr>
                      <m:t>Δ</m:t>
                    </m:r>
                    <m:sSub>
                      <m:sSubPr>
                        <m:ctrlPr>
                          <a:rPr sz="1200">
                            <a:latin typeface="Cambria Math" panose="02040503050406030204" pitchFamily="18" charset="0"/>
                          </a:rPr>
                        </m:ctrlPr>
                      </m:sSubPr>
                      <m:e>
                        <m:r>
                          <m:rPr>
                            <m:sty m:val="i"/>
                          </m:rPr>
                          <a:rPr lang="en-US" sz="1200" dirty="0">
                            <a:solidFill>
                              <a:srgbClr val="000000"/>
                            </a:solidFill>
                            <a:effectLst/>
                          </a:rPr>
                          <m:t>S</m:t>
                        </m:r>
                      </m:e>
                      <m:sub>
                        <m:r>
                          <m:rPr>
                            <m:sty m:val="p"/>
                          </m:rPr>
                          <a:rPr lang="en-US" sz="1200" dirty="0">
                            <a:solidFill>
                              <a:srgbClr val="000000"/>
                            </a:solidFill>
                            <a:effectLst/>
                          </a:rPr>
                          <m:t>0</m:t>
                        </m:r>
                      </m:sub>
                    </m:sSub>
                  </m:oMath>
                </a14:m>
                <a:r>
                  <a:rPr lang="en-US" sz="1200" dirty="0">
                    <a:effectLst/>
                  </a:rPr>
                  <a:t> [38].</a:t>
                </a:r>
              </a:p>
            </p:txBody>
          </p:sp>
        </mc:Choice>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342900"/>
          </a:xfrm>
          <a:prstGeom prst="rect">
            <a:avLst/>
          </a:prstGeom>
        </p:spPr>
        <p:txBody>
          <a:bodyPr anchor="t" lIns="0" tIns="0" rIns="0" bIns="0">
            <a:noAutofit/>
          </a:bodyPr>
          <a:lstStyle/>
          <a:p>
            <a:pPr>
              <a:lnSpc>
                <a:spcPct val="120000"/>
              </a:lnSpc>
            </a:pPr>
            <a:r>
              <a:rPr lang="en-US" sz="1800" dirty="0" b="1">
                <a:effectLst/>
              </a:rPr>
              <a:t>Adsorption Selectivity</a:t>
            </a:r>
          </a:p>
        </p:txBody>
      </p:sp>
      <p:sp>
        <p:nvSpPr>
          <p:cNvPr id="2" name="Text"/>
          <p:cNvSpPr/>
          <p:nvPr/>
        </p:nvSpPr>
        <p:spPr>
          <a:xfrm>
            <a:off x="1524000" y="989839"/>
            <a:ext cx="9144000" cy="1143000"/>
          </a:xfrm>
          <a:prstGeom prst="rect">
            <a:avLst/>
          </a:prstGeom>
        </p:spPr>
        <p:txBody>
          <a:bodyPr anchor="t" lIns="0" tIns="0" rIns="0" bIns="0">
            <a:noAutofit/>
          </a:bodyPr>
          <a:lstStyle/>
          <a:p>
            <a:pPr>
              <a:lnSpc>
                <a:spcPct val="120000"/>
              </a:lnSpc>
            </a:pPr>
            <a:r>
              <a:rPr lang="en-US" sz="1200" dirty="0">
                <a:effectLst/>
              </a:rPr>
              <a:t>Figure 9 depicts the isotherms of Cr(VI) adsorption on IPGA and NIPGA fitted with the Scatchard model. It can be seen that the Scatchard plot analysis of IPGA led to two straight lines with different slopes and intercepts. The left end of the fitting curve is associated with the high affinity and selectivity of the adsorption sites while the right end shows the low affinity and selectivity of the sites [39]. The maximum apparent adsorbed amount and the equilibrium dissociation constant can be calculated based on the slope and intercepts of these curves. Therefore, according to the obtained lines, the surface of IPGA displays both specific</a:t>
            </a:r>
          </a:p>
        </p:txBody>
      </p:sp>
      <p:sp>
        <p:nvSpPr>
          <p:cNvPr id="2" name="Text"/>
          <p:cNvSpPr/>
          <p:nvPr/>
        </p:nvSpPr>
        <p:spPr>
          <a:xfrm>
            <a:off x="1524000" y="2285239"/>
            <a:ext cx="9144000" cy="228600"/>
          </a:xfrm>
          <a:prstGeom prst="rect">
            <a:avLst/>
          </a:prstGeom>
        </p:spPr>
        <p:txBody>
          <a:bodyPr anchor="t" lIns="0" tIns="0" rIns="0" bIns="0">
            <a:noAutofit/>
          </a:bodyPr>
          <a:lstStyle/>
          <a:p>
            <a:pPr>
              <a:lnSpc>
                <a:spcPct val="120000"/>
              </a:lnSpc>
            </a:pPr>
            <a:r>
              <a:rPr lang="en-US" sz="1200" dirty="0">
                <a:effectLst/>
              </a:rPr>
              <a:t>Table 3. Thermodynamic parameters for Cr(VI) adsorption on IPGA</a:t>
            </a:r>
          </a:p>
        </p:txBody>
      </p:sp>
      <mc:AlternateContent xmlns:mc="http://schemas.openxmlformats.org/markup-compatibility/2006">
        <mc:Choice xmlns:a14="http://schemas.microsoft.com/office/drawing/2010/main" Requires="a14">
          <p:graphicFrame>
            <p:nvGraphicFramePr>
              <p:cNvPr id="3" name="Table"/>
              <p:cNvGraphicFramePr>
                <a:graphicFrameLocks noGrp="1"/>
              </p:cNvGraphicFramePr>
              <p:nvPr/>
            </p:nvGraphicFramePr>
            <p:xfrm>
              <a:off x="3619500" y="2513839"/>
              <a:ext cx="4962525" cy="1571625"/>
            </p:xfrm>
            <a:graphic>
              <a:graphicData uri="http://schemas.openxmlformats.org/drawingml/2006/table">
                <a:tbl>
                  <a:tblPr firstRow="1" firstCol="1" bandRow="1">
                    <a:tableStyleId>{5940675A-B579-460E-94D1-54222C63F5DA}</a:tableStyleId>
                  </a:tblPr>
                  <a:tblGrid>
                    <a:gridCol w="628650"/>
                    <a:gridCol w="647700"/>
                    <a:gridCol w="1143000"/>
                    <a:gridCol w="1152525"/>
                    <a:gridCol w="1381125"/>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a:t>
                          </a:r>
                          <a14:m>
                            <m:oMathPara>
                              <m:oMathParaPr>
                                <m:jc m:val="left"/>
                              </m:oMathParaPr>
                              <m:oMath>
                                <m:r>
                                  <m:rPr>
                                    <m:sty m:val="i"/>
                                  </m:rPr>
                                  <a:rPr lang="en-US" sz="1200" dirty="0">
                                    <a:solidFill>
                                      <a:srgbClr val="000000"/>
                                    </a:solidFill>
                                    <a:effectLst/>
                                  </a:rPr>
                                  <m:t>T</m:t>
                                </m:r>
                                <m:d>
                                  <m:dPr>
                                    <m:begChr m:val="("/>
                                    <m:endChr m:val=")"/>
                                    <m:ctrlPr>
                                      <a:rPr sz="1200">
                                        <a:latin typeface="Cambria Math" panose="02040503050406030204" pitchFamily="18" charset="0"/>
                                      </a:rPr>
                                    </m:ctrlPr>
                                  </m:dPr>
                                  <m:e>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r>
                                      <m:rPr>
                                        <m:sty m:val="p"/>
                                      </m:rPr>
                                      <a:rPr lang="en-US" sz="1200" dirty="0">
                                        <a:solidFill>
                                          <a:srgbClr val="000000"/>
                                        </a:solidFill>
                                        <a:effectLst/>
                                      </a:rPr>
                                      <m:t>C</m:t>
                                    </m:r>
                                  </m:e>
                                </m:d>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r>
                                  <m:rPr>
                                    <m:sty m:val="p"/>
                                  </m:rPr>
                                  <a:rPr lang="en-US" sz="1200" dirty="0">
                                    <a:solidFill>
                                      <a:srgbClr val="000000"/>
                                    </a:solidFill>
                                    <a:effectLst/>
                                  </a:rPr>
                                  <m:t>ln</m:t>
                                </m:r>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0</m:t>
                                    </m:r>
                                  </m:sub>
                                </m:sSub>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r>
                                  <m:rPr>
                                    <m:sty m:val="p"/>
                                  </m:rPr>
                                  <a:rPr lang="en-US" sz="1200" dirty="0">
                                    <a:solidFill>
                                      <a:srgbClr val="000000"/>
                                    </a:solidFill>
                                    <a:effectLst/>
                                  </a:rPr>
                                  <m:t>Δ</m:t>
                                </m:r>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p"/>
                                      </m:rPr>
                                      <a:rPr lang="en-US" sz="1200" dirty="0">
                                        <a:solidFill>
                                          <a:srgbClr val="000000"/>
                                        </a:solidFill>
                                        <a:effectLst/>
                                      </a:rPr>
                                      <m:t>0</m:t>
                                    </m:r>
                                  </m:sub>
                                </m:sSub>
                              </m:oMath>
                            </m:oMathPara>
                          </a14:m>
                          <a:r>
                            <a:rPr lang="en-US" sz="1200" dirty="0">
                              <a:effectLst/>
                            </a:rPr>
                            <a:t> (kJ/mol)</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r>
                                  <m:rPr>
                                    <m:sty m:val="p"/>
                                  </m:rPr>
                                  <a:rPr lang="en-US" sz="1200" dirty="0">
                                    <a:solidFill>
                                      <a:srgbClr val="000000"/>
                                    </a:solidFill>
                                    <a:effectLst/>
                                  </a:rPr>
                                  <m:t>Δ</m:t>
                                </m:r>
                                <m:sSub>
                                  <m:sSubPr>
                                    <m:ctrlPr>
                                      <a:rPr sz="1200">
                                        <a:latin typeface="Cambria Math" panose="02040503050406030204" pitchFamily="18" charset="0"/>
                                      </a:rPr>
                                    </m:ctrlPr>
                                  </m:sSubPr>
                                  <m:e>
                                    <m:r>
                                      <m:rPr>
                                        <m:sty m:val="i"/>
                                      </m:rPr>
                                      <a:rPr lang="en-US" sz="1200" dirty="0">
                                        <a:solidFill>
                                          <a:srgbClr val="000000"/>
                                        </a:solidFill>
                                        <a:effectLst/>
                                      </a:rPr>
                                      <m:t>H</m:t>
                                    </m:r>
                                  </m:e>
                                  <m:sub>
                                    <m:r>
                                      <m:rPr>
                                        <m:sty m:val="p"/>
                                      </m:rPr>
                                      <a:rPr lang="en-US" sz="1200" dirty="0">
                                        <a:solidFill>
                                          <a:srgbClr val="000000"/>
                                        </a:solidFill>
                                        <a:effectLst/>
                                      </a:rPr>
                                      <m:t>0</m:t>
                                    </m:r>
                                  </m:sub>
                                </m:sSub>
                              </m:oMath>
                            </m:oMathPara>
                          </a14:m>
                          <a:r>
                            <a:rPr lang="en-US" sz="1200" dirty="0">
                              <a:effectLst/>
                            </a:rPr>
                            <a:t> (kJ/mol)</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r>
                                  <m:rPr>
                                    <m:sty m:val="p"/>
                                  </m:rPr>
                                  <a:rPr lang="en-US" sz="1200" dirty="0">
                                    <a:solidFill>
                                      <a:srgbClr val="000000"/>
                                    </a:solidFill>
                                    <a:effectLst/>
                                  </a:rPr>
                                  <m:t>Δ</m:t>
                                </m:r>
                                <m:sSub>
                                  <m:sSubPr>
                                    <m:ctrlPr>
                                      <a:rPr sz="1200">
                                        <a:latin typeface="Cambria Math" panose="02040503050406030204" pitchFamily="18" charset="0"/>
                                      </a:rPr>
                                    </m:ctrlPr>
                                  </m:sSubPr>
                                  <m:e>
                                    <m:r>
                                      <m:rPr>
                                        <m:sty m:val="i"/>
                                      </m:rPr>
                                      <a:rPr lang="en-US" sz="1200" dirty="0">
                                        <a:solidFill>
                                          <a:srgbClr val="000000"/>
                                        </a:solidFill>
                                        <a:effectLst/>
                                      </a:rPr>
                                      <m:t>S</m:t>
                                    </m:r>
                                  </m:e>
                                  <m:sub>
                                    <m:r>
                                      <m:rPr>
                                        <m:sty m:val="p"/>
                                      </m:rPr>
                                      <a:rPr lang="en-US" sz="1200" dirty="0">
                                        <a:solidFill>
                                          <a:srgbClr val="000000"/>
                                        </a:solidFill>
                                        <a:effectLst/>
                                      </a:rPr>
                                      <m:t>0</m:t>
                                    </m:r>
                                  </m:sub>
                                </m:sSub>
                                <m:r>
                                  <m:rPr>
                                    <m:sty m:val="p"/>
                                  </m:rPr>
                                  <a:rPr lang="en-US" sz="1200" dirty="0">
                                    <a:solidFill>
                                      <a:srgbClr val="000000"/>
                                    </a:solidFill>
                                    <a:effectLst/>
                                  </a:rPr>
                                  <m:t>(</m:t>
                                </m:r>
                                <m:r>
                                  <m:rPr>
                                    <m:sty m:val="p"/>
                                  </m:rPr>
                                  <a:rPr lang="en-US" sz="1200" dirty="0">
                                    <a:solidFill>
                                      <a:srgbClr val="000000"/>
                                    </a:solidFill>
                                    <a:effectLst/>
                                  </a:rPr>
                                  <m:t>kJ</m:t>
                                </m:r>
                                <m:r>
                                  <m:rPr>
                                    <m:sty m:val="p"/>
                                  </m:rPr>
                                  <a:rPr lang="en-US" sz="1200" dirty="0">
                                    <a:solidFill>
                                      <a:srgbClr val="000000"/>
                                    </a:solidFill>
                                    <a:effectLst/>
                                  </a:rPr>
                                  <m:t>/</m:t>
                                </m:r>
                                <m:r>
                                  <m:rPr>
                                    <m:sty m:val="p"/>
                                  </m:rPr>
                                  <a:rPr lang="en-US" sz="1200" dirty="0">
                                    <a:solidFill>
                                      <a:srgbClr val="000000"/>
                                    </a:solidFill>
                                    <a:effectLst/>
                                  </a:rPr>
                                  <m:t>mol</m:t>
                                </m:r>
                                <m:r>
                                  <m:rPr>
                                    <m:sty m:val="p"/>
                                  </m:rPr>
                                  <a:rPr lang="en-US" sz="1200" dirty="0">
                                    <a:solidFill>
                                      <a:srgbClr val="000000"/>
                                    </a:solidFill>
                                    <a:effectLst/>
                                  </a:rPr>
                                  <m:t>⋅</m:t>
                                </m:r>
                                <m:r>
                                  <m:rPr>
                                    <m:sty m:val="p"/>
                                  </m:rPr>
                                  <a:rPr lang="en-US" sz="1200" dirty="0">
                                    <a:solidFill>
                                      <a:srgbClr val="000000"/>
                                    </a:solidFill>
                                    <a:effectLst/>
                                  </a:rPr>
                                  <m:t>K</m:t>
                                </m:r>
                                <m:r>
                                  <m:rPr>
                                    <m:sty m:val="p"/>
                                  </m:rPr>
                                  <a:rPr lang="en-US" sz="1200" dirty="0">
                                    <a:solidFill>
                                      <a:srgbClr val="000000"/>
                                    </a:solidFill>
                                    <a:effectLst/>
                                  </a:rPr>
                                  <m:t>)</m:t>
                                </m:r>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20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0.6687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-1.63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rowSpan="3">
                      <a:txBody>
                        <a:bodyPr anchor="t" lIns="76200" tIns="15240" rIns="0" bIns="0">
                          <a:noAutofit/>
                        </a:bodyPr>
                        <a:lstStyle/>
                        <a:p>
                          <a:pPr algn="l"/>
                          <a:r>
                            <a:rPr lang="en-US" sz="1200" dirty="0">
                              <a:effectLst/>
                            </a:rPr>
                            <a:t>18.57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rowSpan="3">
                      <a:txBody>
                        <a:bodyPr anchor="t" lIns="76200" tIns="15240" rIns="0" bIns="0">
                          <a:noAutofit/>
                        </a:bodyPr>
                        <a:lstStyle/>
                        <a:p>
                          <a:pPr algn="l"/>
                          <a:r>
                            <a:rPr lang="en-US" sz="1200" dirty="0">
                              <a:effectLst/>
                            </a:rPr>
                            <a:t>0.070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27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0.9204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-2.30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35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1.0260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-2.63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Choice>
        <mc:Fallback/>
      </mc:AlternateContent>
      <p:sp>
        <p:nvSpPr>
          <p:cNvPr id="2" name="Text"/>
          <p:cNvSpPr/>
          <p:nvPr/>
        </p:nvSpPr>
        <p:spPr>
          <a:xfrm>
            <a:off x="1524000" y="4085464"/>
            <a:ext cx="9144000" cy="457200"/>
          </a:xfrm>
          <a:prstGeom prst="rect">
            <a:avLst/>
          </a:prstGeom>
        </p:spPr>
        <p:txBody>
          <a:bodyPr anchor="t" lIns="0" tIns="0" rIns="0" bIns="0">
            <a:noAutofit/>
          </a:bodyPr>
          <a:lstStyle/>
          <a:p>
            <a:pPr>
              <a:lnSpc>
                <a:spcPct val="120000"/>
              </a:lnSpc>
            </a:pPr>
            <a:r>
              <a:rPr lang="en-US" sz="1200" dirty="0">
                <a:effectLst/>
              </a:rPr>
              <a:t>and non-specific adsorption sites. The data of Cr(VI) adsorption on non-imprinted fibers (NIPGA) is fitted by a straight line, indicating the presence of the non-specific sites exclusively.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514600"/>
              </a:xfrm>
              <a:prstGeom prst="rect">
                <a:avLst/>
              </a:prstGeom>
            </p:spPr>
            <p:txBody>
              <a:bodyPr anchor="t" lIns="0" tIns="0" rIns="0" bIns="0">
                <a:noAutofit/>
              </a:bodyPr>
              <a:lstStyle/>
              <a:p>
                <a:pPr>
                  <a:lnSpc>
                    <a:spcPct val="120000"/>
                  </a:lnSpc>
                </a:pPr>
                <a:r>
                  <a:rPr lang="en-US" sz="1200" dirty="0">
                    <a:effectLst/>
                  </a:rPr>
                  <a:t>Figure 10 shows the selectivity coefficient, </a:t>
                </a:r>
                <a:r>
                  <a:rPr lang="en-US" sz="1200" dirty="0">
                    <a:effectLst/>
                  </a:rPr>
                  <a:t>​</a:t>
                </a:r>
                <a14:m>
                  <m:oMath>
                    <m:r>
                      <m:rPr>
                        <m:sty m:val="i"/>
                      </m:rPr>
                      <a:rPr lang="en-US" sz="1200" dirty="0">
                        <a:solidFill>
                          <a:srgbClr val="000000"/>
                        </a:solidFill>
                        <a:effectLst/>
                      </a:rPr>
                      <m:t>K</m:t>
                    </m:r>
                  </m:oMath>
                </a14:m>
                <a:r>
                  <a:rPr lang="en-US" sz="1200" dirty="0">
                    <a:effectLst/>
                  </a:rPr>
                  <a:t> and relative selectivity coefficient, </a:t>
                </a:r>
                <a:r>
                  <a:rPr lang="en-US" sz="1200" dirty="0">
                    <a:effectLst/>
                  </a:rPr>
                  <a:t>​</a:t>
                </a:r>
                <a14:m>
                  <m:oMath>
                    <m:sSup>
                      <m:sSupPr>
                        <m:ctrlPr>
                          <a:rPr sz="1200">
                            <a:latin typeface="Cambria Math" panose="02040503050406030204" pitchFamily="18" charset="0"/>
                          </a:rPr>
                        </m:ctrlPr>
                      </m:sSupPr>
                      <m:e>
                        <m:r>
                          <m:rPr>
                            <m:sty m:val="i"/>
                          </m:rPr>
                          <a:rPr lang="en-US" sz="1200" dirty="0">
                            <a:solidFill>
                              <a:srgbClr val="000000"/>
                            </a:solidFill>
                            <a:effectLst/>
                          </a:rPr>
                          <m:t>K</m:t>
                        </m:r>
                      </m:e>
                      <m:sup>
                        <m:r>
                          <m:rPr>
                            <m:sty m:val="i"/>
                          </m:rPr>
                          <a:rPr lang="en-US" sz="1200" dirty="0">
                            <a:solidFill>
                              <a:srgbClr val="000000"/>
                            </a:solidFill>
                            <a:effectLst/>
                          </a:rPr>
                          <m:t>′</m:t>
                        </m:r>
                      </m:sup>
                    </m:sSup>
                  </m:oMath>
                </a14:m>
                <a:r>
                  <a:rPr lang="en-US" sz="1200" dirty="0">
                    <a:effectLst/>
                  </a:rPr>
                  <a:t>, of IPGA and NIPGA for Cr(VI) at different concentrations of the competitive ions (Cu(II),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SO</m:t>
                        </m:r>
                      </m:e>
                      <m:sub>
                        <m:r>
                          <m:rPr>
                            <m:sty m:val="p"/>
                          </m:rPr>
                          <a:rPr lang="en-US" sz="1200" dirty="0">
                            <a:solidFill>
                              <a:srgbClr val="000000"/>
                            </a:solidFill>
                            <a:effectLst/>
                          </a:rPr>
                          <m:t>4</m:t>
                        </m:r>
                      </m:sub>
                    </m:sSub>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and Mo(VI)). The experimental results show that </a:t>
                </a:r>
                <a:r>
                  <a:rPr lang="en-US" sz="1200" dirty="0">
                    <a:effectLst/>
                  </a:rPr>
                  <a:t>​</a:t>
                </a:r>
                <a14:m>
                  <m:oMath>
                    <m:r>
                      <m:rPr>
                        <m:sty m:val="i"/>
                      </m:rPr>
                      <a:rPr lang="en-US" sz="1200" dirty="0">
                        <a:solidFill>
                          <a:srgbClr val="000000"/>
                        </a:solidFill>
                        <a:effectLst/>
                      </a:rPr>
                      <m:t>K</m:t>
                    </m:r>
                  </m:oMath>
                </a14:m>
                <a:r>
                  <a:rPr lang="en-US" sz="1200" dirty="0">
                    <a:effectLst/>
                  </a:rPr>
                  <a:t> of IPGA and NIPGA decrease with increasing competing ion concentration, indicating the influence of the competing ions on the adsorption of Cr(VI). However, </a:t>
                </a:r>
                <a:r>
                  <a:rPr lang="en-US" sz="1200" dirty="0">
                    <a:effectLst/>
                  </a:rPr>
                  <a:t>​</a:t>
                </a:r>
                <a14:m>
                  <m:oMath>
                    <m:r>
                      <m:rPr>
                        <m:sty m:val="i"/>
                      </m:rPr>
                      <a:rPr lang="en-US" sz="1200" dirty="0">
                        <a:solidFill>
                          <a:srgbClr val="000000"/>
                        </a:solidFill>
                        <a:effectLst/>
                      </a:rPr>
                      <m:t>K</m:t>
                    </m:r>
                  </m:oMath>
                </a14:m>
                <a:r>
                  <a:rPr lang="en-US" sz="1200" dirty="0">
                    <a:effectLst/>
                  </a:rPr>
                  <a:t> value of IPGA is higher than that of NIPGA, demonstrating that the specific adsorption sites generated by the imprinting process can effectively recognize Cr(VI) ion, which is in contrast to NIPGA. In addition, </a:t>
                </a:r>
                <a:r>
                  <a:rPr lang="en-US" sz="1200" dirty="0">
                    <a:effectLst/>
                  </a:rPr>
                  <a:t>​</a:t>
                </a:r>
                <a14:m>
                  <m:oMath>
                    <m:r>
                      <m:rPr>
                        <m:sty m:val="i"/>
                      </m:rPr>
                      <a:rPr lang="en-US" sz="1200" dirty="0">
                        <a:solidFill>
                          <a:srgbClr val="000000"/>
                        </a:solidFill>
                        <a:effectLst/>
                      </a:rPr>
                      <m:t>K</m:t>
                    </m:r>
                  </m:oMath>
                </a14:m>
                <a:r>
                  <a:rPr lang="en-US" sz="1200" dirty="0">
                    <a:effectLst/>
                  </a:rPr>
                  <a:t> value of IPGA and NIPGA in the presence of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SO</m:t>
                        </m:r>
                      </m:e>
                      <m:sub>
                        <m:r>
                          <m:rPr>
                            <m:sty m:val="p"/>
                          </m:rPr>
                          <a:rPr lang="en-US" sz="1200" dirty="0">
                            <a:solidFill>
                              <a:srgbClr val="000000"/>
                            </a:solidFill>
                            <a:effectLst/>
                          </a:rPr>
                          <m:t>4</m:t>
                        </m:r>
                      </m:sub>
                    </m:sSub>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and Mo(VI) is significantly lower than that of Cu(II), indicating that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SO</m:t>
                        </m:r>
                      </m:e>
                      <m:sub>
                        <m:r>
                          <m:rPr>
                            <m:sty m:val="p"/>
                          </m:rPr>
                          <a:rPr lang="en-US" sz="1200" dirty="0">
                            <a:solidFill>
                              <a:srgbClr val="000000"/>
                            </a:solidFill>
                            <a:effectLst/>
                          </a:rPr>
                          <m:t>4</m:t>
                        </m:r>
                      </m:sub>
                    </m:sSub>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and Mo(VI) are more competitive for Cr(VI) adsorption. This is because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SO</m:t>
                        </m:r>
                      </m:e>
                      <m:sub>
                        <m:r>
                          <m:rPr>
                            <m:sty m:val="p"/>
                          </m:rPr>
                          <a:rPr lang="en-US" sz="1200" dirty="0">
                            <a:solidFill>
                              <a:srgbClr val="000000"/>
                            </a:solidFill>
                            <a:effectLst/>
                          </a:rPr>
                          <m:t>4</m:t>
                        </m:r>
                      </m:sub>
                    </m:sSub>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and Mo(VI) (especially Mo(VI)) are anions and have similar structure and electric charge compared with Cr(VI), thus interfering with the selective recognition of Cr(VI) on IPGA fibers [5,6]. Furthermore, the competitive adsorption of anionic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SO</m:t>
                        </m:r>
                      </m:e>
                      <m:sub>
                        <m:r>
                          <m:rPr>
                            <m:sty m:val="p"/>
                          </m:rPr>
                          <a:rPr lang="en-US" sz="1200" dirty="0">
                            <a:solidFill>
                              <a:srgbClr val="000000"/>
                            </a:solidFill>
                            <a:effectLst/>
                          </a:rPr>
                          <m:t>4</m:t>
                        </m:r>
                      </m:sub>
                    </m:sSub>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and Mo(VI) on NIPGA is stronger, in which </a:t>
                </a:r>
                <a:r>
                  <a:rPr lang="en-US" sz="1200" dirty="0">
                    <a:effectLst/>
                  </a:rPr>
                  <a:t>​</a:t>
                </a:r>
                <a14:m>
                  <m:oMath>
                    <m:sSup>
                      <m:sSupPr>
                        <m:ctrlPr>
                          <a:rPr sz="1200">
                            <a:latin typeface="Cambria Math" panose="02040503050406030204" pitchFamily="18" charset="0"/>
                          </a:rPr>
                        </m:ctrlPr>
                      </m:sSupPr>
                      <m:e>
                        <m:r>
                          <m:rPr>
                            <m:sty m:val="i"/>
                          </m:rPr>
                          <a:rPr lang="en-US" sz="1200" dirty="0">
                            <a:solidFill>
                              <a:srgbClr val="000000"/>
                            </a:solidFill>
                            <a:effectLst/>
                          </a:rPr>
                          <m:t>K</m:t>
                        </m:r>
                      </m:e>
                      <m:sup>
                        <m:r>
                          <m:rPr>
                            <m:sty m:val="i"/>
                          </m:rPr>
                          <a:rPr lang="en-US" sz="1200" dirty="0">
                            <a:solidFill>
                              <a:srgbClr val="000000"/>
                            </a:solidFill>
                            <a:effectLst/>
                          </a:rPr>
                          <m:t>′</m:t>
                        </m:r>
                      </m:sup>
                    </m:sSup>
                  </m:oMath>
                </a14:m>
                <a:r>
                  <a:rPr lang="en-US" sz="1200" dirty="0">
                    <a:effectLst/>
                  </a:rPr>
                  <a:t> value in the presence of these two anions is higher than that of Cu(II). In spite of the influence of competitive ions on the selective adsorption of Cr(VI), IPGA fibers show preferential adsorption to Cr(VI) due to the imprinted cavities, which are similar to Cr(VI) ion in shape, size,</a:t>
                </a:r>
              </a:p>
            </p:txBody>
          </p:sp>
        </mc:Choice>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2bda90a884cd9696f50f4d3f3b2f1e1e7ef9771c.jpg"/>
          <p:cNvPicPr/>
          <p:nvPr/>
        </p:nvPicPr>
        <p:blipFill>
          <a:blip r:embed="rId2" cstate="print"/>
          <a:srcRect/>
          <a:stretch>
            <a:fillRect/>
          </a:stretch>
        </p:blipFill>
        <p:spPr>
          <a:xfrm>
            <a:off x="1524000" y="457200"/>
            <a:ext cx="6543675" cy="5353050"/>
          </a:xfrm>
          <a:prstGeom prst="rect">
            <a:avLst/>
          </a:prstGeom>
        </p:spPr>
      </p:pic>
      <p:sp>
        <p:nvSpPr>
          <p:cNvPr id="3" name="Text"/>
          <p:cNvSpPr/>
          <p:nvPr/>
        </p:nvSpPr>
        <p:spPr>
          <a:xfrm>
            <a:off x="1524000" y="5810250"/>
            <a:ext cx="9144000" cy="228600"/>
          </a:xfrm>
          <a:prstGeom prst="rect">
            <a:avLst/>
          </a:prstGeom>
        </p:spPr>
        <p:txBody>
          <a:bodyPr anchor="t" lIns="0" tIns="0" rIns="0" bIns="0">
            <a:noAutofit/>
          </a:bodyPr>
          <a:lstStyle/>
          <a:p>
            <a:pPr>
              <a:lnSpc>
                <a:spcPct val="120000"/>
              </a:lnSpc>
            </a:pPr>
            <a:r>
              <a:rPr lang="en-US" sz="1200" dirty="0">
                <a:effectLst/>
              </a:rPr>
              <a:t>Figure 9. Scatchard analysis of IPGA and NIPGA for Cr(VI) adsorption.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a608c2398663ebe6c182f7c9cf74746b4ba5caac.jpg"/>
          <p:cNvPicPr/>
          <p:nvPr/>
        </p:nvPicPr>
        <p:blipFill>
          <a:blip r:embed="rId2" cstate="print"/>
          <a:srcRect/>
          <a:stretch>
            <a:fillRect/>
          </a:stretch>
        </p:blipFill>
        <p:spPr>
          <a:xfrm>
            <a:off x="1524000" y="457200"/>
            <a:ext cx="2305050" cy="59436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10. Effect of the (a) </a:t>
                </a:r>
                <a:r>
                  <a:rPr lang="en-US" sz="1200" dirty="0">
                    <a:effectLst/>
                  </a:rPr>
                  <a:t>​</a:t>
                </a:r>
                <a14:m>
                  <m:oMath>
                    <m:r>
                      <m:rPr>
                        <m:sty m:val="p"/>
                      </m:rPr>
                      <a:rPr lang="en-US" sz="1200" dirty="0">
                        <a:solidFill>
                          <a:srgbClr val="000000"/>
                        </a:solidFill>
                        <a:effectLst/>
                      </a:rPr>
                      <m:t>Cu</m:t>
                    </m:r>
                    <m:r>
                      <m:rPr>
                        <m:sty m:val="p"/>
                      </m:rPr>
                      <a:rPr lang="en-US" sz="1200" dirty="0">
                        <a:solidFill>
                          <a:srgbClr val="000000"/>
                        </a:solidFill>
                        <a:effectLst/>
                      </a:rPr>
                      <m:t>(</m:t>
                    </m:r>
                    <m:r>
                      <m:rPr>
                        <m:sty m:val="p"/>
                      </m:rPr>
                      <a:rPr lang="en-US" sz="1200" dirty="0">
                        <a:solidFill>
                          <a:srgbClr val="000000"/>
                        </a:solidFill>
                        <a:effectLst/>
                      </a:rPr>
                      <m:t>II</m:t>
                    </m:r>
                    <m:r>
                      <m:rPr>
                        <m:sty m:val="p"/>
                      </m:rPr>
                      <a:rPr lang="en-US" sz="1200" dirty="0">
                        <a:solidFill>
                          <a:srgbClr val="000000"/>
                        </a:solidFill>
                        <a:effectLst/>
                      </a:rPr>
                      <m:t>)</m:t>
                    </m:r>
                  </m:oMath>
                </a14:m>
                <a:r>
                  <a:rPr lang="en-US" sz="1200" dirty="0">
                    <a:effectLst/>
                  </a:rPr>
                  <a:t>, (b)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SO</m:t>
                        </m:r>
                      </m:e>
                      <m:sub>
                        <m:r>
                          <m:rPr>
                            <m:sty m:val="p"/>
                          </m:rPr>
                          <a:rPr lang="en-US" sz="1200" dirty="0">
                            <a:solidFill>
                              <a:srgbClr val="000000"/>
                            </a:solidFill>
                            <a:effectLst/>
                          </a:rPr>
                          <m:t>4</m:t>
                        </m:r>
                      </m:sub>
                    </m:sSub>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and (c) Mo(VI) competitive ions on </a:t>
                </a:r>
                <a:r>
                  <a:rPr lang="en-US" sz="1200" dirty="0">
                    <a:effectLst/>
                  </a:rPr>
                  <a:t>​</a:t>
                </a:r>
                <a14:m>
                  <m:oMath>
                    <m:r>
                      <m:rPr>
                        <m:sty m:val="i"/>
                      </m:rPr>
                      <a:rPr lang="en-US" sz="1200" dirty="0">
                        <a:solidFill>
                          <a:srgbClr val="000000"/>
                        </a:solidFill>
                        <a:effectLst/>
                      </a:rPr>
                      <m:t>K</m:t>
                    </m:r>
                  </m:oMath>
                </a14:m>
                <a:r>
                  <a:rPr lang="en-US" sz="1200" dirty="0">
                    <a:effectLst/>
                  </a:rPr>
                  <a:t> and </a:t>
                </a:r>
                <a:r>
                  <a:rPr lang="en-US" sz="1200" dirty="0">
                    <a:effectLst/>
                  </a:rPr>
                  <a:t>​</a:t>
                </a:r>
                <a14:m>
                  <m:oMath>
                    <m:sSup>
                      <m:sSupPr>
                        <m:ctrlPr>
                          <a:rPr sz="1200">
                            <a:latin typeface="Cambria Math" panose="02040503050406030204" pitchFamily="18" charset="0"/>
                          </a:rPr>
                        </m:ctrlPr>
                      </m:sSupPr>
                      <m:e>
                        <m:r>
                          <m:rPr>
                            <m:sty m:val="i"/>
                          </m:rPr>
                          <a:rPr lang="en-US" sz="1200" dirty="0">
                            <a:solidFill>
                              <a:srgbClr val="000000"/>
                            </a:solidFill>
                            <a:effectLst/>
                          </a:rPr>
                          <m:t>K</m:t>
                        </m:r>
                      </m:e>
                      <m:sup>
                        <m:r>
                          <m:rPr>
                            <m:sty m:val="i"/>
                          </m:rPr>
                          <a:rPr lang="en-US" sz="1200" dirty="0">
                            <a:solidFill>
                              <a:srgbClr val="000000"/>
                            </a:solidFill>
                            <a:effectLst/>
                          </a:rPr>
                          <m:t>′</m:t>
                        </m:r>
                      </m:sup>
                    </m:sSup>
                  </m:oMath>
                </a14:m>
                <a:r>
                  <a:rPr lang="en-US" sz="1200" dirty="0">
                    <a:effectLst/>
                  </a:rPr>
                  <a:t> of IPGA and NIPGA for Cr(VI) adsorption.</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685800"/>
                <a:ext cx="9144000" cy="5029200"/>
              </a:xfrm>
              <a:prstGeom prst="rect">
                <a:avLst/>
              </a:prstGeom>
            </p:spPr>
            <p:txBody>
              <a:bodyPr anchor="t" lIns="0" tIns="0" rIns="0" bIns="0">
                <a:noAutofit/>
              </a:bodyPr>
              <a:lstStyle/>
              <a:p>
                <a:pPr>
                  <a:lnSpc>
                    <a:spcPct val="120000"/>
                  </a:lnSpc>
                </a:pPr>
                <a:r>
                  <a:rPr lang="en-US" sz="1200" dirty="0">
                    <a:effectLst/>
                  </a:rPr>
                  <a:t>charge, and three-dimensional structure.</a:t>
                </a:r>
                <a:br>
                  <a:rPr lang="en-US" sz="1200" dirty="0"/>
                </a:br>
                <a:r>
                  <a:rPr lang="en-US" sz="1200" dirty="0">
                    <a:effectLst/>
                  </a:rPr>
                  <a:t> Adsorption Mechanism</a:t>
                </a:r>
                <a:br>
                  <a:rPr lang="en-US" sz="1200" dirty="0"/>
                </a:br>
                <a:r>
                  <a:rPr lang="en-US" sz="1200" dirty="0">
                    <a:effectLst/>
                  </a:rPr>
                  <a:t> To understand the mechanisms of Cr(VI) adsorption on IPGA, the XPS spectra of IPGA fibers after Cr(VI) adsorption was recorded. The survey spectrum displays four main peaks, which shows the presence of C, N, O, and Cr in the sample. The N 1s signal (Figure 11(b)) was fitted with three peaks. The peaks at 398.2 and 399.0 eV were assigned to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NH</m:t>
                        </m:r>
                      </m:e>
                      <m:sub>
                        <m:r>
                          <m:rPr>
                            <m:sty m:val="p"/>
                          </m:rPr>
                          <a:rPr lang="en-US" sz="1200" dirty="0">
                            <a:solidFill>
                              <a:srgbClr val="000000"/>
                            </a:solidFill>
                            <a:effectLst/>
                          </a:rPr>
                          <m:t>2</m:t>
                        </m:r>
                      </m:sub>
                    </m:sSub>
                  </m:oMath>
                </a14:m>
                <a:r>
                  <a:rPr lang="en-US" sz="1200" dirty="0">
                    <a:effectLst/>
                  </a:rPr>
                  <a:t> and N-H, respectively, and the peak at 399.9 eV was attributed to the amine-Cr complex. The coordination of the amine groups to Cr(VI) involves sharing of electrons of N atom with Cr(VI) ions. As a result, the outer electron pair of N moves, the electron cloud density decreases, and a new characteristic peak at higher binding energy, 399.9 eV, appears. Figure 11(c) shows the high-resolution O 1s spectrum. The O 1s signal was fitted with three peaks. The peak at 533.2 eV was attributed to the complex made between oxygen-containing groups of IPGA and Cr species, whereas the peaks at 532.1 and 531.6 eV were attributed to </a:t>
                </a:r>
                <a:r>
                  <a:rPr lang="en-US" sz="1200" dirty="0">
                    <a:effectLst/>
                  </a:rPr>
                  <a:t>​</a:t>
                </a:r>
                <a14:m>
                  <m:oMath>
                    <m:r>
                      <m:rPr>
                        <m:sty m:val="p"/>
                      </m:rPr>
                      <a:rPr lang="en-US" sz="1200" dirty="0">
                        <a:solidFill>
                          <a:srgbClr val="000000"/>
                        </a:solidFill>
                        <a:effectLst/>
                      </a:rPr>
                      <m:t>O</m:t>
                    </m:r>
                    <m:r>
                      <m:rPr>
                        <m:sty m:val="p"/>
                      </m:rPr>
                      <a:rPr lang="en-US" sz="1200" dirty="0">
                        <a:solidFill>
                          <a:srgbClr val="000000"/>
                        </a:solidFill>
                        <a:effectLst/>
                      </a:rPr>
                      <m:t>=</m:t>
                    </m:r>
                    <m:r>
                      <m:rPr>
                        <m:sty m:val="p"/>
                      </m:rPr>
                      <a:rPr lang="en-US" sz="1200" dirty="0">
                        <a:solidFill>
                          <a:srgbClr val="000000"/>
                        </a:solidFill>
                        <a:effectLst/>
                      </a:rPr>
                      <m:t>C</m:t>
                    </m:r>
                  </m:oMath>
                </a14:m>
                <a:r>
                  <a:rPr lang="en-US" sz="1200" dirty="0">
                    <a:effectLst/>
                  </a:rPr>
                  <a:t> and C-O-C, respectively [40]. Cr 2p3/2 signal was fitted with two peaks at 577.0 and 580.0 eV, indicating that part of Cr(VI) was reduced to Cr(III). In line with the previous studies, it can be affirmed that the amine groups can act as electron donors that reduce Cr(VI) into Cr(III) [40]. However, the redox potential of amino groups on IPGA may not be high enough to totally convert the adsorbed Cr(VI) into Cr(III) [41].</a:t>
                </a:r>
                <a:br>
                  <a:rPr lang="en-US" sz="1200" dirty="0"/>
                </a:br>
                <a:r>
                  <a:rPr lang="en-US" sz="1200" dirty="0">
                    <a:effectLst/>
                  </a:rPr>
                  <a:t> Reusability</a:t>
                </a:r>
                <a:br>
                  <a:rPr lang="en-US" sz="1200" dirty="0"/>
                </a:br>
                <a:r>
                  <a:rPr lang="en-US" sz="1200" dirty="0">
                    <a:effectLst/>
                  </a:rPr>
                  <a:t> The reusability of IPGA fibers for Cr(VI) adsorption was investigated. The adsorption experiments were conducted in batch mode. Typically, IPGA fibers were placed into Cr(VI) solution and sonicated for adsorption. The adsorption conditions were: temperature at 30 °C, Cr(VI) concentration of </a:t>
                </a:r>
                <a:r>
                  <a:rPr lang="en-US" sz="1200" dirty="0">
                    <a:effectLst/>
                  </a:rPr>
                  <a:t>​</a:t>
                </a:r>
                <a14:m>
                  <m:oMath>
                    <m:r>
                      <m:rPr>
                        <m:sty m:val="p"/>
                      </m:rPr>
                      <a:rPr lang="en-US" sz="1200" dirty="0">
                        <a:solidFill>
                          <a:srgbClr val="000000"/>
                        </a:solidFill>
                        <a:effectLst/>
                      </a:rPr>
                      <m:t>100</m:t>
                    </m:r>
                    <m:r>
                      <m:rPr>
                        <m:sty m:val="p"/>
                      </m:rPr>
                      <a:rPr lang="en-US" sz="1200" dirty="0">
                        <a:solidFill>
                          <a:srgbClr val="000000"/>
                        </a:solidFill>
                        <a:effectLst/>
                      </a:rPr>
                      <m:t>mg</m:t>
                    </m:r>
                    <m:r>
                      <m:rPr>
                        <m:sty m:val="p"/>
                      </m:rPr>
                      <a:rPr lang="en-US" sz="1200" dirty="0">
                        <a:solidFill>
                          <a:srgbClr val="000000"/>
                        </a:solidFill>
                        <a:effectLst/>
                      </a:rPr>
                      <m:t>/</m:t>
                    </m:r>
                    <m:r>
                      <m:rPr>
                        <m:sty m:val="i"/>
                      </m:rPr>
                      <a:rPr lang="en-US" sz="1200" dirty="0">
                        <a:solidFill>
                          <a:srgbClr val="000000"/>
                        </a:solidFill>
                        <a:effectLst/>
                      </a:rPr>
                      <m:t>l</m:t>
                    </m:r>
                  </m:oMath>
                </a14:m>
                <a:r>
                  <a:rPr lang="en-US" sz="1200" dirty="0">
                    <a:effectLst/>
                  </a:rPr>
                  <a:t> and volume of </a:t>
                </a:r>
                <a:r>
                  <a:rPr lang="en-US" sz="1200" dirty="0">
                    <a:effectLst/>
                  </a:rPr>
                  <a:t>​</a:t>
                </a:r>
                <a14:m>
                  <m:oMath>
                    <m:r>
                      <m:rPr>
                        <m:sty m:val="p"/>
                      </m:rPr>
                      <a:rPr lang="en-US" sz="1200" dirty="0">
                        <a:solidFill>
                          <a:srgbClr val="000000"/>
                        </a:solidFill>
                        <a:effectLst/>
                      </a:rPr>
                      <m:t>50</m:t>
                    </m:r>
                    <m:r>
                      <m:rPr>
                        <m:sty m:val="p"/>
                      </m:rPr>
                      <a:rPr lang="en-US" sz="1200" dirty="0">
                        <a:solidFill>
                          <a:srgbClr val="000000"/>
                        </a:solidFill>
                        <a:effectLst/>
                      </a:rPr>
                      <m:t>ml</m:t>
                    </m:r>
                    <m:r>
                      <m:rPr>
                        <m:sty m:val="p"/>
                      </m:rPr>
                      <a:rPr lang="en-US" sz="1200" dirty="0">
                        <a:solidFill>
                          <a:srgbClr val="000000"/>
                        </a:solidFill>
                        <a:effectLst/>
                      </a:rPr>
                      <m:t>(</m:t>
                    </m:r>
                    <m:r>
                      <m:rPr>
                        <m:sty m:val="p"/>
                      </m:rPr>
                      <a:rPr lang="en-US" sz="1200" dirty="0">
                        <a:solidFill>
                          <a:srgbClr val="000000"/>
                        </a:solidFill>
                        <a:effectLst/>
                      </a:rPr>
                      <m:t>pH</m:t>
                    </m:r>
                    <m:r>
                      <m:rPr>
                        <m:sty m:val="p"/>
                      </m:rPr>
                      <a:rPr lang="en-US" sz="1200" dirty="0">
                        <a:solidFill>
                          <a:srgbClr val="000000"/>
                        </a:solidFill>
                        <a:effectLst/>
                      </a:rPr>
                      <m:t>=</m:t>
                    </m:r>
                    <m:r>
                      <m:rPr>
                        <m:sty m:val="p"/>
                      </m:rPr>
                      <a:rPr lang="en-US" sz="1200" dirty="0">
                        <a:solidFill>
                          <a:srgbClr val="000000"/>
                        </a:solidFill>
                        <a:effectLst/>
                      </a:rPr>
                      <m:t>3</m:t>
                    </m:r>
                    <m:r>
                      <m:rPr>
                        <m:sty m:val="p"/>
                      </m:rPr>
                      <a:rPr lang="en-US" sz="1200" dirty="0">
                        <a:solidFill>
                          <a:srgbClr val="000000"/>
                        </a:solidFill>
                        <a:effectLst/>
                      </a:rPr>
                      <m:t>)</m:t>
                    </m:r>
                  </m:oMath>
                </a14:m>
                <a:r>
                  <a:rPr lang="en-US" sz="1200" dirty="0">
                    <a:effectLst/>
                  </a:rPr>
                  <a:t>. After 90 min , IPGA fibers were removed and Cr(VI) was eluted using dilute NaOH solution (0.5 mol/l) several times until Cr(VI) was not detected in the elute solution. The elute was collected and the concentration of Cr(VI) was analyzed using ICP-OES, then the Cr(VI) adsorption capacity was calculated. After regeneration, rinsing with water, and dried, IPGA fibers were used in the next adsorption-regeneration cycle. The results of 6 cycles are shown in Figure 12. Therefore, Cr(VI) adsorption capacity slightly decreases after 6 cycles, indicating that IPGA fibers are stable and have potential for practical application.</a:t>
                </a:r>
              </a:p>
            </p:txBody>
          </p:sp>
        </mc:Choice>
        <mc:Fallback/>
      </mc:AlternateContent>
      <p:sp>
        <p:nvSpPr>
          <p:cNvPr id="2" name="Text"/>
          <p:cNvSpPr/>
          <p:nvPr/>
        </p:nvSpPr>
        <p:spPr>
          <a:xfrm>
            <a:off x="1524000" y="5867400"/>
            <a:ext cx="9144000" cy="342900"/>
          </a:xfrm>
          <a:prstGeom prst="rect">
            <a:avLst/>
          </a:prstGeom>
        </p:spPr>
        <p:txBody>
          <a:bodyPr anchor="t" lIns="0" tIns="0" rIns="0" bIns="0">
            <a:noAutofit/>
          </a:bodyPr>
          <a:lstStyle/>
          <a:p>
            <a:pPr>
              <a:lnSpc>
                <a:spcPct val="120000"/>
              </a:lnSpc>
            </a:pPr>
            <a:r>
              <a:rPr lang="en-US" sz="1800" dirty="0" b="1">
                <a:effectLst/>
              </a:rPr>
              <a:t>Conclusion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143000"/>
              </a:xfrm>
              <a:prstGeom prst="rect">
                <a:avLst/>
              </a:prstGeom>
            </p:spPr>
            <p:txBody>
              <a:bodyPr anchor="t" lIns="0" tIns="0" rIns="0" bIns="0">
                <a:noAutofit/>
              </a:bodyPr>
              <a:lstStyle/>
              <a:p>
                <a:pPr>
                  <a:lnSpc>
                    <a:spcPct val="120000"/>
                  </a:lnSpc>
                </a:pPr>
                <a:r>
                  <a:rPr lang="en-US" sz="1200" dirty="0">
                    <a:effectLst/>
                  </a:rPr>
                  <a:t>In summary, this work proposes new IPGA imprinted fibers prepared by suspension graft polymerization and Cr(VI) ion-imprinting technology. The fibers were grafted with two monomers (GMA and AM) and the synthesis conditions affecting the grafting percentage were systematically studied. The pristine and modified fibers were carefully characterized and then the adsorption ability of the imprinted fibers towards Cr(VI) was investigated. The results showed that the best modified fibers were obtained at a GMA: AM monomer ratio of 1.2: 1, a total monomer content of 60 %, a dispersant concentration of </a:t>
                </a:r>
                <a:r>
                  <a:rPr lang="en-US" sz="1200" dirty="0">
                    <a:effectLst/>
                  </a:rPr>
                  <a:t>​</a:t>
                </a:r>
                <a14:m>
                  <m:oMath>
                    <m:r>
                      <m:rPr>
                        <m:sty m:val="p"/>
                      </m:rPr>
                      <a:rPr lang="en-US" sz="1200" dirty="0">
                        <a:solidFill>
                          <a:srgbClr val="000000"/>
                        </a:solidFill>
                        <a:effectLst/>
                      </a:rPr>
                      <m:t>8</m:t>
                    </m:r>
                    <m:r>
                      <m:rPr>
                        <m:sty m:val="p"/>
                      </m:rPr>
                      <a:rPr lang="en-US" sz="1200" dirty="0">
                        <a:solidFill>
                          <a:srgbClr val="000000"/>
                        </a:solidFill>
                        <a:effectLst/>
                      </a:rPr>
                      <m:t>ml</m:t>
                    </m:r>
                    <m:r>
                      <m:rPr>
                        <m:sty m:val="p"/>
                      </m:rPr>
                      <a:rPr lang="en-US" sz="1200" dirty="0">
                        <a:solidFill>
                          <a:srgbClr val="000000"/>
                        </a:solidFill>
                        <a:effectLst/>
                      </a:rPr>
                      <m:t>/</m:t>
                    </m:r>
                    <m:r>
                      <m:rPr>
                        <m:sty m:val="p"/>
                      </m:rPr>
                      <a:rPr lang="en-US" sz="1200" dirty="0">
                        <a:solidFill>
                          <a:srgbClr val="000000"/>
                        </a:solidFill>
                        <a:effectLst/>
                      </a:rPr>
                      <m:t>g</m:t>
                    </m:r>
                  </m:oMath>
                </a14:m>
                <a:r>
                  <a:rPr lang="en-US" sz="1200" dirty="0">
                    <a:effectLst/>
                  </a:rPr>
                  <a:t>, and an interfacial agent</a:t>
                </a:r>
              </a:p>
            </p:txBody>
          </p:sp>
        </mc:Choice>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f29c0486b3a5c0e83e2a4a7794ba7aa5588eedfc.jpg"/>
          <p:cNvPicPr/>
          <p:nvPr/>
        </p:nvPicPr>
        <p:blipFill>
          <a:blip r:embed="rId2" cstate="print"/>
          <a:srcRect/>
          <a:stretch>
            <a:fillRect/>
          </a:stretch>
        </p:blipFill>
        <p:spPr>
          <a:xfrm>
            <a:off x="1524000" y="457200"/>
            <a:ext cx="7115175" cy="59436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11. XPS spectra (a) full spectra, (b) N 1s, (c) O 1s, and (d) Cr 2p3/2) of IPGA after Cr(VI) adsorption.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306f6a042c51028ca0f5a0ee577626e681b25e89.jpg"/>
          <p:cNvPicPr/>
          <p:nvPr/>
        </p:nvPicPr>
        <p:blipFill>
          <a:blip r:embed="rId2" cstate="print"/>
          <a:srcRect/>
          <a:stretch>
            <a:fillRect/>
          </a:stretch>
        </p:blipFill>
        <p:spPr>
          <a:xfrm>
            <a:off x="1524000" y="457200"/>
            <a:ext cx="7381875" cy="59436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12. Variation of Cr(VI) adsorption capacity after 6 cycles.</a:t>
            </a:r>
          </a:p>
        </p:txBody>
      </p:sp>
      <mc:AlternateContent xmlns:mc="http://schemas.openxmlformats.org/markup-compatibility/2006">
        <mc:Choice xmlns:a14="http://schemas.microsoft.com/office/drawing/2010/main" Requires="a14">
          <p:sp>
            <p:nvSpPr>
              <p:cNvPr id="2" name="Text"/>
              <p:cNvSpPr/>
              <p:nvPr/>
            </p:nvSpPr>
            <p:spPr>
              <a:xfrm>
                <a:off x="1524000" y="685800"/>
                <a:ext cx="9144000" cy="2743200"/>
              </a:xfrm>
              <a:prstGeom prst="rect">
                <a:avLst/>
              </a:prstGeom>
            </p:spPr>
            <p:txBody>
              <a:bodyPr anchor="t" lIns="0" tIns="0" rIns="0" bIns="0">
                <a:noAutofit/>
              </a:bodyPr>
              <a:lstStyle/>
              <a:p>
                <a:pPr>
                  <a:lnSpc>
                    <a:spcPct val="120000"/>
                  </a:lnSpc>
                </a:pPr>
                <a:r>
                  <a:rPr lang="en-US" sz="1200" dirty="0">
                    <a:effectLst/>
                  </a:rPr>
                  <a:t>concentration of </a:t>
                </a:r>
                <a:r>
                  <a:rPr lang="en-US" sz="1200" dirty="0">
                    <a:effectLst/>
                  </a:rPr>
                  <a:t>​</a:t>
                </a:r>
                <a14:m>
                  <m:oMath>
                    <m:r>
                      <m:rPr>
                        <m:sty m:val="p"/>
                      </m:rPr>
                      <a:rPr lang="en-US" sz="1200" dirty="0">
                        <a:solidFill>
                          <a:srgbClr val="000000"/>
                        </a:solidFill>
                        <a:effectLst/>
                      </a:rPr>
                      <m:t>5</m:t>
                    </m:r>
                    <m:r>
                      <m:rPr>
                        <m:sty m:val="p"/>
                      </m:rPr>
                      <a:rPr lang="en-US" sz="1200" dirty="0">
                        <a:solidFill>
                          <a:srgbClr val="000000"/>
                        </a:solidFill>
                        <a:effectLst/>
                      </a:rPr>
                      <m:t>ml</m:t>
                    </m:r>
                    <m:r>
                      <m:rPr>
                        <m:sty m:val="p"/>
                      </m:rPr>
                      <a:rPr lang="en-US" sz="1200" dirty="0">
                        <a:solidFill>
                          <a:srgbClr val="000000"/>
                        </a:solidFill>
                        <a:effectLst/>
                      </a:rPr>
                      <m:t>/</m:t>
                    </m:r>
                    <m:r>
                      <m:rPr>
                        <m:sty m:val="p"/>
                      </m:rPr>
                      <a:rPr lang="en-US" sz="1200" dirty="0">
                        <a:solidFill>
                          <a:srgbClr val="000000"/>
                        </a:solidFill>
                        <a:effectLst/>
                      </a:rPr>
                      <m:t>g</m:t>
                    </m:r>
                  </m:oMath>
                </a14:m>
                <a:r>
                  <a:rPr lang="en-US" sz="1200" dirty="0">
                    <a:effectLst/>
                  </a:rPr>
                  <a:t>. Under these conditions, the grafting percentages of GMA and AM were of 16.4 and 10.6 %, respectively. The results of FT-IR, SEM, TGA, and water contact angle characterizations demonstrated the successful preparation of IPGA. The pH was an important factor affecting the adsorption of Cr(VI) on IPGA, the maximum adsorption capacity being at a pH value of 3, and the adsorption at equilibrium was 43.2 mg/g at 90 min. It was found that the adsorption of Cr(VI) on IPGA was consistent with the Langmuir model, involving the formation of a monolayer. The thermodynamics results revealed that the adsorption of Cr(VI) on IPGA is spontaneous and endothermic. The Scatchard analysis showed the presence of both specific and non-specific adsorption sites on the IPGA surface, whereas the corresponding non-imprinted fibers have only non-specific adsorption sites. The IPGA exhibited selectivity towards Cr(VI) in the presence of competing Cu(II) and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SO</m:t>
                        </m:r>
                      </m:e>
                      <m:sub>
                        <m:r>
                          <m:rPr>
                            <m:sty m:val="p"/>
                          </m:rPr>
                          <a:rPr lang="en-US" sz="1200" dirty="0">
                            <a:solidFill>
                              <a:srgbClr val="000000"/>
                            </a:solidFill>
                            <a:effectLst/>
                          </a:rPr>
                          <m:t>4</m:t>
                        </m:r>
                      </m:sub>
                    </m:sSub>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ions. However, the experimental studies revealed that the competitive effect of the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SO</m:t>
                        </m:r>
                      </m:e>
                      <m:sub>
                        <m:r>
                          <m:rPr>
                            <m:sty m:val="p"/>
                          </m:rPr>
                          <a:rPr lang="en-US" sz="1200" dirty="0">
                            <a:solidFill>
                              <a:srgbClr val="000000"/>
                            </a:solidFill>
                            <a:effectLst/>
                          </a:rPr>
                          <m:t>4</m:t>
                        </m:r>
                      </m:sub>
                    </m:sSub>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is more obvious than that of Cu(II). The adsorption mechanism was established based on XPS analysis performed for the IPGA fibers loaded with Cr(VI) The XPS results showed that N and O elements in functional groups participate to the adsorption process of Cr(VI), and the adsorption mechanism involved the electrostatic attraction between Cr(VI) and functional groups while a part of Cr(VI) was reduced into Cr(III).</a:t>
                </a:r>
              </a:p>
            </p:txBody>
          </p:sp>
        </mc:Choice>
        <mc:Fallback/>
      </mc:AlternateContent>
      <p:sp>
        <p:nvSpPr>
          <p:cNvPr id="2" name="Text"/>
          <p:cNvSpPr/>
          <p:nvPr/>
        </p:nvSpPr>
        <p:spPr>
          <a:xfrm>
            <a:off x="1524000" y="3581400"/>
            <a:ext cx="9144000" cy="342900"/>
          </a:xfrm>
          <a:prstGeom prst="rect">
            <a:avLst/>
          </a:prstGeom>
        </p:spPr>
        <p:txBody>
          <a:bodyPr anchor="t" lIns="0" tIns="0" rIns="0" bIns="0">
            <a:noAutofit/>
          </a:bodyPr>
          <a:lstStyle/>
          <a:p>
            <a:pPr>
              <a:lnSpc>
                <a:spcPct val="120000"/>
              </a:lnSpc>
            </a:pPr>
            <a:r>
              <a:rPr lang="en-US" sz="1800" dirty="0" b="1">
                <a:effectLst/>
              </a:rPr>
              <a:t>Acknowledgements</a:t>
            </a:r>
          </a:p>
        </p:txBody>
      </p:sp>
      <p:sp>
        <p:nvSpPr>
          <p:cNvPr id="2" name="Text"/>
          <p:cNvSpPr/>
          <p:nvPr/>
        </p:nvSpPr>
        <p:spPr>
          <a:xfrm>
            <a:off x="1524000" y="4114039"/>
            <a:ext cx="9144000" cy="228600"/>
          </a:xfrm>
          <a:prstGeom prst="rect">
            <a:avLst/>
          </a:prstGeom>
        </p:spPr>
        <p:txBody>
          <a:bodyPr anchor="t" lIns="0" tIns="0" rIns="0" bIns="0">
            <a:noAutofit/>
          </a:bodyPr>
          <a:lstStyle/>
          <a:p>
            <a:pPr>
              <a:lnSpc>
                <a:spcPct val="120000"/>
              </a:lnSpc>
            </a:pPr>
            <a:r>
              <a:rPr lang="en-US" sz="1200" dirty="0">
                <a:effectLst/>
              </a:rPr>
              <a:t>This study was supported by National Natural Science Foundation of China (Grant Number 21676144).</a:t>
            </a:r>
          </a:p>
        </p:txBody>
      </p:sp>
      <p:sp>
        <p:nvSpPr>
          <p:cNvPr id="2" name="Text"/>
          <p:cNvSpPr/>
          <p:nvPr/>
        </p:nvSpPr>
        <p:spPr>
          <a:xfrm>
            <a:off x="1524000" y="4495039"/>
            <a:ext cx="9144000" cy="342900"/>
          </a:xfrm>
          <a:prstGeom prst="rect">
            <a:avLst/>
          </a:prstGeom>
        </p:spPr>
        <p:txBody>
          <a:bodyPr anchor="t" lIns="0" tIns="0" rIns="0" bIns="0">
            <a:noAutofit/>
          </a:bodyPr>
          <a:lstStyle/>
          <a:p>
            <a:pPr>
              <a:lnSpc>
                <a:spcPct val="120000"/>
              </a:lnSpc>
            </a:pPr>
            <a:r>
              <a:rPr lang="en-US" sz="1800" dirty="0" b="1">
                <a:effectLst/>
              </a:rPr>
              <a:t>References</a:t>
            </a:r>
          </a:p>
        </p:txBody>
      </p:sp>
      <p:sp>
        <p:nvSpPr>
          <p:cNvPr id="2" name="Text"/>
          <p:cNvSpPr/>
          <p:nvPr/>
        </p:nvSpPr>
        <p:spPr>
          <a:xfrm>
            <a:off x="1524000" y="5027678"/>
            <a:ext cx="9144000" cy="228600"/>
          </a:xfrm>
          <a:prstGeom prst="rect">
            <a:avLst/>
          </a:prstGeom>
        </p:spPr>
        <p:txBody>
          <a:bodyPr anchor="t" lIns="0" tIns="0" rIns="0" bIns="0">
            <a:noAutofit/>
          </a:bodyPr>
          <a:lstStyle/>
          <a:p>
            <a:pPr lvl="0" indent="-285750" marL="533400">
              <a:lnSpc>
                <a:spcPct val="120000"/>
              </a:lnSpc>
              <a:buFont typeface="+mj-lt"/>
              <a:buAutoNum type="arabicPeriod"/>
              <a:tabLst>
                <a:tab pos="685800" algn="l"/>
              </a:tabLst>
            </a:pPr>
            <a:r>
              <a:rPr lang="en-US" sz="1200" dirty="0">
                <a:effectLst/>
              </a:rPr>
              <a:t>Z. Zhou, X. Liu, M. Zhang, J. Jiao, H. Zhang, J. Du, B.</a:t>
            </a:r>
          </a:p>
        </p:txBody>
      </p:sp>
      <p:sp>
        <p:nvSpPr>
          <p:cNvPr id="2" name="Text"/>
          <p:cNvSpPr/>
          <p:nvPr/>
        </p:nvSpPr>
        <p:spPr>
          <a:xfrm>
            <a:off x="1524000" y="5408678"/>
            <a:ext cx="9144000" cy="228600"/>
          </a:xfrm>
          <a:prstGeom prst="rect">
            <a:avLst/>
          </a:prstGeom>
        </p:spPr>
        <p:txBody>
          <a:bodyPr anchor="t" lIns="0" tIns="0" rIns="0" bIns="0">
            <a:noAutofit/>
          </a:bodyPr>
          <a:lstStyle/>
          <a:p>
            <a:pPr>
              <a:lnSpc>
                <a:spcPct val="120000"/>
              </a:lnSpc>
            </a:pPr>
            <a:r>
              <a:rPr lang="en-US" sz="1200" dirty="0">
                <a:effectLst/>
              </a:rPr>
              <a:t>Zhang, and Z. Ren, Sci. Total Environ., 699, 134334 (2020).</a:t>
            </a:r>
          </a:p>
        </p:txBody>
      </p:sp>
      <p:sp>
        <p:nvSpPr>
          <p:cNvPr id="2" name="Text"/>
          <p:cNvSpPr/>
          <p:nvPr/>
        </p:nvSpPr>
        <p:spPr>
          <a:xfrm>
            <a:off x="1524000" y="5789678"/>
            <a:ext cx="9144000" cy="457200"/>
          </a:xfrm>
          <a:prstGeom prst="rect">
            <a:avLst/>
          </a:prstGeom>
        </p:spPr>
        <p:txBody>
          <a:bodyPr anchor="t" lIns="0" tIns="0" rIns="0" bIns="0">
            <a:noAutofit/>
          </a:bodyPr>
          <a:lstStyle/>
          <a:p>
            <a:pPr lvl="0" indent="-285750" marL="533400">
              <a:lnSpc>
                <a:spcPct val="120000"/>
              </a:lnSpc>
              <a:buFont typeface="Symbol" pitchFamily="2" charset="2"/>
              <a:buChar char="2."/>
              <a:tabLst>
                <a:tab pos="685800" algn="l"/>
              </a:tabLst>
            </a:pPr>
            <a:r>
              <a:rPr lang="en-US" sz="1200" dirty="0">
                <a:effectLst/>
              </a:rPr>
              <a:t>F. He, Z. Lu, M. Song, X. Liu, H. Tang, P. Huo, W. Fan, H. Dong, X. Wu, and G. Xing, Appl. Surface Sci., 483, 453 (2019).</a:t>
            </a:r>
          </a:p>
          <a:p>
            <a:pPr lvl="0" indent="-285750" marL="533400">
              <a:lnSpc>
                <a:spcPct val="120000"/>
              </a:lnSpc>
              <a:buFont typeface="Symbol" pitchFamily="2" charset="2"/>
              <a:buChar char="3."/>
              <a:tabLst>
                <a:tab pos="685800" algn="l"/>
              </a:tabLst>
            </a:pPr>
            <a:r>
              <a:rPr lang="en-US" sz="1200" dirty="0">
                <a:effectLst/>
              </a:rPr>
              <a:t>D. Kong, F. Zhang, K. Wang, Z. Ren, and W. Zhang, Ind. Eng. Chem. Res., 53, 4434 (2014).</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343400"/>
          </a:xfrm>
          <a:prstGeom prst="rect">
            <a:avLst/>
          </a:prstGeom>
        </p:spPr>
        <p:txBody>
          <a:bodyPr anchor="t" lIns="0" tIns="0" rIns="0" bIns="0">
            <a:noAutofit/>
          </a:bodyPr>
          <a:lstStyle/>
          <a:p>
            <a:pPr lvl="0" indent="-285750" marL="533400">
              <a:lnSpc>
                <a:spcPct val="120000"/>
              </a:lnSpc>
              <a:buFont typeface="Symbol" pitchFamily="2" charset="2"/>
              <a:buChar char="4."/>
              <a:tabLst>
                <a:tab pos="685800" algn="l"/>
              </a:tabLst>
            </a:pPr>
            <a:r>
              <a:rPr lang="en-US" sz="1200" dirty="0">
                <a:effectLst/>
              </a:rPr>
              <a:t>G. Bayramoglu and M. Y. Arica, J. Hazard. Mater., 187, 213 (2011).</a:t>
            </a:r>
          </a:p>
          <a:p>
            <a:pPr lvl="0" indent="-285750" marL="533400">
              <a:lnSpc>
                <a:spcPct val="120000"/>
              </a:lnSpc>
              <a:buFont typeface="Symbol" pitchFamily="2" charset="2"/>
              <a:buChar char="5."/>
              <a:tabLst>
                <a:tab pos="685800" algn="l"/>
              </a:tabLst>
            </a:pPr>
            <a:r>
              <a:rPr lang="en-US" sz="1200" dirty="0">
                <a:effectLst/>
              </a:rPr>
              <a:t>R. Huang, X. Ma, X. Li, L. Guo, X. Xie, M. Zhang, and J. Li, J. Colloid Interface Sci., 514, 544 (2018).</a:t>
            </a:r>
          </a:p>
          <a:p>
            <a:pPr lvl="0" indent="-285750" marL="533400">
              <a:lnSpc>
                <a:spcPct val="120000"/>
              </a:lnSpc>
              <a:buFont typeface="Symbol" pitchFamily="2" charset="2"/>
              <a:buChar char="6."/>
              <a:tabLst>
                <a:tab pos="685800" algn="l"/>
              </a:tabLst>
            </a:pPr>
            <a:r>
              <a:rPr lang="en-US" sz="1200" dirty="0">
                <a:effectLst/>
              </a:rPr>
              <a:t>M. Y. Zhang, R. F. Huang, X. G. Ma, L. H. Guo, Y. Wang, and Y. M. Fan, Anal. Bioanal. Chem., 411, 7165 (2019).</a:t>
            </a:r>
          </a:p>
          <a:p>
            <a:pPr lvl="0" indent="-285750" marL="533400">
              <a:lnSpc>
                <a:spcPct val="120000"/>
              </a:lnSpc>
              <a:buFont typeface="Symbol" pitchFamily="2" charset="2"/>
              <a:buChar char="7."/>
              <a:tabLst>
                <a:tab pos="685800" algn="l"/>
              </a:tabLst>
            </a:pPr>
            <a:r>
              <a:rPr lang="en-US" sz="1200" dirty="0">
                <a:effectLst/>
              </a:rPr>
              <a:t>Y. Chen, X. Ma, M. Huang, J. Peng, and C. Li, Analytical Methods, 8, 824 (2016).</a:t>
            </a:r>
          </a:p>
          <a:p>
            <a:pPr lvl="0" indent="-285750" marL="533400">
              <a:lnSpc>
                <a:spcPct val="120000"/>
              </a:lnSpc>
              <a:buFont typeface="Symbol" pitchFamily="2" charset="2"/>
              <a:buChar char="8."/>
              <a:tabLst>
                <a:tab pos="685800" algn="l"/>
              </a:tabLst>
            </a:pPr>
            <a:r>
              <a:rPr lang="en-US" sz="1200" dirty="0">
                <a:effectLst/>
              </a:rPr>
              <a:t>M. Ghanei-Motlagh and M. A. Taher, Chem. Eng. J., 327, 135 (2017).</a:t>
            </a:r>
          </a:p>
          <a:p>
            <a:pPr lvl="0" indent="-285750" marL="533400">
              <a:lnSpc>
                <a:spcPct val="120000"/>
              </a:lnSpc>
              <a:buFont typeface="Symbol" pitchFamily="2" charset="2"/>
              <a:buChar char="9."/>
              <a:tabLst>
                <a:tab pos="685800" algn="l"/>
              </a:tabLst>
            </a:pPr>
            <a:r>
              <a:rPr lang="en-US" sz="1200" dirty="0">
                <a:effectLst/>
              </a:rPr>
              <a:t>S. Hassanpour, M. Taghizadeh, and Y. Yamini, J. Polym. Environ., 26, 101 (2018).</a:t>
            </a:r>
          </a:p>
          <a:p>
            <a:pPr lvl="0" indent="-285750" marL="533400">
              <a:lnSpc>
                <a:spcPct val="120000"/>
              </a:lnSpc>
              <a:buFont typeface="Symbol" pitchFamily="2" charset="2"/>
              <a:buChar char="10."/>
              <a:tabLst>
                <a:tab pos="685800" algn="l"/>
              </a:tabLst>
            </a:pPr>
            <a:r>
              <a:rPr lang="en-US" sz="1200" dirty="0">
                <a:effectLst/>
              </a:rPr>
              <a:t>Z. Ren, D. Kong, K. Wang, and W. Zhang, J. Mater. Chem. A, 2, 17952 (2014).</a:t>
            </a:r>
          </a:p>
          <a:p>
            <a:pPr lvl="0" indent="-285750" marL="533400">
              <a:lnSpc>
                <a:spcPct val="120000"/>
              </a:lnSpc>
              <a:buFont typeface="Symbol" pitchFamily="2" charset="2"/>
              <a:buChar char="11."/>
              <a:tabLst>
                <a:tab pos="685800" algn="l"/>
              </a:tabLst>
            </a:pPr>
            <a:r>
              <a:rPr lang="en-US" sz="1200" dirty="0">
                <a:effectLst/>
              </a:rPr>
              <a:t>Z. Lu, G. Zhou, M. Song, X. Liu, H. Tang, H. Dong, P. Huo, F. Yan, P. Du, and G. Xing, Appl. Catal. B: Environ., 268, 118433 (2020).</a:t>
            </a:r>
          </a:p>
          <a:p>
            <a:pPr lvl="0" indent="-285750" marL="533400">
              <a:lnSpc>
                <a:spcPct val="120000"/>
              </a:lnSpc>
              <a:buFont typeface="Symbol" pitchFamily="2" charset="2"/>
              <a:buChar char="12."/>
              <a:tabLst>
                <a:tab pos="685800" algn="l"/>
              </a:tabLst>
            </a:pPr>
            <a:r>
              <a:rPr lang="en-US" sz="1200" dirty="0">
                <a:effectLst/>
              </a:rPr>
              <a:t>Z. Lu, G. Zhou, M. Song, D. Wang, P. Huo, W. Fan, H. Dong, H. Tang, F. Yan, and G. Xing, J. Mater. Chem. A, 7, 13986 (2019).</a:t>
            </a:r>
          </a:p>
          <a:p>
            <a:pPr lvl="0" indent="-285750" marL="533400">
              <a:lnSpc>
                <a:spcPct val="120000"/>
              </a:lnSpc>
              <a:buFont typeface="Symbol" pitchFamily="2" charset="2"/>
              <a:buChar char="13."/>
              <a:tabLst>
                <a:tab pos="685800" algn="l"/>
              </a:tabLst>
            </a:pPr>
            <a:r>
              <a:rPr lang="en-US" sz="1200" dirty="0">
                <a:effectLst/>
              </a:rPr>
              <a:t>L. Zhang, S. Yang, J. Qian, and D. Hua, Ind. Eng. Chem. Res., 56, 1860 (2017).</a:t>
            </a:r>
          </a:p>
          <a:p>
            <a:pPr lvl="0" indent="-285750" marL="533400">
              <a:lnSpc>
                <a:spcPct val="120000"/>
              </a:lnSpc>
              <a:buFont typeface="Symbol" pitchFamily="2" charset="2"/>
              <a:buChar char="14."/>
              <a:tabLst>
                <a:tab pos="685800" algn="l"/>
              </a:tabLst>
            </a:pPr>
            <a:r>
              <a:rPr lang="en-US" sz="1200" dirty="0">
                <a:effectLst/>
              </a:rPr>
              <a:t>T. Li, S. Chen, H. Li, Q. Li, and L. Wu, Langmuir, 27, 6753 (2011).</a:t>
            </a:r>
          </a:p>
          <a:p>
            <a:pPr lvl="0" indent="-285750" marL="533400">
              <a:lnSpc>
                <a:spcPct val="120000"/>
              </a:lnSpc>
              <a:buFont typeface="Symbol" pitchFamily="2" charset="2"/>
              <a:buChar char="15."/>
              <a:tabLst>
                <a:tab pos="685800" algn="l"/>
              </a:tabLst>
            </a:pPr>
            <a:r>
              <a:rPr lang="en-US" sz="1200" dirty="0">
                <a:effectLst/>
              </a:rPr>
              <a:t>M. A. Söylemez, M. Barsbay, and O. Güven, Radiat. Phys. Chem., 142, 77 (2018).</a:t>
            </a:r>
          </a:p>
          <a:p>
            <a:pPr lvl="0" indent="-285750" marL="533400">
              <a:lnSpc>
                <a:spcPct val="120000"/>
              </a:lnSpc>
              <a:buFont typeface="Symbol" pitchFamily="2" charset="2"/>
              <a:buChar char="16."/>
              <a:tabLst>
                <a:tab pos="685800" algn="l"/>
              </a:tabLst>
            </a:pPr>
            <a:r>
              <a:rPr lang="en-US" sz="1200" dirty="0">
                <a:effectLst/>
              </a:rPr>
              <a:t>Z. Luo, J. Xu, D. Zhu, D. Wang, J. Xu, H. Jiang, W. Geng, W. Wei, and Z. Lian, Polymers, 11, 1508 (2019).</a:t>
            </a:r>
          </a:p>
          <a:p>
            <a:pPr lvl="0" indent="-285750" marL="533400">
              <a:lnSpc>
                <a:spcPct val="120000"/>
              </a:lnSpc>
              <a:buFont typeface="Symbol" pitchFamily="2" charset="2"/>
              <a:buChar char="17."/>
              <a:tabLst>
                <a:tab pos="685800" algn="l"/>
              </a:tabLst>
            </a:pPr>
            <a:r>
              <a:rPr lang="en-US" sz="1200" dirty="0">
                <a:effectLst/>
              </a:rPr>
              <a:t>Z. Li, L. Wang, Y. Ma, and W. Yang, Chinese Chem. Lett., 26, 1351 (2015).</a:t>
            </a:r>
          </a:p>
          <a:p>
            <a:pPr lvl="0" indent="-285750" marL="533400">
              <a:lnSpc>
                <a:spcPct val="120000"/>
              </a:lnSpc>
              <a:buFont typeface="Symbol" pitchFamily="2" charset="2"/>
              <a:buChar char="18."/>
              <a:tabLst>
                <a:tab pos="685800" algn="l"/>
              </a:tabLst>
            </a:pPr>
            <a:r>
              <a:rPr lang="en-US" sz="1200" dirty="0">
                <a:effectLst/>
              </a:rPr>
              <a:t>F. Liang, H. Yuan, Q. Shao, and W. Song, Des. Monomers Polym., 21, 130 (2018).</a:t>
            </a:r>
          </a:p>
          <a:p>
            <a:pPr lvl="0" indent="-285750" marL="533400">
              <a:lnSpc>
                <a:spcPct val="120000"/>
              </a:lnSpc>
              <a:buFont typeface="Symbol" pitchFamily="2" charset="2"/>
              <a:buChar char="19."/>
              <a:tabLst>
                <a:tab pos="685800" algn="l"/>
              </a:tabLst>
            </a:pPr>
            <a:r>
              <a:rPr lang="en-US" sz="1200" dirty="0">
                <a:effectLst/>
              </a:rPr>
              <a:t>Q. Zhou, M. Li, X. Yao, Z. Lian, C. Zhang, W. Wei, and J. Huang, Fiber. Polym., 15, 2238 (2014).</a:t>
            </a:r>
          </a:p>
          <a:p>
            <a:pPr lvl="0" indent="-285750" marL="533400">
              <a:lnSpc>
                <a:spcPct val="120000"/>
              </a:lnSpc>
              <a:buFont typeface="Symbol" pitchFamily="2" charset="2"/>
              <a:buChar char="20."/>
              <a:tabLst>
                <a:tab pos="685800" algn="l"/>
              </a:tabLst>
            </a:pPr>
            <a:r>
              <a:rPr lang="en-US" sz="1200" dirty="0">
                <a:effectLst/>
              </a:rPr>
              <a:t>Y. Zheng, S. Zhao, L. Cheng, and B. Li, Polym. Bull., 64, 771 (2010).</a:t>
            </a:r>
          </a:p>
          <a:p>
            <a:pPr lvl="0" indent="-285750" marL="533400">
              <a:lnSpc>
                <a:spcPct val="120000"/>
              </a:lnSpc>
              <a:buFont typeface="Symbol" pitchFamily="2" charset="2"/>
              <a:buChar char="21."/>
              <a:tabLst>
                <a:tab pos="685800" algn="l"/>
              </a:tabLst>
            </a:pPr>
            <a:r>
              <a:rPr lang="en-US" sz="1200" dirty="0">
                <a:effectLst/>
              </a:rPr>
              <a:t>R. Tao, Q. Pang, T. Xu, L. Xu, X. Yang, and X. Zhu, J.</a:t>
            </a:r>
          </a:p>
        </p:txBody>
      </p:sp>
      <p:sp>
        <p:nvSpPr>
          <p:cNvPr id="2" name="Text"/>
          <p:cNvSpPr/>
          <p:nvPr/>
        </p:nvSpPr>
        <p:spPr>
          <a:xfrm>
            <a:off x="1524000" y="4953000"/>
            <a:ext cx="9144000" cy="228600"/>
          </a:xfrm>
          <a:prstGeom prst="rect">
            <a:avLst/>
          </a:prstGeom>
        </p:spPr>
        <p:txBody>
          <a:bodyPr anchor="t" lIns="0" tIns="0" rIns="0" bIns="0">
            <a:noAutofit/>
          </a:bodyPr>
          <a:lstStyle/>
          <a:p>
            <a:pPr>
              <a:lnSpc>
                <a:spcPct val="120000"/>
              </a:lnSpc>
            </a:pPr>
            <a:r>
              <a:rPr lang="en-US" sz="1200" dirty="0">
                <a:effectLst/>
              </a:rPr>
              <a:t>Appl. Polym. Sci., 137, 48300 (2020).</a:t>
            </a:r>
          </a:p>
        </p:txBody>
      </p:sp>
      <p:sp>
        <p:nvSpPr>
          <p:cNvPr id="2" name="Text"/>
          <p:cNvSpPr/>
          <p:nvPr/>
        </p:nvSpPr>
        <p:spPr>
          <a:xfrm>
            <a:off x="1524000" y="5334000"/>
            <a:ext cx="9144000" cy="914400"/>
          </a:xfrm>
          <a:prstGeom prst="rect">
            <a:avLst/>
          </a:prstGeom>
        </p:spPr>
        <p:txBody>
          <a:bodyPr anchor="t" lIns="0" tIns="0" rIns="0" bIns="0">
            <a:noAutofit/>
          </a:bodyPr>
          <a:lstStyle/>
          <a:p>
            <a:pPr lvl="0" indent="-285750" marL="533400">
              <a:lnSpc>
                <a:spcPct val="120000"/>
              </a:lnSpc>
              <a:buFont typeface="Symbol" pitchFamily="2" charset="2"/>
              <a:buChar char="22."/>
              <a:tabLst>
                <a:tab pos="685800" algn="l"/>
              </a:tabLst>
            </a:pPr>
            <a:r>
              <a:rPr lang="en-US" sz="1200" dirty="0">
                <a:effectLst/>
              </a:rPr>
              <a:t>T. B. Mostafa, J. Appl. Polym. Sci., 111, 11 (2009).</a:t>
            </a:r>
          </a:p>
          <a:p>
            <a:pPr lvl="0" indent="-285750" marL="533400">
              <a:lnSpc>
                <a:spcPct val="120000"/>
              </a:lnSpc>
              <a:buFont typeface="Symbol" pitchFamily="2" charset="2"/>
              <a:buChar char="23."/>
              <a:tabLst>
                <a:tab pos="685800" algn="l"/>
              </a:tabLst>
            </a:pPr>
            <a:r>
              <a:rPr lang="en-US" sz="1200" dirty="0">
                <a:effectLst/>
              </a:rPr>
              <a:t>Z. Li, Y. Ma, and W. Yang, J. Appl. Polym. Sci., 129, 3170 (2013).</a:t>
            </a:r>
          </a:p>
          <a:p>
            <a:pPr lvl="0" indent="-285750" marL="533400">
              <a:lnSpc>
                <a:spcPct val="120000"/>
              </a:lnSpc>
              <a:buFont typeface="Symbol" pitchFamily="2" charset="2"/>
              <a:buChar char="24."/>
              <a:tabLst>
                <a:tab pos="685800" algn="l"/>
              </a:tabLst>
            </a:pPr>
            <a:r>
              <a:rPr lang="en-US" sz="1200" dirty="0">
                <a:effectLst/>
              </a:rPr>
              <a:t>D. Zhao, L. Wang, R. Zhang, Y. Ma, D. Chen, C. Zhao, and W. Yang, Polym. Eng. Sci., 58, 86 (2018).</a:t>
            </a:r>
          </a:p>
          <a:p>
            <a:pPr lvl="0" indent="-285750" marL="533400">
              <a:lnSpc>
                <a:spcPct val="120000"/>
              </a:lnSpc>
              <a:buFont typeface="Symbol" pitchFamily="2" charset="2"/>
              <a:buChar char="25."/>
              <a:tabLst>
                <a:tab pos="685800" algn="l"/>
              </a:tabLst>
            </a:pPr>
            <a:r>
              <a:rPr lang="en-US" sz="1200" dirty="0">
                <a:effectLst/>
              </a:rPr>
              <a:t>Y. Kong, Y. Li, G. Hu, J. Lin, D. Pan, D. Dong, E. Wujick, Q. Shao, M. Wu, J. Zhao, and Z. Guo, Polymer, 145, 232 (2018).</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3657600"/>
          </a:xfrm>
          <a:prstGeom prst="rect">
            <a:avLst/>
          </a:prstGeom>
        </p:spPr>
        <p:txBody>
          <a:bodyPr anchor="t" lIns="0" tIns="0" rIns="0" bIns="0">
            <a:noAutofit/>
          </a:bodyPr>
          <a:lstStyle/>
          <a:p>
            <a:pPr lvl="0" indent="-285750" marL="533400">
              <a:lnSpc>
                <a:spcPct val="120000"/>
              </a:lnSpc>
              <a:buFont typeface="Symbol" pitchFamily="2" charset="2"/>
              <a:buChar char="26."/>
              <a:tabLst>
                <a:tab pos="685800" algn="l"/>
              </a:tabLst>
            </a:pPr>
            <a:r>
              <a:rPr lang="en-US" sz="1200" dirty="0">
                <a:effectLst/>
              </a:rPr>
              <a:t>M. Guo, C. Zhang, J. Xu, Z. Luo, and W. Wei, Fiber. Polym., 17, 1123 (2016).</a:t>
            </a:r>
          </a:p>
          <a:p>
            <a:pPr lvl="0" indent="-285750" marL="533400">
              <a:lnSpc>
                <a:spcPct val="120000"/>
              </a:lnSpc>
              <a:buFont typeface="Symbol" pitchFamily="2" charset="2"/>
              <a:buChar char="27."/>
              <a:tabLst>
                <a:tab pos="685800" algn="l"/>
              </a:tabLst>
            </a:pPr>
            <a:r>
              <a:rPr lang="en-US" sz="1200" dirty="0">
                <a:effectLst/>
              </a:rPr>
              <a:t>L. He, Y. Su, Y. Zheng, X. Huang, L. Wu, Y. Liu, Z. Zeng, and Z. Chen, J. Chromatogr. A, 1216, 6196 (2009).</a:t>
            </a:r>
          </a:p>
          <a:p>
            <a:pPr lvl="0" indent="-285750" marL="533400">
              <a:lnSpc>
                <a:spcPct val="120000"/>
              </a:lnSpc>
              <a:buFont typeface="Symbol" pitchFamily="2" charset="2"/>
              <a:buChar char="28."/>
              <a:tabLst>
                <a:tab pos="685800" algn="l"/>
              </a:tabLst>
            </a:pPr>
            <a:r>
              <a:rPr lang="en-US" sz="1200" dirty="0">
                <a:effectLst/>
              </a:rPr>
              <a:t>F. He, Z. Lu, M. Song, X. Liu, H. Tang, P. Huo, W. Fan, H. Dong, X. Wu, and S. Han, Chem. Eng. J., 360, 750 (2019).</a:t>
            </a:r>
          </a:p>
          <a:p>
            <a:pPr lvl="0" indent="-285750" marL="533400">
              <a:lnSpc>
                <a:spcPct val="120000"/>
              </a:lnSpc>
              <a:buFont typeface="Symbol" pitchFamily="2" charset="2"/>
              <a:buChar char="29."/>
              <a:tabLst>
                <a:tab pos="685800" algn="l"/>
              </a:tabLst>
            </a:pPr>
            <a:r>
              <a:rPr lang="en-US" sz="1200" dirty="0">
                <a:effectLst/>
              </a:rPr>
              <a:t>S. Saxena, A. R. Ray, and B. Gupta, J. Appl. Polym. Sci., 116, 2884 (2010).</a:t>
            </a:r>
          </a:p>
          <a:p>
            <a:pPr lvl="0" indent="-285750" marL="533400">
              <a:lnSpc>
                <a:spcPct val="120000"/>
              </a:lnSpc>
              <a:buFont typeface="Symbol" pitchFamily="2" charset="2"/>
              <a:buChar char="30."/>
              <a:tabLst>
                <a:tab pos="685800" algn="l"/>
              </a:tabLst>
            </a:pPr>
            <a:r>
              <a:rPr lang="en-US" sz="1200" dirty="0">
                <a:effectLst/>
              </a:rPr>
              <a:t>Y. Zheng, H. Liu, P. V. Gurgel, and R. G. Carbonell, J. Membr. Sci., 364, 362 (2010).</a:t>
            </a:r>
          </a:p>
          <a:p>
            <a:pPr lvl="0" indent="-285750" marL="533400">
              <a:lnSpc>
                <a:spcPct val="120000"/>
              </a:lnSpc>
              <a:buFont typeface="Symbol" pitchFamily="2" charset="2"/>
              <a:buChar char="31."/>
              <a:tabLst>
                <a:tab pos="685800" algn="l"/>
              </a:tabLst>
            </a:pPr>
            <a:r>
              <a:rPr lang="en-US" sz="1200" dirty="0">
                <a:effectLst/>
              </a:rPr>
              <a:t>Y. Kong, Y. Li, G. Hu, J. Lin, D. Pan, D. Dong, E. Wujick, Q. Shao, M. Wu, J. Zhao, and Z. Guo, Polymer, 145, 232 (2018).</a:t>
            </a:r>
          </a:p>
          <a:p>
            <a:pPr lvl="0" indent="-285750" marL="533400">
              <a:lnSpc>
                <a:spcPct val="120000"/>
              </a:lnSpc>
              <a:buFont typeface="Symbol" pitchFamily="2" charset="2"/>
              <a:buChar char="32."/>
              <a:tabLst>
                <a:tab pos="685800" algn="l"/>
              </a:tabLst>
            </a:pPr>
            <a:r>
              <a:rPr lang="en-US" sz="1200" dirty="0">
                <a:effectLst/>
              </a:rPr>
              <a:t>L. S. Balistrieri and J. W. Murray, Am. J. Sci., 281, 788 (1981).</a:t>
            </a:r>
          </a:p>
          <a:p>
            <a:pPr lvl="0" indent="-285750" marL="533400">
              <a:lnSpc>
                <a:spcPct val="120000"/>
              </a:lnSpc>
              <a:buFont typeface="Symbol" pitchFamily="2" charset="2"/>
              <a:buChar char="33."/>
              <a:tabLst>
                <a:tab pos="685800" algn="l"/>
              </a:tabLst>
            </a:pPr>
            <a:r>
              <a:rPr lang="en-US" sz="1200" dirty="0">
                <a:effectLst/>
              </a:rPr>
              <a:t>G. Bayramoglu and M. Y. Arica, J. Hazard. Mater., 187, 213 (2011).</a:t>
            </a:r>
          </a:p>
          <a:p>
            <a:pPr lvl="0" indent="-285750" marL="533400">
              <a:lnSpc>
                <a:spcPct val="120000"/>
              </a:lnSpc>
              <a:buFont typeface="Symbol" pitchFamily="2" charset="2"/>
              <a:buChar char="34."/>
              <a:tabLst>
                <a:tab pos="685800" algn="l"/>
              </a:tabLst>
            </a:pPr>
            <a:r>
              <a:rPr lang="en-US" sz="1200" dirty="0">
                <a:effectLst/>
              </a:rPr>
              <a:t>M. Etemadi, S. Samadi, S. S. Yazd, P. Jafari, N. Yousefi, and M. Aliabadi, Int. J. Biol. Macromol., 95, 725 (2017).</a:t>
            </a:r>
          </a:p>
          <a:p>
            <a:pPr lvl="0" indent="-285750" marL="533400">
              <a:lnSpc>
                <a:spcPct val="120000"/>
              </a:lnSpc>
              <a:buFont typeface="Symbol" pitchFamily="2" charset="2"/>
              <a:buChar char="35."/>
              <a:tabLst>
                <a:tab pos="685800" algn="l"/>
              </a:tabLst>
            </a:pPr>
            <a:r>
              <a:rPr lang="en-US" sz="1200" dirty="0">
                <a:effectLst/>
              </a:rPr>
              <a:t>J. Fang, Z. Gu, D. Gang, C. Liu, E. S. Ilton, and B. Deng, Environ. Sci. Technol., 41, 4748 (2007).</a:t>
            </a:r>
          </a:p>
          <a:p>
            <a:pPr lvl="0" indent="-285750" marL="533400">
              <a:lnSpc>
                <a:spcPct val="120000"/>
              </a:lnSpc>
              <a:buFont typeface="Symbol" pitchFamily="2" charset="2"/>
              <a:buChar char="36."/>
              <a:tabLst>
                <a:tab pos="685800" algn="l"/>
              </a:tabLst>
            </a:pPr>
            <a:r>
              <a:rPr lang="en-US" sz="1200" dirty="0">
                <a:effectLst/>
              </a:rPr>
              <a:t>M. M. Motsa, J. M. Thwala, T. A. M. Msagati, and B. B. Mamba, Phys. Chem. Earth, 36, 1178 (2011).</a:t>
            </a:r>
          </a:p>
          <a:p>
            <a:pPr lvl="0" indent="-285750" marL="533400">
              <a:lnSpc>
                <a:spcPct val="120000"/>
              </a:lnSpc>
              <a:buFont typeface="Symbol" pitchFamily="2" charset="2"/>
              <a:buChar char="37."/>
              <a:tabLst>
                <a:tab pos="685800" algn="l"/>
              </a:tabLst>
            </a:pPr>
            <a:r>
              <a:rPr lang="en-US" sz="1200" dirty="0">
                <a:effectLst/>
              </a:rPr>
              <a:t>A. Baraka, P. J. Hall and M. J. Heslop, React. Funct. Polym., 67, 585 (2007).</a:t>
            </a:r>
          </a:p>
          <a:p>
            <a:pPr lvl="0" indent="-285750" marL="533400">
              <a:lnSpc>
                <a:spcPct val="120000"/>
              </a:lnSpc>
              <a:buFont typeface="Symbol" pitchFamily="2" charset="2"/>
              <a:buChar char="38."/>
              <a:tabLst>
                <a:tab pos="685800" algn="l"/>
              </a:tabLst>
            </a:pPr>
            <a:r>
              <a:rPr lang="en-US" sz="1200" dirty="0">
                <a:effectLst/>
              </a:rPr>
              <a:t>A. D. Gupta, S. Pandey, V. K. Jaiswal, V. Bhadauria, and H. Singh, Carbohydr. Polym., 222, 114964 (2019).</a:t>
            </a:r>
          </a:p>
          <a:p>
            <a:pPr lvl="0" indent="-285750" marL="533400">
              <a:lnSpc>
                <a:spcPct val="120000"/>
              </a:lnSpc>
              <a:buFont typeface="Symbol" pitchFamily="2" charset="2"/>
              <a:buChar char="39."/>
              <a:tabLst>
                <a:tab pos="685800" algn="l"/>
              </a:tabLst>
            </a:pPr>
            <a:r>
              <a:rPr lang="en-US" sz="1200" dirty="0">
                <a:effectLst/>
              </a:rPr>
              <a:t>P. Liu, H. An, Y. Ren, J. Feng, and J. Ma, Chem. Eng. J., 349, 176 (2018).</a:t>
            </a:r>
          </a:p>
          <a:p>
            <a:pPr lvl="0" indent="-285750" marL="533400">
              <a:lnSpc>
                <a:spcPct val="120000"/>
              </a:lnSpc>
              <a:buFont typeface="Symbol" pitchFamily="2" charset="2"/>
              <a:buChar char="40."/>
              <a:tabLst>
                <a:tab pos="685800" algn="l"/>
              </a:tabLst>
            </a:pPr>
            <a:r>
              <a:rPr lang="en-US" sz="1200" dirty="0">
                <a:effectLst/>
              </a:rPr>
              <a:t>G. Dognani, P. Hadi, H. Ma, F. C. Cabrera, A. E. Job, D. L. S. Agostini, and B. S. Hsiao, Chem. Eng. J., 372, 341 (2019).</a:t>
            </a:r>
          </a:p>
          <a:p>
            <a:pPr lvl="0" indent="-285750" marL="533400">
              <a:lnSpc>
                <a:spcPct val="120000"/>
              </a:lnSpc>
              <a:buFont typeface="Symbol" pitchFamily="2" charset="2"/>
              <a:buChar char="41."/>
              <a:tabLst>
                <a:tab pos="685800" algn="l"/>
              </a:tabLst>
            </a:pPr>
            <a:r>
              <a:rPr lang="en-US" sz="1200" dirty="0">
                <a:effectLst/>
              </a:rPr>
              <a:t>S. Yu, G. Yuan, H. Gao, and Y. Liao, J. Mater. Sci., 55, 163 (2020).</a:t>
            </a:r>
          </a:p>
        </p:txBody>
      </p:sp>
      <p:cxnSp>
        <p:nvCxnSpPr>
          <p:cNvPr id="2" name="Straight Connector 1"/>
          <p:cNvCxnSpPr/>
          <p:nvPr/>
        </p:nvCxnSpPr>
        <p:spPr>
          <a:xfrm>
            <a:off x="1524000" y="4267200"/>
            <a:ext cx="9144000" cy="0"/>
          </a:xfrm>
          <a:prstGeom prst="line">
            <a:avLst/>
          </a:prstGeom>
          <a:ln>
            <a:solidFill>
              <a:srgbClr val="1e2029"/>
            </a:solidFill>
          </a:ln>
        </p:spPr>
        <p:style>
          <a:lnRef idx="1">
            <a:schemeClr val="accent1"/>
          </a:lnRef>
          <a:fillRef idx="0">
            <a:schemeClr val="accent1"/>
          </a:fillRef>
          <a:effectRef idx="0">
            <a:schemeClr val="accent1"/>
          </a:effectRef>
          <a:fontRef idx="minor">
            <a:schemeClr val="tx1"/>
          </a:fontRef>
        </p:style>
      </p:cxnSp>
      <p:sp>
        <p:nvSpPr>
          <p:cNvPr id="2" name="Text"/>
          <p:cNvSpPr/>
          <p:nvPr/>
        </p:nvSpPr>
        <p:spPr>
          <a:xfrm>
            <a:off x="1524000" y="4362450"/>
            <a:ext cx="9144000" cy="457200"/>
          </a:xfrm>
          <a:prstGeom prst="rect">
            <a:avLst/>
          </a:prstGeom>
        </p:spPr>
        <p:txBody>
          <a:bodyPr anchor="t" lIns="0" tIns="0" rIns="0" bIns="0">
            <a:noAutofit/>
          </a:bodyPr>
          <a:lstStyle/>
          <a:p>
            <a:pPr lvl="0" indent="-285750" marL="342900">
              <a:lnSpc>
                <a:spcPct val="120000"/>
              </a:lnSpc>
              <a:buFont typeface="Symbol" pitchFamily="2" charset="2"/>
              <a:buChar char=" "/>
              <a:tabLst>
                <a:tab pos="685800" algn="l"/>
              </a:tabLst>
            </a:pPr>
            <a:r>
              <a:rPr lang="en-US" sz="1200" dirty="0">
                <a:effectLst/>
              </a:rPr>
              <a:t>*Corresponding author: </a:t>
            </a:r>
            <a:r>
              <a:rPr lang="en-US" sz="1200" dirty="0">
                <a:effectLst/>
                <a:hlinkClick r:id="rId2"/>
              </a:rPr>
              <a:t>wjwei@njtech.edu.cn</a:t>
            </a:r>
            <a:br>
              <a:rPr lang="en-US" sz="1200" dirty="0"/>
            </a:br>
            <a:r>
              <a:rPr lang="en-US" sz="1200" dirty="0">
                <a:effectLst/>
              </a:rPr>
              <a:t> *Corresponding author: </a:t>
            </a:r>
            <a:r>
              <a:rPr lang="en-US" sz="1200" dirty="0">
                <a:effectLst/>
                <a:hlinkClick r:id="rId3"/>
              </a:rPr>
              <a:t>lianzy1985@163.com</a:t>
            </a:r>
          </a:p>
        </p:txBody>
      </p:sp>
    </p:spTree>
  </p:cSld>
  <p:clrMapOvr>
    <a:masterClrMapping/>
  </p:clrMapOvr>
</p:sld>
</file>

<file path=ppt/theme/theme1.xml><?xml version="1.0" encoding="utf-8"?>
<a:theme xmlns:a="http://schemas.openxmlformats.org/drawingml/2006/main" name="Office Theme">
  <a:themeElements>
    <a:clrScheme name="Mathpix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B93ff"/>
      </a:hlink>
      <a:folHlink>
        <a:srgbClr val="0B93ff"/>
      </a:folHlink>
    </a:clrScheme>
    <a:fontScheme name="Office">
      <a:majorFont>
        <a:latin typeface="Georgia" panose="020405020504050203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panose="020405020504050203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Widescreen</PresentationFormat>
  <Paragraphs>0</Paragraphs>
  <Slides>38</Slides>
  <Notes>38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Mathpix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mmd-to-pptx</dc:creator>
  <cp:lastModifiedBy>mmd-to-pptx</cp:lastModifiedBy>
  <cp:revision>1</cp:revision>
  <dcterms:created xsi:type="dcterms:W3CDTF">2026-09-12T10:53:40.913Z</dcterms:created>
  <dcterms:modified xsi:type="dcterms:W3CDTF">2026-09-12T10:53:40.913Z</dcterms:modified>
</cp:coreProperties>
</file>